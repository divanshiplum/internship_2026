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DF490F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C8C8C8"/>
                </a:solidFill>
                <a:latin typeface="Gadugi"/>
                <a:cs typeface="Gadugi"/>
              </a:defRPr>
            </a:lvl1pPr>
          </a:lstStyle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#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DF490F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C8C8C8"/>
                </a:solidFill>
                <a:latin typeface="Gadugi"/>
                <a:cs typeface="Gadugi"/>
              </a:defRPr>
            </a:lvl1pPr>
          </a:lstStyle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#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DF490F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C8C8C8"/>
                </a:solidFill>
                <a:latin typeface="Gadugi"/>
                <a:cs typeface="Gadugi"/>
              </a:defRPr>
            </a:lvl1pPr>
          </a:lstStyle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#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DF490F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C8C8C8"/>
                </a:solidFill>
                <a:latin typeface="Gadugi"/>
                <a:cs typeface="Gadugi"/>
              </a:defRPr>
            </a:lvl1pPr>
          </a:lstStyle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#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C8C8C8"/>
                </a:solidFill>
                <a:latin typeface="Gadugi"/>
                <a:cs typeface="Gadugi"/>
              </a:defRPr>
            </a:lvl1pPr>
          </a:lstStyle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#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6128" y="2924031"/>
            <a:ext cx="2031364" cy="801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DF490F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149600" y="9593491"/>
            <a:ext cx="1466214" cy="135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C8C8C8"/>
                </a:solidFill>
                <a:latin typeface="Gadugi"/>
                <a:cs typeface="Gadugi"/>
              </a:defRPr>
            </a:lvl1pPr>
          </a:lstStyle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#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zlaark.com/" TargetMode="External"/><Relationship Id="rId3" Type="http://schemas.openxmlformats.org/officeDocument/2006/relationships/hyperlink" Target="mailto:hello@zlaark.com" TargetMode="External"/><Relationship Id="rId4" Type="http://schemas.openxmlformats.org/officeDocument/2006/relationships/image" Target="../media/image2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hello@zlaark.com" TargetMode="External"/><Relationship Id="rId3" Type="http://schemas.openxmlformats.org/officeDocument/2006/relationships/hyperlink" Target="http://www.zlaark.com/" TargetMode="External"/><Relationship Id="rId4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836" y="789431"/>
            <a:ext cx="1165860" cy="82550"/>
          </a:xfrm>
          <a:custGeom>
            <a:avLst/>
            <a:gdLst/>
            <a:ahLst/>
            <a:cxnLst/>
            <a:rect l="l" t="t" r="r" b="b"/>
            <a:pathLst>
              <a:path w="1165860" h="82550">
                <a:moveTo>
                  <a:pt x="1165860" y="82296"/>
                </a:moveTo>
                <a:lnTo>
                  <a:pt x="0" y="82296"/>
                </a:lnTo>
                <a:lnTo>
                  <a:pt x="0" y="0"/>
                </a:lnTo>
                <a:lnTo>
                  <a:pt x="1165860" y="0"/>
                </a:lnTo>
                <a:lnTo>
                  <a:pt x="1165860" y="82296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2508" y="789431"/>
            <a:ext cx="1163320" cy="82550"/>
          </a:xfrm>
          <a:custGeom>
            <a:avLst/>
            <a:gdLst/>
            <a:ahLst/>
            <a:cxnLst/>
            <a:rect l="l" t="t" r="r" b="b"/>
            <a:pathLst>
              <a:path w="1163320" h="82550">
                <a:moveTo>
                  <a:pt x="1162811" y="82296"/>
                </a:moveTo>
                <a:lnTo>
                  <a:pt x="0" y="82296"/>
                </a:lnTo>
                <a:lnTo>
                  <a:pt x="0" y="0"/>
                </a:lnTo>
                <a:lnTo>
                  <a:pt x="1162811" y="0"/>
                </a:lnTo>
                <a:lnTo>
                  <a:pt x="1162811" y="82296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28132" y="789431"/>
            <a:ext cx="1164590" cy="82550"/>
          </a:xfrm>
          <a:custGeom>
            <a:avLst/>
            <a:gdLst/>
            <a:ahLst/>
            <a:cxnLst/>
            <a:rect l="l" t="t" r="r" b="b"/>
            <a:pathLst>
              <a:path w="1164590" h="82550">
                <a:moveTo>
                  <a:pt x="1164335" y="82296"/>
                </a:moveTo>
                <a:lnTo>
                  <a:pt x="0" y="82296"/>
                </a:lnTo>
                <a:lnTo>
                  <a:pt x="0" y="0"/>
                </a:lnTo>
                <a:lnTo>
                  <a:pt x="1164335" y="0"/>
                </a:lnTo>
                <a:lnTo>
                  <a:pt x="1164335" y="82296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1136" y="3687007"/>
            <a:ext cx="1858645" cy="154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 b="1">
                <a:solidFill>
                  <a:srgbClr val="DF490F"/>
                </a:solidFill>
                <a:latin typeface="Gadugi"/>
                <a:cs typeface="Gadugi"/>
              </a:rPr>
              <a:t>INTERNSHIP</a:t>
            </a:r>
            <a:r>
              <a:rPr dirty="0" sz="85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DF490F"/>
                </a:solidFill>
                <a:latin typeface="Gadugi"/>
                <a:cs typeface="Gadugi"/>
              </a:rPr>
              <a:t>WORKING</a:t>
            </a:r>
            <a:r>
              <a:rPr dirty="0" sz="85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DF490F"/>
                </a:solidFill>
                <a:latin typeface="Gadugi"/>
                <a:cs typeface="Gadugi"/>
              </a:rPr>
              <a:t>DOCUMENT</a:t>
            </a:r>
            <a:endParaRPr sz="850">
              <a:latin typeface="Gadugi"/>
              <a:cs typeface="Gadug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61219" y="3906233"/>
            <a:ext cx="3482340" cy="4419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00">
                <a:solidFill>
                  <a:srgbClr val="1A1A2D"/>
                </a:solidFill>
              </a:rPr>
              <a:t>The</a:t>
            </a:r>
            <a:r>
              <a:rPr dirty="0" sz="2700" spc="10">
                <a:solidFill>
                  <a:srgbClr val="1A1A2D"/>
                </a:solidFill>
              </a:rPr>
              <a:t> </a:t>
            </a:r>
            <a:r>
              <a:rPr dirty="0" sz="2700">
                <a:solidFill>
                  <a:srgbClr val="1A1A2D"/>
                </a:solidFill>
              </a:rPr>
              <a:t>Project</a:t>
            </a:r>
            <a:r>
              <a:rPr dirty="0" sz="2700" spc="20">
                <a:solidFill>
                  <a:srgbClr val="1A1A2D"/>
                </a:solidFill>
              </a:rPr>
              <a:t> </a:t>
            </a:r>
            <a:r>
              <a:rPr dirty="0" sz="2700" spc="-10">
                <a:solidFill>
                  <a:srgbClr val="1A1A2D"/>
                </a:solidFill>
              </a:rPr>
              <a:t>Playbook</a:t>
            </a:r>
            <a:endParaRPr sz="2700"/>
          </a:p>
        </p:txBody>
      </p:sp>
      <p:sp>
        <p:nvSpPr>
          <p:cNvPr id="7" name="object 7"/>
          <p:cNvSpPr txBox="1"/>
          <p:nvPr/>
        </p:nvSpPr>
        <p:spPr>
          <a:xfrm>
            <a:off x="961136" y="4411875"/>
            <a:ext cx="5782310" cy="519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2000"/>
              </a:lnSpc>
              <a:spcBef>
                <a:spcPts val="90"/>
              </a:spcBef>
            </a:pP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The</a:t>
            </a:r>
            <a:r>
              <a:rPr dirty="0" sz="1000" spc="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full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Segoe UI Symbol"/>
                <a:cs typeface="Segoe UI Symbol"/>
              </a:rPr>
              <a:t>spec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for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all ten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sample</a:t>
            </a:r>
            <a:r>
              <a:rPr dirty="0" sz="1000" spc="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Segoe UI Symbol"/>
                <a:cs typeface="Segoe UI Symbol"/>
              </a:rPr>
              <a:t>projects: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the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idea,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the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features,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how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to</a:t>
            </a:r>
            <a:r>
              <a:rPr dirty="0" sz="1000" spc="-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think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about</a:t>
            </a:r>
            <a:r>
              <a:rPr dirty="0" sz="1000" spc="2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the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architecture,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Segoe UI Symbol"/>
                <a:cs typeface="Segoe UI Symbol"/>
              </a:rPr>
              <a:t>the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exact</a:t>
            </a:r>
            <a:r>
              <a:rPr dirty="0" sz="1000" spc="-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tech</a:t>
            </a:r>
            <a:r>
              <a:rPr dirty="0" sz="1000" spc="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stack,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and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what a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strong demo</a:t>
            </a:r>
            <a:r>
              <a:rPr dirty="0" sz="1000" spc="15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Segoe UI Symbol"/>
                <a:cs typeface="Segoe UI Symbol"/>
              </a:rPr>
              <a:t>looks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 like for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494949"/>
                </a:solidFill>
                <a:latin typeface="Segoe UI Symbol"/>
                <a:cs typeface="Segoe UI Symbol"/>
              </a:rPr>
              <a:t>each</a:t>
            </a:r>
            <a:r>
              <a:rPr dirty="0" sz="1000" spc="10">
                <a:solidFill>
                  <a:srgbClr val="494949"/>
                </a:solidFill>
                <a:latin typeface="Segoe UI Symbol"/>
                <a:cs typeface="Segoe UI Symbol"/>
              </a:rPr>
              <a:t> </a:t>
            </a:r>
            <a:r>
              <a:rPr dirty="0" sz="1000" spc="-20">
                <a:solidFill>
                  <a:srgbClr val="494949"/>
                </a:solidFill>
                <a:latin typeface="Segoe UI Symbol"/>
                <a:cs typeface="Segoe UI Symbol"/>
              </a:rPr>
              <a:t>one.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7072" y="5554979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6"/>
                </a:moveTo>
                <a:lnTo>
                  <a:pt x="0" y="6096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61136" y="5829676"/>
            <a:ext cx="59182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78787"/>
                </a:solidFill>
                <a:latin typeface="Gadugi"/>
                <a:cs typeface="Gadugi"/>
              </a:rPr>
              <a:t>PREPARED</a:t>
            </a:r>
            <a:r>
              <a:rPr dirty="0" sz="650" spc="10">
                <a:solidFill>
                  <a:srgbClr val="878787"/>
                </a:solidFill>
                <a:latin typeface="Gadugi"/>
                <a:cs typeface="Gadugi"/>
              </a:rPr>
              <a:t> </a:t>
            </a:r>
            <a:r>
              <a:rPr dirty="0" sz="650" spc="-25">
                <a:solidFill>
                  <a:srgbClr val="878787"/>
                </a:solidFill>
                <a:latin typeface="Gadugi"/>
                <a:cs typeface="Gadugi"/>
              </a:rPr>
              <a:t>FOR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1136" y="6046911"/>
            <a:ext cx="133667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0A0A0A"/>
                </a:solidFill>
                <a:latin typeface="Gadugi"/>
                <a:cs typeface="Gadugi"/>
              </a:rPr>
              <a:t>Hindu</a:t>
            </a:r>
            <a:r>
              <a:rPr dirty="0" sz="900" spc="90" b="1">
                <a:solidFill>
                  <a:srgbClr val="0A0A0A"/>
                </a:solidFill>
                <a:latin typeface="Gadugi"/>
                <a:cs typeface="Gadugi"/>
              </a:rPr>
              <a:t> </a:t>
            </a:r>
            <a:r>
              <a:rPr dirty="0" sz="900" b="1">
                <a:solidFill>
                  <a:srgbClr val="0A0A0A"/>
                </a:solidFill>
                <a:latin typeface="Gadugi"/>
                <a:cs typeface="Gadugi"/>
              </a:rPr>
              <a:t>College</a:t>
            </a:r>
            <a:r>
              <a:rPr dirty="0" sz="900" spc="114" b="1">
                <a:solidFill>
                  <a:srgbClr val="0A0A0A"/>
                </a:solidFill>
                <a:latin typeface="Gadugi"/>
                <a:cs typeface="Gadugi"/>
              </a:rPr>
              <a:t> </a:t>
            </a:r>
            <a:r>
              <a:rPr dirty="0" sz="900" spc="-10" b="1">
                <a:solidFill>
                  <a:srgbClr val="0A0A0A"/>
                </a:solidFill>
                <a:latin typeface="Gadugi"/>
                <a:cs typeface="Gadugi"/>
              </a:rPr>
              <a:t>Amritsar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10203" y="5829676"/>
            <a:ext cx="22288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20">
                <a:solidFill>
                  <a:srgbClr val="878787"/>
                </a:solidFill>
                <a:latin typeface="Gadugi"/>
                <a:cs typeface="Gadugi"/>
              </a:rPr>
              <a:t>DATE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10203" y="6046911"/>
            <a:ext cx="72517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0A0A0A"/>
                </a:solidFill>
                <a:latin typeface="Gadugi"/>
                <a:cs typeface="Gadugi"/>
              </a:rPr>
              <a:t>28</a:t>
            </a:r>
            <a:r>
              <a:rPr dirty="0" sz="900" spc="60" b="1">
                <a:solidFill>
                  <a:srgbClr val="0A0A0A"/>
                </a:solidFill>
                <a:latin typeface="Gadugi"/>
                <a:cs typeface="Gadugi"/>
              </a:rPr>
              <a:t> </a:t>
            </a:r>
            <a:r>
              <a:rPr dirty="0" sz="900" b="1">
                <a:solidFill>
                  <a:srgbClr val="0A0A0A"/>
                </a:solidFill>
                <a:latin typeface="Gadugi"/>
                <a:cs typeface="Gadugi"/>
              </a:rPr>
              <a:t>July</a:t>
            </a:r>
            <a:r>
              <a:rPr dirty="0" sz="900" spc="65" b="1">
                <a:solidFill>
                  <a:srgbClr val="0A0A0A"/>
                </a:solidFill>
                <a:latin typeface="Gadugi"/>
                <a:cs typeface="Gadugi"/>
              </a:rPr>
              <a:t> </a:t>
            </a:r>
            <a:r>
              <a:rPr dirty="0" sz="900" spc="-20" b="1">
                <a:solidFill>
                  <a:srgbClr val="0A0A0A"/>
                </a:solidFill>
                <a:latin typeface="Gadugi"/>
                <a:cs typeface="Gadugi"/>
              </a:rPr>
              <a:t>2026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00676" y="5829676"/>
            <a:ext cx="44894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878787"/>
                </a:solidFill>
                <a:latin typeface="Gadugi"/>
                <a:cs typeface="Gadugi"/>
              </a:rPr>
              <a:t>REFERENCE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00676" y="6046911"/>
            <a:ext cx="11112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F490F"/>
                </a:solidFill>
                <a:latin typeface="Gadugi"/>
                <a:cs typeface="Gadugi"/>
              </a:rPr>
              <a:t>ZLK-HCA-2026-</a:t>
            </a:r>
            <a:r>
              <a:rPr dirty="0" sz="900" spc="-25" b="1">
                <a:solidFill>
                  <a:srgbClr val="DF490F"/>
                </a:solidFill>
                <a:latin typeface="Gadugi"/>
                <a:cs typeface="Gadugi"/>
              </a:rPr>
              <a:t>003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26892" y="5751588"/>
            <a:ext cx="3175" cy="620395"/>
          </a:xfrm>
          <a:custGeom>
            <a:avLst/>
            <a:gdLst/>
            <a:ahLst/>
            <a:cxnLst/>
            <a:rect l="l" t="t" r="r" b="b"/>
            <a:pathLst>
              <a:path w="3175" h="620395">
                <a:moveTo>
                  <a:pt x="3048" y="0"/>
                </a:moveTo>
                <a:lnTo>
                  <a:pt x="0" y="0"/>
                </a:lnTo>
                <a:lnTo>
                  <a:pt x="0" y="36576"/>
                </a:lnTo>
                <a:lnTo>
                  <a:pt x="0" y="620268"/>
                </a:lnTo>
                <a:lnTo>
                  <a:pt x="3048" y="620268"/>
                </a:lnTo>
                <a:lnTo>
                  <a:pt x="3048" y="36576"/>
                </a:lnTo>
                <a:lnTo>
                  <a:pt x="304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15840" y="5751588"/>
            <a:ext cx="3175" cy="620395"/>
          </a:xfrm>
          <a:custGeom>
            <a:avLst/>
            <a:gdLst/>
            <a:ahLst/>
            <a:cxnLst/>
            <a:rect l="l" t="t" r="r" b="b"/>
            <a:pathLst>
              <a:path w="3175" h="620395">
                <a:moveTo>
                  <a:pt x="3048" y="0"/>
                </a:moveTo>
                <a:lnTo>
                  <a:pt x="0" y="0"/>
                </a:lnTo>
                <a:lnTo>
                  <a:pt x="0" y="36576"/>
                </a:lnTo>
                <a:lnTo>
                  <a:pt x="0" y="620268"/>
                </a:lnTo>
                <a:lnTo>
                  <a:pt x="3048" y="620268"/>
                </a:lnTo>
                <a:lnTo>
                  <a:pt x="3048" y="36576"/>
                </a:lnTo>
                <a:lnTo>
                  <a:pt x="304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60852" y="6921331"/>
            <a:ext cx="3542029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878787"/>
                </a:solidFill>
                <a:latin typeface="Segoe UI Symbol"/>
                <a:cs typeface="Segoe UI Symbol"/>
              </a:rPr>
              <a:t>Companion</a:t>
            </a:r>
            <a:r>
              <a:rPr dirty="0" sz="700" spc="-5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878787"/>
                </a:solidFill>
                <a:latin typeface="Segoe UI Symbol"/>
                <a:cs typeface="Segoe UI Symbol"/>
              </a:rPr>
              <a:t>to</a:t>
            </a:r>
            <a:r>
              <a:rPr dirty="0" sz="700" spc="15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700">
                <a:solidFill>
                  <a:srgbClr val="878787"/>
                </a:solidFill>
                <a:latin typeface="Segoe UI Symbol"/>
                <a:cs typeface="Segoe UI Symbol"/>
              </a:rPr>
              <a:t>the </a:t>
            </a:r>
            <a:r>
              <a:rPr dirty="0" sz="700" spc="-10">
                <a:solidFill>
                  <a:srgbClr val="878787"/>
                </a:solidFill>
                <a:latin typeface="Segoe UI Symbol"/>
                <a:cs typeface="Segoe UI Symbol"/>
              </a:rPr>
              <a:t>Internship </a:t>
            </a:r>
            <a:r>
              <a:rPr dirty="0" sz="700">
                <a:solidFill>
                  <a:srgbClr val="878787"/>
                </a:solidFill>
                <a:latin typeface="Segoe UI Symbol"/>
                <a:cs typeface="Segoe UI Symbol"/>
              </a:rPr>
              <a:t>Training</a:t>
            </a:r>
            <a:r>
              <a:rPr dirty="0" sz="700" spc="-20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878787"/>
                </a:solidFill>
                <a:latin typeface="Segoe UI Symbol"/>
                <a:cs typeface="Segoe UI Symbol"/>
              </a:rPr>
              <a:t>Proposal</a:t>
            </a:r>
            <a:r>
              <a:rPr dirty="0" sz="700">
                <a:solidFill>
                  <a:srgbClr val="878787"/>
                </a:solidFill>
                <a:latin typeface="Segoe UI Symbol"/>
                <a:cs typeface="Segoe UI Symbol"/>
              </a:rPr>
              <a:t> (ZLK-HCA-2026-001)</a:t>
            </a:r>
            <a:r>
              <a:rPr dirty="0" sz="700" spc="175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700">
                <a:solidFill>
                  <a:srgbClr val="878787"/>
                </a:solidFill>
                <a:latin typeface="Segoe UI Symbol"/>
                <a:cs typeface="Segoe UI Symbol"/>
              </a:rPr>
              <a:t>·</a:t>
            </a:r>
            <a:r>
              <a:rPr dirty="0" sz="700" spc="200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878787"/>
                </a:solidFill>
                <a:latin typeface="Segoe UI Symbol"/>
                <a:cs typeface="Segoe UI Symbol"/>
              </a:rPr>
              <a:t>Prepared</a:t>
            </a:r>
            <a:r>
              <a:rPr dirty="0" sz="700">
                <a:solidFill>
                  <a:srgbClr val="878787"/>
                </a:solidFill>
                <a:latin typeface="Segoe UI Symbol"/>
                <a:cs typeface="Segoe UI Symbol"/>
              </a:rPr>
              <a:t> by</a:t>
            </a:r>
            <a:r>
              <a:rPr dirty="0" sz="700" spc="-15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878787"/>
                </a:solidFill>
                <a:latin typeface="Segoe UI Symbol"/>
                <a:cs typeface="Segoe UI Symbol"/>
              </a:rPr>
              <a:t>Zlaark</a:t>
            </a:r>
            <a:endParaRPr sz="700">
              <a:latin typeface="Segoe UI Symbol"/>
              <a:cs typeface="Segoe UI Symbo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2" y="1880616"/>
            <a:ext cx="1348739" cy="378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9" name="object 9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973823" y="1799856"/>
            <a:ext cx="40005" cy="1356360"/>
          </a:xfrm>
          <a:custGeom>
            <a:avLst/>
            <a:gdLst/>
            <a:ahLst/>
            <a:cxnLst/>
            <a:rect l="l" t="t" r="r" b="b"/>
            <a:pathLst>
              <a:path w="40005" h="1356360">
                <a:moveTo>
                  <a:pt x="39636" y="0"/>
                </a:moveTo>
                <a:lnTo>
                  <a:pt x="0" y="0"/>
                </a:lnTo>
                <a:lnTo>
                  <a:pt x="0" y="1356347"/>
                </a:lnTo>
                <a:lnTo>
                  <a:pt x="39636" y="1356347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61136" y="1171015"/>
            <a:ext cx="5836920" cy="18599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01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How</a:t>
            </a:r>
            <a:r>
              <a:rPr dirty="0" sz="1300" spc="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To</a:t>
            </a:r>
            <a:r>
              <a:rPr dirty="0" sz="1300" spc="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Use This</a:t>
            </a:r>
            <a:r>
              <a:rPr dirty="0" sz="1300" spc="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Playbook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27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Ten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projects,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broken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down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same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way: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idea,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what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has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work</a:t>
            </a:r>
            <a:r>
              <a:rPr dirty="0" sz="1000" spc="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MVP,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what's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worth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adding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if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there's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time,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how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pieces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fit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together,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exact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libraries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needed,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what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data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to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use,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sprint-by-sprint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build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order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matching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five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sprints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session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plan,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what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50">
                <a:solidFill>
                  <a:srgbClr val="494949"/>
                </a:solidFill>
                <a:latin typeface="Gadugi"/>
                <a:cs typeface="Gadugi"/>
              </a:rPr>
              <a:t>a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strong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demo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actually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looks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like.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Groups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also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bring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their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idea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instead,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long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0">
                <a:solidFill>
                  <a:srgbClr val="494949"/>
                </a:solidFill>
                <a:latin typeface="Gadugi"/>
                <a:cs typeface="Gadugi"/>
              </a:rPr>
              <a:t>it's</a:t>
            </a:r>
            <a:r>
              <a:rPr dirty="0" sz="1000" spc="5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scoped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same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way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sign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off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it.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3836" y="1799856"/>
            <a:ext cx="40005" cy="1356360"/>
          </a:xfrm>
          <a:custGeom>
            <a:avLst/>
            <a:gdLst/>
            <a:ahLst/>
            <a:cxnLst/>
            <a:rect l="l" t="t" r="r" b="b"/>
            <a:pathLst>
              <a:path w="40005" h="1356360">
                <a:moveTo>
                  <a:pt x="39624" y="1344155"/>
                </a:moveTo>
                <a:lnTo>
                  <a:pt x="0" y="1344155"/>
                </a:lnTo>
                <a:lnTo>
                  <a:pt x="0" y="1356347"/>
                </a:lnTo>
                <a:lnTo>
                  <a:pt x="39624" y="1356347"/>
                </a:lnTo>
                <a:lnTo>
                  <a:pt x="39624" y="1344155"/>
                </a:lnTo>
                <a:close/>
              </a:path>
              <a:path w="40005" h="135636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973836" y="4011167"/>
            <a:ext cx="5819140" cy="27940"/>
            <a:chOff x="973836" y="4011167"/>
            <a:chExt cx="5819140" cy="27940"/>
          </a:xfrm>
        </p:grpSpPr>
        <p:sp>
          <p:nvSpPr>
            <p:cNvPr id="15" name="object 15"/>
            <p:cNvSpPr/>
            <p:nvPr/>
          </p:nvSpPr>
          <p:spPr>
            <a:xfrm>
              <a:off x="973836" y="4011167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39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883152" y="4011167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39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973823" y="4332744"/>
            <a:ext cx="40005" cy="612775"/>
          </a:xfrm>
          <a:custGeom>
            <a:avLst/>
            <a:gdLst/>
            <a:ahLst/>
            <a:cxnLst/>
            <a:rect l="l" t="t" r="r" b="b"/>
            <a:pathLst>
              <a:path w="40005" h="612775">
                <a:moveTo>
                  <a:pt x="39636" y="0"/>
                </a:moveTo>
                <a:lnTo>
                  <a:pt x="0" y="0"/>
                </a:lnTo>
                <a:lnTo>
                  <a:pt x="0" y="612648"/>
                </a:lnTo>
                <a:lnTo>
                  <a:pt x="39636" y="612648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61136" y="3703903"/>
            <a:ext cx="5634355" cy="1116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01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Resume</a:t>
            </a:r>
            <a:r>
              <a:rPr dirty="0" sz="13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vs</a:t>
            </a:r>
            <a:r>
              <a:rPr dirty="0" sz="1300" spc="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Job</a:t>
            </a:r>
            <a:r>
              <a:rPr dirty="0" sz="1300" spc="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Description</a:t>
            </a:r>
            <a:r>
              <a:rPr dirty="0" sz="1300" spc="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Matcher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tool</a:t>
            </a:r>
            <a:r>
              <a:rPr dirty="0" sz="10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takes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tells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you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how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well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they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match,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what's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missing.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Genuinely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useful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during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placement</a:t>
            </a:r>
            <a:r>
              <a:rPr dirty="0" sz="10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season,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students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run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their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resumes.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73836" y="4332744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79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79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61136" y="5204249"/>
            <a:ext cx="5813425" cy="364299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Upload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PDF,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paste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directly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Paste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Extract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clean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PyPDF2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Compare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against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cosine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percentage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List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keywords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asks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missing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Support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(.docx)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resumes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well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PDF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4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Highlight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keywords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directly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inside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Save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comparison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student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track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over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time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58900"/>
              </a:lnSpc>
              <a:spcBef>
                <a:spcPts val="4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screen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collects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upload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text.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text-extraction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function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turns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the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PDF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plain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string.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function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runs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cosine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between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endParaRPr sz="900">
              <a:latin typeface="Gadugi"/>
              <a:cs typeface="Gadug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2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090029"/>
            <a:ext cx="5713095" cy="4103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2384">
              <a:lnSpc>
                <a:spcPct val="158900"/>
              </a:lnSpc>
              <a:spcBef>
                <a:spcPts val="9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returns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plus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missing-keywords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list.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are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back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same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screen.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optional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SQLite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logs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comparison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stretch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goal.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upload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screen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PyPDF2,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pulling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out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PDF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scikit-learn,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vectorising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3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sqlite3,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only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if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builds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history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stretch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goal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286385">
              <a:lnSpc>
                <a:spcPct val="158900"/>
              </a:lnSpc>
              <a:spcBef>
                <a:spcPts val="5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external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needed,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works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whatever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provides.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Worth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keeping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three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sample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resumes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postings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hand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testing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demo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itself.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409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upload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box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box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description,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logic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yet,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just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screen.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39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extraction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PDF,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working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missing-keywords list.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Logging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comparison,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name,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date,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past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attempts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reviewed.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39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Cleaning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up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view,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handling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fails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extract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properly.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39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real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resume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real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job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posting,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fixing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whatever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breaks.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5527547"/>
            <a:ext cx="5796280" cy="905510"/>
          </a:xfrm>
          <a:custGeom>
            <a:avLst/>
            <a:gdLst/>
            <a:ahLst/>
            <a:cxnLst/>
            <a:rect l="l" t="t" r="r" b="b"/>
            <a:pathLst>
              <a:path w="5796280" h="905510">
                <a:moveTo>
                  <a:pt x="5795772" y="905255"/>
                </a:moveTo>
                <a:lnTo>
                  <a:pt x="0" y="905255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5255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5674698"/>
            <a:ext cx="5796280" cy="5543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271145">
              <a:lnSpc>
                <a:spcPct val="155300"/>
              </a:lnSpc>
              <a:spcBef>
                <a:spcPts val="135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Upload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6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real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resume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live,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paste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in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6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real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job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posting,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then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edit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resume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to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add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missing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skill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show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25">
                <a:solidFill>
                  <a:srgbClr val="2B2B2B"/>
                </a:solidFill>
                <a:latin typeface="Segoe UI Symbol"/>
                <a:cs typeface="Segoe UI Symbol"/>
              </a:rPr>
              <a:t>the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score</a:t>
            </a:r>
            <a:r>
              <a:rPr dirty="0" sz="850" spc="-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move.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5527547"/>
            <a:ext cx="5838825" cy="905510"/>
            <a:chOff x="973836" y="5527547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5527547"/>
              <a:ext cx="43180" cy="106680"/>
            </a:xfrm>
            <a:custGeom>
              <a:avLst/>
              <a:gdLst/>
              <a:ahLst/>
              <a:cxnLst/>
              <a:rect l="l" t="t" r="r" b="b"/>
              <a:pathLst>
                <a:path w="43180" h="106679">
                  <a:moveTo>
                    <a:pt x="42672" y="106680"/>
                  </a:moveTo>
                  <a:lnTo>
                    <a:pt x="0" y="106680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6680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6318503"/>
              <a:ext cx="5817235" cy="114300"/>
            </a:xfrm>
            <a:custGeom>
              <a:avLst/>
              <a:gdLst/>
              <a:ahLst/>
              <a:cxnLst/>
              <a:rect l="l" t="t" r="r" b="b"/>
              <a:pathLst>
                <a:path w="5817234" h="114300">
                  <a:moveTo>
                    <a:pt x="5817108" y="114300"/>
                  </a:moveTo>
                  <a:lnTo>
                    <a:pt x="0" y="114300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4300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5634228"/>
              <a:ext cx="43180" cy="798830"/>
            </a:xfrm>
            <a:custGeom>
              <a:avLst/>
              <a:gdLst/>
              <a:ahLst/>
              <a:cxnLst/>
              <a:rect l="l" t="t" r="r" b="b"/>
              <a:pathLst>
                <a:path w="43180" h="798829">
                  <a:moveTo>
                    <a:pt x="42672" y="798575"/>
                  </a:moveTo>
                  <a:lnTo>
                    <a:pt x="0" y="798575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8575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2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1136" y="8644955"/>
            <a:ext cx="3264535" cy="6032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4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multi-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file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upload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screen,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logic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yet.</a:t>
            </a:r>
            <a:endParaRPr sz="850">
              <a:latin typeface="Gadugi"/>
              <a:cs typeface="Gadugi"/>
            </a:endParaRPr>
          </a:p>
          <a:p>
            <a:pPr marL="18415">
              <a:lnSpc>
                <a:spcPct val="100000"/>
              </a:lnSpc>
              <a:spcBef>
                <a:spcPts val="990"/>
              </a:spcBef>
              <a:tabLst>
                <a:tab pos="2372995" algn="l"/>
              </a:tabLst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	</a:t>
            </a: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8" name="object 8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973823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36" y="0"/>
                </a:moveTo>
                <a:lnTo>
                  <a:pt x="0" y="0"/>
                </a:lnTo>
                <a:lnTo>
                  <a:pt x="0" y="614172"/>
                </a:lnTo>
                <a:lnTo>
                  <a:pt x="39636" y="614172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61136" y="1169491"/>
            <a:ext cx="5404485" cy="1117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02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Plagiarism</a:t>
            </a:r>
            <a:r>
              <a:rPr dirty="0" sz="13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&amp;</a:t>
            </a:r>
            <a:r>
              <a:rPr dirty="0" sz="1300" spc="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Similarity</a:t>
            </a:r>
            <a:r>
              <a:rPr dirty="0" sz="1300" spc="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Checker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Compare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more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documents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see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exactly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how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similar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they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are,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useful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checking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assignments</a:t>
            </a:r>
            <a:r>
              <a:rPr dirty="0" sz="10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comparing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drafts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before</a:t>
            </a:r>
            <a:r>
              <a:rPr dirty="0" sz="10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submission.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3836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8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61136" y="2750123"/>
            <a:ext cx="5829935" cy="569023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Upload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more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files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Extract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clean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file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Compute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pairwise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between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pair,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cosine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scores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simple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grid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Flag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any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above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chosen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threshold,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70%,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high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4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Highlight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actual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overlapping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sentences,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just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9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Support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more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than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documents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once,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matrix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0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Export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short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report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74930">
              <a:lnSpc>
                <a:spcPct val="159400"/>
              </a:lnSpc>
              <a:spcBef>
                <a:spcPts val="6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multi-file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uploader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collects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documents.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text-extraction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function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runs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file.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pairwise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similarity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function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compares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combination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files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scores.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displays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scores,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conditional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formatting</a:t>
            </a:r>
            <a:r>
              <a:rPr dirty="0" sz="900" spc="1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anything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above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threshold.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multi-file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upload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9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python-docx,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1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reading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</a:t>
            </a:r>
            <a:r>
              <a:rPr dirty="0" sz="900" spc="1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documents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scikit-learn,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scoring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pandas,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laying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out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60000"/>
              </a:lnSpc>
              <a:spcBef>
                <a:spcPts val="3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group's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past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assignment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submissions,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couple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sample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essays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written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specifically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testing,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deliberately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copied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genuinely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different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pair.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2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63262"/>
            <a:ext cx="5112385" cy="834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38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Pairwise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scoring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working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correctly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exactly</a:t>
            </a:r>
            <a:r>
              <a:rPr dirty="0" sz="85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files.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39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Extending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more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than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files,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storing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session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history.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Adding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high-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threshold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flag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cleaning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up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table.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genuinely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copied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pair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genuinely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different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pair.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2331720"/>
            <a:ext cx="5796280" cy="905510"/>
          </a:xfrm>
          <a:custGeom>
            <a:avLst/>
            <a:gdLst/>
            <a:ahLst/>
            <a:cxnLst/>
            <a:rect l="l" t="t" r="r" b="b"/>
            <a:pathLst>
              <a:path w="5796280" h="905510">
                <a:moveTo>
                  <a:pt x="5795772" y="905255"/>
                </a:moveTo>
                <a:lnTo>
                  <a:pt x="0" y="905255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5255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2480394"/>
            <a:ext cx="5796280" cy="553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548640">
              <a:lnSpc>
                <a:spcPct val="155300"/>
              </a:lnSpc>
              <a:spcBef>
                <a:spcPts val="125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Upload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one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clearly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copied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pair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of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documents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one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clearly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different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pair,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side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by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side,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let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score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contrast</a:t>
            </a:r>
            <a:r>
              <a:rPr dirty="0" sz="850" spc="6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make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point.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2331720"/>
            <a:ext cx="5838825" cy="905510"/>
            <a:chOff x="973836" y="2331720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2331720"/>
              <a:ext cx="43180" cy="108585"/>
            </a:xfrm>
            <a:custGeom>
              <a:avLst/>
              <a:gdLst/>
              <a:ahLst/>
              <a:cxnLst/>
              <a:rect l="l" t="t" r="r" b="b"/>
              <a:pathLst>
                <a:path w="43180" h="108585">
                  <a:moveTo>
                    <a:pt x="42672" y="108204"/>
                  </a:moveTo>
                  <a:lnTo>
                    <a:pt x="0" y="108204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8204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3124200"/>
              <a:ext cx="5817235" cy="113030"/>
            </a:xfrm>
            <a:custGeom>
              <a:avLst/>
              <a:gdLst/>
              <a:ahLst/>
              <a:cxnLst/>
              <a:rect l="l" t="t" r="r" b="b"/>
              <a:pathLst>
                <a:path w="5817234" h="113030">
                  <a:moveTo>
                    <a:pt x="5817108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2775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2439924"/>
              <a:ext cx="43180" cy="797560"/>
            </a:xfrm>
            <a:custGeom>
              <a:avLst/>
              <a:gdLst/>
              <a:ahLst/>
              <a:cxnLst/>
              <a:rect l="l" t="t" r="r" b="b"/>
              <a:pathLst>
                <a:path w="43180" h="797560">
                  <a:moveTo>
                    <a:pt x="42672" y="797051"/>
                  </a:moveTo>
                  <a:lnTo>
                    <a:pt x="0" y="797051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7051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2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9" name="object 9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973823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36" y="0"/>
                </a:moveTo>
                <a:lnTo>
                  <a:pt x="0" y="0"/>
                </a:lnTo>
                <a:lnTo>
                  <a:pt x="0" y="614172"/>
                </a:lnTo>
                <a:lnTo>
                  <a:pt x="39636" y="614172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61136" y="1169491"/>
            <a:ext cx="5554980" cy="1117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03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Spam</a:t>
            </a:r>
            <a:r>
              <a:rPr dirty="0" sz="1300" spc="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Message</a:t>
            </a:r>
            <a:r>
              <a:rPr dirty="0" sz="1300" spc="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Classifier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Type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any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message</a:t>
            </a:r>
            <a:r>
              <a:rPr dirty="0" sz="10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says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whether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looks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like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spam,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trained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real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of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labelled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messages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rather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than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list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banned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words.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3836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8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61136" y="2750123"/>
            <a:ext cx="5810885" cy="601980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Load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small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labelled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spam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non-spam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messages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Train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classifier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once,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scikit-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learn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box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where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types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pastes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message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Classify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message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spam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not,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confidence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percentage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1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message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checked,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result,</a:t>
            </a:r>
            <a:r>
              <a:rPr dirty="0" sz="900" spc="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9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which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message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pushed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towards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spam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1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Let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user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add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their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labelled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examples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retrain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model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69850">
              <a:lnSpc>
                <a:spcPct val="158900"/>
              </a:lnSpc>
              <a:spcBef>
                <a:spcPts val="6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training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step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runs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once,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separate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itself: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load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vectorise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train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 Naive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Bayes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classifier,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save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trained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model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disk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pickle.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loads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saved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model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startup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simply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calls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predict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whatever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types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in.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input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screen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loading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cleaning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scikit-learn,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TfidfVectorizer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MultinomialNB</a:t>
            </a:r>
            <a:r>
              <a:rPr dirty="0" sz="900" spc="1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classifier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pickle,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saving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trained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model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doesn't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retrain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time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runs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59400"/>
              </a:lnSpc>
              <a:spcBef>
                <a:spcPts val="5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public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SMS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email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spam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few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thousand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labelled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rows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plenty.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This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where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I'll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hand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directly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walk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them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training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step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myself,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since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it's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guided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step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beyond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what's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covered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first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14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days.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2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12124"/>
            <a:ext cx="5709285" cy="1468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845">
              <a:lnSpc>
                <a:spcPct val="138800"/>
              </a:lnSpc>
              <a:spcBef>
                <a:spcPts val="10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39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Getting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loading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classifier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training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working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plain</a:t>
            </a:r>
            <a:r>
              <a:rPr dirty="0" sz="85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script,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outside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Streamlit,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since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this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85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hardest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part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should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come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first.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4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Wrapping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trained model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Streamlit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screen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box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predict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button.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Saving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trained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model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pickle,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logging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checked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messages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SQLite.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39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Handling</a:t>
            </a:r>
            <a:r>
              <a:rPr dirty="0" sz="850" spc="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empty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input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very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short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messages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without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breaking.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37600"/>
              </a:lnSpc>
              <a:spcBef>
                <a:spcPts val="38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39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obvious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spam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message,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obvious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normal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one,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something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genuinely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ambiguous.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2915411"/>
            <a:ext cx="5796280" cy="905510"/>
          </a:xfrm>
          <a:custGeom>
            <a:avLst/>
            <a:gdLst/>
            <a:ahLst/>
            <a:cxnLst/>
            <a:rect l="l" t="t" r="r" b="b"/>
            <a:pathLst>
              <a:path w="5796280" h="905510">
                <a:moveTo>
                  <a:pt x="5795772" y="905256"/>
                </a:moveTo>
                <a:lnTo>
                  <a:pt x="0" y="905256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5256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3062562"/>
            <a:ext cx="5796280" cy="5543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511175">
              <a:lnSpc>
                <a:spcPct val="156500"/>
              </a:lnSpc>
              <a:spcBef>
                <a:spcPts val="110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Type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obvious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spam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message,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then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obvious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normal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one,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get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both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right,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before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trying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something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ambiguous</a:t>
            </a:r>
            <a:r>
              <a:rPr dirty="0" sz="850" spc="6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live.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2915411"/>
            <a:ext cx="5838825" cy="905510"/>
            <a:chOff x="973836" y="2915411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2915411"/>
              <a:ext cx="43180" cy="106680"/>
            </a:xfrm>
            <a:custGeom>
              <a:avLst/>
              <a:gdLst/>
              <a:ahLst/>
              <a:cxnLst/>
              <a:rect l="l" t="t" r="r" b="b"/>
              <a:pathLst>
                <a:path w="43180" h="106680">
                  <a:moveTo>
                    <a:pt x="42672" y="106680"/>
                  </a:moveTo>
                  <a:lnTo>
                    <a:pt x="0" y="106680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6680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3707892"/>
              <a:ext cx="5817235" cy="113030"/>
            </a:xfrm>
            <a:custGeom>
              <a:avLst/>
              <a:gdLst/>
              <a:ahLst/>
              <a:cxnLst/>
              <a:rect l="l" t="t" r="r" b="b"/>
              <a:pathLst>
                <a:path w="5817234" h="113029">
                  <a:moveTo>
                    <a:pt x="5817108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2775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3022092"/>
              <a:ext cx="43180" cy="798830"/>
            </a:xfrm>
            <a:custGeom>
              <a:avLst/>
              <a:gdLst/>
              <a:ahLst/>
              <a:cxnLst/>
              <a:rect l="l" t="t" r="r" b="b"/>
              <a:pathLst>
                <a:path w="43180" h="798829">
                  <a:moveTo>
                    <a:pt x="42672" y="798575"/>
                  </a:moveTo>
                  <a:lnTo>
                    <a:pt x="0" y="798575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8575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2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1136" y="8644955"/>
            <a:ext cx="3264535" cy="6032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40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paste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box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length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slider,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logic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yet.</a:t>
            </a:r>
            <a:endParaRPr sz="850">
              <a:latin typeface="Gadugi"/>
              <a:cs typeface="Gadugi"/>
            </a:endParaRPr>
          </a:p>
          <a:p>
            <a:pPr marL="18415">
              <a:lnSpc>
                <a:spcPct val="100000"/>
              </a:lnSpc>
              <a:spcBef>
                <a:spcPts val="990"/>
              </a:spcBef>
              <a:tabLst>
                <a:tab pos="2372995" algn="l"/>
              </a:tabLst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	</a:t>
            </a: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8" name="object 8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973823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36" y="0"/>
                </a:moveTo>
                <a:lnTo>
                  <a:pt x="0" y="0"/>
                </a:lnTo>
                <a:lnTo>
                  <a:pt x="0" y="614172"/>
                </a:lnTo>
                <a:lnTo>
                  <a:pt x="39636" y="614172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61136" y="1169491"/>
            <a:ext cx="5474335" cy="1117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04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Smart</a:t>
            </a:r>
            <a:r>
              <a:rPr dirty="0" sz="1300" spc="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Notes</a:t>
            </a:r>
            <a:r>
              <a:rPr dirty="0" sz="1300" spc="4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Summarizer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Paste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long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lecture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notes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article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get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back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just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sentences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actually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matter,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without</a:t>
            </a:r>
            <a:r>
              <a:rPr dirty="0" sz="10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reading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whole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thing.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3836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8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61136" y="2750123"/>
            <a:ext cx="5835650" cy="569023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box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pasting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long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piece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Break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individual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sentences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sentence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based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how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important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are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Pick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highest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sentences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them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back,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their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original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order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slider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control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how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summary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should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be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3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Support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uploading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PDF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directly,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instead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only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pasting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4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word-count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comparison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between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original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summary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4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Highlight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chosen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sentences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inside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original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14604">
              <a:lnSpc>
                <a:spcPct val="159400"/>
              </a:lnSpc>
              <a:spcBef>
                <a:spcPts val="6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input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split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sentences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simple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rule-based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splitter.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across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text,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sentence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gets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based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words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contains.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highest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sentences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are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picked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and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reordered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their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original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position,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displayed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summary.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paste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box,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slider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summary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display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9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scikit-learn,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scoring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(Python's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built-in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regex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module),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splitting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sentences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PyPDF2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python-docx,</a:t>
            </a:r>
            <a:r>
              <a:rPr dirty="0" sz="900" spc="1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only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file-upload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stretch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goal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60000"/>
              </a:lnSpc>
              <a:spcBef>
                <a:spcPts val="3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external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needed,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works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whatever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pastes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in.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Worth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having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article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page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real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lecture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notes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ready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testing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demo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purposes.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2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63262"/>
            <a:ext cx="5209540" cy="834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38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Sentence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splitting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TF-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IDF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scoring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working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correctly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hardcoded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sample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text.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Wiring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scoring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actual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paste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box,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adding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file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upload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alternative.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39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Handling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very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short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input,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unusual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spacing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formatting.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40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real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article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real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page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notes.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2331720"/>
            <a:ext cx="5796280" cy="704215"/>
          </a:xfrm>
          <a:custGeom>
            <a:avLst/>
            <a:gdLst/>
            <a:ahLst/>
            <a:cxnLst/>
            <a:rect l="l" t="t" r="r" b="b"/>
            <a:pathLst>
              <a:path w="5796280" h="704214">
                <a:moveTo>
                  <a:pt x="5795772" y="704087"/>
                </a:moveTo>
                <a:lnTo>
                  <a:pt x="0" y="704087"/>
                </a:lnTo>
                <a:lnTo>
                  <a:pt x="0" y="0"/>
                </a:lnTo>
                <a:lnTo>
                  <a:pt x="5795772" y="0"/>
                </a:lnTo>
                <a:lnTo>
                  <a:pt x="5795772" y="704087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2480394"/>
            <a:ext cx="5796280" cy="3517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>
              <a:lnSpc>
                <a:spcPct val="100000"/>
              </a:lnSpc>
              <a:spcBef>
                <a:spcPts val="690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Paste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in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long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article</a:t>
            </a:r>
            <a:r>
              <a:rPr dirty="0" sz="850" spc="7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live,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show</a:t>
            </a:r>
            <a:r>
              <a:rPr dirty="0" sz="850" spc="7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summary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shrink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grow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smoothly</a:t>
            </a:r>
            <a:r>
              <a:rPr dirty="0" sz="850" spc="6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as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length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slider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moves.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2331720"/>
            <a:ext cx="5838825" cy="704215"/>
            <a:chOff x="973836" y="2331720"/>
            <a:chExt cx="5838825" cy="704215"/>
          </a:xfrm>
        </p:grpSpPr>
        <p:sp>
          <p:nvSpPr>
            <p:cNvPr id="12" name="object 12"/>
            <p:cNvSpPr/>
            <p:nvPr/>
          </p:nvSpPr>
          <p:spPr>
            <a:xfrm>
              <a:off x="973836" y="2331720"/>
              <a:ext cx="43180" cy="108585"/>
            </a:xfrm>
            <a:custGeom>
              <a:avLst/>
              <a:gdLst/>
              <a:ahLst/>
              <a:cxnLst/>
              <a:rect l="l" t="t" r="r" b="b"/>
              <a:pathLst>
                <a:path w="43180" h="108585">
                  <a:moveTo>
                    <a:pt x="42672" y="108204"/>
                  </a:moveTo>
                  <a:lnTo>
                    <a:pt x="0" y="108204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8204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2923032"/>
              <a:ext cx="5817235" cy="113030"/>
            </a:xfrm>
            <a:custGeom>
              <a:avLst/>
              <a:gdLst/>
              <a:ahLst/>
              <a:cxnLst/>
              <a:rect l="l" t="t" r="r" b="b"/>
              <a:pathLst>
                <a:path w="5817234" h="113030">
                  <a:moveTo>
                    <a:pt x="5817108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2775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2439924"/>
              <a:ext cx="43180" cy="596265"/>
            </a:xfrm>
            <a:custGeom>
              <a:avLst/>
              <a:gdLst/>
              <a:ahLst/>
              <a:cxnLst/>
              <a:rect l="l" t="t" r="r" b="b"/>
              <a:pathLst>
                <a:path w="43180" h="596264">
                  <a:moveTo>
                    <a:pt x="42672" y="595883"/>
                  </a:moveTo>
                  <a:lnTo>
                    <a:pt x="0" y="595883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595883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95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Confidential</a:t>
            </a:r>
            <a:r>
              <a:rPr dirty="0" spc="365"/>
              <a:t> </a:t>
            </a:r>
            <a:r>
              <a:rPr dirty="0"/>
              <a:t>|</a:t>
            </a:r>
            <a:r>
              <a:rPr dirty="0" spc="370"/>
              <a:t> </a:t>
            </a:r>
            <a:r>
              <a:rPr dirty="0"/>
              <a:t>Page</a:t>
            </a:r>
            <a:r>
              <a:rPr dirty="0" spc="10"/>
              <a:t> </a:t>
            </a:r>
            <a:fld id="{81D60167-4931-47E6-BA6A-407CBD079E47}" type="slidenum">
              <a:rPr dirty="0">
                <a:solidFill>
                  <a:srgbClr val="DF490F"/>
                </a:solidFill>
              </a:rPr>
              <a:t>2</a:t>
            </a:fld>
            <a:r>
              <a:rPr dirty="0" spc="5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9" name="object 9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973823" y="1799856"/>
            <a:ext cx="40005" cy="859790"/>
          </a:xfrm>
          <a:custGeom>
            <a:avLst/>
            <a:gdLst/>
            <a:ahLst/>
            <a:cxnLst/>
            <a:rect l="l" t="t" r="r" b="b"/>
            <a:pathLst>
              <a:path w="40005" h="859789">
                <a:moveTo>
                  <a:pt x="39636" y="0"/>
                </a:moveTo>
                <a:lnTo>
                  <a:pt x="0" y="0"/>
                </a:lnTo>
                <a:lnTo>
                  <a:pt x="0" y="859536"/>
                </a:lnTo>
                <a:lnTo>
                  <a:pt x="39636" y="859536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61136" y="1169491"/>
            <a:ext cx="5432425" cy="1364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05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Campus</a:t>
            </a:r>
            <a:r>
              <a:rPr dirty="0" sz="1300" spc="3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FAQ</a:t>
            </a:r>
            <a:r>
              <a:rPr dirty="0" sz="1300" spc="3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Assistant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25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chat-style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where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student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types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plain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English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gets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matched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the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closest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answer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set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common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campus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questions,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instead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digging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50">
                <a:solidFill>
                  <a:srgbClr val="494949"/>
                </a:solidFill>
                <a:latin typeface="Gadugi"/>
                <a:cs typeface="Gadugi"/>
              </a:rPr>
              <a:t>a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noticeboard.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3836" y="1799856"/>
            <a:ext cx="40005" cy="861060"/>
          </a:xfrm>
          <a:custGeom>
            <a:avLst/>
            <a:gdLst/>
            <a:ahLst/>
            <a:cxnLst/>
            <a:rect l="l" t="t" r="r" b="b"/>
            <a:pathLst>
              <a:path w="40005" h="861060">
                <a:moveTo>
                  <a:pt x="39624" y="850379"/>
                </a:moveTo>
                <a:lnTo>
                  <a:pt x="0" y="850379"/>
                </a:lnTo>
                <a:lnTo>
                  <a:pt x="0" y="861047"/>
                </a:lnTo>
                <a:lnTo>
                  <a:pt x="39624" y="861047"/>
                </a:lnTo>
                <a:lnTo>
                  <a:pt x="39624" y="850379"/>
                </a:lnTo>
                <a:close/>
              </a:path>
              <a:path w="40005" h="86106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61136" y="2919772"/>
            <a:ext cx="5793105" cy="594995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question-and-answer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pairs,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written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about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their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text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box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student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type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Compare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typed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against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stored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cosine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3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Return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answer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closest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matching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If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nothing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matches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well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enough,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say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honestly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instead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guessing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3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Let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admin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add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new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question-and-answer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within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9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unanswered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what's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actually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asked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top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three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closest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instead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only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best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match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59300"/>
              </a:lnSpc>
              <a:spcBef>
                <a:spcPts val="5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question-and-answer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live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CSV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file.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time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student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asks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something,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their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vectorised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alongside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all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questions,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closest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found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cosine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similarity.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If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best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score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doesn't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clear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minimum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threshold,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says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doesn't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have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answer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rather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than</a:t>
            </a:r>
            <a:r>
              <a:rPr dirty="0" sz="900" spc="5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returning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poor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match.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chat-style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interface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scikit-learn,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matching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sqlite3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CSV,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bank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algn="just" marL="12700" marR="276860">
              <a:lnSpc>
                <a:spcPct val="159400"/>
              </a:lnSpc>
              <a:spcBef>
                <a:spcPts val="4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writes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their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20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30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question-and-answer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pairs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about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itself,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fees,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timetables,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library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hours,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whatever's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genuinely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useful.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This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part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project,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something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source externally.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49600" y="9593491"/>
            <a:ext cx="1466215" cy="1358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Zlaark</a:t>
            </a:r>
            <a:r>
              <a:rPr dirty="0" sz="650" spc="185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·</a:t>
            </a:r>
            <a:r>
              <a:rPr dirty="0" sz="650" spc="20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Confidential</a:t>
            </a:r>
            <a:r>
              <a:rPr dirty="0" sz="650" spc="36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|</a:t>
            </a:r>
            <a:r>
              <a:rPr dirty="0" sz="650" spc="375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Page</a:t>
            </a:r>
            <a:r>
              <a:rPr dirty="0" sz="650" spc="1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DF490F"/>
                </a:solidFill>
                <a:latin typeface="Gadugi"/>
                <a:cs typeface="Gadugi"/>
              </a:rPr>
              <a:t>10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of</a:t>
            </a:r>
            <a:r>
              <a:rPr dirty="0" sz="650" spc="2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 spc="-25">
                <a:solidFill>
                  <a:srgbClr val="C8C8C8"/>
                </a:solidFill>
                <a:latin typeface="Gadugi"/>
                <a:cs typeface="Gadugi"/>
              </a:rPr>
              <a:t>22</a:t>
            </a:r>
            <a:endParaRPr sz="650">
              <a:latin typeface="Gadugi"/>
              <a:cs typeface="Gadug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63639"/>
            <a:ext cx="5603875" cy="127698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4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Matching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logic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working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against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small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hardcoded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list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of five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six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question-and-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answer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pairs.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40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Moving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bank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CSV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growing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list.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Building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chat-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style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Streamlit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interface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around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working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matching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logic.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38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Handling 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question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doesn't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match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anything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well,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saying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honestly.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38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questions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worded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differently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how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they're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stored.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2775203"/>
            <a:ext cx="5796280" cy="905510"/>
          </a:xfrm>
          <a:custGeom>
            <a:avLst/>
            <a:gdLst/>
            <a:ahLst/>
            <a:cxnLst/>
            <a:rect l="l" t="t" r="r" b="b"/>
            <a:pathLst>
              <a:path w="5796280" h="905510">
                <a:moveTo>
                  <a:pt x="5795772" y="905256"/>
                </a:moveTo>
                <a:lnTo>
                  <a:pt x="0" y="905256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5256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2922354"/>
            <a:ext cx="5796280" cy="5543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189865">
              <a:lnSpc>
                <a:spcPct val="156500"/>
              </a:lnSpc>
              <a:spcBef>
                <a:spcPts val="110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Ask</a:t>
            </a:r>
            <a:r>
              <a:rPr dirty="0" sz="850" spc="1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question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phrased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differently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from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how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it's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stored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in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database,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not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word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for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word,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show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it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still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finds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right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answer.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2775203"/>
            <a:ext cx="5838825" cy="905510"/>
            <a:chOff x="973836" y="2775203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2775203"/>
              <a:ext cx="43180" cy="106680"/>
            </a:xfrm>
            <a:custGeom>
              <a:avLst/>
              <a:gdLst/>
              <a:ahLst/>
              <a:cxnLst/>
              <a:rect l="l" t="t" r="r" b="b"/>
              <a:pathLst>
                <a:path w="43180" h="106680">
                  <a:moveTo>
                    <a:pt x="42672" y="106680"/>
                  </a:moveTo>
                  <a:lnTo>
                    <a:pt x="0" y="106680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6680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3567684"/>
              <a:ext cx="5817235" cy="113030"/>
            </a:xfrm>
            <a:custGeom>
              <a:avLst/>
              <a:gdLst/>
              <a:ahLst/>
              <a:cxnLst/>
              <a:rect l="l" t="t" r="r" b="b"/>
              <a:pathLst>
                <a:path w="5817234" h="113029">
                  <a:moveTo>
                    <a:pt x="5817108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2775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2881883"/>
              <a:ext cx="43180" cy="798830"/>
            </a:xfrm>
            <a:custGeom>
              <a:avLst/>
              <a:gdLst/>
              <a:ahLst/>
              <a:cxnLst/>
              <a:rect l="l" t="t" r="r" b="b"/>
              <a:pathLst>
                <a:path w="43180" h="798829">
                  <a:moveTo>
                    <a:pt x="42672" y="798575"/>
                  </a:moveTo>
                  <a:lnTo>
                    <a:pt x="0" y="798575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8575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1136" y="8644955"/>
            <a:ext cx="3885565" cy="6032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39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add-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expense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table,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charts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yet.</a:t>
            </a:r>
            <a:endParaRPr sz="850">
              <a:latin typeface="Gadugi"/>
              <a:cs typeface="Gadugi"/>
            </a:endParaRPr>
          </a:p>
          <a:p>
            <a:pPr marL="18415">
              <a:lnSpc>
                <a:spcPct val="100000"/>
              </a:lnSpc>
              <a:spcBef>
                <a:spcPts val="990"/>
              </a:spcBef>
              <a:tabLst>
                <a:tab pos="2372995" algn="l"/>
              </a:tabLst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	</a:t>
            </a: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8" name="object 8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973823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36" y="0"/>
                </a:moveTo>
                <a:lnTo>
                  <a:pt x="0" y="0"/>
                </a:lnTo>
                <a:lnTo>
                  <a:pt x="0" y="614172"/>
                </a:lnTo>
                <a:lnTo>
                  <a:pt x="39636" y="614172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61136" y="1169491"/>
            <a:ext cx="5468620" cy="1117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06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Expense</a:t>
            </a:r>
            <a:r>
              <a:rPr dirty="0" sz="1300" spc="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Tracker</a:t>
            </a:r>
            <a:r>
              <a:rPr dirty="0" sz="1300" spc="5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&amp;</a:t>
            </a:r>
            <a:r>
              <a:rPr dirty="0" sz="1300" spc="3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Spending</a:t>
            </a:r>
            <a:r>
              <a:rPr dirty="0" sz="1300" spc="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Dashboard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Log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daily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expenses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actually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see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where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money's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going,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rather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than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just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keeping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0">
                <a:solidFill>
                  <a:srgbClr val="494949"/>
                </a:solidFill>
                <a:latin typeface="Gadugi"/>
                <a:cs typeface="Gadugi"/>
              </a:rPr>
              <a:t>list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nobody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looks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back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at.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3836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8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61136" y="2750123"/>
            <a:ext cx="5799455" cy="569023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log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expense: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amount,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category,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date,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short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note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expense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all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logged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expenses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chart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spending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category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chart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spending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month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9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monthly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budget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limit,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warning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shown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if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it's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crossed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3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Separate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budget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limits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category,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just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overall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limit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19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Export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all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expenses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CSV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9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simple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projection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month-end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spending,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based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pace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far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135890">
              <a:lnSpc>
                <a:spcPct val="159400"/>
              </a:lnSpc>
              <a:spcBef>
                <a:spcPts val="4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writes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new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expense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row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table.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separate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section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reads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all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rows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back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groups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totals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them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charts,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Streamlit's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built-in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chart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functions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display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the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result.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budget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warning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compares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current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month's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total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against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limit.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8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dashboard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sqlite3,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expense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grouping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totalling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behind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charts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60000"/>
              </a:lnSpc>
              <a:spcBef>
                <a:spcPts val="3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external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needed,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generates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their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simply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during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development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testing.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2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63262"/>
            <a:ext cx="5525135" cy="834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view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showing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all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logged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expenses.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409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Category-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wise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month-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wise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charts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built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stored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data.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39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budget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limit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setting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warning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when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it's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crossed.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40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through: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several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expenses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live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watch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charts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warning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update.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2331720"/>
            <a:ext cx="5796280" cy="905510"/>
          </a:xfrm>
          <a:custGeom>
            <a:avLst/>
            <a:gdLst/>
            <a:ahLst/>
            <a:cxnLst/>
            <a:rect l="l" t="t" r="r" b="b"/>
            <a:pathLst>
              <a:path w="5796280" h="905510">
                <a:moveTo>
                  <a:pt x="5795772" y="905255"/>
                </a:moveTo>
                <a:lnTo>
                  <a:pt x="0" y="905255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5255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2480394"/>
            <a:ext cx="5796280" cy="553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153035">
              <a:lnSpc>
                <a:spcPct val="155300"/>
              </a:lnSpc>
              <a:spcBef>
                <a:spcPts val="125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Log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few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expenses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live,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watch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chart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update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immediately,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then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log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one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more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that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crosses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budget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line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25">
                <a:solidFill>
                  <a:srgbClr val="2B2B2B"/>
                </a:solidFill>
                <a:latin typeface="Segoe UI Symbol"/>
                <a:cs typeface="Segoe UI Symbol"/>
              </a:rPr>
              <a:t>and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show</a:t>
            </a:r>
            <a:r>
              <a:rPr dirty="0" sz="850" spc="6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6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warning</a:t>
            </a:r>
            <a:r>
              <a:rPr dirty="0" sz="850" spc="6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appear.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2331720"/>
            <a:ext cx="5838825" cy="905510"/>
            <a:chOff x="973836" y="2331720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2331720"/>
              <a:ext cx="43180" cy="108585"/>
            </a:xfrm>
            <a:custGeom>
              <a:avLst/>
              <a:gdLst/>
              <a:ahLst/>
              <a:cxnLst/>
              <a:rect l="l" t="t" r="r" b="b"/>
              <a:pathLst>
                <a:path w="43180" h="108585">
                  <a:moveTo>
                    <a:pt x="42672" y="108204"/>
                  </a:moveTo>
                  <a:lnTo>
                    <a:pt x="0" y="108204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8204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3124200"/>
              <a:ext cx="5817235" cy="113030"/>
            </a:xfrm>
            <a:custGeom>
              <a:avLst/>
              <a:gdLst/>
              <a:ahLst/>
              <a:cxnLst/>
              <a:rect l="l" t="t" r="r" b="b"/>
              <a:pathLst>
                <a:path w="5817234" h="113030">
                  <a:moveTo>
                    <a:pt x="5817108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2775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2439924"/>
              <a:ext cx="43180" cy="797560"/>
            </a:xfrm>
            <a:custGeom>
              <a:avLst/>
              <a:gdLst/>
              <a:ahLst/>
              <a:cxnLst/>
              <a:rect l="l" t="t" r="r" b="b"/>
              <a:pathLst>
                <a:path w="43180" h="797560">
                  <a:moveTo>
                    <a:pt x="42672" y="797051"/>
                  </a:moveTo>
                  <a:lnTo>
                    <a:pt x="0" y="797051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7051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3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9" name="object 9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973823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36" y="0"/>
                </a:moveTo>
                <a:lnTo>
                  <a:pt x="0" y="0"/>
                </a:lnTo>
                <a:lnTo>
                  <a:pt x="0" y="614172"/>
                </a:lnTo>
                <a:lnTo>
                  <a:pt x="39636" y="614172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61136" y="1169491"/>
            <a:ext cx="5771515" cy="1117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07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Habit</a:t>
            </a:r>
            <a:r>
              <a:rPr dirty="0" sz="1300" spc="3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&amp;</a:t>
            </a:r>
            <a:r>
              <a:rPr dirty="0" sz="1300" spc="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Study</a:t>
            </a:r>
            <a:r>
              <a:rPr dirty="0" sz="13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Streak</a:t>
            </a:r>
            <a:r>
              <a:rPr dirty="0" sz="1300" spc="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Tracker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Log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whether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habit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study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session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happened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today,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watch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streak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build,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break,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the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same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idea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behind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any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habit-tracking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app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people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already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0">
                <a:solidFill>
                  <a:srgbClr val="494949"/>
                </a:solidFill>
                <a:latin typeface="Gadugi"/>
                <a:cs typeface="Gadugi"/>
              </a:rPr>
              <a:t>use.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3836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8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61136" y="2750123"/>
            <a:ext cx="5661025" cy="60109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list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habits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goals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user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tracking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daily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check-in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screen: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mark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habit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done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done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today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check-ins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row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habit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day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Calculate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current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streak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habit,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number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consecutive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days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done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weekly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chart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consistency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across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all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habits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4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longest-streak-ever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record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kept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habit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0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warning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when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streak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about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break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9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Adding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removing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habits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within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app,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hardcoded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59400"/>
              </a:lnSpc>
              <a:spcBef>
                <a:spcPts val="6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row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habit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day,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marked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done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not.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streak-calculation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function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walks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backward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today,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counting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consecutive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done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days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until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hits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gap.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check-in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screen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writes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today's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entries,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separate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view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reads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history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streaks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weekly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chart.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check-in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streak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view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9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sqlite3,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storing</a:t>
            </a:r>
            <a:r>
              <a:rPr dirty="0" sz="900" spc="1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daily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check-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ins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weekly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aggregation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behind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chart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179070">
              <a:lnSpc>
                <a:spcPct val="158900"/>
              </a:lnSpc>
              <a:spcBef>
                <a:spcPts val="5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external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needed,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but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it's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worth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preloading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few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days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made-up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historical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check-ins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during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development,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streak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logic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has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something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real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calculate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against.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40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check-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table,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row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habit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day.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4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12124"/>
            <a:ext cx="5707380" cy="1243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36854">
              <a:lnSpc>
                <a:spcPct val="138800"/>
              </a:lnSpc>
              <a:spcBef>
                <a:spcPts val="10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streak-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calculation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function,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tested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carefully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against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made-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up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historical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data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before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it's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trusted.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39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weekly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consistency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chart,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built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stored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check-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ins.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38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Handling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brand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new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habit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history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yet,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adding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removing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habits.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38800"/>
              </a:lnSpc>
              <a:spcBef>
                <a:spcPts val="36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40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few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days of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preloaded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history,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streak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count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actually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shows something.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2688335"/>
            <a:ext cx="5796280" cy="905510"/>
          </a:xfrm>
          <a:custGeom>
            <a:avLst/>
            <a:gdLst/>
            <a:ahLst/>
            <a:cxnLst/>
            <a:rect l="l" t="t" r="r" b="b"/>
            <a:pathLst>
              <a:path w="5796280" h="905510">
                <a:moveTo>
                  <a:pt x="5795772" y="905256"/>
                </a:moveTo>
                <a:lnTo>
                  <a:pt x="0" y="905256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5256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2837011"/>
            <a:ext cx="5796280" cy="553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177165">
              <a:lnSpc>
                <a:spcPct val="155300"/>
              </a:lnSpc>
              <a:spcBef>
                <a:spcPts val="125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Preload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few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days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of</a:t>
            </a:r>
            <a:r>
              <a:rPr dirty="0" sz="850" spc="1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history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before</a:t>
            </a:r>
            <a:r>
              <a:rPr dirty="0" sz="850" spc="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demo,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so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1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streak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count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means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something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in</a:t>
            </a:r>
            <a:r>
              <a:rPr dirty="0" sz="850" spc="1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front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of</a:t>
            </a:r>
            <a:r>
              <a:rPr dirty="0" sz="850" spc="1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panel,</a:t>
            </a:r>
            <a:r>
              <a:rPr dirty="0" sz="850" spc="1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rather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than</a:t>
            </a:r>
            <a:r>
              <a:rPr dirty="0" sz="850" spc="6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starting</a:t>
            </a:r>
            <a:r>
              <a:rPr dirty="0" sz="850" spc="6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from</a:t>
            </a:r>
            <a:r>
              <a:rPr dirty="0" sz="850" spc="7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2B2B2B"/>
                </a:solidFill>
                <a:latin typeface="Segoe UI Symbol"/>
                <a:cs typeface="Segoe UI Symbol"/>
              </a:rPr>
              <a:t>zero.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2688335"/>
            <a:ext cx="5838825" cy="905510"/>
            <a:chOff x="973836" y="2688335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2688335"/>
              <a:ext cx="43180" cy="108585"/>
            </a:xfrm>
            <a:custGeom>
              <a:avLst/>
              <a:gdLst/>
              <a:ahLst/>
              <a:cxnLst/>
              <a:rect l="l" t="t" r="r" b="b"/>
              <a:pathLst>
                <a:path w="43180" h="108585">
                  <a:moveTo>
                    <a:pt x="42672" y="108204"/>
                  </a:moveTo>
                  <a:lnTo>
                    <a:pt x="0" y="108204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8204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3480816"/>
              <a:ext cx="5817235" cy="113030"/>
            </a:xfrm>
            <a:custGeom>
              <a:avLst/>
              <a:gdLst/>
              <a:ahLst/>
              <a:cxnLst/>
              <a:rect l="l" t="t" r="r" b="b"/>
              <a:pathLst>
                <a:path w="5817234" h="113029">
                  <a:moveTo>
                    <a:pt x="5817108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2775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2796540"/>
              <a:ext cx="43180" cy="797560"/>
            </a:xfrm>
            <a:custGeom>
              <a:avLst/>
              <a:gdLst/>
              <a:ahLst/>
              <a:cxnLst/>
              <a:rect l="l" t="t" r="r" b="b"/>
              <a:pathLst>
                <a:path w="43180" h="797560">
                  <a:moveTo>
                    <a:pt x="42672" y="797051"/>
                  </a:moveTo>
                  <a:lnTo>
                    <a:pt x="0" y="797051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7051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5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1136" y="2750123"/>
            <a:ext cx="5838825" cy="649795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Add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subjects,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total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classes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held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classes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attended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far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this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row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subject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Calculate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current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attendance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percentage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subject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Calculate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exactly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how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many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more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classes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missed,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need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attended,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stay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above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75%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summary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view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across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all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subjects,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anything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below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safe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line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flagged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3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Update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attendance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day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instead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entering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running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totals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manually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chart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showing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attendance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trend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across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semester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35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configurable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safe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percentage,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since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some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courses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require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80%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rather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than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75%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6985">
              <a:lnSpc>
                <a:spcPct val="159400"/>
              </a:lnSpc>
              <a:spcBef>
                <a:spcPts val="6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subject's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running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totals.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calculation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function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does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percentage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classes-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you-can-miss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arithmetic.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updates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numbers,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dashboard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view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subject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at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once,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flagging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anything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close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below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line.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entry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dashboard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9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sqlite3,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storing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subject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totals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Plain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Python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arithmetic,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extra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library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needed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calculation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itself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271145">
              <a:lnSpc>
                <a:spcPct val="158900"/>
              </a:lnSpc>
              <a:spcBef>
                <a:spcPts val="5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external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needed,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group's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actual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attendance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numbers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make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genuinely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useful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(and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honest)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demo.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subject-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entry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table.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 CORE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4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percentage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classes-you-can-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miss calculation,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tested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hand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few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examples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first.</a:t>
            </a:r>
            <a:endParaRPr sz="85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850">
              <a:latin typeface="Gadugi"/>
              <a:cs typeface="Gadugi"/>
            </a:endParaRPr>
          </a:p>
          <a:p>
            <a:pPr marL="18415">
              <a:lnSpc>
                <a:spcPct val="100000"/>
              </a:lnSpc>
              <a:tabLst>
                <a:tab pos="2372995" algn="l"/>
                <a:tab pos="4855845" algn="l"/>
              </a:tabLst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	</a:t>
            </a: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	</a:t>
            </a: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7" name="object 7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973823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36" y="0"/>
                </a:moveTo>
                <a:lnTo>
                  <a:pt x="0" y="0"/>
                </a:lnTo>
                <a:lnTo>
                  <a:pt x="0" y="614172"/>
                </a:lnTo>
                <a:lnTo>
                  <a:pt x="39636" y="614172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61136" y="1169491"/>
            <a:ext cx="5678805" cy="1117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08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Attendance</a:t>
            </a:r>
            <a:r>
              <a:rPr dirty="0" sz="1300" spc="3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Safety</a:t>
            </a:r>
            <a:r>
              <a:rPr dirty="0" sz="1300" spc="5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Calculator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Track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attendance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subject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subject</a:t>
            </a:r>
            <a:r>
              <a:rPr dirty="0" sz="10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know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exactly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how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many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classes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be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missed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still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clear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required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percentage,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instead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guessing.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3836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8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6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63262"/>
            <a:ext cx="4557395" cy="607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4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all-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subjects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dashboard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view,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subjects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below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safe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line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flagged.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39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Handling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subject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zero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classes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held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yet,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without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dividing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zero.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group's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own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real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attendance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numbers.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2106167"/>
            <a:ext cx="5796280" cy="904240"/>
          </a:xfrm>
          <a:custGeom>
            <a:avLst/>
            <a:gdLst/>
            <a:ahLst/>
            <a:cxnLst/>
            <a:rect l="l" t="t" r="r" b="b"/>
            <a:pathLst>
              <a:path w="5796280" h="904239">
                <a:moveTo>
                  <a:pt x="5795772" y="903732"/>
                </a:moveTo>
                <a:lnTo>
                  <a:pt x="0" y="903732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3732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2253318"/>
            <a:ext cx="5796280" cy="5543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240029">
              <a:lnSpc>
                <a:spcPct val="156500"/>
              </a:lnSpc>
              <a:spcBef>
                <a:spcPts val="110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Show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one</a:t>
            </a:r>
            <a:r>
              <a:rPr dirty="0" sz="850" spc="2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subject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that's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comfortably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safe</a:t>
            </a:r>
            <a:r>
              <a:rPr dirty="0" sz="850" spc="1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one</a:t>
            </a:r>
            <a:r>
              <a:rPr dirty="0" sz="850" spc="1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that's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right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on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edge,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so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classes-you-can-miss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number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actually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means</a:t>
            </a:r>
            <a:r>
              <a:rPr dirty="0" sz="850" spc="8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something</a:t>
            </a:r>
            <a:r>
              <a:rPr dirty="0" sz="850" spc="7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in</a:t>
            </a:r>
            <a:r>
              <a:rPr dirty="0" sz="850" spc="7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7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room.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2106167"/>
            <a:ext cx="5838825" cy="905510"/>
            <a:chOff x="973836" y="2106167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2106167"/>
              <a:ext cx="43180" cy="106680"/>
            </a:xfrm>
            <a:custGeom>
              <a:avLst/>
              <a:gdLst/>
              <a:ahLst/>
              <a:cxnLst/>
              <a:rect l="l" t="t" r="r" b="b"/>
              <a:pathLst>
                <a:path w="43180" h="106680">
                  <a:moveTo>
                    <a:pt x="42672" y="106680"/>
                  </a:moveTo>
                  <a:lnTo>
                    <a:pt x="0" y="106680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6680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2898648"/>
              <a:ext cx="5817235" cy="113030"/>
            </a:xfrm>
            <a:custGeom>
              <a:avLst/>
              <a:gdLst/>
              <a:ahLst/>
              <a:cxnLst/>
              <a:rect l="l" t="t" r="r" b="b"/>
              <a:pathLst>
                <a:path w="5817234" h="113030">
                  <a:moveTo>
                    <a:pt x="5817108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2775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2212848"/>
              <a:ext cx="43180" cy="798830"/>
            </a:xfrm>
            <a:custGeom>
              <a:avLst/>
              <a:gdLst/>
              <a:ahLst/>
              <a:cxnLst/>
              <a:rect l="l" t="t" r="r" b="b"/>
              <a:pathLst>
                <a:path w="43180" h="798830">
                  <a:moveTo>
                    <a:pt x="42672" y="798575"/>
                  </a:moveTo>
                  <a:lnTo>
                    <a:pt x="0" y="798575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8575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7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1136" y="2750123"/>
            <a:ext cx="5838825" cy="649795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registration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form: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name,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blood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contact,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location,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availability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entries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search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screen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filters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blood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location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shown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clean,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readable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list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Mark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entry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recently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donated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hide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search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cooldown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period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0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Export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filtered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CSV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drive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organiser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hostel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block,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if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supports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it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332740">
              <a:lnSpc>
                <a:spcPct val="158900"/>
              </a:lnSpc>
              <a:spcBef>
                <a:spcPts val="6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registration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writes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each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new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entry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table.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search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screen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reads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same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table,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filtered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whatever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selects,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displays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list.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registration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search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screens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sqlite3,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storing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entries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pandas,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filtering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displaying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464820">
              <a:lnSpc>
                <a:spcPct val="160000"/>
              </a:lnSpc>
              <a:spcBef>
                <a:spcPts val="45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seeds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database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reasonable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number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realistic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sample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entries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demo.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Real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registrations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follow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later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if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wants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actually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it.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4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registration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form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table.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40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search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screen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blood-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location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filters.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409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Seeding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database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enough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realistic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entries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search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actually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demonstrates something.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39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cooldown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logic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recently-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donated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entries,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CSV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export.</a:t>
            </a:r>
            <a:endParaRPr sz="85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850">
              <a:latin typeface="Gadugi"/>
              <a:cs typeface="Gadugi"/>
            </a:endParaRPr>
          </a:p>
          <a:p>
            <a:pPr marL="18415">
              <a:lnSpc>
                <a:spcPct val="100000"/>
              </a:lnSpc>
              <a:tabLst>
                <a:tab pos="2372995" algn="l"/>
                <a:tab pos="4855845" algn="l"/>
              </a:tabLst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	</a:t>
            </a: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	</a:t>
            </a: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7" name="object 7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973823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36" y="0"/>
                </a:moveTo>
                <a:lnTo>
                  <a:pt x="0" y="0"/>
                </a:lnTo>
                <a:lnTo>
                  <a:pt x="0" y="614172"/>
                </a:lnTo>
                <a:lnTo>
                  <a:pt x="39636" y="614172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61136" y="1169491"/>
            <a:ext cx="5678170" cy="1117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09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Blood</a:t>
            </a:r>
            <a:r>
              <a:rPr dirty="0" sz="13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Donor</a:t>
            </a:r>
            <a:r>
              <a:rPr dirty="0" sz="13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&amp;</a:t>
            </a:r>
            <a:r>
              <a:rPr dirty="0" sz="13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Volunteer</a:t>
            </a:r>
            <a:r>
              <a:rPr dirty="0" sz="1300" spc="4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Finder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searchable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directory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10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donors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volunteers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campus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drives,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instead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10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scrolling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50">
                <a:solidFill>
                  <a:srgbClr val="494949"/>
                </a:solidFill>
                <a:latin typeface="Gadugi"/>
                <a:cs typeface="Gadugi"/>
              </a:rPr>
              <a:t>a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WhatsApp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nobody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can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search.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3836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8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8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63262"/>
            <a:ext cx="5097780" cy="154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39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through: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search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live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narrow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filters,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watching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list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update.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1653539"/>
            <a:ext cx="5796280" cy="904240"/>
          </a:xfrm>
          <a:custGeom>
            <a:avLst/>
            <a:gdLst/>
            <a:ahLst/>
            <a:cxnLst/>
            <a:rect l="l" t="t" r="r" b="b"/>
            <a:pathLst>
              <a:path w="5796280" h="904239">
                <a:moveTo>
                  <a:pt x="5795772" y="903732"/>
                </a:moveTo>
                <a:lnTo>
                  <a:pt x="0" y="903732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3732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1800690"/>
            <a:ext cx="5796280" cy="5543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340995">
              <a:lnSpc>
                <a:spcPct val="156500"/>
              </a:lnSpc>
              <a:spcBef>
                <a:spcPts val="110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Search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live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for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specific</a:t>
            </a:r>
            <a:r>
              <a:rPr dirty="0" sz="850" spc="2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blood</a:t>
            </a:r>
            <a:r>
              <a:rPr dirty="0" sz="850" spc="6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group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location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combination,</a:t>
            </a:r>
            <a:r>
              <a:rPr dirty="0" sz="850" spc="3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show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results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list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narrow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down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as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25">
                <a:solidFill>
                  <a:srgbClr val="2B2B2B"/>
                </a:solidFill>
                <a:latin typeface="Segoe UI Symbol"/>
                <a:cs typeface="Segoe UI Symbol"/>
              </a:rPr>
              <a:t>the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filters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are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applied.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1653539"/>
            <a:ext cx="5838825" cy="905510"/>
            <a:chOff x="973836" y="1653539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1653539"/>
              <a:ext cx="43180" cy="106680"/>
            </a:xfrm>
            <a:custGeom>
              <a:avLst/>
              <a:gdLst/>
              <a:ahLst/>
              <a:cxnLst/>
              <a:rect l="l" t="t" r="r" b="b"/>
              <a:pathLst>
                <a:path w="43180" h="106680">
                  <a:moveTo>
                    <a:pt x="42672" y="106679"/>
                  </a:moveTo>
                  <a:lnTo>
                    <a:pt x="0" y="106679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6679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2444496"/>
              <a:ext cx="5817235" cy="114300"/>
            </a:xfrm>
            <a:custGeom>
              <a:avLst/>
              <a:gdLst/>
              <a:ahLst/>
              <a:cxnLst/>
              <a:rect l="l" t="t" r="r" b="b"/>
              <a:pathLst>
                <a:path w="5817234" h="114300">
                  <a:moveTo>
                    <a:pt x="5817108" y="114300"/>
                  </a:moveTo>
                  <a:lnTo>
                    <a:pt x="0" y="114300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4300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1760219"/>
              <a:ext cx="43180" cy="798830"/>
            </a:xfrm>
            <a:custGeom>
              <a:avLst/>
              <a:gdLst/>
              <a:ahLst/>
              <a:cxnLst/>
              <a:rect l="l" t="t" r="r" b="b"/>
              <a:pathLst>
                <a:path w="43180" h="798830">
                  <a:moveTo>
                    <a:pt x="42672" y="798576"/>
                  </a:moveTo>
                  <a:lnTo>
                    <a:pt x="0" y="798576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8576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Zlaark</a:t>
            </a:r>
            <a:r>
              <a:rPr dirty="0" spc="185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Confidential</a:t>
            </a:r>
            <a:r>
              <a:rPr dirty="0" spc="360"/>
              <a:t> </a:t>
            </a:r>
            <a:r>
              <a:rPr dirty="0"/>
              <a:t>|</a:t>
            </a:r>
            <a:r>
              <a:rPr dirty="0" spc="375"/>
              <a:t> </a:t>
            </a:r>
            <a:r>
              <a:rPr dirty="0"/>
              <a:t>Page</a:t>
            </a:r>
            <a:r>
              <a:rPr dirty="0" spc="10"/>
              <a:t> </a:t>
            </a:r>
            <a:r>
              <a:rPr dirty="0">
                <a:solidFill>
                  <a:srgbClr val="DF490F"/>
                </a:solidFill>
              </a:rPr>
              <a:t>1</a:t>
            </a:r>
            <a:r>
              <a:rPr dirty="0">
                <a:solidFill>
                  <a:srgbClr val="DF490F"/>
                </a:solidFill>
              </a:rPr>
              <a:t>9</a:t>
            </a:r>
            <a:r>
              <a:rPr dirty="0">
                <a:solidFill>
                  <a:srgbClr val="DF490F"/>
                </a:solidFill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73836" y="1478280"/>
            <a:ext cx="5819140" cy="27940"/>
            <a:chOff x="973836" y="1478280"/>
            <a:chExt cx="5819140" cy="27940"/>
          </a:xfrm>
        </p:grpSpPr>
        <p:sp>
          <p:nvSpPr>
            <p:cNvPr id="9" name="object 9"/>
            <p:cNvSpPr/>
            <p:nvPr/>
          </p:nvSpPr>
          <p:spPr>
            <a:xfrm>
              <a:off x="973836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5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5" y="0"/>
                  </a:lnTo>
                  <a:lnTo>
                    <a:pt x="2909315" y="27432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83152" y="1478280"/>
              <a:ext cx="2909570" cy="27940"/>
            </a:xfrm>
            <a:custGeom>
              <a:avLst/>
              <a:gdLst/>
              <a:ahLst/>
              <a:cxnLst/>
              <a:rect l="l" t="t" r="r" b="b"/>
              <a:pathLst>
                <a:path w="2909570" h="27940">
                  <a:moveTo>
                    <a:pt x="2909316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2909316" y="0"/>
                  </a:lnTo>
                  <a:lnTo>
                    <a:pt x="2909316" y="2743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973823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36" y="0"/>
                </a:moveTo>
                <a:lnTo>
                  <a:pt x="0" y="0"/>
                </a:lnTo>
                <a:lnTo>
                  <a:pt x="0" y="614172"/>
                </a:lnTo>
                <a:lnTo>
                  <a:pt x="39636" y="614172"/>
                </a:lnTo>
                <a:lnTo>
                  <a:pt x="39636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61136" y="1169491"/>
            <a:ext cx="5775960" cy="1117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1400" spc="-25" b="1">
                <a:solidFill>
                  <a:srgbClr val="DF490F"/>
                </a:solidFill>
                <a:latin typeface="Gadugi"/>
                <a:cs typeface="Gadugi"/>
              </a:rPr>
              <a:t>10</a:t>
            </a:r>
            <a:r>
              <a:rPr dirty="0" sz="1400" b="1">
                <a:solidFill>
                  <a:srgbClr val="DF490F"/>
                </a:solidFill>
                <a:latin typeface="Gadugi"/>
                <a:cs typeface="Gadugi"/>
              </a:rPr>
              <a:t>	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Movie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or</a:t>
            </a:r>
            <a:r>
              <a:rPr dirty="0" sz="13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1300" b="1">
                <a:solidFill>
                  <a:srgbClr val="1A1A2D"/>
                </a:solidFill>
                <a:latin typeface="Gadugi"/>
                <a:cs typeface="Gadugi"/>
              </a:rPr>
              <a:t>Book </a:t>
            </a:r>
            <a:r>
              <a:rPr dirty="0" sz="1300" spc="-10" b="1">
                <a:solidFill>
                  <a:srgbClr val="1A1A2D"/>
                </a:solidFill>
                <a:latin typeface="Gadugi"/>
                <a:cs typeface="Gadugi"/>
              </a:rPr>
              <a:t>Recommender</a:t>
            </a:r>
            <a:endParaRPr sz="13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300">
              <a:latin typeface="Gadugi"/>
              <a:cs typeface="Gadugi"/>
            </a:endParaRPr>
          </a:p>
          <a:p>
            <a:pPr marL="158750" marR="5080">
              <a:lnSpc>
                <a:spcPct val="163000"/>
              </a:lnSpc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Pick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something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you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like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10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get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similar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recommendations,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same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idea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behind</a:t>
            </a:r>
            <a:r>
              <a:rPr dirty="0" sz="10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"you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might</a:t>
            </a:r>
            <a:r>
              <a:rPr dirty="0" sz="10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0">
                <a:solidFill>
                  <a:srgbClr val="494949"/>
                </a:solidFill>
                <a:latin typeface="Gadugi"/>
                <a:cs typeface="Gadugi"/>
              </a:rPr>
              <a:t>also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like"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10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any</a:t>
            </a:r>
            <a:r>
              <a:rPr dirty="0" sz="10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streaming</a:t>
            </a:r>
            <a:r>
              <a:rPr dirty="0" sz="10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app,</a:t>
            </a:r>
            <a:r>
              <a:rPr dirty="0" sz="10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built</a:t>
            </a:r>
            <a:r>
              <a:rPr dirty="0" sz="10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from</a:t>
            </a:r>
            <a:r>
              <a:rPr dirty="0" sz="10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scratch.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3836" y="1799856"/>
            <a:ext cx="40005" cy="614680"/>
          </a:xfrm>
          <a:custGeom>
            <a:avLst/>
            <a:gdLst/>
            <a:ahLst/>
            <a:cxnLst/>
            <a:rect l="l" t="t" r="r" b="b"/>
            <a:pathLst>
              <a:path w="40005" h="614680">
                <a:moveTo>
                  <a:pt x="39624" y="601980"/>
                </a:moveTo>
                <a:lnTo>
                  <a:pt x="0" y="601980"/>
                </a:lnTo>
                <a:lnTo>
                  <a:pt x="0" y="614172"/>
                </a:lnTo>
                <a:lnTo>
                  <a:pt x="39624" y="614172"/>
                </a:lnTo>
                <a:lnTo>
                  <a:pt x="39624" y="601980"/>
                </a:lnTo>
                <a:close/>
              </a:path>
              <a:path w="40005" h="614680">
                <a:moveTo>
                  <a:pt x="39624" y="0"/>
                </a:moveTo>
                <a:lnTo>
                  <a:pt x="0" y="0"/>
                </a:lnTo>
                <a:lnTo>
                  <a:pt x="0" y="10668"/>
                </a:lnTo>
                <a:lnTo>
                  <a:pt x="39624" y="10668"/>
                </a:lnTo>
                <a:lnTo>
                  <a:pt x="39624" y="0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61136" y="2750123"/>
            <a:ext cx="5779770" cy="598360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CORE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FEATURES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·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5" b="1">
                <a:solidFill>
                  <a:srgbClr val="2B2B2B"/>
                </a:solidFill>
                <a:latin typeface="Gadugi"/>
                <a:cs typeface="Gadugi"/>
              </a:rPr>
              <a:t>MVP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70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small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catalog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titles: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name,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genre,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short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dropdown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pick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title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you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already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like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Compare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that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title's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against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other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title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14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cosine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Show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top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five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most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titles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F490F"/>
              </a:buClr>
              <a:buFont typeface="Segoe UI Symbol"/>
              <a:buChar char="✓"/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WORTH</a:t>
            </a:r>
            <a:r>
              <a:rPr dirty="0" sz="850" spc="12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ADDING</a:t>
            </a:r>
            <a:r>
              <a:rPr dirty="0" sz="850" spc="13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IF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THERE'S</a:t>
            </a:r>
            <a:r>
              <a:rPr dirty="0" sz="850" spc="13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TIME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54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Combine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genre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matching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description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better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recommendations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1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Let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user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rate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titles,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5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factor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ratings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what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gets</a:t>
            </a:r>
            <a:r>
              <a:rPr dirty="0" sz="900" spc="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recommended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900" b="1">
                <a:solidFill>
                  <a:srgbClr val="2B5E89"/>
                </a:solidFill>
                <a:latin typeface="Gadugi"/>
                <a:cs typeface="Gadugi"/>
              </a:rPr>
              <a:t>+</a:t>
            </a:r>
            <a:r>
              <a:rPr dirty="0" sz="900" spc="220" b="1">
                <a:solidFill>
                  <a:srgbClr val="2B5E89"/>
                </a:solidFill>
                <a:latin typeface="Gadugi"/>
                <a:cs typeface="Gadugi"/>
              </a:rPr>
              <a:t> 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Add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cover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images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if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catalog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includes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0">
                <a:solidFill>
                  <a:srgbClr val="494949"/>
                </a:solidFill>
                <a:latin typeface="Gadugi"/>
                <a:cs typeface="Gadugi"/>
              </a:rPr>
              <a:t>them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HOW</a:t>
            </a:r>
            <a:r>
              <a:rPr dirty="0" sz="850" spc="8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TO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THINK</a:t>
            </a:r>
            <a:r>
              <a:rPr dirty="0" sz="850" spc="8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ABOUT</a:t>
            </a:r>
            <a:r>
              <a:rPr dirty="0" sz="850" spc="11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THE</a:t>
            </a:r>
            <a:r>
              <a:rPr dirty="0" sz="850" spc="9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ARCHITECTURE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58900"/>
              </a:lnSpc>
              <a:spcBef>
                <a:spcPts val="6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CSV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SQLite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table</a:t>
            </a:r>
            <a:r>
              <a:rPr dirty="0" sz="900" spc="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holds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catalog.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It's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loaded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once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applied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across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every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description.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When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title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selected,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its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against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every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other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row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calculated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sorted,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25">
                <a:solidFill>
                  <a:srgbClr val="494949"/>
                </a:solidFill>
                <a:latin typeface="Gadugi"/>
                <a:cs typeface="Gadugi"/>
              </a:rPr>
              <a:t>top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matches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are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displayed.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TECH</a:t>
            </a:r>
            <a:r>
              <a:rPr dirty="0" sz="850" spc="10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STACK</a:t>
            </a:r>
            <a:endParaRPr sz="85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69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Streamlit,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dropdown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results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display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10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pandas,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loading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managing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catalog</a:t>
            </a:r>
            <a:endParaRPr sz="900">
              <a:latin typeface="Gadugi"/>
              <a:cs typeface="Gadugi"/>
            </a:endParaRPr>
          </a:p>
          <a:p>
            <a:pPr marL="202565" indent="-189865">
              <a:lnSpc>
                <a:spcPct val="100000"/>
              </a:lnSpc>
              <a:spcBef>
                <a:spcPts val="925"/>
              </a:spcBef>
              <a:buClr>
                <a:srgbClr val="DF490F"/>
              </a:buClr>
              <a:buFont typeface="Segoe UI Symbol"/>
              <a:buChar char="✓"/>
              <a:tabLst>
                <a:tab pos="202565" algn="l"/>
              </a:tabLst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scikit-learn,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TF-IDF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vectorising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900" spc="1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cosine</a:t>
            </a:r>
            <a:r>
              <a:rPr dirty="0" sz="900" spc="10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similarity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DATA</a:t>
            </a:r>
            <a:r>
              <a:rPr dirty="0" sz="850" spc="10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10" b="1">
                <a:solidFill>
                  <a:srgbClr val="2B2B2B"/>
                </a:solidFill>
                <a:latin typeface="Gadugi"/>
                <a:cs typeface="Gadugi"/>
              </a:rPr>
              <a:t>NEEDED</a:t>
            </a:r>
            <a:endParaRPr sz="850">
              <a:latin typeface="Gadugi"/>
              <a:cs typeface="Gadugi"/>
            </a:endParaRPr>
          </a:p>
          <a:p>
            <a:pPr marL="12700" marR="81280">
              <a:lnSpc>
                <a:spcPct val="157800"/>
              </a:lnSpc>
              <a:spcBef>
                <a:spcPts val="80"/>
              </a:spcBef>
            </a:pP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small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catalog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dataset,</a:t>
            </a:r>
            <a:r>
              <a:rPr dirty="0" sz="900" spc="7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100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300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titles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plenty,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either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7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trimmed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public</a:t>
            </a:r>
            <a:r>
              <a:rPr dirty="0" sz="900" spc="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movie</a:t>
            </a:r>
            <a:r>
              <a:rPr dirty="0" sz="900" spc="8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dataset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one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900" spc="6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group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builds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themselves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around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something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they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actually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care</a:t>
            </a:r>
            <a:r>
              <a:rPr dirty="0" sz="900" spc="10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about,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like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900" spc="8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reading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list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900" spc="9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>
                <a:solidFill>
                  <a:srgbClr val="494949"/>
                </a:solidFill>
                <a:latin typeface="Gadugi"/>
                <a:cs typeface="Gadugi"/>
              </a:rPr>
              <a:t>favourite</a:t>
            </a:r>
            <a:r>
              <a:rPr dirty="0" sz="900" spc="9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900" spc="-10">
                <a:solidFill>
                  <a:srgbClr val="494949"/>
                </a:solidFill>
                <a:latin typeface="Gadugi"/>
                <a:cs typeface="Gadugi"/>
              </a:rPr>
              <a:t>genre.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SUGGESTED</a:t>
            </a:r>
            <a:r>
              <a:rPr dirty="0" sz="850" spc="150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b="1">
                <a:solidFill>
                  <a:srgbClr val="2B2B2B"/>
                </a:solidFill>
                <a:latin typeface="Gadugi"/>
                <a:cs typeface="Gadugi"/>
              </a:rPr>
              <a:t>BUILD</a:t>
            </a:r>
            <a:r>
              <a:rPr dirty="0" sz="850" spc="155" b="1">
                <a:solidFill>
                  <a:srgbClr val="2B2B2B"/>
                </a:solidFill>
                <a:latin typeface="Gadugi"/>
                <a:cs typeface="Gadugi"/>
              </a:rPr>
              <a:t> </a:t>
            </a:r>
            <a:r>
              <a:rPr dirty="0" sz="850" spc="-20" b="1">
                <a:solidFill>
                  <a:srgbClr val="2B2B2B"/>
                </a:solidFill>
                <a:latin typeface="Gadugi"/>
                <a:cs typeface="Gadugi"/>
              </a:rPr>
              <a:t>ORDER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1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SKELETON</a:t>
            </a:r>
            <a:r>
              <a:rPr dirty="0" sz="800" spc="4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catalog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loading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table,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dropdown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pick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title,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no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recommendations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yet.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2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CORE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LOGIC</a:t>
            </a:r>
            <a:r>
              <a:rPr dirty="0" sz="800" spc="409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similarity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logic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working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plain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script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first,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then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wired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into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dropdown.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49600" y="9593491"/>
            <a:ext cx="1466215" cy="1358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Zlaark</a:t>
            </a:r>
            <a:r>
              <a:rPr dirty="0" sz="650" spc="185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·</a:t>
            </a:r>
            <a:r>
              <a:rPr dirty="0" sz="650" spc="20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Confidential</a:t>
            </a:r>
            <a:r>
              <a:rPr dirty="0" sz="650" spc="36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|</a:t>
            </a:r>
            <a:r>
              <a:rPr dirty="0" sz="650" spc="375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Page</a:t>
            </a:r>
            <a:r>
              <a:rPr dirty="0" sz="650" spc="1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DF490F"/>
                </a:solidFill>
                <a:latin typeface="Gadugi"/>
                <a:cs typeface="Gadugi"/>
              </a:rPr>
              <a:t>20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of</a:t>
            </a:r>
            <a:r>
              <a:rPr dirty="0" sz="650" spc="2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 spc="-25">
                <a:solidFill>
                  <a:srgbClr val="C8C8C8"/>
                </a:solidFill>
                <a:latin typeface="Gadugi"/>
                <a:cs typeface="Gadugi"/>
              </a:rPr>
              <a:t>22</a:t>
            </a:r>
            <a:endParaRPr sz="650">
              <a:latin typeface="Gadugi"/>
              <a:cs typeface="Gadug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10802"/>
            <a:ext cx="21532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PLAYBOOK</a:t>
            </a:r>
            <a:r>
              <a:rPr dirty="0" sz="700" spc="10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·</a:t>
            </a:r>
            <a:r>
              <a:rPr dirty="0" sz="700" spc="-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HINDU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494949"/>
                </a:solidFill>
                <a:latin typeface="Gadugi"/>
                <a:cs typeface="Gadugi"/>
              </a:rPr>
              <a:t>COLLEGE</a:t>
            </a:r>
            <a:r>
              <a:rPr dirty="0" sz="700" spc="5" b="1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494949"/>
                </a:solidFill>
                <a:latin typeface="Gadugi"/>
                <a:cs typeface="Gadugi"/>
              </a:rPr>
              <a:t>AMRITSAR</a:t>
            </a:r>
            <a:endParaRPr sz="700">
              <a:latin typeface="Gadugi"/>
              <a:cs typeface="Gadug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7072" y="856487"/>
            <a:ext cx="5852160" cy="6350"/>
          </a:xfrm>
          <a:custGeom>
            <a:avLst/>
            <a:gdLst/>
            <a:ahLst/>
            <a:cxnLst/>
            <a:rect l="l" t="t" r="r" b="b"/>
            <a:pathLst>
              <a:path w="5852159" h="6350">
                <a:moveTo>
                  <a:pt x="5852160" y="6095"/>
                </a:moveTo>
                <a:lnTo>
                  <a:pt x="0" y="6095"/>
                </a:lnTo>
                <a:lnTo>
                  <a:pt x="0" y="0"/>
                </a:lnTo>
                <a:lnTo>
                  <a:pt x="5852160" y="0"/>
                </a:lnTo>
                <a:lnTo>
                  <a:pt x="5852160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7231" y="9114366"/>
            <a:ext cx="8934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LOC:</a:t>
            </a:r>
            <a:r>
              <a:rPr dirty="0" sz="700" spc="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>
                <a:solidFill>
                  <a:srgbClr val="494949"/>
                </a:solidFill>
                <a:latin typeface="Gadugi"/>
                <a:cs typeface="Gadugi"/>
              </a:rPr>
              <a:t>Amritsar,</a:t>
            </a:r>
            <a:r>
              <a:rPr dirty="0" sz="700" spc="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</a:rPr>
              <a:t>Punjab</a:t>
            </a:r>
            <a:endParaRPr sz="7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1811" y="9114366"/>
            <a:ext cx="9042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WEB:</a:t>
            </a:r>
            <a:r>
              <a:rPr dirty="0" sz="700" spc="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2"/>
              </a:rPr>
              <a:t>www.zlaark.com</a:t>
            </a:r>
            <a:endParaRPr sz="7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407" y="9114366"/>
            <a:ext cx="9950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1A1A2D"/>
                </a:solidFill>
                <a:latin typeface="Gadugi"/>
                <a:cs typeface="Gadugi"/>
              </a:rPr>
              <a:t>MAIL:</a:t>
            </a:r>
            <a:r>
              <a:rPr dirty="0" sz="7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hello@zlaark.com</a:t>
            </a:r>
            <a:endParaRPr sz="700">
              <a:latin typeface="Gadugi"/>
              <a:cs typeface="Gadug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883" y="387095"/>
            <a:ext cx="829234" cy="240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136" y="1112124"/>
            <a:ext cx="5755005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4805">
              <a:lnSpc>
                <a:spcPct val="138800"/>
              </a:lnSpc>
              <a:spcBef>
                <a:spcPts val="100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3</a:t>
            </a:r>
            <a:r>
              <a:rPr dirty="0" sz="800" spc="-3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DATA</a:t>
            </a:r>
            <a:r>
              <a:rPr dirty="0" sz="800" spc="38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Cleaning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up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catalog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data,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making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sure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descriptions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are</a:t>
            </a:r>
            <a:r>
              <a:rPr dirty="0" sz="85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detailed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enough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give</a:t>
            </a:r>
            <a:r>
              <a:rPr dirty="0" sz="85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meaningful matches.</a:t>
            </a:r>
            <a:endParaRPr sz="8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4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POLISH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Handling 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title</a:t>
            </a:r>
            <a:r>
              <a:rPr dirty="0" sz="85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with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very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short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missing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description.</a:t>
            </a:r>
            <a:endParaRPr sz="850">
              <a:latin typeface="Gadugi"/>
              <a:cs typeface="Gadugi"/>
            </a:endParaRPr>
          </a:p>
          <a:p>
            <a:pPr marL="12700" marR="5080">
              <a:lnSpc>
                <a:spcPct val="137600"/>
              </a:lnSpc>
              <a:spcBef>
                <a:spcPts val="385"/>
              </a:spcBef>
            </a:pP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SPRINT</a:t>
            </a:r>
            <a:r>
              <a:rPr dirty="0" sz="800" spc="-2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5</a:t>
            </a:r>
            <a:r>
              <a:rPr dirty="0" sz="800" spc="-1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·</a:t>
            </a:r>
            <a:r>
              <a:rPr dirty="0" sz="800" spc="-5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FEATURE</a:t>
            </a:r>
            <a:r>
              <a:rPr dirty="0" sz="800" spc="-1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1A1A2D"/>
                </a:solidFill>
                <a:latin typeface="Gadugi"/>
                <a:cs typeface="Gadugi"/>
              </a:rPr>
              <a:t>FREEZE</a:t>
            </a:r>
            <a:r>
              <a:rPr dirty="0" sz="800" spc="400" b="1">
                <a:solidFill>
                  <a:srgbClr val="1A1A2D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full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run-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through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picking</a:t>
            </a:r>
            <a:r>
              <a:rPr dirty="0" sz="85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few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different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titles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and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checking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850" spc="-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recommendations</a:t>
            </a:r>
            <a:r>
              <a:rPr dirty="0" sz="850" spc="-1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actually </a:t>
            </a:r>
            <a:r>
              <a:rPr dirty="0" sz="850">
                <a:solidFill>
                  <a:srgbClr val="494949"/>
                </a:solidFill>
                <a:latin typeface="Gadugi"/>
                <a:cs typeface="Gadugi"/>
              </a:rPr>
              <a:t>make</a:t>
            </a:r>
            <a:r>
              <a:rPr dirty="0" sz="850" spc="-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</a:rPr>
              <a:t>sense.</a:t>
            </a:r>
            <a:endParaRPr sz="850">
              <a:latin typeface="Gadugi"/>
              <a:cs typeface="Gadug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6508" y="2462783"/>
            <a:ext cx="5796280" cy="905510"/>
          </a:xfrm>
          <a:custGeom>
            <a:avLst/>
            <a:gdLst/>
            <a:ahLst/>
            <a:cxnLst/>
            <a:rect l="l" t="t" r="r" b="b"/>
            <a:pathLst>
              <a:path w="5796280" h="905510">
                <a:moveTo>
                  <a:pt x="5795772" y="905256"/>
                </a:moveTo>
                <a:lnTo>
                  <a:pt x="0" y="905256"/>
                </a:lnTo>
                <a:lnTo>
                  <a:pt x="0" y="0"/>
                </a:lnTo>
                <a:lnTo>
                  <a:pt x="5795772" y="0"/>
                </a:lnTo>
                <a:lnTo>
                  <a:pt x="5795772" y="905256"/>
                </a:lnTo>
                <a:close/>
              </a:path>
            </a:pathLst>
          </a:custGeom>
          <a:solidFill>
            <a:srgbClr val="FBE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6508" y="2609934"/>
            <a:ext cx="5796280" cy="5543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WHAT</a:t>
            </a:r>
            <a:r>
              <a:rPr dirty="0" sz="700" spc="1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A</a:t>
            </a:r>
            <a:r>
              <a:rPr dirty="0" sz="700" spc="-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STRONG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DEMO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DF490F"/>
                </a:solidFill>
                <a:latin typeface="Gadugi"/>
                <a:cs typeface="Gadugi"/>
              </a:rPr>
              <a:t>LOOKS</a:t>
            </a:r>
            <a:r>
              <a:rPr dirty="0" sz="700" spc="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DF490F"/>
                </a:solidFill>
                <a:latin typeface="Gadugi"/>
                <a:cs typeface="Gadugi"/>
              </a:rPr>
              <a:t>LIKE</a:t>
            </a:r>
            <a:endParaRPr sz="700">
              <a:latin typeface="Gadugi"/>
              <a:cs typeface="Gadugi"/>
            </a:endParaRPr>
          </a:p>
          <a:p>
            <a:pPr marL="144145" marR="265430">
              <a:lnSpc>
                <a:spcPct val="156500"/>
              </a:lnSpc>
              <a:spcBef>
                <a:spcPts val="110"/>
              </a:spcBef>
            </a:pP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Pick</a:t>
            </a:r>
            <a:r>
              <a:rPr dirty="0" sz="850" spc="7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well-known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title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live,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and</a:t>
            </a:r>
            <a:r>
              <a:rPr dirty="0" sz="850" spc="6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talk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through</a:t>
            </a:r>
            <a:r>
              <a:rPr dirty="0" sz="850" spc="6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why</a:t>
            </a:r>
            <a:r>
              <a:rPr dirty="0" sz="850" spc="3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recommendations</a:t>
            </a:r>
            <a:r>
              <a:rPr dirty="0" sz="850" spc="4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it</a:t>
            </a:r>
            <a:r>
              <a:rPr dirty="0" sz="850" spc="6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returns</a:t>
            </a:r>
            <a:r>
              <a:rPr dirty="0" sz="850" spc="4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make</a:t>
            </a:r>
            <a:r>
              <a:rPr dirty="0" sz="850" spc="6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sense,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based</a:t>
            </a:r>
            <a:r>
              <a:rPr dirty="0" sz="850" spc="5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on</a:t>
            </a:r>
            <a:r>
              <a:rPr dirty="0" sz="850" spc="5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genre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or</a:t>
            </a:r>
            <a:r>
              <a:rPr dirty="0" sz="850" spc="10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2B2B2B"/>
                </a:solidFill>
                <a:latin typeface="Segoe UI Symbol"/>
                <a:cs typeface="Segoe UI Symbol"/>
              </a:rPr>
              <a:t>theme</a:t>
            </a:r>
            <a:r>
              <a:rPr dirty="0" sz="850" spc="5">
                <a:solidFill>
                  <a:srgbClr val="2B2B2B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2B2B2B"/>
                </a:solidFill>
                <a:latin typeface="Segoe UI Symbol"/>
                <a:cs typeface="Segoe UI Symbol"/>
              </a:rPr>
              <a:t>overlap.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3836" y="2462783"/>
            <a:ext cx="5838825" cy="905510"/>
            <a:chOff x="973836" y="2462783"/>
            <a:chExt cx="5838825" cy="905510"/>
          </a:xfrm>
        </p:grpSpPr>
        <p:sp>
          <p:nvSpPr>
            <p:cNvPr id="12" name="object 12"/>
            <p:cNvSpPr/>
            <p:nvPr/>
          </p:nvSpPr>
          <p:spPr>
            <a:xfrm>
              <a:off x="973836" y="2462783"/>
              <a:ext cx="43180" cy="106680"/>
            </a:xfrm>
            <a:custGeom>
              <a:avLst/>
              <a:gdLst/>
              <a:ahLst/>
              <a:cxnLst/>
              <a:rect l="l" t="t" r="r" b="b"/>
              <a:pathLst>
                <a:path w="43180" h="106680">
                  <a:moveTo>
                    <a:pt x="42672" y="106680"/>
                  </a:moveTo>
                  <a:lnTo>
                    <a:pt x="0" y="106680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6680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5172" y="3255264"/>
              <a:ext cx="5817235" cy="113030"/>
            </a:xfrm>
            <a:custGeom>
              <a:avLst/>
              <a:gdLst/>
              <a:ahLst/>
              <a:cxnLst/>
              <a:rect l="l" t="t" r="r" b="b"/>
              <a:pathLst>
                <a:path w="5817234" h="113029">
                  <a:moveTo>
                    <a:pt x="5817108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5817108" y="0"/>
                  </a:lnTo>
                  <a:lnTo>
                    <a:pt x="5817108" y="112775"/>
                  </a:lnTo>
                  <a:close/>
                </a:path>
              </a:pathLst>
            </a:custGeom>
            <a:solidFill>
              <a:srgbClr val="FB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73836" y="2569464"/>
              <a:ext cx="43180" cy="798830"/>
            </a:xfrm>
            <a:custGeom>
              <a:avLst/>
              <a:gdLst/>
              <a:ahLst/>
              <a:cxnLst/>
              <a:rect l="l" t="t" r="r" b="b"/>
              <a:pathLst>
                <a:path w="43180" h="798829">
                  <a:moveTo>
                    <a:pt x="42672" y="798575"/>
                  </a:moveTo>
                  <a:lnTo>
                    <a:pt x="0" y="798575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798575"/>
                  </a:lnTo>
                  <a:close/>
                </a:path>
              </a:pathLst>
            </a:custGeom>
            <a:solidFill>
              <a:srgbClr val="DF49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149600" y="9593491"/>
            <a:ext cx="1466215" cy="1358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Zlaark</a:t>
            </a:r>
            <a:r>
              <a:rPr dirty="0" sz="650" spc="185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·</a:t>
            </a:r>
            <a:r>
              <a:rPr dirty="0" sz="650" spc="20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Confidential</a:t>
            </a:r>
            <a:r>
              <a:rPr dirty="0" sz="650" spc="36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|</a:t>
            </a:r>
            <a:r>
              <a:rPr dirty="0" sz="650" spc="375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Page</a:t>
            </a:r>
            <a:r>
              <a:rPr dirty="0" sz="650" spc="1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>
                <a:solidFill>
                  <a:srgbClr val="DF490F"/>
                </a:solidFill>
                <a:latin typeface="Gadugi"/>
                <a:cs typeface="Gadugi"/>
              </a:rPr>
              <a:t>21 </a:t>
            </a:r>
            <a:r>
              <a:rPr dirty="0" sz="650">
                <a:solidFill>
                  <a:srgbClr val="C8C8C8"/>
                </a:solidFill>
                <a:latin typeface="Gadugi"/>
                <a:cs typeface="Gadugi"/>
              </a:rPr>
              <a:t>of</a:t>
            </a:r>
            <a:r>
              <a:rPr dirty="0" sz="650" spc="20">
                <a:solidFill>
                  <a:srgbClr val="C8C8C8"/>
                </a:solidFill>
                <a:latin typeface="Gadugi"/>
                <a:cs typeface="Gadugi"/>
              </a:rPr>
              <a:t> </a:t>
            </a:r>
            <a:r>
              <a:rPr dirty="0" sz="650" spc="-25">
                <a:solidFill>
                  <a:srgbClr val="C8C8C8"/>
                </a:solidFill>
                <a:latin typeface="Gadugi"/>
                <a:cs typeface="Gadugi"/>
              </a:rPr>
              <a:t>22</a:t>
            </a:r>
            <a:endParaRPr sz="650">
              <a:latin typeface="Gadugi"/>
              <a:cs typeface="Gadug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9620" y="2657931"/>
            <a:ext cx="11474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DF490F"/>
                </a:solidFill>
                <a:latin typeface="Gadugi"/>
                <a:cs typeface="Gadugi"/>
              </a:rPr>
              <a:t>TEN</a:t>
            </a:r>
            <a:r>
              <a:rPr dirty="0" sz="800" spc="-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DF490F"/>
                </a:solidFill>
                <a:latin typeface="Gadugi"/>
                <a:cs typeface="Gadugi"/>
              </a:rPr>
              <a:t>IDEAS,</a:t>
            </a:r>
            <a:r>
              <a:rPr dirty="0" sz="800" spc="-25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800" b="1">
                <a:solidFill>
                  <a:srgbClr val="DF490F"/>
                </a:solidFill>
                <a:latin typeface="Gadugi"/>
                <a:cs typeface="Gadugi"/>
              </a:rPr>
              <a:t>ONE</a:t>
            </a:r>
            <a:r>
              <a:rPr dirty="0" sz="800" spc="-10" b="1">
                <a:solidFill>
                  <a:srgbClr val="DF490F"/>
                </a:solidFill>
                <a:latin typeface="Gadugi"/>
                <a:cs typeface="Gadugi"/>
              </a:rPr>
              <a:t> </a:t>
            </a:r>
            <a:r>
              <a:rPr dirty="0" sz="800" spc="-20" b="1">
                <a:solidFill>
                  <a:srgbClr val="DF490F"/>
                </a:solidFill>
                <a:latin typeface="Gadugi"/>
                <a:cs typeface="Gadugi"/>
              </a:rPr>
              <a:t>STACK</a:t>
            </a:r>
            <a:endParaRPr sz="800">
              <a:latin typeface="Gadugi"/>
              <a:cs typeface="Gadug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marL="36830" marR="5080" indent="-24765">
              <a:lnSpc>
                <a:spcPts val="2950"/>
              </a:lnSpc>
              <a:spcBef>
                <a:spcPts val="365"/>
              </a:spcBef>
            </a:pPr>
            <a:r>
              <a:rPr dirty="0">
                <a:solidFill>
                  <a:srgbClr val="1A1A2D"/>
                </a:solidFill>
              </a:rPr>
              <a:t>Pick</a:t>
            </a:r>
            <a:r>
              <a:rPr dirty="0" spc="35">
                <a:solidFill>
                  <a:srgbClr val="1A1A2D"/>
                </a:solidFill>
              </a:rPr>
              <a:t> </a:t>
            </a:r>
            <a:r>
              <a:rPr dirty="0">
                <a:solidFill>
                  <a:srgbClr val="1A1A2D"/>
                </a:solidFill>
              </a:rPr>
              <a:t>one</a:t>
            </a:r>
            <a:r>
              <a:rPr dirty="0" spc="30">
                <a:solidFill>
                  <a:srgbClr val="1A1A2D"/>
                </a:solidFill>
              </a:rPr>
              <a:t> </a:t>
            </a:r>
            <a:r>
              <a:rPr dirty="0" spc="-25">
                <a:solidFill>
                  <a:srgbClr val="1A1A2D"/>
                </a:solidFill>
              </a:rPr>
              <a:t>and </a:t>
            </a:r>
            <a:r>
              <a:rPr dirty="0"/>
              <a:t>let's</a:t>
            </a:r>
            <a:r>
              <a:rPr dirty="0" spc="25"/>
              <a:t> </a:t>
            </a:r>
            <a:r>
              <a:rPr dirty="0"/>
              <a:t>build</a:t>
            </a:r>
            <a:r>
              <a:rPr dirty="0" spc="30"/>
              <a:t> </a:t>
            </a:r>
            <a:r>
              <a:rPr dirty="0" spc="-25"/>
              <a:t>it.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81988" y="3965598"/>
            <a:ext cx="4398010" cy="676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None</a:t>
            </a:r>
            <a:r>
              <a:rPr dirty="0" sz="1000" spc="-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1000" spc="-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this</a:t>
            </a:r>
            <a:r>
              <a:rPr dirty="0" sz="1000" spc="-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1000" spc="-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fixed.</a:t>
            </a:r>
            <a:r>
              <a:rPr dirty="0" sz="1000" spc="-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If</a:t>
            </a:r>
            <a:r>
              <a:rPr dirty="0" sz="100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-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group</a:t>
            </a:r>
            <a:r>
              <a:rPr dirty="0" sz="1000" spc="-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finds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better</a:t>
            </a:r>
            <a:r>
              <a:rPr dirty="0" sz="100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idea</a:t>
            </a:r>
            <a:r>
              <a:rPr dirty="0" sz="1000" spc="-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partway</a:t>
            </a:r>
            <a:r>
              <a:rPr dirty="0" sz="1000" spc="-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through,</a:t>
            </a:r>
            <a:r>
              <a:rPr dirty="0" sz="1000" spc="-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or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wants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endParaRPr sz="1000">
              <a:latin typeface="Gadugi"/>
              <a:cs typeface="Gadugi"/>
            </a:endParaRPr>
          </a:p>
          <a:p>
            <a:pPr marL="1531620" marR="27305" indent="-1495425">
              <a:lnSpc>
                <a:spcPct val="163000"/>
              </a:lnSpc>
              <a:spcBef>
                <a:spcPts val="25"/>
              </a:spcBef>
            </a:pP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combine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two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of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these,</a:t>
            </a:r>
            <a:r>
              <a:rPr dirty="0" sz="1000" spc="-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we</a:t>
            </a:r>
            <a:r>
              <a:rPr dirty="0" sz="1000" spc="-6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adjust.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The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scope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is</a:t>
            </a:r>
            <a:r>
              <a:rPr dirty="0" sz="1000" spc="-5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what</a:t>
            </a:r>
            <a:r>
              <a:rPr dirty="0" sz="1000" spc="-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has</a:t>
            </a:r>
            <a:r>
              <a:rPr dirty="0" sz="1000" spc="-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to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stay</a:t>
            </a:r>
            <a:r>
              <a:rPr dirty="0" sz="1000" spc="-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honest,</a:t>
            </a:r>
            <a:r>
              <a:rPr dirty="0" sz="1000" spc="-3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not</a:t>
            </a:r>
            <a:r>
              <a:rPr dirty="0" sz="1000" spc="-4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the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exact</a:t>
            </a:r>
            <a:r>
              <a:rPr dirty="0" sz="1000" spc="-3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10">
                <a:solidFill>
                  <a:srgbClr val="494949"/>
                </a:solidFill>
                <a:latin typeface="Gadugi"/>
                <a:cs typeface="Gadugi"/>
              </a:rPr>
              <a:t>project</a:t>
            </a:r>
            <a:r>
              <a:rPr dirty="0" sz="1000" spc="-4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on</a:t>
            </a:r>
            <a:r>
              <a:rPr dirty="0" sz="1000" spc="-20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>
                <a:solidFill>
                  <a:srgbClr val="494949"/>
                </a:solidFill>
                <a:latin typeface="Gadugi"/>
                <a:cs typeface="Gadugi"/>
              </a:rPr>
              <a:t>this</a:t>
            </a:r>
            <a:r>
              <a:rPr dirty="0" sz="1000" spc="-25">
                <a:solidFill>
                  <a:srgbClr val="494949"/>
                </a:solidFill>
                <a:latin typeface="Gadugi"/>
                <a:cs typeface="Gadugi"/>
              </a:rPr>
              <a:t> </a:t>
            </a:r>
            <a:r>
              <a:rPr dirty="0" sz="1000" spc="-20">
                <a:solidFill>
                  <a:srgbClr val="494949"/>
                </a:solidFill>
                <a:latin typeface="Gadugi"/>
                <a:cs typeface="Gadugi"/>
              </a:rPr>
              <a:t>list.</a:t>
            </a:r>
            <a:endParaRPr sz="1000">
              <a:latin typeface="Gadugi"/>
              <a:cs typeface="Gadug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69464" y="5204460"/>
            <a:ext cx="2628900" cy="6350"/>
          </a:xfrm>
          <a:custGeom>
            <a:avLst/>
            <a:gdLst/>
            <a:ahLst/>
            <a:cxnLst/>
            <a:rect l="l" t="t" r="r" b="b"/>
            <a:pathLst>
              <a:path w="2628900" h="6350">
                <a:moveTo>
                  <a:pt x="2628899" y="6095"/>
                </a:moveTo>
                <a:lnTo>
                  <a:pt x="0" y="6095"/>
                </a:lnTo>
                <a:lnTo>
                  <a:pt x="0" y="0"/>
                </a:lnTo>
                <a:lnTo>
                  <a:pt x="2628899" y="0"/>
                </a:lnTo>
                <a:lnTo>
                  <a:pt x="2628899" y="60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17724" y="5349690"/>
            <a:ext cx="2527300" cy="386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1075690" algn="l"/>
                <a:tab pos="1275080" algn="l"/>
              </a:tabLst>
            </a:pPr>
            <a:r>
              <a:rPr dirty="0" sz="850" spc="-10" b="1">
                <a:solidFill>
                  <a:srgbClr val="1A1A2D"/>
                </a:solidFill>
                <a:latin typeface="Gadugi"/>
                <a:cs typeface="Gadugi"/>
                <a:hlinkClick r:id="rId2"/>
              </a:rPr>
              <a:t>hello@zlaark.com</a:t>
            </a:r>
            <a:r>
              <a:rPr dirty="0" sz="850" b="1">
                <a:solidFill>
                  <a:srgbClr val="1A1A2D"/>
                </a:solidFill>
                <a:latin typeface="Gadugi"/>
                <a:cs typeface="Gadugi"/>
              </a:rPr>
              <a:t>	</a:t>
            </a:r>
            <a:r>
              <a:rPr dirty="0" sz="850" spc="-50">
                <a:solidFill>
                  <a:srgbClr val="C8C8C8"/>
                </a:solidFill>
                <a:latin typeface="Gadugi"/>
                <a:cs typeface="Gadugi"/>
              </a:rPr>
              <a:t>·</a:t>
            </a:r>
            <a:r>
              <a:rPr dirty="0" sz="850">
                <a:solidFill>
                  <a:srgbClr val="C8C8C8"/>
                </a:solidFill>
                <a:latin typeface="Gadugi"/>
                <a:cs typeface="Gadugi"/>
              </a:rPr>
              <a:t>	</a:t>
            </a:r>
            <a:r>
              <a:rPr dirty="0" sz="850" spc="-10">
                <a:solidFill>
                  <a:srgbClr val="494949"/>
                </a:solidFill>
                <a:latin typeface="Gadugi"/>
                <a:cs typeface="Gadugi"/>
                <a:hlinkClick r:id="rId3"/>
              </a:rPr>
              <a:t>www.zlaark.com</a:t>
            </a:r>
            <a:endParaRPr sz="850">
              <a:latin typeface="Gadugi"/>
              <a:cs typeface="Gadugi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dirty="0" sz="650" spc="-10">
                <a:solidFill>
                  <a:srgbClr val="878787"/>
                </a:solidFill>
                <a:latin typeface="Segoe UI Symbol"/>
                <a:cs typeface="Segoe UI Symbol"/>
              </a:rPr>
              <a:t>Prepared</a:t>
            </a:r>
            <a:r>
              <a:rPr dirty="0" sz="650">
                <a:solidFill>
                  <a:srgbClr val="878787"/>
                </a:solidFill>
                <a:latin typeface="Segoe UI Symbol"/>
                <a:cs typeface="Segoe UI Symbol"/>
              </a:rPr>
              <a:t> by Zlaark</a:t>
            </a:r>
            <a:r>
              <a:rPr dirty="0" sz="650" spc="15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878787"/>
                </a:solidFill>
                <a:latin typeface="Segoe UI Symbol"/>
                <a:cs typeface="Segoe UI Symbol"/>
              </a:rPr>
              <a:t>for</a:t>
            </a:r>
            <a:r>
              <a:rPr dirty="0" sz="650" spc="10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878787"/>
                </a:solidFill>
                <a:latin typeface="Segoe UI Symbol"/>
                <a:cs typeface="Segoe UI Symbol"/>
              </a:rPr>
              <a:t>Hindu</a:t>
            </a:r>
            <a:r>
              <a:rPr dirty="0" sz="650" spc="-5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650" spc="-10">
                <a:solidFill>
                  <a:srgbClr val="878787"/>
                </a:solidFill>
                <a:latin typeface="Segoe UI Symbol"/>
                <a:cs typeface="Segoe UI Symbol"/>
              </a:rPr>
              <a:t>College</a:t>
            </a:r>
            <a:r>
              <a:rPr dirty="0" sz="650" spc="5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878787"/>
                </a:solidFill>
                <a:latin typeface="Segoe UI Symbol"/>
                <a:cs typeface="Segoe UI Symbol"/>
              </a:rPr>
              <a:t>Amritsar</a:t>
            </a:r>
            <a:r>
              <a:rPr dirty="0" sz="650" spc="190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878787"/>
                </a:solidFill>
                <a:latin typeface="Segoe UI Symbol"/>
                <a:cs typeface="Segoe UI Symbol"/>
              </a:rPr>
              <a:t>·</a:t>
            </a:r>
            <a:r>
              <a:rPr dirty="0" sz="650" spc="185">
                <a:solidFill>
                  <a:srgbClr val="87878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878787"/>
                </a:solidFill>
                <a:latin typeface="Segoe UI Symbol"/>
                <a:cs typeface="Segoe UI Symbol"/>
              </a:rPr>
              <a:t>ZLK-HCA-</a:t>
            </a:r>
            <a:r>
              <a:rPr dirty="0" sz="650" spc="-10">
                <a:solidFill>
                  <a:srgbClr val="878787"/>
                </a:solidFill>
                <a:latin typeface="Segoe UI Symbol"/>
                <a:cs typeface="Segoe UI Symbol"/>
              </a:rPr>
              <a:t>2026-</a:t>
            </a:r>
            <a:r>
              <a:rPr dirty="0" sz="650" spc="-25">
                <a:solidFill>
                  <a:srgbClr val="878787"/>
                </a:solidFill>
                <a:latin typeface="Segoe UI Symbol"/>
                <a:cs typeface="Segoe UI Symbol"/>
              </a:rPr>
              <a:t>003</a:t>
            </a:r>
            <a:endParaRPr sz="65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3836" y="6446520"/>
            <a:ext cx="1165860" cy="88900"/>
          </a:xfrm>
          <a:custGeom>
            <a:avLst/>
            <a:gdLst/>
            <a:ahLst/>
            <a:cxnLst/>
            <a:rect l="l" t="t" r="r" b="b"/>
            <a:pathLst>
              <a:path w="1165860" h="88900">
                <a:moveTo>
                  <a:pt x="1165860" y="88392"/>
                </a:moveTo>
                <a:lnTo>
                  <a:pt x="0" y="88392"/>
                </a:lnTo>
                <a:lnTo>
                  <a:pt x="0" y="0"/>
                </a:lnTo>
                <a:lnTo>
                  <a:pt x="1165860" y="0"/>
                </a:lnTo>
                <a:lnTo>
                  <a:pt x="1165860" y="88392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02508" y="6446520"/>
            <a:ext cx="1163320" cy="88900"/>
          </a:xfrm>
          <a:custGeom>
            <a:avLst/>
            <a:gdLst/>
            <a:ahLst/>
            <a:cxnLst/>
            <a:rect l="l" t="t" r="r" b="b"/>
            <a:pathLst>
              <a:path w="1163320" h="88900">
                <a:moveTo>
                  <a:pt x="1162811" y="88392"/>
                </a:moveTo>
                <a:lnTo>
                  <a:pt x="0" y="88392"/>
                </a:lnTo>
                <a:lnTo>
                  <a:pt x="0" y="0"/>
                </a:lnTo>
                <a:lnTo>
                  <a:pt x="1162811" y="0"/>
                </a:lnTo>
                <a:lnTo>
                  <a:pt x="1162811" y="88392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28132" y="6446520"/>
            <a:ext cx="1164590" cy="88900"/>
          </a:xfrm>
          <a:custGeom>
            <a:avLst/>
            <a:gdLst/>
            <a:ahLst/>
            <a:cxnLst/>
            <a:rect l="l" t="t" r="r" b="b"/>
            <a:pathLst>
              <a:path w="1164590" h="88900">
                <a:moveTo>
                  <a:pt x="1164335" y="88392"/>
                </a:moveTo>
                <a:lnTo>
                  <a:pt x="0" y="88392"/>
                </a:lnTo>
                <a:lnTo>
                  <a:pt x="0" y="0"/>
                </a:lnTo>
                <a:lnTo>
                  <a:pt x="1164335" y="0"/>
                </a:lnTo>
                <a:lnTo>
                  <a:pt x="1164335" y="88392"/>
                </a:lnTo>
                <a:close/>
              </a:path>
            </a:pathLst>
          </a:custGeom>
          <a:solidFill>
            <a:srgbClr val="DF490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1151" y="1857755"/>
            <a:ext cx="1527048" cy="4150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Kanish Kumar</dc:creator>
  <dc:title>Microsoft Word - ProjectPlaybook_HinduCollegeAmritsar_Zlaark.docx</dc:title>
  <dcterms:created xsi:type="dcterms:W3CDTF">2026-08-06T13:53:52Z</dcterms:created>
  <dcterms:modified xsi:type="dcterms:W3CDTF">2026-08-06T13:53:52Z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2026-07-29T00:00:00Z</vt:filetime>
  </property>
  <property fmtid="{D5CDD505-2E9C-101B-9397-08002B2CF9AE}" pid="4" name="LastSaved">
    <vt:filetime>2026-08-06T00:00:00Z</vt:filetime>
  </property>
  <property fmtid="{D5CDD505-2E9C-101B-9397-08002B2CF9AE}" pid="5" name="Producer">
    <vt:lpwstr>Microsoft: Print To PDF</vt:lpwstr>
  </property>
</Properties>
</file>