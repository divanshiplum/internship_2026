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FF6A5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0</a:t>
            </a:r>
            <a:r>
              <a:rPr dirty="0" spc="-110"/>
              <a:t> </a:t>
            </a:r>
            <a:fld id="{81D60167-4931-47E6-BA6A-407CBD079E47}" type="slidenum">
              <a:rPr dirty="0"/>
              <a:t>#</a:t>
            </a:fld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FF6A5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5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0</a:t>
            </a:r>
            <a:r>
              <a:rPr dirty="0" spc="-110"/>
              <a:t> </a:t>
            </a:r>
            <a:fld id="{81D60167-4931-47E6-BA6A-407CBD079E47}" type="slidenum">
              <a:rPr dirty="0"/>
              <a:t>#</a:t>
            </a:fld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5799" y="647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FF6A5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0</a:t>
            </a:r>
            <a:r>
              <a:rPr dirty="0" spc="-110"/>
              <a:t> </a:t>
            </a:r>
            <a:fld id="{81D60167-4931-47E6-BA6A-407CBD079E47}" type="slidenum">
              <a:rPr dirty="0"/>
              <a:t>#</a:t>
            </a:fld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FF6A5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0</a:t>
            </a:r>
            <a:r>
              <a:rPr dirty="0" spc="-110"/>
              <a:t> </a:t>
            </a:r>
            <a:fld id="{81D60167-4931-47E6-BA6A-407CBD079E47}" type="slidenum">
              <a:rPr dirty="0"/>
              <a:t>#</a:t>
            </a:fld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0</a:t>
            </a:r>
            <a:r>
              <a:rPr dirty="0" spc="-110"/>
              <a:t> </a:t>
            </a:r>
            <a:fld id="{81D60167-4931-47E6-BA6A-407CBD079E47}" type="slidenum">
              <a:rPr dirty="0"/>
              <a:t>#</a:t>
            </a:fld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5799" y="590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099" y="777875"/>
            <a:ext cx="7461250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FF6A5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6511" y="1673225"/>
            <a:ext cx="5243195" cy="290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73099" y="6431213"/>
            <a:ext cx="178181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293283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75887" y="6431213"/>
            <a:ext cx="42672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97E94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0</a:t>
            </a:r>
            <a:r>
              <a:rPr dirty="0" spc="-110"/>
              <a:t> </a:t>
            </a:r>
            <a:fld id="{81D60167-4931-47E6-BA6A-407CBD079E47}" type="slidenum">
              <a:rPr dirty="0"/>
              <a:t>#</a:t>
            </a:fld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hyperlink" Target="https://example.com/data.csv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hello@zlaark.com" TargetMode="External"/><Relationship Id="rId3" Type="http://schemas.openxmlformats.org/officeDocument/2006/relationships/hyperlink" Target="http://www.zlaark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6999" y="1904999"/>
              <a:ext cx="1905000" cy="3048000"/>
            </a:xfrm>
            <a:custGeom>
              <a:avLst/>
              <a:gdLst/>
              <a:ahLst/>
              <a:cxnLst/>
              <a:rect l="l" t="t" r="r" b="b"/>
              <a:pathLst>
                <a:path w="1905000" h="3048000">
                  <a:moveTo>
                    <a:pt x="1542702" y="3047999"/>
                  </a:moveTo>
                  <a:lnTo>
                    <a:pt x="1505296" y="3047999"/>
                  </a:lnTo>
                  <a:lnTo>
                    <a:pt x="1467906" y="3046966"/>
                  </a:lnTo>
                  <a:lnTo>
                    <a:pt x="1411887" y="3043869"/>
                  </a:lnTo>
                  <a:lnTo>
                    <a:pt x="1356019" y="3038713"/>
                  </a:lnTo>
                  <a:lnTo>
                    <a:pt x="1300382" y="3031504"/>
                  </a:lnTo>
                  <a:lnTo>
                    <a:pt x="1245047" y="3022252"/>
                  </a:lnTo>
                  <a:lnTo>
                    <a:pt x="1190087" y="3010969"/>
                  </a:lnTo>
                  <a:lnTo>
                    <a:pt x="1135581" y="2997671"/>
                  </a:lnTo>
                  <a:lnTo>
                    <a:pt x="1081604" y="2982376"/>
                  </a:lnTo>
                  <a:lnTo>
                    <a:pt x="1028226" y="2965105"/>
                  </a:lnTo>
                  <a:lnTo>
                    <a:pt x="975516" y="2945880"/>
                  </a:lnTo>
                  <a:lnTo>
                    <a:pt x="923551" y="2924728"/>
                  </a:lnTo>
                  <a:lnTo>
                    <a:pt x="872404" y="2901679"/>
                  </a:lnTo>
                  <a:lnTo>
                    <a:pt x="822138" y="2876762"/>
                  </a:lnTo>
                  <a:lnTo>
                    <a:pt x="772820" y="2850011"/>
                  </a:lnTo>
                  <a:lnTo>
                    <a:pt x="724522" y="2821463"/>
                  </a:lnTo>
                  <a:lnTo>
                    <a:pt x="677309" y="2791159"/>
                  </a:lnTo>
                  <a:lnTo>
                    <a:pt x="631243" y="2759137"/>
                  </a:lnTo>
                  <a:lnTo>
                    <a:pt x="586385" y="2725439"/>
                  </a:lnTo>
                  <a:lnTo>
                    <a:pt x="542798" y="2690113"/>
                  </a:lnTo>
                  <a:lnTo>
                    <a:pt x="500542" y="2653209"/>
                  </a:lnTo>
                  <a:lnTo>
                    <a:pt x="459673" y="2614774"/>
                  </a:lnTo>
                  <a:lnTo>
                    <a:pt x="420245" y="2574859"/>
                  </a:lnTo>
                  <a:lnTo>
                    <a:pt x="382313" y="2533520"/>
                  </a:lnTo>
                  <a:lnTo>
                    <a:pt x="345930" y="2490815"/>
                  </a:lnTo>
                  <a:lnTo>
                    <a:pt x="311144" y="2446799"/>
                  </a:lnTo>
                  <a:lnTo>
                    <a:pt x="277999" y="2401531"/>
                  </a:lnTo>
                  <a:lnTo>
                    <a:pt x="246543" y="2355073"/>
                  </a:lnTo>
                  <a:lnTo>
                    <a:pt x="216821" y="2307492"/>
                  </a:lnTo>
                  <a:lnTo>
                    <a:pt x="188868" y="2258849"/>
                  </a:lnTo>
                  <a:lnTo>
                    <a:pt x="162723" y="2209207"/>
                  </a:lnTo>
                  <a:lnTo>
                    <a:pt x="138425" y="2158636"/>
                  </a:lnTo>
                  <a:lnTo>
                    <a:pt x="116005" y="2107208"/>
                  </a:lnTo>
                  <a:lnTo>
                    <a:pt x="95493" y="2054990"/>
                  </a:lnTo>
                  <a:lnTo>
                    <a:pt x="76918" y="2002050"/>
                  </a:lnTo>
                  <a:lnTo>
                    <a:pt x="60302" y="1948462"/>
                  </a:lnTo>
                  <a:lnTo>
                    <a:pt x="45671" y="1894301"/>
                  </a:lnTo>
                  <a:lnTo>
                    <a:pt x="33044" y="1839638"/>
                  </a:lnTo>
                  <a:lnTo>
                    <a:pt x="22436" y="1784545"/>
                  </a:lnTo>
                  <a:lnTo>
                    <a:pt x="13864" y="1729099"/>
                  </a:lnTo>
                  <a:lnTo>
                    <a:pt x="7338" y="1673378"/>
                  </a:lnTo>
                  <a:lnTo>
                    <a:pt x="2868" y="1617454"/>
                  </a:lnTo>
                  <a:lnTo>
                    <a:pt x="0" y="1542703"/>
                  </a:lnTo>
                  <a:lnTo>
                    <a:pt x="0" y="1505296"/>
                  </a:lnTo>
                  <a:lnTo>
                    <a:pt x="1835" y="1449220"/>
                  </a:lnTo>
                  <a:lnTo>
                    <a:pt x="5619" y="1393246"/>
                  </a:lnTo>
                  <a:lnTo>
                    <a:pt x="11461" y="1337445"/>
                  </a:lnTo>
                  <a:lnTo>
                    <a:pt x="19352" y="1281898"/>
                  </a:lnTo>
                  <a:lnTo>
                    <a:pt x="29282" y="1226681"/>
                  </a:lnTo>
                  <a:lnTo>
                    <a:pt x="41238" y="1171868"/>
                  </a:lnTo>
                  <a:lnTo>
                    <a:pt x="55205" y="1117529"/>
                  </a:lnTo>
                  <a:lnTo>
                    <a:pt x="71162" y="1063741"/>
                  </a:lnTo>
                  <a:lnTo>
                    <a:pt x="89084" y="1010579"/>
                  </a:lnTo>
                  <a:lnTo>
                    <a:pt x="108953" y="958113"/>
                  </a:lnTo>
                  <a:lnTo>
                    <a:pt x="130742" y="906411"/>
                  </a:lnTo>
                  <a:lnTo>
                    <a:pt x="154418" y="855547"/>
                  </a:lnTo>
                  <a:lnTo>
                    <a:pt x="179950" y="805591"/>
                  </a:lnTo>
                  <a:lnTo>
                    <a:pt x="207303" y="756608"/>
                  </a:lnTo>
                  <a:lnTo>
                    <a:pt x="236441" y="708663"/>
                  </a:lnTo>
                  <a:lnTo>
                    <a:pt x="267325" y="661823"/>
                  </a:lnTo>
                  <a:lnTo>
                    <a:pt x="299911" y="616153"/>
                  </a:lnTo>
                  <a:lnTo>
                    <a:pt x="334154" y="571715"/>
                  </a:lnTo>
                  <a:lnTo>
                    <a:pt x="370012" y="528564"/>
                  </a:lnTo>
                  <a:lnTo>
                    <a:pt x="407433" y="486762"/>
                  </a:lnTo>
                  <a:lnTo>
                    <a:pt x="446367" y="446368"/>
                  </a:lnTo>
                  <a:lnTo>
                    <a:pt x="486761" y="407435"/>
                  </a:lnTo>
                  <a:lnTo>
                    <a:pt x="528563" y="370013"/>
                  </a:lnTo>
                  <a:lnTo>
                    <a:pt x="571714" y="334155"/>
                  </a:lnTo>
                  <a:lnTo>
                    <a:pt x="616152" y="299911"/>
                  </a:lnTo>
                  <a:lnTo>
                    <a:pt x="661822" y="267326"/>
                  </a:lnTo>
                  <a:lnTo>
                    <a:pt x="708661" y="236442"/>
                  </a:lnTo>
                  <a:lnTo>
                    <a:pt x="756606" y="207304"/>
                  </a:lnTo>
                  <a:lnTo>
                    <a:pt x="805589" y="179951"/>
                  </a:lnTo>
                  <a:lnTo>
                    <a:pt x="855545" y="154420"/>
                  </a:lnTo>
                  <a:lnTo>
                    <a:pt x="906409" y="130744"/>
                  </a:lnTo>
                  <a:lnTo>
                    <a:pt x="958110" y="108955"/>
                  </a:lnTo>
                  <a:lnTo>
                    <a:pt x="1010577" y="89086"/>
                  </a:lnTo>
                  <a:lnTo>
                    <a:pt x="1063740" y="71161"/>
                  </a:lnTo>
                  <a:lnTo>
                    <a:pt x="1117528" y="55205"/>
                  </a:lnTo>
                  <a:lnTo>
                    <a:pt x="1171866" y="41239"/>
                  </a:lnTo>
                  <a:lnTo>
                    <a:pt x="1226680" y="29283"/>
                  </a:lnTo>
                  <a:lnTo>
                    <a:pt x="1281897" y="19352"/>
                  </a:lnTo>
                  <a:lnTo>
                    <a:pt x="1337445" y="11461"/>
                  </a:lnTo>
                  <a:lnTo>
                    <a:pt x="1393245" y="5619"/>
                  </a:lnTo>
                  <a:lnTo>
                    <a:pt x="1449220" y="1835"/>
                  </a:lnTo>
                  <a:lnTo>
                    <a:pt x="1505296" y="0"/>
                  </a:lnTo>
                  <a:lnTo>
                    <a:pt x="1542702" y="0"/>
                  </a:lnTo>
                  <a:lnTo>
                    <a:pt x="1598778" y="1835"/>
                  </a:lnTo>
                  <a:lnTo>
                    <a:pt x="1654753" y="5619"/>
                  </a:lnTo>
                  <a:lnTo>
                    <a:pt x="1710552" y="11460"/>
                  </a:lnTo>
                  <a:lnTo>
                    <a:pt x="1766098" y="19352"/>
                  </a:lnTo>
                  <a:lnTo>
                    <a:pt x="1821316" y="29283"/>
                  </a:lnTo>
                  <a:lnTo>
                    <a:pt x="1876129" y="41238"/>
                  </a:lnTo>
                  <a:lnTo>
                    <a:pt x="1904999" y="48422"/>
                  </a:lnTo>
                  <a:lnTo>
                    <a:pt x="1904999" y="2999576"/>
                  </a:lnTo>
                  <a:lnTo>
                    <a:pt x="1857908" y="3010969"/>
                  </a:lnTo>
                  <a:lnTo>
                    <a:pt x="1802949" y="3022252"/>
                  </a:lnTo>
                  <a:lnTo>
                    <a:pt x="1747614" y="3031504"/>
                  </a:lnTo>
                  <a:lnTo>
                    <a:pt x="1691978" y="3038713"/>
                  </a:lnTo>
                  <a:lnTo>
                    <a:pt x="1636112" y="3043869"/>
                  </a:lnTo>
                  <a:lnTo>
                    <a:pt x="1580092" y="3046966"/>
                  </a:lnTo>
                  <a:lnTo>
                    <a:pt x="1542702" y="3047999"/>
                  </a:lnTo>
                  <a:close/>
                </a:path>
              </a:pathLst>
            </a:custGeom>
            <a:solidFill>
              <a:srgbClr val="FF6A5B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44247" y="914399"/>
              <a:ext cx="133351" cy="1333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799" y="638174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32364" y="57149"/>
                  </a:moveTo>
                  <a:lnTo>
                    <a:pt x="24785" y="57149"/>
                  </a:lnTo>
                  <a:lnTo>
                    <a:pt x="21140" y="56424"/>
                  </a:lnTo>
                  <a:lnTo>
                    <a:pt x="0" y="3236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32364" y="0"/>
                  </a:lnTo>
                  <a:lnTo>
                    <a:pt x="57150" y="28574"/>
                  </a:lnTo>
                  <a:lnTo>
                    <a:pt x="57149" y="32364"/>
                  </a:lnTo>
                  <a:lnTo>
                    <a:pt x="32364" y="5714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25500" y="577850"/>
            <a:ext cx="5410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6</a:t>
            </a:r>
            <a:r>
              <a:rPr dirty="0" sz="900" spc="3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4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900" spc="2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G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150" b="1">
                <a:solidFill>
                  <a:srgbClr val="FF6A5B"/>
                </a:solidFill>
                <a:latin typeface="Tahoma"/>
                <a:cs typeface="Tahoma"/>
              </a:rPr>
              <a:t> 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145" b="1">
                <a:solidFill>
                  <a:srgbClr val="FF6A5B"/>
                </a:solidFill>
                <a:latin typeface="Tahoma"/>
                <a:cs typeface="Tahoma"/>
              </a:rPr>
              <a:t> 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B</a:t>
            </a:r>
            <a:r>
              <a:rPr dirty="0" sz="90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2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150" b="1">
                <a:solidFill>
                  <a:srgbClr val="FF6A5B"/>
                </a:solidFill>
                <a:latin typeface="Tahoma"/>
                <a:cs typeface="Tahoma"/>
              </a:rPr>
              <a:t> 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145" b="1">
                <a:solidFill>
                  <a:srgbClr val="FF6A5B"/>
                </a:solidFill>
                <a:latin typeface="Tahoma"/>
                <a:cs typeface="Tahoma"/>
              </a:rPr>
              <a:t> 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2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5799" y="594974"/>
            <a:ext cx="10765155" cy="5631180"/>
            <a:chOff x="685799" y="594974"/>
            <a:chExt cx="10765155" cy="56311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95873" y="594974"/>
              <a:ext cx="154658" cy="15463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99" y="4000499"/>
              <a:ext cx="457200" cy="28575"/>
            </a:xfrm>
            <a:custGeom>
              <a:avLst/>
              <a:gdLst/>
              <a:ahLst/>
              <a:cxnLst/>
              <a:rect l="l" t="t" r="r" b="b"/>
              <a:pathLst>
                <a:path w="457200" h="28575">
                  <a:moveTo>
                    <a:pt x="444807" y="28574"/>
                  </a:moveTo>
                  <a:lnTo>
                    <a:pt x="12392" y="28574"/>
                  </a:lnTo>
                  <a:lnTo>
                    <a:pt x="10570" y="28212"/>
                  </a:lnTo>
                  <a:lnTo>
                    <a:pt x="0" y="16181"/>
                  </a:lnTo>
                  <a:lnTo>
                    <a:pt x="0" y="14287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444807" y="0"/>
                  </a:lnTo>
                  <a:lnTo>
                    <a:pt x="457199" y="12392"/>
                  </a:lnTo>
                  <a:lnTo>
                    <a:pt x="457199" y="16181"/>
                  </a:lnTo>
                  <a:lnTo>
                    <a:pt x="446629" y="28212"/>
                  </a:lnTo>
                  <a:lnTo>
                    <a:pt x="444807" y="28574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534274" y="2514599"/>
              <a:ext cx="9525" cy="2152650"/>
            </a:xfrm>
            <a:custGeom>
              <a:avLst/>
              <a:gdLst/>
              <a:ahLst/>
              <a:cxnLst/>
              <a:rect l="l" t="t" r="r" b="b"/>
              <a:pathLst>
                <a:path w="9525" h="2152650">
                  <a:moveTo>
                    <a:pt x="9524" y="2152649"/>
                  </a:moveTo>
                  <a:lnTo>
                    <a:pt x="0" y="21526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2152649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97534" y="6172555"/>
              <a:ext cx="226060" cy="53975"/>
            </a:xfrm>
            <a:custGeom>
              <a:avLst/>
              <a:gdLst/>
              <a:ahLst/>
              <a:cxnLst/>
              <a:rect l="l" t="t" r="r" b="b"/>
              <a:pathLst>
                <a:path w="226059" h="53975">
                  <a:moveTo>
                    <a:pt x="30441" y="3479"/>
                  </a:moveTo>
                  <a:lnTo>
                    <a:pt x="2120" y="3479"/>
                  </a:lnTo>
                  <a:lnTo>
                    <a:pt x="2120" y="10871"/>
                  </a:lnTo>
                  <a:lnTo>
                    <a:pt x="2120" y="12915"/>
                  </a:lnTo>
                  <a:lnTo>
                    <a:pt x="30441" y="12915"/>
                  </a:lnTo>
                  <a:lnTo>
                    <a:pt x="30441" y="3479"/>
                  </a:lnTo>
                  <a:close/>
                </a:path>
                <a:path w="226059" h="53975">
                  <a:moveTo>
                    <a:pt x="48768" y="44005"/>
                  </a:moveTo>
                  <a:lnTo>
                    <a:pt x="20320" y="44005"/>
                  </a:lnTo>
                  <a:lnTo>
                    <a:pt x="20320" y="45161"/>
                  </a:lnTo>
                  <a:lnTo>
                    <a:pt x="20320" y="53416"/>
                  </a:lnTo>
                  <a:lnTo>
                    <a:pt x="48768" y="53416"/>
                  </a:lnTo>
                  <a:lnTo>
                    <a:pt x="48768" y="44005"/>
                  </a:lnTo>
                  <a:close/>
                </a:path>
                <a:path w="226059" h="53975">
                  <a:moveTo>
                    <a:pt x="50698" y="10375"/>
                  </a:moveTo>
                  <a:lnTo>
                    <a:pt x="43472" y="2908"/>
                  </a:lnTo>
                  <a:lnTo>
                    <a:pt x="27813" y="18529"/>
                  </a:lnTo>
                  <a:lnTo>
                    <a:pt x="0" y="46240"/>
                  </a:lnTo>
                  <a:lnTo>
                    <a:pt x="7480" y="53606"/>
                  </a:lnTo>
                  <a:lnTo>
                    <a:pt x="50698" y="10375"/>
                  </a:lnTo>
                  <a:close/>
                </a:path>
                <a:path w="226059" h="53975">
                  <a:moveTo>
                    <a:pt x="68491" y="0"/>
                  </a:moveTo>
                  <a:lnTo>
                    <a:pt x="58623" y="0"/>
                  </a:lnTo>
                  <a:lnTo>
                    <a:pt x="58623" y="52222"/>
                  </a:lnTo>
                  <a:lnTo>
                    <a:pt x="68491" y="52222"/>
                  </a:lnTo>
                  <a:lnTo>
                    <a:pt x="68491" y="0"/>
                  </a:lnTo>
                  <a:close/>
                </a:path>
                <a:path w="226059" h="53975">
                  <a:moveTo>
                    <a:pt x="111645" y="16789"/>
                  </a:moveTo>
                  <a:lnTo>
                    <a:pt x="103136" y="16789"/>
                  </a:lnTo>
                  <a:lnTo>
                    <a:pt x="102133" y="20281"/>
                  </a:lnTo>
                  <a:lnTo>
                    <a:pt x="101790" y="19850"/>
                  </a:lnTo>
                  <a:lnTo>
                    <a:pt x="101790" y="32715"/>
                  </a:lnTo>
                  <a:lnTo>
                    <a:pt x="101739" y="37858"/>
                  </a:lnTo>
                  <a:lnTo>
                    <a:pt x="100825" y="40309"/>
                  </a:lnTo>
                  <a:lnTo>
                    <a:pt x="97243" y="43484"/>
                  </a:lnTo>
                  <a:lnTo>
                    <a:pt x="95059" y="44284"/>
                  </a:lnTo>
                  <a:lnTo>
                    <a:pt x="91211" y="44284"/>
                  </a:lnTo>
                  <a:lnTo>
                    <a:pt x="89662" y="43954"/>
                  </a:lnTo>
                  <a:lnTo>
                    <a:pt x="89852" y="43954"/>
                  </a:lnTo>
                  <a:lnTo>
                    <a:pt x="87769" y="42976"/>
                  </a:lnTo>
                  <a:lnTo>
                    <a:pt x="83197" y="35814"/>
                  </a:lnTo>
                  <a:lnTo>
                    <a:pt x="83273" y="32715"/>
                  </a:lnTo>
                  <a:lnTo>
                    <a:pt x="90195" y="24752"/>
                  </a:lnTo>
                  <a:lnTo>
                    <a:pt x="90398" y="24752"/>
                  </a:lnTo>
                  <a:lnTo>
                    <a:pt x="91211" y="24561"/>
                  </a:lnTo>
                  <a:lnTo>
                    <a:pt x="93776" y="24561"/>
                  </a:lnTo>
                  <a:lnTo>
                    <a:pt x="94983" y="24752"/>
                  </a:lnTo>
                  <a:lnTo>
                    <a:pt x="101638" y="31826"/>
                  </a:lnTo>
                  <a:lnTo>
                    <a:pt x="101790" y="32715"/>
                  </a:lnTo>
                  <a:lnTo>
                    <a:pt x="93421" y="15786"/>
                  </a:lnTo>
                  <a:lnTo>
                    <a:pt x="88607" y="15786"/>
                  </a:lnTo>
                  <a:lnTo>
                    <a:pt x="73761" y="31165"/>
                  </a:lnTo>
                  <a:lnTo>
                    <a:pt x="73799" y="37858"/>
                  </a:lnTo>
                  <a:lnTo>
                    <a:pt x="88607" y="53073"/>
                  </a:lnTo>
                  <a:lnTo>
                    <a:pt x="93230" y="53073"/>
                  </a:lnTo>
                  <a:lnTo>
                    <a:pt x="95250" y="52768"/>
                  </a:lnTo>
                  <a:lnTo>
                    <a:pt x="99098" y="51523"/>
                  </a:lnTo>
                  <a:lnTo>
                    <a:pt x="100761" y="50292"/>
                  </a:lnTo>
                  <a:lnTo>
                    <a:pt x="102133" y="48437"/>
                  </a:lnTo>
                  <a:lnTo>
                    <a:pt x="103136" y="52222"/>
                  </a:lnTo>
                  <a:lnTo>
                    <a:pt x="111645" y="52222"/>
                  </a:lnTo>
                  <a:lnTo>
                    <a:pt x="111645" y="48437"/>
                  </a:lnTo>
                  <a:lnTo>
                    <a:pt x="111645" y="44284"/>
                  </a:lnTo>
                  <a:lnTo>
                    <a:pt x="111645" y="24561"/>
                  </a:lnTo>
                  <a:lnTo>
                    <a:pt x="111645" y="20281"/>
                  </a:lnTo>
                  <a:lnTo>
                    <a:pt x="111645" y="16789"/>
                  </a:lnTo>
                  <a:close/>
                </a:path>
                <a:path w="226059" h="53975">
                  <a:moveTo>
                    <a:pt x="155079" y="16789"/>
                  </a:moveTo>
                  <a:lnTo>
                    <a:pt x="146583" y="16789"/>
                  </a:lnTo>
                  <a:lnTo>
                    <a:pt x="145580" y="20281"/>
                  </a:lnTo>
                  <a:lnTo>
                    <a:pt x="145224" y="19837"/>
                  </a:lnTo>
                  <a:lnTo>
                    <a:pt x="145224" y="32715"/>
                  </a:lnTo>
                  <a:lnTo>
                    <a:pt x="145173" y="37858"/>
                  </a:lnTo>
                  <a:lnTo>
                    <a:pt x="144259" y="40309"/>
                  </a:lnTo>
                  <a:lnTo>
                    <a:pt x="140677" y="43484"/>
                  </a:lnTo>
                  <a:lnTo>
                    <a:pt x="138506" y="44284"/>
                  </a:lnTo>
                  <a:lnTo>
                    <a:pt x="134645" y="44284"/>
                  </a:lnTo>
                  <a:lnTo>
                    <a:pt x="133096" y="43954"/>
                  </a:lnTo>
                  <a:lnTo>
                    <a:pt x="133286" y="43954"/>
                  </a:lnTo>
                  <a:lnTo>
                    <a:pt x="131203" y="42976"/>
                  </a:lnTo>
                  <a:lnTo>
                    <a:pt x="126644" y="35814"/>
                  </a:lnTo>
                  <a:lnTo>
                    <a:pt x="126707" y="32715"/>
                  </a:lnTo>
                  <a:lnTo>
                    <a:pt x="133629" y="24752"/>
                  </a:lnTo>
                  <a:lnTo>
                    <a:pt x="133832" y="24752"/>
                  </a:lnTo>
                  <a:lnTo>
                    <a:pt x="134645" y="24561"/>
                  </a:lnTo>
                  <a:lnTo>
                    <a:pt x="137223" y="24561"/>
                  </a:lnTo>
                  <a:lnTo>
                    <a:pt x="138417" y="24752"/>
                  </a:lnTo>
                  <a:lnTo>
                    <a:pt x="145224" y="32715"/>
                  </a:lnTo>
                  <a:lnTo>
                    <a:pt x="145224" y="19837"/>
                  </a:lnTo>
                  <a:lnTo>
                    <a:pt x="144335" y="18707"/>
                  </a:lnTo>
                  <a:lnTo>
                    <a:pt x="142760" y="17564"/>
                  </a:lnTo>
                  <a:lnTo>
                    <a:pt x="138950" y="16141"/>
                  </a:lnTo>
                  <a:lnTo>
                    <a:pt x="136855" y="15786"/>
                  </a:lnTo>
                  <a:lnTo>
                    <a:pt x="132054" y="15786"/>
                  </a:lnTo>
                  <a:lnTo>
                    <a:pt x="117208" y="31165"/>
                  </a:lnTo>
                  <a:lnTo>
                    <a:pt x="117233" y="37858"/>
                  </a:lnTo>
                  <a:lnTo>
                    <a:pt x="132054" y="53073"/>
                  </a:lnTo>
                  <a:lnTo>
                    <a:pt x="136677" y="53073"/>
                  </a:lnTo>
                  <a:lnTo>
                    <a:pt x="138684" y="52768"/>
                  </a:lnTo>
                  <a:lnTo>
                    <a:pt x="142532" y="51523"/>
                  </a:lnTo>
                  <a:lnTo>
                    <a:pt x="144195" y="50292"/>
                  </a:lnTo>
                  <a:lnTo>
                    <a:pt x="145580" y="48437"/>
                  </a:lnTo>
                  <a:lnTo>
                    <a:pt x="146583" y="52222"/>
                  </a:lnTo>
                  <a:lnTo>
                    <a:pt x="155079" y="52222"/>
                  </a:lnTo>
                  <a:lnTo>
                    <a:pt x="155079" y="48437"/>
                  </a:lnTo>
                  <a:lnTo>
                    <a:pt x="155079" y="44284"/>
                  </a:lnTo>
                  <a:lnTo>
                    <a:pt x="155079" y="24561"/>
                  </a:lnTo>
                  <a:lnTo>
                    <a:pt x="155079" y="20281"/>
                  </a:lnTo>
                  <a:lnTo>
                    <a:pt x="155079" y="16789"/>
                  </a:lnTo>
                  <a:close/>
                </a:path>
                <a:path w="226059" h="53975">
                  <a:moveTo>
                    <a:pt x="187299" y="16713"/>
                  </a:moveTo>
                  <a:lnTo>
                    <a:pt x="185153" y="16141"/>
                  </a:lnTo>
                  <a:lnTo>
                    <a:pt x="183273" y="15862"/>
                  </a:lnTo>
                  <a:lnTo>
                    <a:pt x="180276" y="15862"/>
                  </a:lnTo>
                  <a:lnTo>
                    <a:pt x="171157" y="21704"/>
                  </a:lnTo>
                  <a:lnTo>
                    <a:pt x="170218" y="16789"/>
                  </a:lnTo>
                  <a:lnTo>
                    <a:pt x="161302" y="16789"/>
                  </a:lnTo>
                  <a:lnTo>
                    <a:pt x="161302" y="52222"/>
                  </a:lnTo>
                  <a:lnTo>
                    <a:pt x="171157" y="52222"/>
                  </a:lnTo>
                  <a:lnTo>
                    <a:pt x="171157" y="32194"/>
                  </a:lnTo>
                  <a:lnTo>
                    <a:pt x="171437" y="31038"/>
                  </a:lnTo>
                  <a:lnTo>
                    <a:pt x="180416" y="24777"/>
                  </a:lnTo>
                  <a:lnTo>
                    <a:pt x="182372" y="24777"/>
                  </a:lnTo>
                  <a:lnTo>
                    <a:pt x="185331" y="25285"/>
                  </a:lnTo>
                  <a:lnTo>
                    <a:pt x="185851" y="25412"/>
                  </a:lnTo>
                  <a:lnTo>
                    <a:pt x="186372" y="25488"/>
                  </a:lnTo>
                  <a:lnTo>
                    <a:pt x="187299" y="16713"/>
                  </a:lnTo>
                  <a:close/>
                </a:path>
                <a:path w="226059" h="53975">
                  <a:moveTo>
                    <a:pt x="225450" y="52222"/>
                  </a:moveTo>
                  <a:lnTo>
                    <a:pt x="210527" y="31496"/>
                  </a:lnTo>
                  <a:lnTo>
                    <a:pt x="224307" y="16789"/>
                  </a:lnTo>
                  <a:lnTo>
                    <a:pt x="212305" y="16789"/>
                  </a:lnTo>
                  <a:lnTo>
                    <a:pt x="200799" y="29006"/>
                  </a:lnTo>
                  <a:lnTo>
                    <a:pt x="200799" y="63"/>
                  </a:lnTo>
                  <a:lnTo>
                    <a:pt x="190944" y="63"/>
                  </a:lnTo>
                  <a:lnTo>
                    <a:pt x="190944" y="52222"/>
                  </a:lnTo>
                  <a:lnTo>
                    <a:pt x="200799" y="52222"/>
                  </a:lnTo>
                  <a:lnTo>
                    <a:pt x="200799" y="41859"/>
                  </a:lnTo>
                  <a:lnTo>
                    <a:pt x="204304" y="38074"/>
                  </a:lnTo>
                  <a:lnTo>
                    <a:pt x="213664" y="52222"/>
                  </a:lnTo>
                  <a:lnTo>
                    <a:pt x="225450" y="52222"/>
                  </a:lnTo>
                  <a:close/>
                </a:path>
              </a:pathLst>
            </a:custGeom>
            <a:solidFill>
              <a:srgbClr val="F75E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673099" y="2197100"/>
            <a:ext cx="3101340" cy="1579880"/>
          </a:xfrm>
          <a:prstGeom prst="rect"/>
        </p:spPr>
        <p:txBody>
          <a:bodyPr wrap="square" lIns="0" tIns="195580" rIns="0" bIns="0" rtlCol="0" vert="horz">
            <a:spAutoFit/>
          </a:bodyPr>
          <a:lstStyle/>
          <a:p>
            <a:pPr marL="12700" marR="5080">
              <a:lnSpc>
                <a:spcPct val="78900"/>
              </a:lnSpc>
              <a:spcBef>
                <a:spcPts val="1540"/>
              </a:spcBef>
            </a:pPr>
            <a:r>
              <a:rPr dirty="0" sz="5700" spc="-770">
                <a:solidFill>
                  <a:srgbClr val="293283"/>
                </a:solidFill>
              </a:rPr>
              <a:t>Working </a:t>
            </a:r>
            <a:r>
              <a:rPr dirty="0" sz="5700" spc="-625">
                <a:solidFill>
                  <a:srgbClr val="293283"/>
                </a:solidFill>
              </a:rPr>
              <a:t>With</a:t>
            </a:r>
            <a:r>
              <a:rPr dirty="0" sz="5700" spc="-660">
                <a:solidFill>
                  <a:srgbClr val="293283"/>
                </a:solidFill>
              </a:rPr>
              <a:t> </a:t>
            </a:r>
            <a:r>
              <a:rPr dirty="0" sz="5700" spc="-685">
                <a:solidFill>
                  <a:srgbClr val="293283"/>
                </a:solidFill>
              </a:rPr>
              <a:t>Data.</a:t>
            </a:r>
            <a:endParaRPr sz="5700"/>
          </a:p>
        </p:txBody>
      </p:sp>
      <p:sp>
        <p:nvSpPr>
          <p:cNvPr id="14" name="object 14"/>
          <p:cNvSpPr txBox="1"/>
          <p:nvPr/>
        </p:nvSpPr>
        <p:spPr>
          <a:xfrm>
            <a:off x="673099" y="4210684"/>
            <a:ext cx="5835015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dirty="0" sz="1650" spc="-114">
                <a:solidFill>
                  <a:srgbClr val="4A4E6A"/>
                </a:solidFill>
                <a:latin typeface="Trebuchet MS"/>
                <a:cs typeface="Trebuchet MS"/>
              </a:rPr>
              <a:t>Yesterday</a:t>
            </a:r>
            <a:r>
              <a:rPr dirty="0" sz="1650" spc="-10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65">
                <a:solidFill>
                  <a:srgbClr val="4A4E6A"/>
                </a:solidFill>
                <a:latin typeface="Trebuchet MS"/>
                <a:cs typeface="Trebuchet MS"/>
              </a:rPr>
              <a:t>you</a:t>
            </a:r>
            <a:r>
              <a:rPr dirty="0" sz="1650" spc="-10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95">
                <a:solidFill>
                  <a:srgbClr val="4A4E6A"/>
                </a:solidFill>
                <a:latin typeface="Trebuchet MS"/>
                <a:cs typeface="Trebuchet MS"/>
              </a:rPr>
              <a:t>organized</a:t>
            </a:r>
            <a:r>
              <a:rPr dirty="0" sz="1650" spc="-10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100">
                <a:solidFill>
                  <a:srgbClr val="4A4E6A"/>
                </a:solidFill>
                <a:latin typeface="Trebuchet MS"/>
                <a:cs typeface="Trebuchet MS"/>
              </a:rPr>
              <a:t>widgets. </a:t>
            </a:r>
            <a:r>
              <a:rPr dirty="0" sz="1650" spc="-130">
                <a:solidFill>
                  <a:srgbClr val="4A4E6A"/>
                </a:solidFill>
                <a:latin typeface="Trebuchet MS"/>
                <a:cs typeface="Trebuchet MS"/>
              </a:rPr>
              <a:t>Today</a:t>
            </a:r>
            <a:r>
              <a:rPr dirty="0" sz="1650" spc="-10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rebuchet MS"/>
                <a:cs typeface="Trebuchet MS"/>
              </a:rPr>
              <a:t>we</a:t>
            </a:r>
            <a:r>
              <a:rPr dirty="0" sz="1650" spc="-10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125">
                <a:solidFill>
                  <a:srgbClr val="4A4E6A"/>
                </a:solidFill>
                <a:latin typeface="Trebuchet MS"/>
                <a:cs typeface="Trebuchet MS"/>
              </a:rPr>
              <a:t>fill</a:t>
            </a:r>
            <a:r>
              <a:rPr dirty="0" sz="1650" spc="-10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rebuchet MS"/>
                <a:cs typeface="Trebuchet MS"/>
              </a:rPr>
              <a:t>them</a:t>
            </a:r>
            <a:r>
              <a:rPr dirty="0" sz="1650" spc="-10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1650" spc="-105">
                <a:solidFill>
                  <a:srgbClr val="4A4E6A"/>
                </a:solidFill>
                <a:latin typeface="Trebuchet MS"/>
                <a:cs typeface="Trebuchet MS"/>
              </a:rPr>
              <a:t> real</a:t>
            </a:r>
            <a:r>
              <a:rPr dirty="0" sz="1650" spc="-10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105">
                <a:solidFill>
                  <a:srgbClr val="4A4E6A"/>
                </a:solidFill>
                <a:latin typeface="Trebuchet MS"/>
                <a:cs typeface="Trebuchet MS"/>
              </a:rPr>
              <a:t>data</a:t>
            </a:r>
            <a:r>
              <a:rPr dirty="0" sz="1650" spc="-10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225">
                <a:solidFill>
                  <a:srgbClr val="4A4E6A"/>
                </a:solidFill>
                <a:latin typeface="Trebuchet MS"/>
                <a:cs typeface="Trebuchet MS"/>
              </a:rPr>
              <a:t>— </a:t>
            </a:r>
            <a:r>
              <a:rPr dirty="0" sz="1650" spc="-75">
                <a:solidFill>
                  <a:srgbClr val="4A4E6A"/>
                </a:solidFill>
                <a:latin typeface="Trebuchet MS"/>
                <a:cs typeface="Trebuchet MS"/>
              </a:rPr>
              <a:t>CSV</a:t>
            </a:r>
            <a:r>
              <a:rPr dirty="0" sz="1650" spc="-9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120">
                <a:solidFill>
                  <a:srgbClr val="4A4E6A"/>
                </a:solidFill>
                <a:latin typeface="Trebuchet MS"/>
                <a:cs typeface="Trebuchet MS"/>
              </a:rPr>
              <a:t>files,</a:t>
            </a:r>
            <a:r>
              <a:rPr dirty="0" sz="1650" spc="-90">
                <a:solidFill>
                  <a:srgbClr val="4A4E6A"/>
                </a:solidFill>
                <a:latin typeface="Trebuchet MS"/>
                <a:cs typeface="Trebuchet MS"/>
              </a:rPr>
              <a:t> spreadsheets,</a:t>
            </a:r>
            <a:r>
              <a:rPr dirty="0" sz="16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110">
                <a:solidFill>
                  <a:srgbClr val="4A4E6A"/>
                </a:solidFill>
                <a:latin typeface="Trebuchet MS"/>
                <a:cs typeface="Trebuchet MS"/>
              </a:rPr>
              <a:t>tables.</a:t>
            </a:r>
            <a:r>
              <a:rPr dirty="0" sz="1650" spc="-9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110">
                <a:solidFill>
                  <a:srgbClr val="4A4E6A"/>
                </a:solidFill>
                <a:latin typeface="Trebuchet MS"/>
                <a:cs typeface="Trebuchet MS"/>
              </a:rPr>
              <a:t>Your</a:t>
            </a:r>
            <a:r>
              <a:rPr dirty="0" sz="1650" spc="-9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75">
                <a:solidFill>
                  <a:srgbClr val="4A4E6A"/>
                </a:solidFill>
                <a:latin typeface="Trebuchet MS"/>
                <a:cs typeface="Trebuchet MS"/>
              </a:rPr>
              <a:t>apps</a:t>
            </a:r>
            <a:r>
              <a:rPr dirty="0" sz="16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95">
                <a:solidFill>
                  <a:srgbClr val="4A4E6A"/>
                </a:solidFill>
                <a:latin typeface="Trebuchet MS"/>
                <a:cs typeface="Trebuchet MS"/>
              </a:rPr>
              <a:t>start</a:t>
            </a:r>
            <a:r>
              <a:rPr dirty="0" sz="1650" spc="-9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85">
                <a:solidFill>
                  <a:srgbClr val="4A4E6A"/>
                </a:solidFill>
                <a:latin typeface="Trebuchet MS"/>
                <a:cs typeface="Trebuchet MS"/>
              </a:rPr>
              <a:t>remembering</a:t>
            </a:r>
            <a:r>
              <a:rPr dirty="0" sz="1650" spc="-9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4A4E6A"/>
                </a:solidFill>
                <a:latin typeface="Trebuchet MS"/>
                <a:cs typeface="Trebuchet MS"/>
              </a:rPr>
              <a:t>things.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67625" y="2450464"/>
            <a:ext cx="1572260" cy="5568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P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 G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650" spc="-175" b="1">
                <a:solidFill>
                  <a:srgbClr val="293283"/>
                </a:solidFill>
                <a:latin typeface="Tahoma"/>
                <a:cs typeface="Tahoma"/>
              </a:rPr>
              <a:t>Python</a:t>
            </a:r>
            <a:r>
              <a:rPr dirty="0" sz="165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650" spc="-175" b="1">
                <a:solidFill>
                  <a:srgbClr val="293283"/>
                </a:solidFill>
                <a:latin typeface="Tahoma"/>
                <a:cs typeface="Tahoma"/>
              </a:rPr>
              <a:t>Internship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67625" y="3311525"/>
            <a:ext cx="41465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25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800" spc="18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B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Y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67625" y="3549650"/>
            <a:ext cx="55499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75" b="1">
                <a:solidFill>
                  <a:srgbClr val="293283"/>
                </a:solidFill>
                <a:latin typeface="Tahoma"/>
                <a:cs typeface="Tahoma"/>
              </a:rPr>
              <a:t>Zlaark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67625" y="4079239"/>
            <a:ext cx="613410" cy="5568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650" spc="-229" b="1">
                <a:solidFill>
                  <a:srgbClr val="293283"/>
                </a:solidFill>
                <a:latin typeface="Tahoma"/>
                <a:cs typeface="Tahoma"/>
              </a:rPr>
              <a:t>6</a:t>
            </a:r>
            <a:r>
              <a:rPr dirty="0" sz="16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650" spc="-130" b="1">
                <a:solidFill>
                  <a:srgbClr val="293283"/>
                </a:solidFill>
                <a:latin typeface="Tahoma"/>
                <a:cs typeface="Tahoma"/>
              </a:rPr>
              <a:t>of</a:t>
            </a:r>
            <a:r>
              <a:rPr dirty="0" sz="165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650" spc="-190" b="1">
                <a:solidFill>
                  <a:srgbClr val="293283"/>
                </a:solidFill>
                <a:latin typeface="Tahoma"/>
                <a:cs typeface="Tahoma"/>
              </a:rPr>
              <a:t>24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42921" y="6102349"/>
            <a:ext cx="105664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A4E6A"/>
                </a:solidFill>
                <a:latin typeface="Trebuchet MS"/>
                <a:cs typeface="Trebuchet MS"/>
              </a:rPr>
              <a:t>2</a:t>
            </a:r>
            <a:r>
              <a:rPr dirty="0" sz="950" spc="204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50" spc="-1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>
                <a:solidFill>
                  <a:srgbClr val="4A4E6A"/>
                </a:solidFill>
                <a:latin typeface="Trebuchet MS"/>
                <a:cs typeface="Trebuchet MS"/>
              </a:rPr>
              <a:t>U</a:t>
            </a:r>
            <a:r>
              <a:rPr dirty="0" sz="950" spc="-1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G</a:t>
            </a:r>
            <a:r>
              <a:rPr dirty="0" sz="950" spc="-1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>
                <a:solidFill>
                  <a:srgbClr val="4A4E6A"/>
                </a:solidFill>
                <a:latin typeface="Trebuchet MS"/>
                <a:cs typeface="Trebuchet MS"/>
              </a:rPr>
              <a:t>U</a:t>
            </a:r>
            <a:r>
              <a:rPr dirty="0" sz="950" spc="-1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4A4E6A"/>
                </a:solidFill>
                <a:latin typeface="Trebuchet MS"/>
                <a:cs typeface="Trebuchet MS"/>
              </a:rPr>
              <a:t>S</a:t>
            </a:r>
            <a:r>
              <a:rPr dirty="0" sz="950" spc="-1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>
                <a:solidFill>
                  <a:srgbClr val="4A4E6A"/>
                </a:solidFill>
                <a:latin typeface="Trebuchet MS"/>
                <a:cs typeface="Trebuchet MS"/>
              </a:rPr>
              <a:t>T</a:t>
            </a:r>
            <a:r>
              <a:rPr dirty="0" sz="950" spc="2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rebuchet MS"/>
                <a:cs typeface="Trebuchet MS"/>
              </a:rPr>
              <a:t>2</a:t>
            </a:r>
            <a:r>
              <a:rPr dirty="0" sz="950" spc="-1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rebuchet MS"/>
                <a:cs typeface="Trebuchet MS"/>
              </a:rPr>
              <a:t>0</a:t>
            </a:r>
            <a:r>
              <a:rPr dirty="0" sz="950" spc="-1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rebuchet MS"/>
                <a:cs typeface="Trebuchet MS"/>
              </a:rPr>
              <a:t>2</a:t>
            </a:r>
            <a:r>
              <a:rPr dirty="0" sz="950" spc="-1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6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" y="647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5500" y="587375"/>
            <a:ext cx="11366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G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1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AY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6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570229"/>
            <a:ext cx="8118475" cy="916940"/>
          </a:xfrm>
          <a:prstGeom prst="rect"/>
        </p:spPr>
        <p:txBody>
          <a:bodyPr wrap="square" lIns="0" tIns="229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dirty="0" sz="2850" spc="-380">
                <a:solidFill>
                  <a:srgbClr val="293283"/>
                </a:solidFill>
              </a:rPr>
              <a:t>How</a:t>
            </a:r>
            <a:r>
              <a:rPr dirty="0" sz="2850" spc="-240">
                <a:solidFill>
                  <a:srgbClr val="293283"/>
                </a:solidFill>
              </a:rPr>
              <a:t> </a:t>
            </a:r>
            <a:r>
              <a:rPr dirty="0" sz="2850" spc="-250">
                <a:solidFill>
                  <a:srgbClr val="293283"/>
                </a:solidFill>
              </a:rPr>
              <a:t>we’ll</a:t>
            </a:r>
            <a:r>
              <a:rPr dirty="0" sz="2850" spc="-240">
                <a:solidFill>
                  <a:srgbClr val="293283"/>
                </a:solidFill>
              </a:rPr>
              <a:t> </a:t>
            </a:r>
            <a:r>
              <a:rPr dirty="0" sz="2850" spc="-320">
                <a:solidFill>
                  <a:srgbClr val="293283"/>
                </a:solidFill>
              </a:rPr>
              <a:t>spend</a:t>
            </a:r>
            <a:r>
              <a:rPr dirty="0" sz="2850" spc="-235">
                <a:solidFill>
                  <a:srgbClr val="293283"/>
                </a:solidFill>
              </a:rPr>
              <a:t> </a:t>
            </a:r>
            <a:r>
              <a:rPr dirty="0" sz="2850" spc="-285">
                <a:solidFill>
                  <a:srgbClr val="293283"/>
                </a:solidFill>
              </a:rPr>
              <a:t>our</a:t>
            </a:r>
            <a:r>
              <a:rPr dirty="0" sz="2850" spc="-240">
                <a:solidFill>
                  <a:srgbClr val="293283"/>
                </a:solidFill>
              </a:rPr>
              <a:t> </a:t>
            </a:r>
            <a:r>
              <a:rPr dirty="0" sz="2850" spc="-400">
                <a:solidFill>
                  <a:srgbClr val="293283"/>
                </a:solidFill>
              </a:rPr>
              <a:t>90</a:t>
            </a:r>
            <a:r>
              <a:rPr dirty="0" sz="2850" spc="-240">
                <a:solidFill>
                  <a:srgbClr val="293283"/>
                </a:solidFill>
              </a:rPr>
              <a:t> </a:t>
            </a:r>
            <a:r>
              <a:rPr dirty="0" sz="2850" spc="-315">
                <a:solidFill>
                  <a:srgbClr val="293283"/>
                </a:solidFill>
              </a:rPr>
              <a:t>minutes</a:t>
            </a:r>
            <a:r>
              <a:rPr dirty="0" sz="2850" spc="-240">
                <a:solidFill>
                  <a:srgbClr val="293283"/>
                </a:solidFill>
              </a:rPr>
              <a:t> </a:t>
            </a:r>
            <a:r>
              <a:rPr dirty="0" sz="2850" spc="-325">
                <a:solidFill>
                  <a:srgbClr val="293283"/>
                </a:solidFill>
              </a:rPr>
              <a:t>today.</a:t>
            </a:r>
            <a:endParaRPr sz="2850"/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050" spc="-85" b="0">
                <a:solidFill>
                  <a:srgbClr val="797E94"/>
                </a:solidFill>
                <a:latin typeface="Trebuchet MS"/>
                <a:cs typeface="Trebuchet MS"/>
              </a:rPr>
              <a:t>Today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50" b="0">
                <a:solidFill>
                  <a:srgbClr val="797E94"/>
                </a:solidFill>
                <a:latin typeface="Trebuchet MS"/>
                <a:cs typeface="Trebuchet MS"/>
              </a:rPr>
              <a:t>is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65" b="0">
                <a:solidFill>
                  <a:srgbClr val="797E94"/>
                </a:solidFill>
                <a:latin typeface="Trebuchet MS"/>
                <a:cs typeface="Trebuchet MS"/>
              </a:rPr>
              <a:t>the</a:t>
            </a:r>
            <a:r>
              <a:rPr dirty="0" sz="1050" spc="-55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densest </a:t>
            </a:r>
            <a:r>
              <a:rPr dirty="0" sz="1050" spc="-65" b="0">
                <a:solidFill>
                  <a:srgbClr val="797E94"/>
                </a:solidFill>
                <a:latin typeface="Trebuchet MS"/>
                <a:cs typeface="Trebuchet MS"/>
              </a:rPr>
              <a:t>day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55" b="0">
                <a:solidFill>
                  <a:srgbClr val="797E94"/>
                </a:solidFill>
                <a:latin typeface="Trebuchet MS"/>
                <a:cs typeface="Trebuchet MS"/>
              </a:rPr>
              <a:t>of Phase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30" b="0">
                <a:solidFill>
                  <a:srgbClr val="797E94"/>
                </a:solidFill>
                <a:latin typeface="Trebuchet MS"/>
                <a:cs typeface="Trebuchet MS"/>
              </a:rPr>
              <a:t>2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170" b="0">
                <a:solidFill>
                  <a:srgbClr val="797E94"/>
                </a:solidFill>
                <a:latin typeface="Trebuchet MS"/>
                <a:cs typeface="Trebuchet MS"/>
              </a:rPr>
              <a:t>—</a:t>
            </a:r>
            <a:r>
              <a:rPr dirty="0" sz="1050" spc="-55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65" b="0">
                <a:solidFill>
                  <a:srgbClr val="797E94"/>
                </a:solidFill>
                <a:latin typeface="Trebuchet MS"/>
                <a:cs typeface="Trebuchet MS"/>
              </a:rPr>
              <a:t>six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55" b="0">
                <a:solidFill>
                  <a:srgbClr val="797E94"/>
                </a:solidFill>
                <a:latin typeface="Trebuchet MS"/>
                <a:cs typeface="Trebuchet MS"/>
              </a:rPr>
              <a:t>pandas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75" b="0">
                <a:solidFill>
                  <a:srgbClr val="797E94"/>
                </a:solidFill>
                <a:latin typeface="Trebuchet MS"/>
                <a:cs typeface="Trebuchet MS"/>
              </a:rPr>
              <a:t>concepts,</a:t>
            </a:r>
            <a:r>
              <a:rPr dirty="0" sz="1050" spc="-55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45" b="0">
                <a:solidFill>
                  <a:srgbClr val="797E94"/>
                </a:solidFill>
                <a:latin typeface="Trebuchet MS"/>
                <a:cs typeface="Trebuchet MS"/>
              </a:rPr>
              <a:t>one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75" b="0">
                <a:solidFill>
                  <a:srgbClr val="797E94"/>
                </a:solidFill>
                <a:latin typeface="Trebuchet MS"/>
                <a:cs typeface="Trebuchet MS"/>
              </a:rPr>
              <a:t>cheatsheet,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55" b="0">
                <a:solidFill>
                  <a:srgbClr val="797E94"/>
                </a:solidFill>
                <a:latin typeface="Trebuchet MS"/>
                <a:cs typeface="Trebuchet MS"/>
              </a:rPr>
              <a:t>and a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55" b="0">
                <a:solidFill>
                  <a:srgbClr val="797E94"/>
                </a:solidFill>
                <a:latin typeface="Trebuchet MS"/>
                <a:cs typeface="Trebuchet MS"/>
              </a:rPr>
              <a:t>dashboard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80" b="0">
                <a:solidFill>
                  <a:srgbClr val="797E94"/>
                </a:solidFill>
                <a:latin typeface="Trebuchet MS"/>
                <a:cs typeface="Trebuchet MS"/>
              </a:rPr>
              <a:t>exercise</a:t>
            </a:r>
            <a:r>
              <a:rPr dirty="0" sz="1050" spc="-55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70" b="0">
                <a:solidFill>
                  <a:srgbClr val="797E94"/>
                </a:solidFill>
                <a:latin typeface="Trebuchet MS"/>
                <a:cs typeface="Trebuchet MS"/>
              </a:rPr>
              <a:t>that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combines</a:t>
            </a:r>
            <a:r>
              <a:rPr dirty="0" sz="1050" spc="-55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65" b="0">
                <a:solidFill>
                  <a:srgbClr val="797E94"/>
                </a:solidFill>
                <a:latin typeface="Trebuchet MS"/>
                <a:cs typeface="Trebuchet MS"/>
              </a:rPr>
              <a:t>everything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45" b="0">
                <a:solidFill>
                  <a:srgbClr val="797E94"/>
                </a:solidFill>
                <a:latin typeface="Trebuchet MS"/>
                <a:cs typeface="Trebuchet MS"/>
              </a:rPr>
              <a:t>you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65" b="0">
                <a:solidFill>
                  <a:srgbClr val="797E94"/>
                </a:solidFill>
                <a:latin typeface="Trebuchet MS"/>
                <a:cs typeface="Trebuchet MS"/>
              </a:rPr>
              <a:t>have</a:t>
            </a:r>
            <a:r>
              <a:rPr dirty="0" sz="1050" spc="-55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65" b="0">
                <a:solidFill>
                  <a:srgbClr val="797E94"/>
                </a:solidFill>
                <a:latin typeface="Trebuchet MS"/>
                <a:cs typeface="Trebuchet MS"/>
              </a:rPr>
              <a:t>learned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25" b="0">
                <a:solidFill>
                  <a:srgbClr val="797E94"/>
                </a:solidFill>
                <a:latin typeface="Trebuchet MS"/>
                <a:cs typeface="Trebuchet MS"/>
              </a:rPr>
              <a:t>so</a:t>
            </a:r>
            <a:r>
              <a:rPr dirty="0" sz="1050" spc="-60" b="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1050" spc="-20" b="0">
                <a:solidFill>
                  <a:srgbClr val="797E94"/>
                </a:solidFill>
                <a:latin typeface="Trebuchet MS"/>
                <a:cs typeface="Trebuchet MS"/>
              </a:rPr>
              <a:t>far.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42066" y="1035050"/>
            <a:ext cx="777875" cy="4502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43510">
              <a:lnSpc>
                <a:spcPts val="880"/>
              </a:lnSpc>
              <a:spcBef>
                <a:spcPts val="125"/>
              </a:spcBef>
            </a:pP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D</a:t>
            </a:r>
            <a:r>
              <a:rPr dirty="0" sz="800" spc="-35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U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R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A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T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I</a:t>
            </a:r>
            <a:r>
              <a:rPr dirty="0" sz="800" spc="-35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797E94"/>
                </a:solidFill>
                <a:latin typeface="Courier New"/>
                <a:cs typeface="Courier New"/>
              </a:rPr>
              <a:t>O</a:t>
            </a:r>
            <a:r>
              <a:rPr dirty="0" sz="800" spc="-34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Courier New"/>
                <a:cs typeface="Courier New"/>
              </a:rPr>
              <a:t>N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ts val="2440"/>
              </a:lnSpc>
            </a:pPr>
            <a:r>
              <a:rPr dirty="0" sz="2100" spc="-290" b="1">
                <a:solidFill>
                  <a:srgbClr val="293283"/>
                </a:solidFill>
                <a:latin typeface="Tahoma"/>
                <a:cs typeface="Tahoma"/>
              </a:rPr>
              <a:t>90</a:t>
            </a:r>
            <a:r>
              <a:rPr dirty="0" sz="2100" spc="-1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2100" spc="-200" b="1">
                <a:solidFill>
                  <a:srgbClr val="293283"/>
                </a:solidFill>
                <a:latin typeface="Tahoma"/>
                <a:cs typeface="Tahoma"/>
              </a:rPr>
              <a:t>min</a:t>
            </a:r>
            <a:endParaRPr sz="21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799" y="1714499"/>
            <a:ext cx="3505200" cy="2228850"/>
            <a:chOff x="685799" y="1714499"/>
            <a:chExt cx="3505200" cy="2228850"/>
          </a:xfrm>
        </p:grpSpPr>
        <p:sp>
          <p:nvSpPr>
            <p:cNvPr id="7" name="object 7"/>
            <p:cNvSpPr/>
            <p:nvPr/>
          </p:nvSpPr>
          <p:spPr>
            <a:xfrm>
              <a:off x="690562" y="171926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3375530" y="2219324"/>
                  </a:moveTo>
                  <a:lnTo>
                    <a:pt x="120144" y="2219324"/>
                  </a:lnTo>
                  <a:lnTo>
                    <a:pt x="111782" y="2218501"/>
                  </a:lnTo>
                  <a:lnTo>
                    <a:pt x="71578" y="2206305"/>
                  </a:lnTo>
                  <a:lnTo>
                    <a:pt x="31692" y="2175692"/>
                  </a:lnTo>
                  <a:lnTo>
                    <a:pt x="6557" y="2132144"/>
                  </a:lnTo>
                  <a:lnTo>
                    <a:pt x="0" y="2099180"/>
                  </a:lnTo>
                  <a:lnTo>
                    <a:pt x="0" y="209073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3375530" y="0"/>
                  </a:lnTo>
                  <a:lnTo>
                    <a:pt x="3424095" y="13018"/>
                  </a:lnTo>
                  <a:lnTo>
                    <a:pt x="3463982" y="43632"/>
                  </a:lnTo>
                  <a:lnTo>
                    <a:pt x="3489117" y="87179"/>
                  </a:lnTo>
                  <a:lnTo>
                    <a:pt x="3495674" y="120144"/>
                  </a:lnTo>
                  <a:lnTo>
                    <a:pt x="3495674" y="2099180"/>
                  </a:lnTo>
                  <a:lnTo>
                    <a:pt x="3482654" y="2147745"/>
                  </a:lnTo>
                  <a:lnTo>
                    <a:pt x="3452041" y="2187632"/>
                  </a:lnTo>
                  <a:lnTo>
                    <a:pt x="3408494" y="2212767"/>
                  </a:lnTo>
                  <a:lnTo>
                    <a:pt x="3383892" y="2218501"/>
                  </a:lnTo>
                  <a:lnTo>
                    <a:pt x="3375530" y="2219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90562" y="171926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0" y="209073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6557" y="87179"/>
                  </a:lnTo>
                  <a:lnTo>
                    <a:pt x="9788" y="79379"/>
                  </a:lnTo>
                  <a:lnTo>
                    <a:pt x="13019" y="71578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103501" y="2470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3367087" y="0"/>
                  </a:lnTo>
                  <a:lnTo>
                    <a:pt x="3375530" y="0"/>
                  </a:lnTo>
                  <a:lnTo>
                    <a:pt x="3383892" y="823"/>
                  </a:lnTo>
                  <a:lnTo>
                    <a:pt x="3424095" y="13018"/>
                  </a:lnTo>
                  <a:lnTo>
                    <a:pt x="3438526" y="21670"/>
                  </a:lnTo>
                  <a:lnTo>
                    <a:pt x="3445546" y="26361"/>
                  </a:lnTo>
                  <a:lnTo>
                    <a:pt x="3452041" y="31691"/>
                  </a:lnTo>
                  <a:lnTo>
                    <a:pt x="3458012" y="37662"/>
                  </a:lnTo>
                  <a:lnTo>
                    <a:pt x="3463982" y="43632"/>
                  </a:lnTo>
                  <a:lnTo>
                    <a:pt x="3485886" y="79379"/>
                  </a:lnTo>
                  <a:lnTo>
                    <a:pt x="3489117" y="87179"/>
                  </a:lnTo>
                  <a:lnTo>
                    <a:pt x="3491556" y="95220"/>
                  </a:lnTo>
                  <a:lnTo>
                    <a:pt x="3493203" y="103501"/>
                  </a:lnTo>
                  <a:lnTo>
                    <a:pt x="3494850" y="111782"/>
                  </a:lnTo>
                  <a:lnTo>
                    <a:pt x="3495674" y="120144"/>
                  </a:lnTo>
                  <a:lnTo>
                    <a:pt x="3495674" y="128587"/>
                  </a:lnTo>
                  <a:lnTo>
                    <a:pt x="3495674" y="2090737"/>
                  </a:lnTo>
                  <a:lnTo>
                    <a:pt x="3495674" y="2099180"/>
                  </a:lnTo>
                  <a:lnTo>
                    <a:pt x="3494850" y="2107542"/>
                  </a:lnTo>
                  <a:lnTo>
                    <a:pt x="3493203" y="2115822"/>
                  </a:lnTo>
                  <a:lnTo>
                    <a:pt x="3491556" y="2124103"/>
                  </a:lnTo>
                  <a:lnTo>
                    <a:pt x="3474003" y="2162175"/>
                  </a:lnTo>
                  <a:lnTo>
                    <a:pt x="3469312" y="2169196"/>
                  </a:lnTo>
                  <a:lnTo>
                    <a:pt x="3438526" y="2197653"/>
                  </a:lnTo>
                  <a:lnTo>
                    <a:pt x="3400453" y="2215206"/>
                  </a:lnTo>
                  <a:lnTo>
                    <a:pt x="3367087" y="2219324"/>
                  </a:lnTo>
                  <a:lnTo>
                    <a:pt x="128587" y="2219324"/>
                  </a:lnTo>
                  <a:lnTo>
                    <a:pt x="87179" y="2212767"/>
                  </a:lnTo>
                  <a:lnTo>
                    <a:pt x="50127" y="2192962"/>
                  </a:lnTo>
                  <a:lnTo>
                    <a:pt x="21670" y="2162175"/>
                  </a:lnTo>
                  <a:lnTo>
                    <a:pt x="16980" y="2155155"/>
                  </a:lnTo>
                  <a:lnTo>
                    <a:pt x="2470" y="2115823"/>
                  </a:lnTo>
                  <a:lnTo>
                    <a:pt x="0" y="2099180"/>
                  </a:lnTo>
                  <a:lnTo>
                    <a:pt x="0" y="20907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85824" y="193357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4" y="228599"/>
                  </a:moveTo>
                  <a:lnTo>
                    <a:pt x="106794" y="228599"/>
                  </a:lnTo>
                  <a:lnTo>
                    <a:pt x="99361" y="227867"/>
                  </a:lnTo>
                  <a:lnTo>
                    <a:pt x="57038" y="213506"/>
                  </a:lnTo>
                  <a:lnTo>
                    <a:pt x="23432" y="184041"/>
                  </a:lnTo>
                  <a:lnTo>
                    <a:pt x="3660" y="143959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960004" y="0"/>
                  </a:lnTo>
                  <a:lnTo>
                    <a:pt x="1003174" y="11572"/>
                  </a:lnTo>
                  <a:lnTo>
                    <a:pt x="1038628" y="38784"/>
                  </a:lnTo>
                  <a:lnTo>
                    <a:pt x="1060971" y="77492"/>
                  </a:lnTo>
                  <a:lnTo>
                    <a:pt x="1066799" y="106794"/>
                  </a:lnTo>
                  <a:lnTo>
                    <a:pt x="1066799" y="121804"/>
                  </a:lnTo>
                  <a:lnTo>
                    <a:pt x="1055227" y="164974"/>
                  </a:lnTo>
                  <a:lnTo>
                    <a:pt x="1028015" y="200429"/>
                  </a:lnTo>
                  <a:lnTo>
                    <a:pt x="989306" y="222771"/>
                  </a:lnTo>
                  <a:lnTo>
                    <a:pt x="967437" y="227867"/>
                  </a:lnTo>
                  <a:lnTo>
                    <a:pt x="960004" y="2285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68375" y="195897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00:00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00:10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86174" y="1895474"/>
            <a:ext cx="304800" cy="304800"/>
            <a:chOff x="3686174" y="1895474"/>
            <a:chExt cx="304800" cy="304800"/>
          </a:xfrm>
        </p:grpSpPr>
        <p:sp>
          <p:nvSpPr>
            <p:cNvPr id="12" name="object 12"/>
            <p:cNvSpPr/>
            <p:nvPr/>
          </p:nvSpPr>
          <p:spPr>
            <a:xfrm>
              <a:off x="3686174" y="18954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799" y="71196"/>
                  </a:lnTo>
                  <a:lnTo>
                    <a:pt x="304799" y="233603"/>
                  </a:lnTo>
                  <a:lnTo>
                    <a:pt x="289177" y="275094"/>
                  </a:lnTo>
                  <a:lnTo>
                    <a:pt x="253137" y="300914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8250" y="1968499"/>
              <a:ext cx="120650" cy="14605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73125" y="2292350"/>
            <a:ext cx="2976245" cy="621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65" b="1">
                <a:solidFill>
                  <a:srgbClr val="293283"/>
                </a:solidFill>
                <a:latin typeface="Tahoma"/>
                <a:cs typeface="Tahoma"/>
              </a:rPr>
              <a:t>Day</a:t>
            </a:r>
            <a:r>
              <a:rPr dirty="0" sz="12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170" b="1">
                <a:solidFill>
                  <a:srgbClr val="293283"/>
                </a:solidFill>
                <a:latin typeface="Tahoma"/>
                <a:cs typeface="Tahoma"/>
              </a:rPr>
              <a:t>5</a:t>
            </a:r>
            <a:r>
              <a:rPr dirty="0" sz="120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165" b="1">
                <a:solidFill>
                  <a:srgbClr val="293283"/>
                </a:solidFill>
                <a:latin typeface="Tahoma"/>
                <a:cs typeface="Tahoma"/>
              </a:rPr>
              <a:t>Recap</a:t>
            </a:r>
            <a:r>
              <a:rPr dirty="0" sz="12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100" b="1">
                <a:solidFill>
                  <a:srgbClr val="293283"/>
                </a:solidFill>
                <a:latin typeface="Tahoma"/>
                <a:cs typeface="Tahoma"/>
              </a:rPr>
              <a:t>&amp; </a:t>
            </a:r>
            <a:r>
              <a:rPr dirty="0" sz="1200" spc="-25" b="1">
                <a:solidFill>
                  <a:srgbClr val="293283"/>
                </a:solidFill>
                <a:latin typeface="Tahoma"/>
                <a:cs typeface="Tahoma"/>
              </a:rPr>
              <a:t>Q&amp;A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390"/>
              </a:spcBef>
            </a:pP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Layout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primitives,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session_state,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personal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info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form.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Quick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check.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43399" y="1714499"/>
            <a:ext cx="3505200" cy="2228850"/>
            <a:chOff x="4343399" y="1714499"/>
            <a:chExt cx="3505200" cy="2228850"/>
          </a:xfrm>
        </p:grpSpPr>
        <p:sp>
          <p:nvSpPr>
            <p:cNvPr id="16" name="object 16"/>
            <p:cNvSpPr/>
            <p:nvPr/>
          </p:nvSpPr>
          <p:spPr>
            <a:xfrm>
              <a:off x="4343399" y="1714499"/>
              <a:ext cx="3505200" cy="2228850"/>
            </a:xfrm>
            <a:custGeom>
              <a:avLst/>
              <a:gdLst/>
              <a:ahLst/>
              <a:cxnLst/>
              <a:rect l="l" t="t" r="r" b="b"/>
              <a:pathLst>
                <a:path w="3505200" h="2228850">
                  <a:moveTo>
                    <a:pt x="3371849" y="2228849"/>
                  </a:moveTo>
                  <a:lnTo>
                    <a:pt x="133349" y="2228849"/>
                  </a:lnTo>
                  <a:lnTo>
                    <a:pt x="120213" y="2228215"/>
                  </a:lnTo>
                  <a:lnTo>
                    <a:pt x="82318" y="2218698"/>
                  </a:lnTo>
                  <a:lnTo>
                    <a:pt x="48794" y="2198632"/>
                  </a:lnTo>
                  <a:lnTo>
                    <a:pt x="22452" y="2169598"/>
                  </a:lnTo>
                  <a:lnTo>
                    <a:pt x="5709" y="2134150"/>
                  </a:lnTo>
                  <a:lnTo>
                    <a:pt x="0" y="2095499"/>
                  </a:lnTo>
                  <a:lnTo>
                    <a:pt x="0" y="133349"/>
                  </a:lnTo>
                  <a:lnTo>
                    <a:pt x="5709" y="94698"/>
                  </a:lnTo>
                  <a:lnTo>
                    <a:pt x="22452" y="59250"/>
                  </a:lnTo>
                  <a:lnTo>
                    <a:pt x="48794" y="30217"/>
                  </a:lnTo>
                  <a:lnTo>
                    <a:pt x="82318" y="10150"/>
                  </a:lnTo>
                  <a:lnTo>
                    <a:pt x="120213" y="634"/>
                  </a:lnTo>
                  <a:lnTo>
                    <a:pt x="133349" y="0"/>
                  </a:lnTo>
                  <a:lnTo>
                    <a:pt x="3371849" y="0"/>
                  </a:lnTo>
                  <a:lnTo>
                    <a:pt x="3410500" y="5709"/>
                  </a:lnTo>
                  <a:lnTo>
                    <a:pt x="3445948" y="22452"/>
                  </a:lnTo>
                  <a:lnTo>
                    <a:pt x="3474982" y="48794"/>
                  </a:lnTo>
                  <a:lnTo>
                    <a:pt x="3495048" y="82319"/>
                  </a:lnTo>
                  <a:lnTo>
                    <a:pt x="3504564" y="120213"/>
                  </a:lnTo>
                  <a:lnTo>
                    <a:pt x="3505199" y="133349"/>
                  </a:lnTo>
                  <a:lnTo>
                    <a:pt x="3505199" y="2095499"/>
                  </a:lnTo>
                  <a:lnTo>
                    <a:pt x="3499489" y="2134150"/>
                  </a:lnTo>
                  <a:lnTo>
                    <a:pt x="3482746" y="2169598"/>
                  </a:lnTo>
                  <a:lnTo>
                    <a:pt x="3456404" y="2198632"/>
                  </a:lnTo>
                  <a:lnTo>
                    <a:pt x="3422879" y="2218698"/>
                  </a:lnTo>
                  <a:lnTo>
                    <a:pt x="3384985" y="2228215"/>
                  </a:lnTo>
                  <a:lnTo>
                    <a:pt x="3371849" y="222884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43424" y="193357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4" y="228599"/>
                  </a:moveTo>
                  <a:lnTo>
                    <a:pt x="106794" y="228599"/>
                  </a:lnTo>
                  <a:lnTo>
                    <a:pt x="99361" y="227867"/>
                  </a:lnTo>
                  <a:lnTo>
                    <a:pt x="57037" y="213506"/>
                  </a:lnTo>
                  <a:lnTo>
                    <a:pt x="23431" y="184041"/>
                  </a:lnTo>
                  <a:lnTo>
                    <a:pt x="3659" y="143959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960004" y="0"/>
                  </a:lnTo>
                  <a:lnTo>
                    <a:pt x="1003174" y="11572"/>
                  </a:lnTo>
                  <a:lnTo>
                    <a:pt x="1038628" y="38784"/>
                  </a:lnTo>
                  <a:lnTo>
                    <a:pt x="1060970" y="77492"/>
                  </a:lnTo>
                  <a:lnTo>
                    <a:pt x="1066799" y="106794"/>
                  </a:lnTo>
                  <a:lnTo>
                    <a:pt x="1066799" y="121804"/>
                  </a:lnTo>
                  <a:lnTo>
                    <a:pt x="1055226" y="164974"/>
                  </a:lnTo>
                  <a:lnTo>
                    <a:pt x="1028015" y="200429"/>
                  </a:lnTo>
                  <a:lnTo>
                    <a:pt x="989306" y="222771"/>
                  </a:lnTo>
                  <a:lnTo>
                    <a:pt x="967437" y="227867"/>
                  </a:lnTo>
                  <a:lnTo>
                    <a:pt x="960004" y="228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625975" y="195897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00:10</a:t>
            </a:r>
            <a:r>
              <a:rPr dirty="0" sz="800" spc="19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293283"/>
                </a:solidFill>
                <a:latin typeface="Courier New"/>
                <a:cs typeface="Courier New"/>
              </a:rPr>
              <a:t>00:25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962774" y="1895474"/>
            <a:ext cx="685800" cy="838200"/>
            <a:chOff x="6962774" y="1895474"/>
            <a:chExt cx="685800" cy="838200"/>
          </a:xfrm>
        </p:grpSpPr>
        <p:sp>
          <p:nvSpPr>
            <p:cNvPr id="20" name="object 20"/>
            <p:cNvSpPr/>
            <p:nvPr/>
          </p:nvSpPr>
          <p:spPr>
            <a:xfrm>
              <a:off x="7343774" y="18954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800" y="71196"/>
                  </a:lnTo>
                  <a:lnTo>
                    <a:pt x="304800" y="233603"/>
                  </a:lnTo>
                  <a:lnTo>
                    <a:pt x="289177" y="275094"/>
                  </a:lnTo>
                  <a:lnTo>
                    <a:pt x="253137" y="300914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9500" y="1981199"/>
              <a:ext cx="139700" cy="13335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962774" y="2590799"/>
              <a:ext cx="485775" cy="142875"/>
            </a:xfrm>
            <a:custGeom>
              <a:avLst/>
              <a:gdLst/>
              <a:ahLst/>
              <a:cxnLst/>
              <a:rect l="l" t="t" r="r" b="b"/>
              <a:pathLst>
                <a:path w="485775" h="142875">
                  <a:moveTo>
                    <a:pt x="452726" y="142874"/>
                  </a:moveTo>
                  <a:lnTo>
                    <a:pt x="33047" y="142874"/>
                  </a:lnTo>
                  <a:lnTo>
                    <a:pt x="28187" y="141907"/>
                  </a:lnTo>
                  <a:lnTo>
                    <a:pt x="966" y="114687"/>
                  </a:lnTo>
                  <a:lnTo>
                    <a:pt x="0" y="109827"/>
                  </a:lnTo>
                  <a:lnTo>
                    <a:pt x="0" y="10477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452726" y="0"/>
                  </a:lnTo>
                  <a:lnTo>
                    <a:pt x="484808" y="28187"/>
                  </a:lnTo>
                  <a:lnTo>
                    <a:pt x="485774" y="33047"/>
                  </a:lnTo>
                  <a:lnTo>
                    <a:pt x="485774" y="109827"/>
                  </a:lnTo>
                  <a:lnTo>
                    <a:pt x="457587" y="141907"/>
                  </a:lnTo>
                  <a:lnTo>
                    <a:pt x="452726" y="142874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530725" y="2292350"/>
            <a:ext cx="2879725" cy="621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60" b="1">
                <a:solidFill>
                  <a:srgbClr val="293283"/>
                </a:solidFill>
                <a:latin typeface="Tahoma"/>
                <a:cs typeface="Tahoma"/>
              </a:rPr>
              <a:t>DataFrames</a:t>
            </a:r>
            <a:r>
              <a:rPr dirty="0" sz="120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395" b="1">
                <a:solidFill>
                  <a:srgbClr val="293283"/>
                </a:solidFill>
                <a:latin typeface="Tahoma"/>
                <a:cs typeface="Tahoma"/>
              </a:rPr>
              <a:t>+</a:t>
            </a:r>
            <a:r>
              <a:rPr dirty="0" sz="120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155" b="1">
                <a:solidFill>
                  <a:srgbClr val="293283"/>
                </a:solidFill>
                <a:latin typeface="Tahoma"/>
                <a:cs typeface="Tahoma"/>
              </a:rPr>
              <a:t>Loading</a:t>
            </a:r>
            <a:r>
              <a:rPr dirty="0" sz="120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20" b="1">
                <a:solidFill>
                  <a:srgbClr val="293283"/>
                </a:solidFill>
                <a:latin typeface="Tahoma"/>
                <a:cs typeface="Tahoma"/>
              </a:rPr>
              <a:t>Data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What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DataFrame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is,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how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to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load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CSV,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three</a:t>
            </a:r>
            <a:r>
              <a:rPr dirty="0" sz="900" spc="3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read_*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functions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you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will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actually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use.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00998" y="1714499"/>
            <a:ext cx="3505200" cy="2228850"/>
            <a:chOff x="8000998" y="1714499"/>
            <a:chExt cx="3505200" cy="2228850"/>
          </a:xfrm>
        </p:grpSpPr>
        <p:sp>
          <p:nvSpPr>
            <p:cNvPr id="25" name="object 25"/>
            <p:cNvSpPr/>
            <p:nvPr/>
          </p:nvSpPr>
          <p:spPr>
            <a:xfrm>
              <a:off x="8005760" y="171926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3375530" y="2219324"/>
                  </a:moveTo>
                  <a:lnTo>
                    <a:pt x="120145" y="2219324"/>
                  </a:lnTo>
                  <a:lnTo>
                    <a:pt x="111782" y="2218501"/>
                  </a:lnTo>
                  <a:lnTo>
                    <a:pt x="71578" y="2206305"/>
                  </a:lnTo>
                  <a:lnTo>
                    <a:pt x="31691" y="2175692"/>
                  </a:lnTo>
                  <a:lnTo>
                    <a:pt x="6556" y="2132144"/>
                  </a:lnTo>
                  <a:lnTo>
                    <a:pt x="0" y="2099180"/>
                  </a:lnTo>
                  <a:lnTo>
                    <a:pt x="0" y="2090737"/>
                  </a:lnTo>
                  <a:lnTo>
                    <a:pt x="0" y="120144"/>
                  </a:lnTo>
                  <a:lnTo>
                    <a:pt x="13018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5" y="0"/>
                  </a:lnTo>
                  <a:lnTo>
                    <a:pt x="3375530" y="0"/>
                  </a:lnTo>
                  <a:lnTo>
                    <a:pt x="3424094" y="13018"/>
                  </a:lnTo>
                  <a:lnTo>
                    <a:pt x="3463981" y="43632"/>
                  </a:lnTo>
                  <a:lnTo>
                    <a:pt x="3489116" y="87179"/>
                  </a:lnTo>
                  <a:lnTo>
                    <a:pt x="3495674" y="120144"/>
                  </a:lnTo>
                  <a:lnTo>
                    <a:pt x="3495674" y="2099180"/>
                  </a:lnTo>
                  <a:lnTo>
                    <a:pt x="3482653" y="2147745"/>
                  </a:lnTo>
                  <a:lnTo>
                    <a:pt x="3452041" y="2187632"/>
                  </a:lnTo>
                  <a:lnTo>
                    <a:pt x="3408494" y="2212767"/>
                  </a:lnTo>
                  <a:lnTo>
                    <a:pt x="3383892" y="2218501"/>
                  </a:lnTo>
                  <a:lnTo>
                    <a:pt x="3375530" y="2219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005760" y="171926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0" y="209073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6557" y="87179"/>
                  </a:lnTo>
                  <a:lnTo>
                    <a:pt x="9788" y="79379"/>
                  </a:lnTo>
                  <a:lnTo>
                    <a:pt x="13018" y="71578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8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71578" y="13018"/>
                  </a:lnTo>
                  <a:lnTo>
                    <a:pt x="79379" y="9787"/>
                  </a:lnTo>
                  <a:lnTo>
                    <a:pt x="87179" y="6556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5" y="0"/>
                  </a:lnTo>
                  <a:lnTo>
                    <a:pt x="128588" y="0"/>
                  </a:lnTo>
                  <a:lnTo>
                    <a:pt x="3367087" y="0"/>
                  </a:lnTo>
                  <a:lnTo>
                    <a:pt x="3375530" y="0"/>
                  </a:lnTo>
                  <a:lnTo>
                    <a:pt x="3383892" y="823"/>
                  </a:lnTo>
                  <a:lnTo>
                    <a:pt x="3392173" y="2470"/>
                  </a:lnTo>
                  <a:lnTo>
                    <a:pt x="3400454" y="4117"/>
                  </a:lnTo>
                  <a:lnTo>
                    <a:pt x="3408494" y="6556"/>
                  </a:lnTo>
                  <a:lnTo>
                    <a:pt x="3416294" y="9787"/>
                  </a:lnTo>
                  <a:lnTo>
                    <a:pt x="3424094" y="13018"/>
                  </a:lnTo>
                  <a:lnTo>
                    <a:pt x="3431504" y="16979"/>
                  </a:lnTo>
                  <a:lnTo>
                    <a:pt x="3438525" y="21670"/>
                  </a:lnTo>
                  <a:lnTo>
                    <a:pt x="3445545" y="26361"/>
                  </a:lnTo>
                  <a:lnTo>
                    <a:pt x="3474003" y="57147"/>
                  </a:lnTo>
                  <a:lnTo>
                    <a:pt x="3485885" y="79379"/>
                  </a:lnTo>
                  <a:lnTo>
                    <a:pt x="3489116" y="87179"/>
                  </a:lnTo>
                  <a:lnTo>
                    <a:pt x="3495675" y="128587"/>
                  </a:lnTo>
                  <a:lnTo>
                    <a:pt x="3495675" y="2090737"/>
                  </a:lnTo>
                  <a:lnTo>
                    <a:pt x="3489116" y="2132144"/>
                  </a:lnTo>
                  <a:lnTo>
                    <a:pt x="3469311" y="2169196"/>
                  </a:lnTo>
                  <a:lnTo>
                    <a:pt x="3438525" y="2197653"/>
                  </a:lnTo>
                  <a:lnTo>
                    <a:pt x="3416294" y="2209536"/>
                  </a:lnTo>
                  <a:lnTo>
                    <a:pt x="3408494" y="2212767"/>
                  </a:lnTo>
                  <a:lnTo>
                    <a:pt x="3367087" y="2219324"/>
                  </a:lnTo>
                  <a:lnTo>
                    <a:pt x="128588" y="2219324"/>
                  </a:lnTo>
                  <a:lnTo>
                    <a:pt x="120145" y="2219324"/>
                  </a:lnTo>
                  <a:lnTo>
                    <a:pt x="111782" y="2218501"/>
                  </a:lnTo>
                  <a:lnTo>
                    <a:pt x="103501" y="2216853"/>
                  </a:lnTo>
                  <a:lnTo>
                    <a:pt x="95220" y="2215206"/>
                  </a:lnTo>
                  <a:lnTo>
                    <a:pt x="87179" y="2212767"/>
                  </a:lnTo>
                  <a:lnTo>
                    <a:pt x="79379" y="2209536"/>
                  </a:lnTo>
                  <a:lnTo>
                    <a:pt x="71578" y="2206305"/>
                  </a:lnTo>
                  <a:lnTo>
                    <a:pt x="64168" y="2202344"/>
                  </a:lnTo>
                  <a:lnTo>
                    <a:pt x="57148" y="2197653"/>
                  </a:lnTo>
                  <a:lnTo>
                    <a:pt x="50128" y="2192962"/>
                  </a:lnTo>
                  <a:lnTo>
                    <a:pt x="21669" y="2162175"/>
                  </a:lnTo>
                  <a:lnTo>
                    <a:pt x="16978" y="2155155"/>
                  </a:lnTo>
                  <a:lnTo>
                    <a:pt x="13018" y="2147745"/>
                  </a:lnTo>
                  <a:lnTo>
                    <a:pt x="9787" y="2139945"/>
                  </a:lnTo>
                  <a:lnTo>
                    <a:pt x="6556" y="2132144"/>
                  </a:lnTo>
                  <a:lnTo>
                    <a:pt x="4117" y="2124103"/>
                  </a:lnTo>
                  <a:lnTo>
                    <a:pt x="2470" y="2115823"/>
                  </a:lnTo>
                  <a:lnTo>
                    <a:pt x="823" y="2107542"/>
                  </a:lnTo>
                  <a:lnTo>
                    <a:pt x="0" y="2099180"/>
                  </a:lnTo>
                  <a:lnTo>
                    <a:pt x="0" y="20907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201023" y="193357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5" y="228599"/>
                  </a:moveTo>
                  <a:lnTo>
                    <a:pt x="106795" y="228599"/>
                  </a:lnTo>
                  <a:lnTo>
                    <a:pt x="99361" y="227867"/>
                  </a:lnTo>
                  <a:lnTo>
                    <a:pt x="57037" y="213506"/>
                  </a:lnTo>
                  <a:lnTo>
                    <a:pt x="23432" y="184041"/>
                  </a:lnTo>
                  <a:lnTo>
                    <a:pt x="3660" y="143959"/>
                  </a:lnTo>
                  <a:lnTo>
                    <a:pt x="0" y="121804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960005" y="0"/>
                  </a:lnTo>
                  <a:lnTo>
                    <a:pt x="1003174" y="11572"/>
                  </a:lnTo>
                  <a:lnTo>
                    <a:pt x="1038628" y="38784"/>
                  </a:lnTo>
                  <a:lnTo>
                    <a:pt x="1060971" y="77492"/>
                  </a:lnTo>
                  <a:lnTo>
                    <a:pt x="1066800" y="106794"/>
                  </a:lnTo>
                  <a:lnTo>
                    <a:pt x="1066800" y="121804"/>
                  </a:lnTo>
                  <a:lnTo>
                    <a:pt x="1055226" y="164974"/>
                  </a:lnTo>
                  <a:lnTo>
                    <a:pt x="1028015" y="200429"/>
                  </a:lnTo>
                  <a:lnTo>
                    <a:pt x="989306" y="222771"/>
                  </a:lnTo>
                  <a:lnTo>
                    <a:pt x="967437" y="227867"/>
                  </a:lnTo>
                  <a:lnTo>
                    <a:pt x="960005" y="2285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8283575" y="195897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00:25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00:40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201023" y="1895474"/>
            <a:ext cx="3105150" cy="838200"/>
            <a:chOff x="8201023" y="1895474"/>
            <a:chExt cx="3105150" cy="838200"/>
          </a:xfrm>
        </p:grpSpPr>
        <p:sp>
          <p:nvSpPr>
            <p:cNvPr id="30" name="object 30"/>
            <p:cNvSpPr/>
            <p:nvPr/>
          </p:nvSpPr>
          <p:spPr>
            <a:xfrm>
              <a:off x="11001372" y="18954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4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1" y="228599"/>
                  </a:lnTo>
                  <a:lnTo>
                    <a:pt x="0" y="71196"/>
                  </a:lnTo>
                  <a:lnTo>
                    <a:pt x="15622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4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799" y="71196"/>
                  </a:lnTo>
                  <a:lnTo>
                    <a:pt x="304799" y="233603"/>
                  </a:lnTo>
                  <a:lnTo>
                    <a:pt x="289177" y="275094"/>
                  </a:lnTo>
                  <a:lnTo>
                    <a:pt x="253137" y="300914"/>
                  </a:lnTo>
                  <a:lnTo>
                    <a:pt x="238558" y="304311"/>
                  </a:lnTo>
                  <a:lnTo>
                    <a:pt x="233604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87099" y="1981199"/>
              <a:ext cx="130175" cy="13017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201012" y="2590799"/>
              <a:ext cx="3048000" cy="142875"/>
            </a:xfrm>
            <a:custGeom>
              <a:avLst/>
              <a:gdLst/>
              <a:ahLst/>
              <a:cxnLst/>
              <a:rect l="l" t="t" r="r" b="b"/>
              <a:pathLst>
                <a:path w="3048000" h="142875">
                  <a:moveTo>
                    <a:pt x="352425" y="33058"/>
                  </a:moveTo>
                  <a:lnTo>
                    <a:pt x="324243" y="977"/>
                  </a:lnTo>
                  <a:lnTo>
                    <a:pt x="319379" y="0"/>
                  </a:lnTo>
                  <a:lnTo>
                    <a:pt x="33058" y="0"/>
                  </a:lnTo>
                  <a:lnTo>
                    <a:pt x="965" y="28194"/>
                  </a:lnTo>
                  <a:lnTo>
                    <a:pt x="0" y="33058"/>
                  </a:lnTo>
                  <a:lnTo>
                    <a:pt x="0" y="104775"/>
                  </a:lnTo>
                  <a:lnTo>
                    <a:pt x="0" y="109829"/>
                  </a:lnTo>
                  <a:lnTo>
                    <a:pt x="28194" y="141909"/>
                  </a:lnTo>
                  <a:lnTo>
                    <a:pt x="33058" y="142875"/>
                  </a:lnTo>
                  <a:lnTo>
                    <a:pt x="319379" y="142875"/>
                  </a:lnTo>
                  <a:lnTo>
                    <a:pt x="351459" y="114693"/>
                  </a:lnTo>
                  <a:lnTo>
                    <a:pt x="352425" y="109829"/>
                  </a:lnTo>
                  <a:lnTo>
                    <a:pt x="352425" y="33058"/>
                  </a:lnTo>
                  <a:close/>
                </a:path>
                <a:path w="3048000" h="142875">
                  <a:moveTo>
                    <a:pt x="752475" y="33058"/>
                  </a:moveTo>
                  <a:lnTo>
                    <a:pt x="724293" y="977"/>
                  </a:lnTo>
                  <a:lnTo>
                    <a:pt x="719429" y="0"/>
                  </a:lnTo>
                  <a:lnTo>
                    <a:pt x="433108" y="0"/>
                  </a:lnTo>
                  <a:lnTo>
                    <a:pt x="401015" y="28194"/>
                  </a:lnTo>
                  <a:lnTo>
                    <a:pt x="400050" y="33058"/>
                  </a:lnTo>
                  <a:lnTo>
                    <a:pt x="400050" y="104775"/>
                  </a:lnTo>
                  <a:lnTo>
                    <a:pt x="400050" y="109829"/>
                  </a:lnTo>
                  <a:lnTo>
                    <a:pt x="428244" y="141909"/>
                  </a:lnTo>
                  <a:lnTo>
                    <a:pt x="433108" y="142875"/>
                  </a:lnTo>
                  <a:lnTo>
                    <a:pt x="719429" y="142875"/>
                  </a:lnTo>
                  <a:lnTo>
                    <a:pt x="751509" y="114693"/>
                  </a:lnTo>
                  <a:lnTo>
                    <a:pt x="752475" y="109829"/>
                  </a:lnTo>
                  <a:lnTo>
                    <a:pt x="752475" y="33058"/>
                  </a:lnTo>
                  <a:close/>
                </a:path>
                <a:path w="3048000" h="142875">
                  <a:moveTo>
                    <a:pt x="1419225" y="33058"/>
                  </a:moveTo>
                  <a:lnTo>
                    <a:pt x="1391043" y="977"/>
                  </a:lnTo>
                  <a:lnTo>
                    <a:pt x="1386179" y="0"/>
                  </a:lnTo>
                  <a:lnTo>
                    <a:pt x="833158" y="0"/>
                  </a:lnTo>
                  <a:lnTo>
                    <a:pt x="801077" y="28194"/>
                  </a:lnTo>
                  <a:lnTo>
                    <a:pt x="800100" y="33058"/>
                  </a:lnTo>
                  <a:lnTo>
                    <a:pt x="800100" y="104775"/>
                  </a:lnTo>
                  <a:lnTo>
                    <a:pt x="800100" y="109829"/>
                  </a:lnTo>
                  <a:lnTo>
                    <a:pt x="828294" y="141909"/>
                  </a:lnTo>
                  <a:lnTo>
                    <a:pt x="833158" y="142875"/>
                  </a:lnTo>
                  <a:lnTo>
                    <a:pt x="1386179" y="142875"/>
                  </a:lnTo>
                  <a:lnTo>
                    <a:pt x="1418259" y="114693"/>
                  </a:lnTo>
                  <a:lnTo>
                    <a:pt x="1419225" y="109829"/>
                  </a:lnTo>
                  <a:lnTo>
                    <a:pt x="1419225" y="33058"/>
                  </a:lnTo>
                  <a:close/>
                </a:path>
                <a:path w="3048000" h="142875">
                  <a:moveTo>
                    <a:pt x="3048000" y="33058"/>
                  </a:moveTo>
                  <a:lnTo>
                    <a:pt x="3019818" y="977"/>
                  </a:lnTo>
                  <a:lnTo>
                    <a:pt x="3014954" y="0"/>
                  </a:lnTo>
                  <a:lnTo>
                    <a:pt x="2271433" y="0"/>
                  </a:lnTo>
                  <a:lnTo>
                    <a:pt x="2239340" y="28194"/>
                  </a:lnTo>
                  <a:lnTo>
                    <a:pt x="2238375" y="33058"/>
                  </a:lnTo>
                  <a:lnTo>
                    <a:pt x="2238375" y="104775"/>
                  </a:lnTo>
                  <a:lnTo>
                    <a:pt x="2238375" y="109829"/>
                  </a:lnTo>
                  <a:lnTo>
                    <a:pt x="2266569" y="141909"/>
                  </a:lnTo>
                  <a:lnTo>
                    <a:pt x="2271433" y="142875"/>
                  </a:lnTo>
                  <a:lnTo>
                    <a:pt x="3014954" y="142875"/>
                  </a:lnTo>
                  <a:lnTo>
                    <a:pt x="3047034" y="114693"/>
                  </a:lnTo>
                  <a:lnTo>
                    <a:pt x="3048000" y="109829"/>
                  </a:lnTo>
                  <a:lnTo>
                    <a:pt x="3048000" y="33058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188325" y="2292350"/>
            <a:ext cx="3099435" cy="621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60" b="1">
                <a:solidFill>
                  <a:srgbClr val="293283"/>
                </a:solidFill>
                <a:latin typeface="Tahoma"/>
                <a:cs typeface="Tahoma"/>
              </a:rPr>
              <a:t>Inspecting</a:t>
            </a:r>
            <a:r>
              <a:rPr dirty="0" sz="1200" spc="-8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395" b="1">
                <a:solidFill>
                  <a:srgbClr val="293283"/>
                </a:solidFill>
                <a:latin typeface="Tahoma"/>
                <a:cs typeface="Tahoma"/>
              </a:rPr>
              <a:t>+</a:t>
            </a:r>
            <a:r>
              <a:rPr dirty="0" sz="1200" spc="-8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135" b="1">
                <a:solidFill>
                  <a:srgbClr val="293283"/>
                </a:solidFill>
                <a:latin typeface="Tahoma"/>
                <a:cs typeface="Tahoma"/>
              </a:rPr>
              <a:t>Filtering</a:t>
            </a:r>
            <a:r>
              <a:rPr dirty="0" sz="1200" spc="-8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395" b="1">
                <a:solidFill>
                  <a:srgbClr val="293283"/>
                </a:solidFill>
                <a:latin typeface="Tahoma"/>
                <a:cs typeface="Tahoma"/>
              </a:rPr>
              <a:t>+</a:t>
            </a:r>
            <a:r>
              <a:rPr dirty="0" sz="120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93283"/>
                </a:solidFill>
                <a:latin typeface="Tahoma"/>
                <a:cs typeface="Tahoma"/>
              </a:rPr>
              <a:t>Sorting</a:t>
            </a:r>
            <a:endParaRPr sz="1200">
              <a:latin typeface="Tahoma"/>
              <a:cs typeface="Tahoma"/>
            </a:endParaRPr>
          </a:p>
          <a:p>
            <a:pPr marL="12700" marR="5080" indent="47625">
              <a:lnSpc>
                <a:spcPct val="131900"/>
              </a:lnSpc>
              <a:spcBef>
                <a:spcPts val="390"/>
              </a:spcBef>
            </a:pP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head</a:t>
            </a:r>
            <a:r>
              <a:rPr dirty="0" sz="850" spc="-1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/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info</a:t>
            </a:r>
            <a:r>
              <a:rPr dirty="0" sz="850" spc="-1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/</a:t>
            </a:r>
            <a:r>
              <a:rPr dirty="0" sz="900" spc="-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describe</a:t>
            </a:r>
            <a:r>
              <a:rPr dirty="0" sz="850" spc="-1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100">
                <a:solidFill>
                  <a:srgbClr val="4A4E6A"/>
                </a:solidFill>
                <a:latin typeface="Trebuchet MS"/>
                <a:cs typeface="Trebuchet MS"/>
              </a:rPr>
              <a:t>,</a:t>
            </a:r>
            <a:r>
              <a:rPr dirty="0" sz="9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boolean</a:t>
            </a:r>
            <a:r>
              <a:rPr dirty="0" sz="9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masks,</a:t>
            </a:r>
            <a:r>
              <a:rPr dirty="0" sz="900" spc="2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sort_values</a:t>
            </a:r>
            <a:r>
              <a:rPr dirty="0" sz="850" spc="-1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.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80%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you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will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do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every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day.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5799" y="4095749"/>
            <a:ext cx="3505200" cy="2228850"/>
            <a:chOff x="685799" y="4095749"/>
            <a:chExt cx="3505200" cy="2228850"/>
          </a:xfrm>
        </p:grpSpPr>
        <p:sp>
          <p:nvSpPr>
            <p:cNvPr id="35" name="object 35"/>
            <p:cNvSpPr/>
            <p:nvPr/>
          </p:nvSpPr>
          <p:spPr>
            <a:xfrm>
              <a:off x="690562" y="410051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3375530" y="2219324"/>
                  </a:moveTo>
                  <a:lnTo>
                    <a:pt x="120144" y="2219324"/>
                  </a:lnTo>
                  <a:lnTo>
                    <a:pt x="111782" y="2218500"/>
                  </a:lnTo>
                  <a:lnTo>
                    <a:pt x="71578" y="2206304"/>
                  </a:lnTo>
                  <a:lnTo>
                    <a:pt x="31692" y="2175691"/>
                  </a:lnTo>
                  <a:lnTo>
                    <a:pt x="6557" y="2132144"/>
                  </a:lnTo>
                  <a:lnTo>
                    <a:pt x="0" y="2099180"/>
                  </a:lnTo>
                  <a:lnTo>
                    <a:pt x="0" y="209073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3375530" y="0"/>
                  </a:lnTo>
                  <a:lnTo>
                    <a:pt x="3424095" y="13018"/>
                  </a:lnTo>
                  <a:lnTo>
                    <a:pt x="3463982" y="43632"/>
                  </a:lnTo>
                  <a:lnTo>
                    <a:pt x="3489117" y="87178"/>
                  </a:lnTo>
                  <a:lnTo>
                    <a:pt x="3495674" y="120144"/>
                  </a:lnTo>
                  <a:lnTo>
                    <a:pt x="3495674" y="2099180"/>
                  </a:lnTo>
                  <a:lnTo>
                    <a:pt x="3482654" y="2147744"/>
                  </a:lnTo>
                  <a:lnTo>
                    <a:pt x="3452041" y="2187631"/>
                  </a:lnTo>
                  <a:lnTo>
                    <a:pt x="3408494" y="2212767"/>
                  </a:lnTo>
                  <a:lnTo>
                    <a:pt x="3383892" y="2218500"/>
                  </a:lnTo>
                  <a:lnTo>
                    <a:pt x="3375530" y="2219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90562" y="410051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0" y="209073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13019" y="71578"/>
                  </a:lnTo>
                  <a:lnTo>
                    <a:pt x="37662" y="37661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71578" y="13018"/>
                  </a:lnTo>
                  <a:lnTo>
                    <a:pt x="79379" y="9787"/>
                  </a:lnTo>
                  <a:lnTo>
                    <a:pt x="87179" y="6556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3367087" y="0"/>
                  </a:lnTo>
                  <a:lnTo>
                    <a:pt x="3375530" y="0"/>
                  </a:lnTo>
                  <a:lnTo>
                    <a:pt x="3383892" y="823"/>
                  </a:lnTo>
                  <a:lnTo>
                    <a:pt x="3392173" y="2470"/>
                  </a:lnTo>
                  <a:lnTo>
                    <a:pt x="3400453" y="4117"/>
                  </a:lnTo>
                  <a:lnTo>
                    <a:pt x="3408494" y="6556"/>
                  </a:lnTo>
                  <a:lnTo>
                    <a:pt x="3416294" y="9787"/>
                  </a:lnTo>
                  <a:lnTo>
                    <a:pt x="3424095" y="13018"/>
                  </a:lnTo>
                  <a:lnTo>
                    <a:pt x="3458012" y="37661"/>
                  </a:lnTo>
                  <a:lnTo>
                    <a:pt x="3474003" y="57147"/>
                  </a:lnTo>
                  <a:lnTo>
                    <a:pt x="3478693" y="64167"/>
                  </a:lnTo>
                  <a:lnTo>
                    <a:pt x="3493203" y="103500"/>
                  </a:lnTo>
                  <a:lnTo>
                    <a:pt x="3495674" y="128587"/>
                  </a:lnTo>
                  <a:lnTo>
                    <a:pt x="3495674" y="2090737"/>
                  </a:lnTo>
                  <a:lnTo>
                    <a:pt x="3489117" y="2132144"/>
                  </a:lnTo>
                  <a:lnTo>
                    <a:pt x="3474003" y="2162175"/>
                  </a:lnTo>
                  <a:lnTo>
                    <a:pt x="3469312" y="2169195"/>
                  </a:lnTo>
                  <a:lnTo>
                    <a:pt x="3438526" y="2197652"/>
                  </a:lnTo>
                  <a:lnTo>
                    <a:pt x="3431505" y="2202343"/>
                  </a:lnTo>
                  <a:lnTo>
                    <a:pt x="3392173" y="2216852"/>
                  </a:lnTo>
                  <a:lnTo>
                    <a:pt x="3383892" y="2218500"/>
                  </a:lnTo>
                  <a:lnTo>
                    <a:pt x="3375530" y="2219324"/>
                  </a:lnTo>
                  <a:lnTo>
                    <a:pt x="3367087" y="2219324"/>
                  </a:lnTo>
                  <a:lnTo>
                    <a:pt x="128587" y="2219324"/>
                  </a:lnTo>
                  <a:lnTo>
                    <a:pt x="120144" y="2219324"/>
                  </a:lnTo>
                  <a:lnTo>
                    <a:pt x="111782" y="2218500"/>
                  </a:lnTo>
                  <a:lnTo>
                    <a:pt x="103501" y="2216852"/>
                  </a:lnTo>
                  <a:lnTo>
                    <a:pt x="95220" y="2215205"/>
                  </a:lnTo>
                  <a:lnTo>
                    <a:pt x="57148" y="2197652"/>
                  </a:lnTo>
                  <a:lnTo>
                    <a:pt x="50127" y="2192961"/>
                  </a:lnTo>
                  <a:lnTo>
                    <a:pt x="43632" y="2187631"/>
                  </a:lnTo>
                  <a:lnTo>
                    <a:pt x="37662" y="2181661"/>
                  </a:lnTo>
                  <a:lnTo>
                    <a:pt x="31692" y="2175691"/>
                  </a:lnTo>
                  <a:lnTo>
                    <a:pt x="26361" y="2169195"/>
                  </a:lnTo>
                  <a:lnTo>
                    <a:pt x="21670" y="2162175"/>
                  </a:lnTo>
                  <a:lnTo>
                    <a:pt x="16980" y="2155155"/>
                  </a:lnTo>
                  <a:lnTo>
                    <a:pt x="2470" y="2115823"/>
                  </a:lnTo>
                  <a:lnTo>
                    <a:pt x="0" y="2099180"/>
                  </a:lnTo>
                  <a:lnTo>
                    <a:pt x="0" y="20907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85824" y="431482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4" y="228599"/>
                  </a:moveTo>
                  <a:lnTo>
                    <a:pt x="106794" y="228599"/>
                  </a:lnTo>
                  <a:lnTo>
                    <a:pt x="99361" y="227867"/>
                  </a:lnTo>
                  <a:lnTo>
                    <a:pt x="57038" y="213506"/>
                  </a:lnTo>
                  <a:lnTo>
                    <a:pt x="23432" y="184041"/>
                  </a:lnTo>
                  <a:lnTo>
                    <a:pt x="3660" y="143959"/>
                  </a:lnTo>
                  <a:lnTo>
                    <a:pt x="0" y="121805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960004" y="0"/>
                  </a:lnTo>
                  <a:lnTo>
                    <a:pt x="1003174" y="11571"/>
                  </a:lnTo>
                  <a:lnTo>
                    <a:pt x="1038628" y="38784"/>
                  </a:lnTo>
                  <a:lnTo>
                    <a:pt x="1060971" y="77492"/>
                  </a:lnTo>
                  <a:lnTo>
                    <a:pt x="1066799" y="106794"/>
                  </a:lnTo>
                  <a:lnTo>
                    <a:pt x="1066799" y="121805"/>
                  </a:lnTo>
                  <a:lnTo>
                    <a:pt x="1055227" y="164973"/>
                  </a:lnTo>
                  <a:lnTo>
                    <a:pt x="1028015" y="200428"/>
                  </a:lnTo>
                  <a:lnTo>
                    <a:pt x="989306" y="222770"/>
                  </a:lnTo>
                  <a:lnTo>
                    <a:pt x="967437" y="227867"/>
                  </a:lnTo>
                  <a:lnTo>
                    <a:pt x="960004" y="2285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968375" y="434022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00:40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00:55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686174" y="4276724"/>
            <a:ext cx="304800" cy="304800"/>
            <a:chOff x="3686174" y="4276724"/>
            <a:chExt cx="304800" cy="304800"/>
          </a:xfrm>
        </p:grpSpPr>
        <p:sp>
          <p:nvSpPr>
            <p:cNvPr id="40" name="object 40"/>
            <p:cNvSpPr/>
            <p:nvPr/>
          </p:nvSpPr>
          <p:spPr>
            <a:xfrm>
              <a:off x="3686174" y="42767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799" y="71196"/>
                  </a:lnTo>
                  <a:lnTo>
                    <a:pt x="304799" y="233603"/>
                  </a:lnTo>
                  <a:lnTo>
                    <a:pt x="289177" y="275093"/>
                  </a:lnTo>
                  <a:lnTo>
                    <a:pt x="253137" y="300913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65550" y="4378324"/>
              <a:ext cx="146050" cy="1016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873125" y="4673600"/>
            <a:ext cx="2980055" cy="611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 b="1">
                <a:solidFill>
                  <a:srgbClr val="293283"/>
                </a:solidFill>
                <a:latin typeface="Tahoma"/>
                <a:cs typeface="Tahoma"/>
              </a:rPr>
              <a:t>loc</a:t>
            </a:r>
            <a:r>
              <a:rPr dirty="0" sz="12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155" b="1">
                <a:solidFill>
                  <a:srgbClr val="293283"/>
                </a:solidFill>
                <a:latin typeface="Tahoma"/>
                <a:cs typeface="Tahoma"/>
              </a:rPr>
              <a:t>vs</a:t>
            </a:r>
            <a:r>
              <a:rPr dirty="0" sz="12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114" b="1">
                <a:solidFill>
                  <a:srgbClr val="293283"/>
                </a:solidFill>
                <a:latin typeface="Tahoma"/>
                <a:cs typeface="Tahoma"/>
              </a:rPr>
              <a:t>iloc</a:t>
            </a:r>
            <a:r>
              <a:rPr dirty="0" sz="12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395" b="1">
                <a:solidFill>
                  <a:srgbClr val="293283"/>
                </a:solidFill>
                <a:latin typeface="Tahoma"/>
                <a:cs typeface="Tahoma"/>
              </a:rPr>
              <a:t>+</a:t>
            </a:r>
            <a:r>
              <a:rPr dirty="0" sz="12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165" b="1">
                <a:solidFill>
                  <a:srgbClr val="293283"/>
                </a:solidFill>
                <a:latin typeface="Tahoma"/>
                <a:cs typeface="Tahoma"/>
              </a:rPr>
              <a:t>New</a:t>
            </a:r>
            <a:r>
              <a:rPr dirty="0" sz="12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293283"/>
                </a:solidFill>
                <a:latin typeface="Tahoma"/>
                <a:cs typeface="Tahoma"/>
              </a:rPr>
              <a:t>Columns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464"/>
              </a:spcBef>
            </a:pP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Label-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based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vs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position-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based</a:t>
            </a:r>
            <a:r>
              <a:rPr dirty="0" sz="90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indexing.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Adding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 modifying columns.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343399" y="4095749"/>
            <a:ext cx="3505200" cy="2228850"/>
            <a:chOff x="4343399" y="4095749"/>
            <a:chExt cx="3505200" cy="2228850"/>
          </a:xfrm>
        </p:grpSpPr>
        <p:sp>
          <p:nvSpPr>
            <p:cNvPr id="44" name="object 44"/>
            <p:cNvSpPr/>
            <p:nvPr/>
          </p:nvSpPr>
          <p:spPr>
            <a:xfrm>
              <a:off x="4348161" y="410051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3375530" y="2219324"/>
                  </a:moveTo>
                  <a:lnTo>
                    <a:pt x="120144" y="2219324"/>
                  </a:lnTo>
                  <a:lnTo>
                    <a:pt x="111782" y="2218500"/>
                  </a:lnTo>
                  <a:lnTo>
                    <a:pt x="71578" y="2206304"/>
                  </a:lnTo>
                  <a:lnTo>
                    <a:pt x="31692" y="2175691"/>
                  </a:lnTo>
                  <a:lnTo>
                    <a:pt x="6556" y="2132144"/>
                  </a:lnTo>
                  <a:lnTo>
                    <a:pt x="0" y="2099180"/>
                  </a:lnTo>
                  <a:lnTo>
                    <a:pt x="0" y="2090737"/>
                  </a:lnTo>
                  <a:lnTo>
                    <a:pt x="0" y="120144"/>
                  </a:lnTo>
                  <a:lnTo>
                    <a:pt x="13018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3375530" y="0"/>
                  </a:lnTo>
                  <a:lnTo>
                    <a:pt x="3424095" y="13018"/>
                  </a:lnTo>
                  <a:lnTo>
                    <a:pt x="3463982" y="43632"/>
                  </a:lnTo>
                  <a:lnTo>
                    <a:pt x="3489117" y="87178"/>
                  </a:lnTo>
                  <a:lnTo>
                    <a:pt x="3495674" y="120144"/>
                  </a:lnTo>
                  <a:lnTo>
                    <a:pt x="3495674" y="2099180"/>
                  </a:lnTo>
                  <a:lnTo>
                    <a:pt x="3482654" y="2147744"/>
                  </a:lnTo>
                  <a:lnTo>
                    <a:pt x="3452042" y="2187631"/>
                  </a:lnTo>
                  <a:lnTo>
                    <a:pt x="3408494" y="2212767"/>
                  </a:lnTo>
                  <a:lnTo>
                    <a:pt x="3383892" y="2218500"/>
                  </a:lnTo>
                  <a:lnTo>
                    <a:pt x="3375530" y="2219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348161" y="4100512"/>
              <a:ext cx="3495675" cy="2219325"/>
            </a:xfrm>
            <a:custGeom>
              <a:avLst/>
              <a:gdLst/>
              <a:ahLst/>
              <a:cxnLst/>
              <a:rect l="l" t="t" r="r" b="b"/>
              <a:pathLst>
                <a:path w="3495675" h="2219325">
                  <a:moveTo>
                    <a:pt x="0" y="209073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0"/>
                  </a:lnTo>
                  <a:lnTo>
                    <a:pt x="4117" y="95219"/>
                  </a:lnTo>
                  <a:lnTo>
                    <a:pt x="6556" y="87178"/>
                  </a:lnTo>
                  <a:lnTo>
                    <a:pt x="9788" y="79378"/>
                  </a:lnTo>
                  <a:lnTo>
                    <a:pt x="13018" y="71578"/>
                  </a:lnTo>
                  <a:lnTo>
                    <a:pt x="16980" y="64167"/>
                  </a:lnTo>
                  <a:lnTo>
                    <a:pt x="21670" y="57147"/>
                  </a:lnTo>
                  <a:lnTo>
                    <a:pt x="26361" y="50127"/>
                  </a:lnTo>
                  <a:lnTo>
                    <a:pt x="31692" y="43632"/>
                  </a:lnTo>
                  <a:lnTo>
                    <a:pt x="37662" y="37661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7" y="21670"/>
                  </a:lnTo>
                  <a:lnTo>
                    <a:pt x="64168" y="16979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3367087" y="0"/>
                  </a:lnTo>
                  <a:lnTo>
                    <a:pt x="3375530" y="0"/>
                  </a:lnTo>
                  <a:lnTo>
                    <a:pt x="3383892" y="823"/>
                  </a:lnTo>
                  <a:lnTo>
                    <a:pt x="3392173" y="2470"/>
                  </a:lnTo>
                  <a:lnTo>
                    <a:pt x="3400453" y="4117"/>
                  </a:lnTo>
                  <a:lnTo>
                    <a:pt x="3438526" y="21670"/>
                  </a:lnTo>
                  <a:lnTo>
                    <a:pt x="3458012" y="37661"/>
                  </a:lnTo>
                  <a:lnTo>
                    <a:pt x="3463982" y="43632"/>
                  </a:lnTo>
                  <a:lnTo>
                    <a:pt x="3469312" y="50127"/>
                  </a:lnTo>
                  <a:lnTo>
                    <a:pt x="3474003" y="57147"/>
                  </a:lnTo>
                  <a:lnTo>
                    <a:pt x="3478694" y="64167"/>
                  </a:lnTo>
                  <a:lnTo>
                    <a:pt x="3493204" y="103500"/>
                  </a:lnTo>
                  <a:lnTo>
                    <a:pt x="3495675" y="128587"/>
                  </a:lnTo>
                  <a:lnTo>
                    <a:pt x="3495675" y="2090737"/>
                  </a:lnTo>
                  <a:lnTo>
                    <a:pt x="3489117" y="2132144"/>
                  </a:lnTo>
                  <a:lnTo>
                    <a:pt x="3474003" y="2162175"/>
                  </a:lnTo>
                  <a:lnTo>
                    <a:pt x="3469312" y="2169195"/>
                  </a:lnTo>
                  <a:lnTo>
                    <a:pt x="3463982" y="2175691"/>
                  </a:lnTo>
                  <a:lnTo>
                    <a:pt x="3458012" y="2181661"/>
                  </a:lnTo>
                  <a:lnTo>
                    <a:pt x="3452042" y="2187631"/>
                  </a:lnTo>
                  <a:lnTo>
                    <a:pt x="3445546" y="2192961"/>
                  </a:lnTo>
                  <a:lnTo>
                    <a:pt x="3438526" y="2197652"/>
                  </a:lnTo>
                  <a:lnTo>
                    <a:pt x="3431505" y="2202343"/>
                  </a:lnTo>
                  <a:lnTo>
                    <a:pt x="3392173" y="2216852"/>
                  </a:lnTo>
                  <a:lnTo>
                    <a:pt x="3383892" y="2218500"/>
                  </a:lnTo>
                  <a:lnTo>
                    <a:pt x="3375530" y="2219324"/>
                  </a:lnTo>
                  <a:lnTo>
                    <a:pt x="3367087" y="2219324"/>
                  </a:lnTo>
                  <a:lnTo>
                    <a:pt x="128587" y="2219324"/>
                  </a:lnTo>
                  <a:lnTo>
                    <a:pt x="120144" y="2219324"/>
                  </a:lnTo>
                  <a:lnTo>
                    <a:pt x="111782" y="2218500"/>
                  </a:lnTo>
                  <a:lnTo>
                    <a:pt x="103501" y="2216852"/>
                  </a:lnTo>
                  <a:lnTo>
                    <a:pt x="95220" y="2215205"/>
                  </a:lnTo>
                  <a:lnTo>
                    <a:pt x="57148" y="2197652"/>
                  </a:lnTo>
                  <a:lnTo>
                    <a:pt x="50127" y="2192961"/>
                  </a:lnTo>
                  <a:lnTo>
                    <a:pt x="43632" y="2187631"/>
                  </a:lnTo>
                  <a:lnTo>
                    <a:pt x="37662" y="2181661"/>
                  </a:lnTo>
                  <a:lnTo>
                    <a:pt x="31692" y="2175691"/>
                  </a:lnTo>
                  <a:lnTo>
                    <a:pt x="26361" y="2169195"/>
                  </a:lnTo>
                  <a:lnTo>
                    <a:pt x="21670" y="2162175"/>
                  </a:lnTo>
                  <a:lnTo>
                    <a:pt x="16980" y="2155155"/>
                  </a:lnTo>
                  <a:lnTo>
                    <a:pt x="13018" y="2147744"/>
                  </a:lnTo>
                  <a:lnTo>
                    <a:pt x="9788" y="2139944"/>
                  </a:lnTo>
                  <a:lnTo>
                    <a:pt x="6556" y="2132144"/>
                  </a:lnTo>
                  <a:lnTo>
                    <a:pt x="4117" y="2124103"/>
                  </a:lnTo>
                  <a:lnTo>
                    <a:pt x="2470" y="2115823"/>
                  </a:lnTo>
                  <a:lnTo>
                    <a:pt x="823" y="2107542"/>
                  </a:lnTo>
                  <a:lnTo>
                    <a:pt x="0" y="2099180"/>
                  </a:lnTo>
                  <a:lnTo>
                    <a:pt x="0" y="20907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543424" y="4314824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960004" y="228599"/>
                  </a:moveTo>
                  <a:lnTo>
                    <a:pt x="106794" y="228599"/>
                  </a:lnTo>
                  <a:lnTo>
                    <a:pt x="99361" y="227867"/>
                  </a:lnTo>
                  <a:lnTo>
                    <a:pt x="57037" y="213506"/>
                  </a:lnTo>
                  <a:lnTo>
                    <a:pt x="23431" y="184041"/>
                  </a:lnTo>
                  <a:lnTo>
                    <a:pt x="3659" y="143959"/>
                  </a:lnTo>
                  <a:lnTo>
                    <a:pt x="0" y="121805"/>
                  </a:lnTo>
                  <a:lnTo>
                    <a:pt x="0" y="114299"/>
                  </a:lnTo>
                  <a:lnTo>
                    <a:pt x="0" y="106794"/>
                  </a:lnTo>
                  <a:lnTo>
                    <a:pt x="11571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960004" y="0"/>
                  </a:lnTo>
                  <a:lnTo>
                    <a:pt x="1003174" y="11571"/>
                  </a:lnTo>
                  <a:lnTo>
                    <a:pt x="1038628" y="38784"/>
                  </a:lnTo>
                  <a:lnTo>
                    <a:pt x="1060970" y="77492"/>
                  </a:lnTo>
                  <a:lnTo>
                    <a:pt x="1066799" y="106794"/>
                  </a:lnTo>
                  <a:lnTo>
                    <a:pt x="1066799" y="121805"/>
                  </a:lnTo>
                  <a:lnTo>
                    <a:pt x="1055226" y="164973"/>
                  </a:lnTo>
                  <a:lnTo>
                    <a:pt x="1028015" y="200428"/>
                  </a:lnTo>
                  <a:lnTo>
                    <a:pt x="989306" y="222770"/>
                  </a:lnTo>
                  <a:lnTo>
                    <a:pt x="967437" y="227867"/>
                  </a:lnTo>
                  <a:lnTo>
                    <a:pt x="960004" y="2285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4625975" y="4340225"/>
            <a:ext cx="89344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00:55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01:10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343774" y="4276724"/>
            <a:ext cx="304800" cy="304800"/>
            <a:chOff x="7343774" y="4276724"/>
            <a:chExt cx="304800" cy="304800"/>
          </a:xfrm>
        </p:grpSpPr>
        <p:sp>
          <p:nvSpPr>
            <p:cNvPr id="49" name="object 49"/>
            <p:cNvSpPr/>
            <p:nvPr/>
          </p:nvSpPr>
          <p:spPr>
            <a:xfrm>
              <a:off x="7343774" y="42767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3" y="51661"/>
                  </a:lnTo>
                  <a:lnTo>
                    <a:pt x="304800" y="71196"/>
                  </a:lnTo>
                  <a:lnTo>
                    <a:pt x="304800" y="233603"/>
                  </a:lnTo>
                  <a:lnTo>
                    <a:pt x="289177" y="275093"/>
                  </a:lnTo>
                  <a:lnTo>
                    <a:pt x="253137" y="300913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16800" y="4375149"/>
              <a:ext cx="158750" cy="123825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4530725" y="4673600"/>
            <a:ext cx="2738120" cy="611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45" b="1">
                <a:solidFill>
                  <a:srgbClr val="293283"/>
                </a:solidFill>
                <a:latin typeface="Tahoma"/>
                <a:cs typeface="Tahoma"/>
              </a:rPr>
              <a:t>pandas</a:t>
            </a:r>
            <a:r>
              <a:rPr dirty="0" sz="120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45" b="1">
                <a:solidFill>
                  <a:srgbClr val="293283"/>
                </a:solidFill>
                <a:latin typeface="Tahoma"/>
                <a:cs typeface="Tahoma"/>
              </a:rPr>
              <a:t>Cheatsheet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464"/>
              </a:spcBef>
            </a:pP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10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commands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you’ll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use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90%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of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the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time.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printable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reference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card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 worth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bookmarking.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8000999" y="4095750"/>
            <a:ext cx="3505200" cy="2228850"/>
            <a:chOff x="8000999" y="4095750"/>
            <a:chExt cx="3505200" cy="2228850"/>
          </a:xfrm>
        </p:grpSpPr>
        <p:sp>
          <p:nvSpPr>
            <p:cNvPr id="53" name="object 53"/>
            <p:cNvSpPr/>
            <p:nvPr/>
          </p:nvSpPr>
          <p:spPr>
            <a:xfrm>
              <a:off x="8020049" y="4100512"/>
              <a:ext cx="3481704" cy="2219325"/>
            </a:xfrm>
            <a:custGeom>
              <a:avLst/>
              <a:gdLst/>
              <a:ahLst/>
              <a:cxnLst/>
              <a:rect l="l" t="t" r="r" b="b"/>
              <a:pathLst>
                <a:path w="3481704" h="2219325">
                  <a:moveTo>
                    <a:pt x="3361242" y="2219324"/>
                  </a:moveTo>
                  <a:lnTo>
                    <a:pt x="106795" y="2219324"/>
                  </a:lnTo>
                  <a:lnTo>
                    <a:pt x="99361" y="2218500"/>
                  </a:lnTo>
                  <a:lnTo>
                    <a:pt x="57037" y="2202343"/>
                  </a:lnTo>
                  <a:lnTo>
                    <a:pt x="28170" y="2175691"/>
                  </a:lnTo>
                  <a:lnTo>
                    <a:pt x="5827" y="2132144"/>
                  </a:lnTo>
                  <a:lnTo>
                    <a:pt x="0" y="2099180"/>
                  </a:lnTo>
                  <a:lnTo>
                    <a:pt x="0" y="2090737"/>
                  </a:lnTo>
                  <a:lnTo>
                    <a:pt x="0" y="120144"/>
                  </a:lnTo>
                  <a:lnTo>
                    <a:pt x="11571" y="71578"/>
                  </a:lnTo>
                  <a:lnTo>
                    <a:pt x="38783" y="31691"/>
                  </a:lnTo>
                  <a:lnTo>
                    <a:pt x="77492" y="6556"/>
                  </a:lnTo>
                  <a:lnTo>
                    <a:pt x="106795" y="0"/>
                  </a:lnTo>
                  <a:lnTo>
                    <a:pt x="3361242" y="0"/>
                  </a:lnTo>
                  <a:lnTo>
                    <a:pt x="3409807" y="13018"/>
                  </a:lnTo>
                  <a:lnTo>
                    <a:pt x="3449694" y="43632"/>
                  </a:lnTo>
                  <a:lnTo>
                    <a:pt x="3474828" y="87178"/>
                  </a:lnTo>
                  <a:lnTo>
                    <a:pt x="3481386" y="120144"/>
                  </a:lnTo>
                  <a:lnTo>
                    <a:pt x="3481386" y="2099180"/>
                  </a:lnTo>
                  <a:lnTo>
                    <a:pt x="3468366" y="2147744"/>
                  </a:lnTo>
                  <a:lnTo>
                    <a:pt x="3437754" y="2187631"/>
                  </a:lnTo>
                  <a:lnTo>
                    <a:pt x="3394207" y="2212767"/>
                  </a:lnTo>
                  <a:lnTo>
                    <a:pt x="3369605" y="2218500"/>
                  </a:lnTo>
                  <a:lnTo>
                    <a:pt x="3361242" y="2219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8068971" y="4095749"/>
              <a:ext cx="3437254" cy="2228850"/>
            </a:xfrm>
            <a:custGeom>
              <a:avLst/>
              <a:gdLst/>
              <a:ahLst/>
              <a:cxnLst/>
              <a:rect l="l" t="t" r="r" b="b"/>
              <a:pathLst>
                <a:path w="3437254" h="2228850">
                  <a:moveTo>
                    <a:pt x="3437217" y="133350"/>
                  </a:moveTo>
                  <a:lnTo>
                    <a:pt x="3431514" y="94703"/>
                  </a:lnTo>
                  <a:lnTo>
                    <a:pt x="3414763" y="59258"/>
                  </a:lnTo>
                  <a:lnTo>
                    <a:pt x="3398609" y="39573"/>
                  </a:lnTo>
                  <a:lnTo>
                    <a:pt x="3366795" y="15773"/>
                  </a:lnTo>
                  <a:lnTo>
                    <a:pt x="3329889" y="2540"/>
                  </a:lnTo>
                  <a:lnTo>
                    <a:pt x="33038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3303867" y="9525"/>
                  </a:lnTo>
                  <a:lnTo>
                    <a:pt x="3351250" y="18961"/>
                  </a:lnTo>
                  <a:lnTo>
                    <a:pt x="3391433" y="45796"/>
                  </a:lnTo>
                  <a:lnTo>
                    <a:pt x="3391878" y="46304"/>
                  </a:lnTo>
                  <a:lnTo>
                    <a:pt x="3399637" y="54838"/>
                  </a:lnTo>
                  <a:lnTo>
                    <a:pt x="3422396" y="97459"/>
                  </a:lnTo>
                  <a:lnTo>
                    <a:pt x="3427692" y="133350"/>
                  </a:lnTo>
                  <a:lnTo>
                    <a:pt x="3427692" y="2095500"/>
                  </a:lnTo>
                  <a:lnTo>
                    <a:pt x="3418268" y="2142896"/>
                  </a:lnTo>
                  <a:lnTo>
                    <a:pt x="3391878" y="2182558"/>
                  </a:lnTo>
                  <a:lnTo>
                    <a:pt x="3391433" y="2183066"/>
                  </a:lnTo>
                  <a:lnTo>
                    <a:pt x="3351250" y="2209901"/>
                  </a:lnTo>
                  <a:lnTo>
                    <a:pt x="3316313" y="2218702"/>
                  </a:lnTo>
                  <a:lnTo>
                    <a:pt x="3316821" y="2218702"/>
                  </a:lnTo>
                  <a:lnTo>
                    <a:pt x="3303867" y="2219325"/>
                  </a:lnTo>
                  <a:lnTo>
                    <a:pt x="65366" y="2219325"/>
                  </a:lnTo>
                  <a:lnTo>
                    <a:pt x="55410" y="2218702"/>
                  </a:lnTo>
                  <a:lnTo>
                    <a:pt x="55803" y="2218702"/>
                  </a:lnTo>
                  <a:lnTo>
                    <a:pt x="46786" y="2216975"/>
                  </a:lnTo>
                  <a:lnTo>
                    <a:pt x="37769" y="2214029"/>
                  </a:lnTo>
                  <a:lnTo>
                    <a:pt x="28917" y="2209901"/>
                  </a:lnTo>
                  <a:lnTo>
                    <a:pt x="22542" y="2205990"/>
                  </a:lnTo>
                  <a:lnTo>
                    <a:pt x="0" y="2211628"/>
                  </a:lnTo>
                  <a:lnTo>
                    <a:pt x="39357" y="2226322"/>
                  </a:lnTo>
                  <a:lnTo>
                    <a:pt x="65366" y="2228850"/>
                  </a:lnTo>
                  <a:lnTo>
                    <a:pt x="3303867" y="2228850"/>
                  </a:lnTo>
                  <a:lnTo>
                    <a:pt x="3317011" y="2228215"/>
                  </a:lnTo>
                  <a:lnTo>
                    <a:pt x="3329889" y="2226322"/>
                  </a:lnTo>
                  <a:lnTo>
                    <a:pt x="3342525" y="2223147"/>
                  </a:lnTo>
                  <a:lnTo>
                    <a:pt x="3353155" y="2219325"/>
                  </a:lnTo>
                  <a:lnTo>
                    <a:pt x="3354908" y="2218702"/>
                  </a:lnTo>
                  <a:lnTo>
                    <a:pt x="3388423" y="2198636"/>
                  </a:lnTo>
                  <a:lnTo>
                    <a:pt x="3414763" y="2169604"/>
                  </a:lnTo>
                  <a:lnTo>
                    <a:pt x="3431514" y="2134158"/>
                  </a:lnTo>
                  <a:lnTo>
                    <a:pt x="3437217" y="2095500"/>
                  </a:lnTo>
                  <a:lnTo>
                    <a:pt x="34372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000999" y="4112813"/>
              <a:ext cx="90805" cy="2195195"/>
            </a:xfrm>
            <a:custGeom>
              <a:avLst/>
              <a:gdLst/>
              <a:ahLst/>
              <a:cxnLst/>
              <a:rect l="l" t="t" r="r" b="b"/>
              <a:pathLst>
                <a:path w="90804" h="2195195">
                  <a:moveTo>
                    <a:pt x="68254" y="2194722"/>
                  </a:moveTo>
                  <a:lnTo>
                    <a:pt x="30216" y="2162991"/>
                  </a:lnTo>
                  <a:lnTo>
                    <a:pt x="10150" y="2129467"/>
                  </a:lnTo>
                  <a:lnTo>
                    <a:pt x="634" y="2091572"/>
                  </a:lnTo>
                  <a:lnTo>
                    <a:pt x="0" y="207843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2078436"/>
                  </a:lnTo>
                  <a:lnTo>
                    <a:pt x="45349" y="2125822"/>
                  </a:lnTo>
                  <a:lnTo>
                    <a:pt x="65998" y="2165993"/>
                  </a:lnTo>
                  <a:lnTo>
                    <a:pt x="90791" y="2189088"/>
                  </a:lnTo>
                  <a:lnTo>
                    <a:pt x="68254" y="2194722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229587" y="4276725"/>
              <a:ext cx="3076575" cy="304800"/>
            </a:xfrm>
            <a:custGeom>
              <a:avLst/>
              <a:gdLst/>
              <a:ahLst/>
              <a:cxnLst/>
              <a:rect l="l" t="t" r="r" b="b"/>
              <a:pathLst>
                <a:path w="3076575" h="304800">
                  <a:moveTo>
                    <a:pt x="1066800" y="144907"/>
                  </a:moveTo>
                  <a:lnTo>
                    <a:pt x="1055230" y="101727"/>
                  </a:lnTo>
                  <a:lnTo>
                    <a:pt x="1028014" y="66281"/>
                  </a:lnTo>
                  <a:lnTo>
                    <a:pt x="989304" y="43929"/>
                  </a:lnTo>
                  <a:lnTo>
                    <a:pt x="960005" y="38100"/>
                  </a:lnTo>
                  <a:lnTo>
                    <a:pt x="106794" y="38100"/>
                  </a:lnTo>
                  <a:lnTo>
                    <a:pt x="63627" y="49682"/>
                  </a:lnTo>
                  <a:lnTo>
                    <a:pt x="28181" y="76885"/>
                  </a:lnTo>
                  <a:lnTo>
                    <a:pt x="5829" y="115595"/>
                  </a:lnTo>
                  <a:lnTo>
                    <a:pt x="0" y="144907"/>
                  </a:lnTo>
                  <a:lnTo>
                    <a:pt x="0" y="152400"/>
                  </a:lnTo>
                  <a:lnTo>
                    <a:pt x="0" y="159905"/>
                  </a:lnTo>
                  <a:lnTo>
                    <a:pt x="11582" y="203085"/>
                  </a:lnTo>
                  <a:lnTo>
                    <a:pt x="38785" y="238531"/>
                  </a:lnTo>
                  <a:lnTo>
                    <a:pt x="77495" y="260883"/>
                  </a:lnTo>
                  <a:lnTo>
                    <a:pt x="106794" y="266700"/>
                  </a:lnTo>
                  <a:lnTo>
                    <a:pt x="960005" y="266700"/>
                  </a:lnTo>
                  <a:lnTo>
                    <a:pt x="1003173" y="255130"/>
                  </a:lnTo>
                  <a:lnTo>
                    <a:pt x="1038631" y="227926"/>
                  </a:lnTo>
                  <a:lnTo>
                    <a:pt x="1060970" y="189217"/>
                  </a:lnTo>
                  <a:lnTo>
                    <a:pt x="1066800" y="159905"/>
                  </a:lnTo>
                  <a:lnTo>
                    <a:pt x="1066800" y="144907"/>
                  </a:lnTo>
                  <a:close/>
                </a:path>
                <a:path w="3076575" h="304800">
                  <a:moveTo>
                    <a:pt x="3076575" y="71196"/>
                  </a:moveTo>
                  <a:lnTo>
                    <a:pt x="3060954" y="29705"/>
                  </a:lnTo>
                  <a:lnTo>
                    <a:pt x="3024911" y="3886"/>
                  </a:lnTo>
                  <a:lnTo>
                    <a:pt x="3005378" y="0"/>
                  </a:lnTo>
                  <a:lnTo>
                    <a:pt x="2842971" y="0"/>
                  </a:lnTo>
                  <a:lnTo>
                    <a:pt x="2801480" y="15633"/>
                  </a:lnTo>
                  <a:lnTo>
                    <a:pt x="2775661" y="51663"/>
                  </a:lnTo>
                  <a:lnTo>
                    <a:pt x="2771775" y="71196"/>
                  </a:lnTo>
                  <a:lnTo>
                    <a:pt x="2771775" y="228600"/>
                  </a:lnTo>
                  <a:lnTo>
                    <a:pt x="2771775" y="233603"/>
                  </a:lnTo>
                  <a:lnTo>
                    <a:pt x="2787396" y="275094"/>
                  </a:lnTo>
                  <a:lnTo>
                    <a:pt x="2823438" y="300913"/>
                  </a:lnTo>
                  <a:lnTo>
                    <a:pt x="2842971" y="304800"/>
                  </a:lnTo>
                  <a:lnTo>
                    <a:pt x="3005378" y="304800"/>
                  </a:lnTo>
                  <a:lnTo>
                    <a:pt x="3046869" y="289179"/>
                  </a:lnTo>
                  <a:lnTo>
                    <a:pt x="3072688" y="253149"/>
                  </a:lnTo>
                  <a:lnTo>
                    <a:pt x="3076575" y="233603"/>
                  </a:lnTo>
                  <a:lnTo>
                    <a:pt x="3076575" y="71196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87099" y="4362449"/>
              <a:ext cx="133350" cy="133350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8068972" y="4340225"/>
            <a:ext cx="3391535" cy="9448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527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01:10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–</a:t>
            </a:r>
            <a:r>
              <a:rPr dirty="0" sz="800" spc="1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spc="-10" b="1">
                <a:solidFill>
                  <a:srgbClr val="FF6A5B"/>
                </a:solidFill>
                <a:latin typeface="Courier New"/>
                <a:cs typeface="Courier New"/>
              </a:rPr>
              <a:t>01:30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800">
              <a:latin typeface="Courier New"/>
              <a:cs typeface="Courier New"/>
            </a:endParaRPr>
          </a:p>
          <a:p>
            <a:pPr marL="160020">
              <a:lnSpc>
                <a:spcPct val="100000"/>
              </a:lnSpc>
            </a:pPr>
            <a:r>
              <a:rPr dirty="0" sz="1200" spc="-155" b="1">
                <a:solidFill>
                  <a:srgbClr val="293283"/>
                </a:solidFill>
                <a:latin typeface="Tahoma"/>
                <a:cs typeface="Tahoma"/>
              </a:rPr>
              <a:t>Exercise:</a:t>
            </a:r>
            <a:r>
              <a:rPr dirty="0" sz="1200" spc="-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145" b="1">
                <a:solidFill>
                  <a:srgbClr val="293283"/>
                </a:solidFill>
                <a:latin typeface="Tahoma"/>
                <a:cs typeface="Tahoma"/>
              </a:rPr>
              <a:t>Student</a:t>
            </a:r>
            <a:r>
              <a:rPr dirty="0" sz="12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200" spc="-35" b="1">
                <a:solidFill>
                  <a:srgbClr val="293283"/>
                </a:solidFill>
                <a:latin typeface="Tahoma"/>
                <a:cs typeface="Tahoma"/>
              </a:rPr>
              <a:t>Dashboard</a:t>
            </a:r>
            <a:endParaRPr sz="1200">
              <a:latin typeface="Tahoma"/>
              <a:cs typeface="Tahoma"/>
            </a:endParaRPr>
          </a:p>
          <a:p>
            <a:pPr marL="160020" marR="214629">
              <a:lnSpc>
                <a:spcPct val="125000"/>
              </a:lnSpc>
              <a:spcBef>
                <a:spcPts val="465"/>
              </a:spcBef>
            </a:pP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Build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Streamlit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app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that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loads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CSV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filters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branch/city.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Combines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Day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5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sidebar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+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Day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6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pandas.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0</a:t>
            </a:r>
            <a:r>
              <a:rPr dirty="0" spc="-110"/>
              <a:t> </a:t>
            </a:r>
            <a:fld id="{81D60167-4931-47E6-BA6A-407CBD079E47}" type="slidenum">
              <a:rPr dirty="0"/>
              <a:t>2</a:t>
            </a:fld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" y="647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5500" y="587375"/>
            <a:ext cx="10318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1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0</a:t>
            </a:r>
            <a:r>
              <a:rPr dirty="0" sz="900" spc="2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806450"/>
            <a:ext cx="6418580" cy="4140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335">
                <a:solidFill>
                  <a:srgbClr val="293283"/>
                </a:solidFill>
              </a:rPr>
              <a:t>Yesterday</a:t>
            </a:r>
            <a:r>
              <a:rPr dirty="0" sz="2550" spc="-235">
                <a:solidFill>
                  <a:srgbClr val="293283"/>
                </a:solidFill>
              </a:rPr>
              <a:t> </a:t>
            </a:r>
            <a:r>
              <a:rPr dirty="0" sz="2550" spc="-290">
                <a:solidFill>
                  <a:srgbClr val="293283"/>
                </a:solidFill>
              </a:rPr>
              <a:t>you</a:t>
            </a:r>
            <a:r>
              <a:rPr dirty="0" sz="2550" spc="-240">
                <a:solidFill>
                  <a:srgbClr val="293283"/>
                </a:solidFill>
              </a:rPr>
              <a:t> </a:t>
            </a:r>
            <a:r>
              <a:rPr dirty="0" sz="2550" spc="-245">
                <a:solidFill>
                  <a:srgbClr val="293283"/>
                </a:solidFill>
              </a:rPr>
              <a:t>built</a:t>
            </a:r>
            <a:r>
              <a:rPr dirty="0" sz="2550" spc="-235">
                <a:solidFill>
                  <a:srgbClr val="293283"/>
                </a:solidFill>
              </a:rPr>
              <a:t> </a:t>
            </a:r>
            <a:r>
              <a:rPr dirty="0" sz="2550" spc="-275">
                <a:solidFill>
                  <a:srgbClr val="293283"/>
                </a:solidFill>
              </a:rPr>
              <a:t>a</a:t>
            </a:r>
            <a:r>
              <a:rPr dirty="0" sz="2550" spc="-235">
                <a:solidFill>
                  <a:srgbClr val="293283"/>
                </a:solidFill>
              </a:rPr>
              <a:t> </a:t>
            </a:r>
            <a:r>
              <a:rPr dirty="0" sz="2550" spc="-254">
                <a:solidFill>
                  <a:srgbClr val="293283"/>
                </a:solidFill>
              </a:rPr>
              <a:t>form.</a:t>
            </a:r>
            <a:r>
              <a:rPr dirty="0" sz="2550" spc="-240">
                <a:solidFill>
                  <a:srgbClr val="293283"/>
                </a:solidFill>
              </a:rPr>
              <a:t> </a:t>
            </a:r>
            <a:r>
              <a:rPr dirty="0" sz="2550" spc="-345">
                <a:solidFill>
                  <a:srgbClr val="293283"/>
                </a:solidFill>
              </a:rPr>
              <a:t>Today</a:t>
            </a:r>
            <a:r>
              <a:rPr dirty="0" sz="2550" spc="-235">
                <a:solidFill>
                  <a:srgbClr val="293283"/>
                </a:solidFill>
              </a:rPr>
              <a:t> </a:t>
            </a:r>
            <a:r>
              <a:rPr dirty="0" sz="2550" spc="-345">
                <a:solidFill>
                  <a:srgbClr val="293283"/>
                </a:solidFill>
              </a:rPr>
              <a:t>we</a:t>
            </a:r>
            <a:r>
              <a:rPr dirty="0" sz="2550" spc="-235">
                <a:solidFill>
                  <a:srgbClr val="293283"/>
                </a:solidFill>
              </a:rPr>
              <a:t> </a:t>
            </a:r>
            <a:r>
              <a:rPr dirty="0" sz="2550" spc="-270">
                <a:solidFill>
                  <a:srgbClr val="293283"/>
                </a:solidFill>
              </a:rPr>
              <a:t>feed</a:t>
            </a:r>
            <a:r>
              <a:rPr dirty="0" sz="2550" spc="-240">
                <a:solidFill>
                  <a:srgbClr val="293283"/>
                </a:solidFill>
              </a:rPr>
              <a:t> </a:t>
            </a:r>
            <a:r>
              <a:rPr dirty="0" sz="2550" spc="-195">
                <a:solidFill>
                  <a:srgbClr val="293283"/>
                </a:solidFill>
              </a:rPr>
              <a:t>it</a:t>
            </a:r>
            <a:r>
              <a:rPr dirty="0" sz="2550" spc="-235">
                <a:solidFill>
                  <a:srgbClr val="293283"/>
                </a:solidFill>
              </a:rPr>
              <a:t> </a:t>
            </a:r>
            <a:r>
              <a:rPr dirty="0" sz="2550" spc="-280">
                <a:solidFill>
                  <a:srgbClr val="293283"/>
                </a:solidFill>
              </a:rPr>
              <a:t>data.</a:t>
            </a:r>
            <a:endParaRPr sz="2550"/>
          </a:p>
        </p:txBody>
      </p:sp>
      <p:sp>
        <p:nvSpPr>
          <p:cNvPr id="5" name="object 5"/>
          <p:cNvSpPr txBox="1"/>
          <p:nvPr/>
        </p:nvSpPr>
        <p:spPr>
          <a:xfrm>
            <a:off x="673099" y="1282700"/>
            <a:ext cx="70180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5">
                <a:solidFill>
                  <a:srgbClr val="4A4E6A"/>
                </a:solidFill>
                <a:latin typeface="Trebuchet MS"/>
                <a:cs typeface="Trebuchet MS"/>
              </a:rPr>
              <a:t>Quick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85">
                <a:solidFill>
                  <a:srgbClr val="4A4E6A"/>
                </a:solidFill>
                <a:latin typeface="Trebuchet MS"/>
                <a:cs typeface="Trebuchet MS"/>
              </a:rPr>
              <a:t>check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that </a:t>
            </a:r>
            <a:r>
              <a:rPr dirty="0" sz="1200" spc="-55">
                <a:solidFill>
                  <a:srgbClr val="4A4E6A"/>
                </a:solidFill>
                <a:latin typeface="Trebuchet MS"/>
                <a:cs typeface="Trebuchet MS"/>
              </a:rPr>
              <a:t>Day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95">
                <a:solidFill>
                  <a:srgbClr val="4A4E6A"/>
                </a:solidFill>
                <a:latin typeface="Trebuchet MS"/>
                <a:cs typeface="Trebuchet MS"/>
              </a:rPr>
              <a:t>5’s</a:t>
            </a:r>
            <a:r>
              <a:rPr dirty="0" sz="1200" spc="-70">
                <a:solidFill>
                  <a:srgbClr val="4A4E6A"/>
                </a:solidFill>
                <a:latin typeface="Trebuchet MS"/>
                <a:cs typeface="Trebuchet MS"/>
              </a:rPr>
              <a:t> form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55">
                <a:solidFill>
                  <a:srgbClr val="4A4E6A"/>
                </a:solidFill>
                <a:latin typeface="Trebuchet MS"/>
                <a:cs typeface="Trebuchet MS"/>
              </a:rPr>
              <a:t>app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65">
                <a:solidFill>
                  <a:srgbClr val="4A4E6A"/>
                </a:solidFill>
                <a:latin typeface="Trebuchet MS"/>
                <a:cs typeface="Trebuchet MS"/>
              </a:rPr>
              <a:t>runs.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4A4E6A"/>
                </a:solidFill>
                <a:latin typeface="Trebuchet MS"/>
                <a:cs typeface="Trebuchet MS"/>
              </a:rPr>
              <a:t>If </a:t>
            </a:r>
            <a:r>
              <a:rPr dirty="0" sz="1200" spc="-85">
                <a:solidFill>
                  <a:srgbClr val="4A4E6A"/>
                </a:solidFill>
                <a:latin typeface="Trebuchet MS"/>
                <a:cs typeface="Trebuchet MS"/>
              </a:rPr>
              <a:t>it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80">
                <a:solidFill>
                  <a:srgbClr val="4A4E6A"/>
                </a:solidFill>
                <a:latin typeface="Trebuchet MS"/>
                <a:cs typeface="Trebuchet MS"/>
              </a:rPr>
              <a:t>doesn’t,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65">
                <a:solidFill>
                  <a:srgbClr val="4A4E6A"/>
                </a:solidFill>
                <a:latin typeface="Trebuchet MS"/>
                <a:cs typeface="Trebuchet MS"/>
              </a:rPr>
              <a:t>we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90">
                <a:solidFill>
                  <a:srgbClr val="4A4E6A"/>
                </a:solidFill>
                <a:latin typeface="Trebuchet MS"/>
                <a:cs typeface="Trebuchet MS"/>
              </a:rPr>
              <a:t>fix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85">
                <a:solidFill>
                  <a:srgbClr val="4A4E6A"/>
                </a:solidFill>
                <a:latin typeface="Trebuchet MS"/>
                <a:cs typeface="Trebuchet MS"/>
              </a:rPr>
              <a:t>it</a:t>
            </a:r>
            <a:r>
              <a:rPr dirty="0" sz="12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4A4E6A"/>
                </a:solidFill>
                <a:latin typeface="Trebuchet MS"/>
                <a:cs typeface="Trebuchet MS"/>
              </a:rPr>
              <a:t>now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19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80">
                <a:solidFill>
                  <a:srgbClr val="4A4E6A"/>
                </a:solidFill>
                <a:latin typeface="Trebuchet MS"/>
                <a:cs typeface="Trebuchet MS"/>
              </a:rPr>
              <a:t>today’s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85">
                <a:solidFill>
                  <a:srgbClr val="4A4E6A"/>
                </a:solidFill>
                <a:latin typeface="Trebuchet MS"/>
                <a:cs typeface="Trebuchet MS"/>
              </a:rPr>
              <a:t>exercise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4A4E6A"/>
                </a:solidFill>
                <a:latin typeface="Trebuchet MS"/>
                <a:cs typeface="Trebuchet MS"/>
              </a:rPr>
              <a:t>builds</a:t>
            </a:r>
            <a:r>
              <a:rPr dirty="0" sz="12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4A4E6A"/>
                </a:solidFill>
                <a:latin typeface="Trebuchet MS"/>
                <a:cs typeface="Trebuchet MS"/>
              </a:rPr>
              <a:t>on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4A4E6A"/>
                </a:solidFill>
                <a:latin typeface="Trebuchet MS"/>
                <a:cs typeface="Trebuchet MS"/>
              </a:rPr>
              <a:t>sidebar</a:t>
            </a:r>
            <a:r>
              <a:rPr dirty="0" sz="120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4A4E6A"/>
                </a:solidFill>
                <a:latin typeface="Trebuchet MS"/>
                <a:cs typeface="Trebuchet MS"/>
              </a:rPr>
              <a:t>pattern.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799" y="1666875"/>
            <a:ext cx="6391275" cy="4657725"/>
            <a:chOff x="685799" y="1666875"/>
            <a:chExt cx="6391275" cy="4657725"/>
          </a:xfrm>
        </p:grpSpPr>
        <p:sp>
          <p:nvSpPr>
            <p:cNvPr id="7" name="object 7"/>
            <p:cNvSpPr/>
            <p:nvPr/>
          </p:nvSpPr>
          <p:spPr>
            <a:xfrm>
              <a:off x="704849" y="1671637"/>
              <a:ext cx="6367780" cy="4648200"/>
            </a:xfrm>
            <a:custGeom>
              <a:avLst/>
              <a:gdLst/>
              <a:ahLst/>
              <a:cxnLst/>
              <a:rect l="l" t="t" r="r" b="b"/>
              <a:pathLst>
                <a:path w="6367780" h="4648200">
                  <a:moveTo>
                    <a:pt x="6247317" y="4648199"/>
                  </a:moveTo>
                  <a:lnTo>
                    <a:pt x="106794" y="4648199"/>
                  </a:lnTo>
                  <a:lnTo>
                    <a:pt x="99362" y="4647375"/>
                  </a:lnTo>
                  <a:lnTo>
                    <a:pt x="57038" y="4631218"/>
                  </a:lnTo>
                  <a:lnTo>
                    <a:pt x="28170" y="4604566"/>
                  </a:lnTo>
                  <a:lnTo>
                    <a:pt x="5828" y="4561019"/>
                  </a:lnTo>
                  <a:lnTo>
                    <a:pt x="0" y="4528055"/>
                  </a:lnTo>
                  <a:lnTo>
                    <a:pt x="0" y="4519612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1"/>
                  </a:lnTo>
                  <a:lnTo>
                    <a:pt x="77493" y="6557"/>
                  </a:lnTo>
                  <a:lnTo>
                    <a:pt x="106794" y="0"/>
                  </a:lnTo>
                  <a:lnTo>
                    <a:pt x="6247317" y="0"/>
                  </a:lnTo>
                  <a:lnTo>
                    <a:pt x="6295882" y="13019"/>
                  </a:lnTo>
                  <a:lnTo>
                    <a:pt x="6335769" y="43632"/>
                  </a:lnTo>
                  <a:lnTo>
                    <a:pt x="6360904" y="87179"/>
                  </a:lnTo>
                  <a:lnTo>
                    <a:pt x="6367461" y="120144"/>
                  </a:lnTo>
                  <a:lnTo>
                    <a:pt x="6367461" y="4528055"/>
                  </a:lnTo>
                  <a:lnTo>
                    <a:pt x="6354442" y="4576619"/>
                  </a:lnTo>
                  <a:lnTo>
                    <a:pt x="6323829" y="4616506"/>
                  </a:lnTo>
                  <a:lnTo>
                    <a:pt x="6280281" y="4641641"/>
                  </a:lnTo>
                  <a:lnTo>
                    <a:pt x="6255679" y="4647375"/>
                  </a:lnTo>
                  <a:lnTo>
                    <a:pt x="6247317" y="4648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53770" y="1666874"/>
              <a:ext cx="6323330" cy="4657725"/>
            </a:xfrm>
            <a:custGeom>
              <a:avLst/>
              <a:gdLst/>
              <a:ahLst/>
              <a:cxnLst/>
              <a:rect l="l" t="t" r="r" b="b"/>
              <a:pathLst>
                <a:path w="6323330" h="4657725">
                  <a:moveTo>
                    <a:pt x="6323292" y="133350"/>
                  </a:moveTo>
                  <a:lnTo>
                    <a:pt x="6317589" y="94703"/>
                  </a:lnTo>
                  <a:lnTo>
                    <a:pt x="6300838" y="59258"/>
                  </a:lnTo>
                  <a:lnTo>
                    <a:pt x="6284684" y="39573"/>
                  </a:lnTo>
                  <a:lnTo>
                    <a:pt x="6252870" y="15773"/>
                  </a:lnTo>
                  <a:lnTo>
                    <a:pt x="6215964" y="2540"/>
                  </a:lnTo>
                  <a:lnTo>
                    <a:pt x="6189942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6189942" y="9525"/>
                  </a:lnTo>
                  <a:lnTo>
                    <a:pt x="6237338" y="18961"/>
                  </a:lnTo>
                  <a:lnTo>
                    <a:pt x="6277508" y="45796"/>
                  </a:lnTo>
                  <a:lnTo>
                    <a:pt x="6277953" y="46304"/>
                  </a:lnTo>
                  <a:lnTo>
                    <a:pt x="6285712" y="54838"/>
                  </a:lnTo>
                  <a:lnTo>
                    <a:pt x="6308471" y="97459"/>
                  </a:lnTo>
                  <a:lnTo>
                    <a:pt x="6313767" y="133350"/>
                  </a:lnTo>
                  <a:lnTo>
                    <a:pt x="6313767" y="4524375"/>
                  </a:lnTo>
                  <a:lnTo>
                    <a:pt x="6304343" y="4571771"/>
                  </a:lnTo>
                  <a:lnTo>
                    <a:pt x="6277953" y="4611433"/>
                  </a:lnTo>
                  <a:lnTo>
                    <a:pt x="6277508" y="4611941"/>
                  </a:lnTo>
                  <a:lnTo>
                    <a:pt x="6237325" y="4638776"/>
                  </a:lnTo>
                  <a:lnTo>
                    <a:pt x="6202388" y="4647577"/>
                  </a:lnTo>
                  <a:lnTo>
                    <a:pt x="6202896" y="4647577"/>
                  </a:lnTo>
                  <a:lnTo>
                    <a:pt x="6189942" y="4648200"/>
                  </a:lnTo>
                  <a:lnTo>
                    <a:pt x="65366" y="4648200"/>
                  </a:lnTo>
                  <a:lnTo>
                    <a:pt x="55410" y="4647577"/>
                  </a:lnTo>
                  <a:lnTo>
                    <a:pt x="55803" y="4647577"/>
                  </a:lnTo>
                  <a:lnTo>
                    <a:pt x="46786" y="4645850"/>
                  </a:lnTo>
                  <a:lnTo>
                    <a:pt x="37769" y="4642904"/>
                  </a:lnTo>
                  <a:lnTo>
                    <a:pt x="28917" y="4638776"/>
                  </a:lnTo>
                  <a:lnTo>
                    <a:pt x="22542" y="4634865"/>
                  </a:lnTo>
                  <a:lnTo>
                    <a:pt x="0" y="4640504"/>
                  </a:lnTo>
                  <a:lnTo>
                    <a:pt x="39357" y="4655197"/>
                  </a:lnTo>
                  <a:lnTo>
                    <a:pt x="65366" y="4657725"/>
                  </a:lnTo>
                  <a:lnTo>
                    <a:pt x="6189942" y="4657725"/>
                  </a:lnTo>
                  <a:lnTo>
                    <a:pt x="6203086" y="4657090"/>
                  </a:lnTo>
                  <a:lnTo>
                    <a:pt x="6215964" y="4655197"/>
                  </a:lnTo>
                  <a:lnTo>
                    <a:pt x="6228600" y="4652022"/>
                  </a:lnTo>
                  <a:lnTo>
                    <a:pt x="6239230" y="4648200"/>
                  </a:lnTo>
                  <a:lnTo>
                    <a:pt x="6240983" y="4647577"/>
                  </a:lnTo>
                  <a:lnTo>
                    <a:pt x="6274498" y="4627511"/>
                  </a:lnTo>
                  <a:lnTo>
                    <a:pt x="6300838" y="4598479"/>
                  </a:lnTo>
                  <a:lnTo>
                    <a:pt x="6317589" y="4563034"/>
                  </a:lnTo>
                  <a:lnTo>
                    <a:pt x="6323292" y="4524375"/>
                  </a:lnTo>
                  <a:lnTo>
                    <a:pt x="6323292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799" y="1683938"/>
              <a:ext cx="90805" cy="4624070"/>
            </a:xfrm>
            <a:custGeom>
              <a:avLst/>
              <a:gdLst/>
              <a:ahLst/>
              <a:cxnLst/>
              <a:rect l="l" t="t" r="r" b="b"/>
              <a:pathLst>
                <a:path w="90804" h="4624070">
                  <a:moveTo>
                    <a:pt x="68254" y="4623597"/>
                  </a:moveTo>
                  <a:lnTo>
                    <a:pt x="30217" y="4591866"/>
                  </a:lnTo>
                  <a:lnTo>
                    <a:pt x="10150" y="4558341"/>
                  </a:lnTo>
                  <a:lnTo>
                    <a:pt x="634" y="4520447"/>
                  </a:lnTo>
                  <a:lnTo>
                    <a:pt x="0" y="450731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507311"/>
                  </a:lnTo>
                  <a:lnTo>
                    <a:pt x="45350" y="4554696"/>
                  </a:lnTo>
                  <a:lnTo>
                    <a:pt x="65998" y="4594868"/>
                  </a:lnTo>
                  <a:lnTo>
                    <a:pt x="90792" y="4617962"/>
                  </a:lnTo>
                  <a:lnTo>
                    <a:pt x="68254" y="4623597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905124" y="1885949"/>
              <a:ext cx="495300" cy="200025"/>
            </a:xfrm>
            <a:custGeom>
              <a:avLst/>
              <a:gdLst/>
              <a:ahLst/>
              <a:cxnLst/>
              <a:rect l="l" t="t" r="r" b="b"/>
              <a:pathLst>
                <a:path w="495300" h="200025">
                  <a:moveTo>
                    <a:pt x="401854" y="200024"/>
                  </a:moveTo>
                  <a:lnTo>
                    <a:pt x="93445" y="200024"/>
                  </a:lnTo>
                  <a:lnTo>
                    <a:pt x="86941" y="199384"/>
                  </a:lnTo>
                  <a:lnTo>
                    <a:pt x="49908" y="186817"/>
                  </a:lnTo>
                  <a:lnTo>
                    <a:pt x="20503" y="161036"/>
                  </a:lnTo>
                  <a:lnTo>
                    <a:pt x="3202" y="125964"/>
                  </a:lnTo>
                  <a:lnTo>
                    <a:pt x="0" y="106579"/>
                  </a:lnTo>
                  <a:lnTo>
                    <a:pt x="0" y="100012"/>
                  </a:lnTo>
                  <a:lnTo>
                    <a:pt x="0" y="93445"/>
                  </a:lnTo>
                  <a:lnTo>
                    <a:pt x="10125" y="55672"/>
                  </a:lnTo>
                  <a:lnTo>
                    <a:pt x="33936" y="24649"/>
                  </a:lnTo>
                  <a:lnTo>
                    <a:pt x="67805" y="5099"/>
                  </a:lnTo>
                  <a:lnTo>
                    <a:pt x="93445" y="0"/>
                  </a:lnTo>
                  <a:lnTo>
                    <a:pt x="401854" y="0"/>
                  </a:lnTo>
                  <a:lnTo>
                    <a:pt x="439627" y="10126"/>
                  </a:lnTo>
                  <a:lnTo>
                    <a:pt x="470650" y="33936"/>
                  </a:lnTo>
                  <a:lnTo>
                    <a:pt x="490199" y="67806"/>
                  </a:lnTo>
                  <a:lnTo>
                    <a:pt x="495299" y="93445"/>
                  </a:lnTo>
                  <a:lnTo>
                    <a:pt x="495299" y="106579"/>
                  </a:lnTo>
                  <a:lnTo>
                    <a:pt x="485174" y="144352"/>
                  </a:lnTo>
                  <a:lnTo>
                    <a:pt x="461363" y="175375"/>
                  </a:lnTo>
                  <a:lnTo>
                    <a:pt x="427493" y="194924"/>
                  </a:lnTo>
                  <a:lnTo>
                    <a:pt x="408357" y="199384"/>
                  </a:lnTo>
                  <a:lnTo>
                    <a:pt x="401854" y="20002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71550" y="1901825"/>
            <a:ext cx="234632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2019300" algn="l"/>
              </a:tabLst>
            </a:pP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W </a:t>
            </a:r>
            <a:r>
              <a:rPr dirty="0" baseline="3472" sz="1200" spc="-157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Tahoma"/>
                <a:cs typeface="Tahoma"/>
              </a:rPr>
              <a:t>AT</a:t>
            </a:r>
            <a:r>
              <a:rPr dirty="0" baseline="3472" sz="1200" spc="2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W </a:t>
            </a:r>
            <a:r>
              <a:rPr dirty="0" baseline="3472" sz="120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baseline="3472" sz="1200" spc="337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65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baseline="3472" sz="1200" spc="-142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97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baseline="3472" sz="1200" spc="-15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89" b="1">
                <a:solidFill>
                  <a:srgbClr val="797E94"/>
                </a:solidFill>
                <a:latin typeface="Tahoma"/>
                <a:cs typeface="Tahoma"/>
              </a:rPr>
              <a:t>V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72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baseline="3472" sz="1200" spc="34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79" b="1">
                <a:solidFill>
                  <a:srgbClr val="797E94"/>
                </a:solidFill>
                <a:latin typeface="Tahoma"/>
                <a:cs typeface="Tahoma"/>
              </a:rPr>
              <a:t>Y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797E94"/>
                </a:solidFill>
                <a:latin typeface="Tahoma"/>
                <a:cs typeface="Tahoma"/>
              </a:rPr>
              <a:t>E </a:t>
            </a:r>
            <a:r>
              <a:rPr dirty="0" baseline="3472" sz="1200" spc="-195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baseline="3472" sz="1200" spc="-142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T </a:t>
            </a:r>
            <a:r>
              <a:rPr dirty="0" baseline="3472" sz="1200" spc="-142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72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D</a:t>
            </a:r>
            <a:r>
              <a:rPr dirty="0" baseline="3472" sz="1200" spc="-16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37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baseline="3472" sz="1200" b="1">
                <a:solidFill>
                  <a:srgbClr val="797E94"/>
                </a:solidFill>
                <a:latin typeface="Tahoma"/>
                <a:cs typeface="Tahoma"/>
              </a:rPr>
              <a:t>	</a:t>
            </a:r>
            <a:r>
              <a:rPr dirty="0" sz="750" spc="-60" b="1">
                <a:solidFill>
                  <a:srgbClr val="293283"/>
                </a:solidFill>
                <a:latin typeface="Tahoma"/>
                <a:cs typeface="Tahoma"/>
              </a:rPr>
              <a:t>DAY</a:t>
            </a:r>
            <a:r>
              <a:rPr dirty="0" sz="750" spc="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35" b="1">
                <a:solidFill>
                  <a:srgbClr val="293283"/>
                </a:solidFill>
                <a:latin typeface="Tahoma"/>
                <a:cs typeface="Tahoma"/>
              </a:rPr>
              <a:t>05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66787" y="2314574"/>
            <a:ext cx="5857875" cy="304800"/>
            <a:chOff x="966787" y="2314574"/>
            <a:chExt cx="5857875" cy="304800"/>
          </a:xfrm>
        </p:grpSpPr>
        <p:sp>
          <p:nvSpPr>
            <p:cNvPr id="13" name="object 13"/>
            <p:cNvSpPr/>
            <p:nvPr/>
          </p:nvSpPr>
          <p:spPr>
            <a:xfrm>
              <a:off x="971550" y="2614612"/>
              <a:ext cx="5848350" cy="0"/>
            </a:xfrm>
            <a:custGeom>
              <a:avLst/>
              <a:gdLst/>
              <a:ahLst/>
              <a:cxnLst/>
              <a:rect l="l" t="t" r="r" b="b"/>
              <a:pathLst>
                <a:path w="5848350" h="0">
                  <a:moveTo>
                    <a:pt x="0" y="0"/>
                  </a:moveTo>
                  <a:lnTo>
                    <a:pt x="584834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49" y="2314574"/>
              <a:ext cx="209549" cy="20954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004887" y="232478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4449" y="2297112"/>
            <a:ext cx="250952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000" spc="-110" b="1">
                <a:solidFill>
                  <a:srgbClr val="293283"/>
                </a:solidFill>
                <a:latin typeface="Tahoma"/>
                <a:cs typeface="Tahoma"/>
              </a:rPr>
              <a:t>Widget</a:t>
            </a:r>
            <a:r>
              <a:rPr dirty="0" sz="10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30" b="1">
                <a:solidFill>
                  <a:srgbClr val="293283"/>
                </a:solidFill>
                <a:latin typeface="Tahoma"/>
                <a:cs typeface="Tahoma"/>
              </a:rPr>
              <a:t>keys</a:t>
            </a:r>
            <a:r>
              <a:rPr dirty="0" sz="10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175">
                <a:solidFill>
                  <a:srgbClr val="1B1F3A"/>
                </a:solidFill>
                <a:latin typeface="Trebuchet MS"/>
                <a:cs typeface="Trebuchet MS"/>
              </a:rPr>
              <a:t>—</a:t>
            </a:r>
            <a:r>
              <a:rPr dirty="0" sz="1000" spc="-6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60">
                <a:solidFill>
                  <a:srgbClr val="1B1F3A"/>
                </a:solidFill>
                <a:latin typeface="Trebuchet MS"/>
                <a:cs typeface="Trebuchet MS"/>
              </a:rPr>
              <a:t>the habit</a:t>
            </a:r>
            <a:r>
              <a:rPr dirty="0" sz="1000" spc="-65">
                <a:solidFill>
                  <a:srgbClr val="1B1F3A"/>
                </a:solidFill>
                <a:latin typeface="Trebuchet MS"/>
                <a:cs typeface="Trebuchet MS"/>
              </a:rPr>
              <a:t> that </a:t>
            </a:r>
            <a:r>
              <a:rPr dirty="0" sz="1000" spc="-50">
                <a:solidFill>
                  <a:srgbClr val="1B1F3A"/>
                </a:solidFill>
                <a:latin typeface="Trebuchet MS"/>
                <a:cs typeface="Trebuchet MS"/>
              </a:rPr>
              <a:t>pays</a:t>
            </a:r>
            <a:r>
              <a:rPr dirty="0" sz="100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65">
                <a:solidFill>
                  <a:srgbClr val="1B1F3A"/>
                </a:solidFill>
                <a:latin typeface="Trebuchet MS"/>
                <a:cs typeface="Trebuchet MS"/>
              </a:rPr>
              <a:t>off </a:t>
            </a:r>
            <a:r>
              <a:rPr dirty="0" sz="1000" spc="-50">
                <a:solidFill>
                  <a:srgbClr val="1B1F3A"/>
                </a:solidFill>
                <a:latin typeface="Trebuchet MS"/>
                <a:cs typeface="Trebuchet MS"/>
              </a:rPr>
              <a:t>in</a:t>
            </a:r>
            <a:r>
              <a:rPr dirty="0" sz="1000" spc="-6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50">
                <a:solidFill>
                  <a:srgbClr val="1B1F3A"/>
                </a:solidFill>
                <a:latin typeface="Trebuchet MS"/>
                <a:cs typeface="Trebuchet MS"/>
              </a:rPr>
              <a:t>Phase</a:t>
            </a:r>
            <a:r>
              <a:rPr dirty="0" sz="100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50">
                <a:solidFill>
                  <a:srgbClr val="1B1F3A"/>
                </a:solidFill>
                <a:latin typeface="Trebuchet MS"/>
                <a:cs typeface="Trebuchet MS"/>
              </a:rPr>
              <a:t>4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66787" y="2714624"/>
            <a:ext cx="5857875" cy="304800"/>
            <a:chOff x="966787" y="2714624"/>
            <a:chExt cx="5857875" cy="304800"/>
          </a:xfrm>
        </p:grpSpPr>
        <p:sp>
          <p:nvSpPr>
            <p:cNvPr id="18" name="object 18"/>
            <p:cNvSpPr/>
            <p:nvPr/>
          </p:nvSpPr>
          <p:spPr>
            <a:xfrm>
              <a:off x="971550" y="3014662"/>
              <a:ext cx="5848350" cy="0"/>
            </a:xfrm>
            <a:custGeom>
              <a:avLst/>
              <a:gdLst/>
              <a:ahLst/>
              <a:cxnLst/>
              <a:rect l="l" t="t" r="r" b="b"/>
              <a:pathLst>
                <a:path w="5848350" h="0">
                  <a:moveTo>
                    <a:pt x="0" y="0"/>
                  </a:moveTo>
                  <a:lnTo>
                    <a:pt x="584834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49" y="2714624"/>
              <a:ext cx="209549" cy="20954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004887" y="272483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686037" y="2733674"/>
            <a:ext cx="3686175" cy="152400"/>
          </a:xfrm>
          <a:custGeom>
            <a:avLst/>
            <a:gdLst/>
            <a:ahLst/>
            <a:cxnLst/>
            <a:rect l="l" t="t" r="r" b="b"/>
            <a:pathLst>
              <a:path w="3686175" h="152400">
                <a:moveTo>
                  <a:pt x="590550" y="33058"/>
                </a:moveTo>
                <a:lnTo>
                  <a:pt x="562368" y="977"/>
                </a:lnTo>
                <a:lnTo>
                  <a:pt x="557504" y="0"/>
                </a:lnTo>
                <a:lnTo>
                  <a:pt x="33058" y="0"/>
                </a:lnTo>
                <a:lnTo>
                  <a:pt x="977" y="28194"/>
                </a:lnTo>
                <a:lnTo>
                  <a:pt x="0" y="33058"/>
                </a:lnTo>
                <a:lnTo>
                  <a:pt x="0" y="114300"/>
                </a:lnTo>
                <a:lnTo>
                  <a:pt x="0" y="119354"/>
                </a:lnTo>
                <a:lnTo>
                  <a:pt x="28194" y="151434"/>
                </a:lnTo>
                <a:lnTo>
                  <a:pt x="33058" y="152400"/>
                </a:lnTo>
                <a:lnTo>
                  <a:pt x="557504" y="152400"/>
                </a:lnTo>
                <a:lnTo>
                  <a:pt x="589584" y="124218"/>
                </a:lnTo>
                <a:lnTo>
                  <a:pt x="590550" y="119354"/>
                </a:lnTo>
                <a:lnTo>
                  <a:pt x="590550" y="33058"/>
                </a:lnTo>
                <a:close/>
              </a:path>
              <a:path w="3686175" h="152400">
                <a:moveTo>
                  <a:pt x="1238250" y="33058"/>
                </a:moveTo>
                <a:lnTo>
                  <a:pt x="1210068" y="977"/>
                </a:lnTo>
                <a:lnTo>
                  <a:pt x="1205204" y="0"/>
                </a:lnTo>
                <a:lnTo>
                  <a:pt x="680758" y="0"/>
                </a:lnTo>
                <a:lnTo>
                  <a:pt x="648677" y="28194"/>
                </a:lnTo>
                <a:lnTo>
                  <a:pt x="647700" y="33058"/>
                </a:lnTo>
                <a:lnTo>
                  <a:pt x="647700" y="114300"/>
                </a:lnTo>
                <a:lnTo>
                  <a:pt x="647700" y="119354"/>
                </a:lnTo>
                <a:lnTo>
                  <a:pt x="675894" y="151434"/>
                </a:lnTo>
                <a:lnTo>
                  <a:pt x="680758" y="152400"/>
                </a:lnTo>
                <a:lnTo>
                  <a:pt x="1205204" y="152400"/>
                </a:lnTo>
                <a:lnTo>
                  <a:pt x="1237284" y="124218"/>
                </a:lnTo>
                <a:lnTo>
                  <a:pt x="1238250" y="119354"/>
                </a:lnTo>
                <a:lnTo>
                  <a:pt x="1238250" y="33058"/>
                </a:lnTo>
                <a:close/>
              </a:path>
              <a:path w="3686175" h="152400">
                <a:moveTo>
                  <a:pt x="1676400" y="33058"/>
                </a:moveTo>
                <a:lnTo>
                  <a:pt x="1648218" y="977"/>
                </a:lnTo>
                <a:lnTo>
                  <a:pt x="1643354" y="0"/>
                </a:lnTo>
                <a:lnTo>
                  <a:pt x="1337983" y="0"/>
                </a:lnTo>
                <a:lnTo>
                  <a:pt x="1305902" y="28194"/>
                </a:lnTo>
                <a:lnTo>
                  <a:pt x="1304925" y="33058"/>
                </a:lnTo>
                <a:lnTo>
                  <a:pt x="1304925" y="114300"/>
                </a:lnTo>
                <a:lnTo>
                  <a:pt x="1304925" y="119354"/>
                </a:lnTo>
                <a:lnTo>
                  <a:pt x="1333119" y="151434"/>
                </a:lnTo>
                <a:lnTo>
                  <a:pt x="1337983" y="152400"/>
                </a:lnTo>
                <a:lnTo>
                  <a:pt x="1643354" y="152400"/>
                </a:lnTo>
                <a:lnTo>
                  <a:pt x="1675434" y="124218"/>
                </a:lnTo>
                <a:lnTo>
                  <a:pt x="1676400" y="119354"/>
                </a:lnTo>
                <a:lnTo>
                  <a:pt x="1676400" y="33058"/>
                </a:lnTo>
                <a:close/>
              </a:path>
              <a:path w="3686175" h="152400">
                <a:moveTo>
                  <a:pt x="2400300" y="33058"/>
                </a:moveTo>
                <a:lnTo>
                  <a:pt x="2372118" y="977"/>
                </a:lnTo>
                <a:lnTo>
                  <a:pt x="2367254" y="0"/>
                </a:lnTo>
                <a:lnTo>
                  <a:pt x="1766608" y="0"/>
                </a:lnTo>
                <a:lnTo>
                  <a:pt x="1734527" y="28194"/>
                </a:lnTo>
                <a:lnTo>
                  <a:pt x="1733550" y="33058"/>
                </a:lnTo>
                <a:lnTo>
                  <a:pt x="1733550" y="114300"/>
                </a:lnTo>
                <a:lnTo>
                  <a:pt x="1733550" y="119354"/>
                </a:lnTo>
                <a:lnTo>
                  <a:pt x="1761744" y="151434"/>
                </a:lnTo>
                <a:lnTo>
                  <a:pt x="1766608" y="152400"/>
                </a:lnTo>
                <a:lnTo>
                  <a:pt x="2367254" y="152400"/>
                </a:lnTo>
                <a:lnTo>
                  <a:pt x="2399334" y="124218"/>
                </a:lnTo>
                <a:lnTo>
                  <a:pt x="2400300" y="119354"/>
                </a:lnTo>
                <a:lnTo>
                  <a:pt x="2400300" y="33058"/>
                </a:lnTo>
                <a:close/>
              </a:path>
              <a:path w="3686175" h="152400">
                <a:moveTo>
                  <a:pt x="3190875" y="33058"/>
                </a:moveTo>
                <a:lnTo>
                  <a:pt x="3162693" y="977"/>
                </a:lnTo>
                <a:lnTo>
                  <a:pt x="3157829" y="0"/>
                </a:lnTo>
                <a:lnTo>
                  <a:pt x="2490508" y="0"/>
                </a:lnTo>
                <a:lnTo>
                  <a:pt x="2458428" y="28194"/>
                </a:lnTo>
                <a:lnTo>
                  <a:pt x="2457450" y="33058"/>
                </a:lnTo>
                <a:lnTo>
                  <a:pt x="2457450" y="114300"/>
                </a:lnTo>
                <a:lnTo>
                  <a:pt x="2457450" y="119354"/>
                </a:lnTo>
                <a:lnTo>
                  <a:pt x="2485644" y="151434"/>
                </a:lnTo>
                <a:lnTo>
                  <a:pt x="2490508" y="152400"/>
                </a:lnTo>
                <a:lnTo>
                  <a:pt x="3157829" y="152400"/>
                </a:lnTo>
                <a:lnTo>
                  <a:pt x="3189909" y="124218"/>
                </a:lnTo>
                <a:lnTo>
                  <a:pt x="3190875" y="119354"/>
                </a:lnTo>
                <a:lnTo>
                  <a:pt x="3190875" y="33058"/>
                </a:lnTo>
                <a:close/>
              </a:path>
              <a:path w="3686175" h="152400">
                <a:moveTo>
                  <a:pt x="3686175" y="33058"/>
                </a:moveTo>
                <a:lnTo>
                  <a:pt x="3657993" y="977"/>
                </a:lnTo>
                <a:lnTo>
                  <a:pt x="3653129" y="0"/>
                </a:lnTo>
                <a:lnTo>
                  <a:pt x="3271558" y="0"/>
                </a:lnTo>
                <a:lnTo>
                  <a:pt x="3239478" y="28194"/>
                </a:lnTo>
                <a:lnTo>
                  <a:pt x="3238500" y="33058"/>
                </a:lnTo>
                <a:lnTo>
                  <a:pt x="3238500" y="114300"/>
                </a:lnTo>
                <a:lnTo>
                  <a:pt x="3238500" y="119354"/>
                </a:lnTo>
                <a:lnTo>
                  <a:pt x="3266694" y="151434"/>
                </a:lnTo>
                <a:lnTo>
                  <a:pt x="3271558" y="152400"/>
                </a:lnTo>
                <a:lnTo>
                  <a:pt x="3653129" y="152400"/>
                </a:lnTo>
                <a:lnTo>
                  <a:pt x="3685209" y="124218"/>
                </a:lnTo>
                <a:lnTo>
                  <a:pt x="3686175" y="119354"/>
                </a:lnTo>
                <a:lnTo>
                  <a:pt x="3686175" y="33058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314449" y="2697162"/>
            <a:ext cx="502412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000" spc="-114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100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35" b="1">
                <a:solidFill>
                  <a:srgbClr val="293283"/>
                </a:solidFill>
                <a:latin typeface="Tahoma"/>
                <a:cs typeface="Tahoma"/>
              </a:rPr>
              <a:t>5</a:t>
            </a:r>
            <a:r>
              <a:rPr dirty="0" sz="100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layout</a:t>
            </a:r>
            <a:r>
              <a:rPr dirty="0" sz="100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primitives</a:t>
            </a:r>
            <a:r>
              <a:rPr dirty="0" sz="100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175">
                <a:solidFill>
                  <a:srgbClr val="1B1F3A"/>
                </a:solidFill>
                <a:latin typeface="Trebuchet MS"/>
                <a:cs typeface="Trebuchet MS"/>
              </a:rPr>
              <a:t>—</a:t>
            </a:r>
            <a:r>
              <a:rPr dirty="0" sz="1000" spc="28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columns</a:t>
            </a:r>
            <a:r>
              <a:rPr dirty="0" sz="900" spc="-17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B1F3A"/>
                </a:solidFill>
                <a:latin typeface="Trebuchet MS"/>
                <a:cs typeface="Trebuchet MS"/>
              </a:rPr>
              <a:t>,</a:t>
            </a:r>
            <a:r>
              <a:rPr dirty="0" sz="1000" spc="29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sidebar</a:t>
            </a:r>
            <a:r>
              <a:rPr dirty="0" sz="900" spc="-17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B1F3A"/>
                </a:solidFill>
                <a:latin typeface="Trebuchet MS"/>
                <a:cs typeface="Trebuchet MS"/>
              </a:rPr>
              <a:t>,</a:t>
            </a:r>
            <a:r>
              <a:rPr dirty="0" sz="1000" spc="28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tabs</a:t>
            </a:r>
            <a:r>
              <a:rPr dirty="0" sz="900" spc="-17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B1F3A"/>
                </a:solidFill>
                <a:latin typeface="Trebuchet MS"/>
                <a:cs typeface="Trebuchet MS"/>
              </a:rPr>
              <a:t>,</a:t>
            </a:r>
            <a:r>
              <a:rPr dirty="0" sz="1000" spc="28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expander</a:t>
            </a:r>
            <a:r>
              <a:rPr dirty="0" sz="900" spc="-17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B1F3A"/>
                </a:solidFill>
                <a:latin typeface="Trebuchet MS"/>
                <a:cs typeface="Trebuchet MS"/>
              </a:rPr>
              <a:t>,</a:t>
            </a:r>
            <a:r>
              <a:rPr dirty="0" sz="1000" spc="28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container</a:t>
            </a:r>
            <a:r>
              <a:rPr dirty="0" sz="900" spc="-17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1B1F3A"/>
                </a:solidFill>
                <a:latin typeface="Trebuchet MS"/>
                <a:cs typeface="Trebuchet MS"/>
              </a:rPr>
              <a:t>/</a:t>
            </a:r>
            <a:r>
              <a:rPr dirty="0" sz="1000" spc="6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293283"/>
                </a:solidFill>
                <a:latin typeface="Courier New"/>
                <a:cs typeface="Courier New"/>
              </a:rPr>
              <a:t>empty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66787" y="3114674"/>
            <a:ext cx="5857875" cy="304800"/>
            <a:chOff x="966787" y="3114674"/>
            <a:chExt cx="5857875" cy="304800"/>
          </a:xfrm>
        </p:grpSpPr>
        <p:sp>
          <p:nvSpPr>
            <p:cNvPr id="24" name="object 24"/>
            <p:cNvSpPr/>
            <p:nvPr/>
          </p:nvSpPr>
          <p:spPr>
            <a:xfrm>
              <a:off x="971550" y="3414712"/>
              <a:ext cx="5848350" cy="0"/>
            </a:xfrm>
            <a:custGeom>
              <a:avLst/>
              <a:gdLst/>
              <a:ahLst/>
              <a:cxnLst/>
              <a:rect l="l" t="t" r="r" b="b"/>
              <a:pathLst>
                <a:path w="5848350" h="0">
                  <a:moveTo>
                    <a:pt x="0" y="0"/>
                  </a:moveTo>
                  <a:lnTo>
                    <a:pt x="584834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49" y="3114674"/>
              <a:ext cx="209549" cy="20954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004887" y="312488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14449" y="3097212"/>
            <a:ext cx="314579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000" spc="-114" b="1">
                <a:solidFill>
                  <a:srgbClr val="293283"/>
                </a:solidFill>
                <a:latin typeface="Tahoma"/>
                <a:cs typeface="Tahoma"/>
              </a:rPr>
              <a:t>session_state</a:t>
            </a:r>
            <a:r>
              <a:rPr dirty="0" sz="10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175">
                <a:solidFill>
                  <a:srgbClr val="1B1F3A"/>
                </a:solidFill>
                <a:latin typeface="Trebuchet MS"/>
                <a:cs typeface="Trebuchet MS"/>
              </a:rPr>
              <a:t>—</a:t>
            </a:r>
            <a:r>
              <a:rPr dirty="0" sz="100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50">
                <a:solidFill>
                  <a:srgbClr val="1B1F3A"/>
                </a:solidFill>
                <a:latin typeface="Trebuchet MS"/>
                <a:cs typeface="Trebuchet MS"/>
              </a:rPr>
              <a:t>making</a:t>
            </a:r>
            <a:r>
              <a:rPr dirty="0" sz="100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60">
                <a:solidFill>
                  <a:srgbClr val="1B1F3A"/>
                </a:solidFill>
                <a:latin typeface="Trebuchet MS"/>
                <a:cs typeface="Trebuchet MS"/>
              </a:rPr>
              <a:t>variables</a:t>
            </a:r>
            <a:r>
              <a:rPr dirty="0" sz="100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55">
                <a:solidFill>
                  <a:srgbClr val="1B1F3A"/>
                </a:solidFill>
                <a:latin typeface="Trebuchet MS"/>
                <a:cs typeface="Trebuchet MS"/>
              </a:rPr>
              <a:t>persist</a:t>
            </a:r>
            <a:r>
              <a:rPr dirty="0" sz="100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45">
                <a:solidFill>
                  <a:srgbClr val="1B1F3A"/>
                </a:solidFill>
                <a:latin typeface="Trebuchet MS"/>
                <a:cs typeface="Trebuchet MS"/>
              </a:rPr>
              <a:t>across</a:t>
            </a:r>
            <a:r>
              <a:rPr dirty="0" sz="100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60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1000" spc="-4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50">
                <a:solidFill>
                  <a:srgbClr val="1B1F3A"/>
                </a:solidFill>
                <a:latin typeface="Trebuchet MS"/>
                <a:cs typeface="Trebuchet MS"/>
              </a:rPr>
              <a:t>run-</a:t>
            </a:r>
            <a:r>
              <a:rPr dirty="0" sz="1000" spc="-20">
                <a:solidFill>
                  <a:srgbClr val="1B1F3A"/>
                </a:solidFill>
                <a:latin typeface="Trebuchet MS"/>
                <a:cs typeface="Trebuchet MS"/>
              </a:rPr>
              <a:t>loop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66787" y="3514724"/>
            <a:ext cx="5857875" cy="304800"/>
            <a:chOff x="966787" y="3514724"/>
            <a:chExt cx="5857875" cy="304800"/>
          </a:xfrm>
        </p:grpSpPr>
        <p:sp>
          <p:nvSpPr>
            <p:cNvPr id="29" name="object 29"/>
            <p:cNvSpPr/>
            <p:nvPr/>
          </p:nvSpPr>
          <p:spPr>
            <a:xfrm>
              <a:off x="971550" y="3814762"/>
              <a:ext cx="5848350" cy="0"/>
            </a:xfrm>
            <a:custGeom>
              <a:avLst/>
              <a:gdLst/>
              <a:ahLst/>
              <a:cxnLst/>
              <a:rect l="l" t="t" r="r" b="b"/>
              <a:pathLst>
                <a:path w="5848350" h="0">
                  <a:moveTo>
                    <a:pt x="0" y="0"/>
                  </a:moveTo>
                  <a:lnTo>
                    <a:pt x="584834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549" y="3514724"/>
              <a:ext cx="209549" cy="20954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004887" y="352493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14449" y="3497262"/>
            <a:ext cx="307213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000" spc="-114" b="1">
                <a:solidFill>
                  <a:srgbClr val="293283"/>
                </a:solidFill>
                <a:latin typeface="Tahoma"/>
                <a:cs typeface="Tahoma"/>
              </a:rPr>
              <a:t>Layout</a:t>
            </a:r>
            <a:r>
              <a:rPr dirty="0" sz="10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5" b="1">
                <a:solidFill>
                  <a:srgbClr val="293283"/>
                </a:solidFill>
                <a:latin typeface="Tahoma"/>
                <a:cs typeface="Tahoma"/>
              </a:rPr>
              <a:t>patterns</a:t>
            </a:r>
            <a:r>
              <a:rPr dirty="0" sz="10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10" b="1">
                <a:solidFill>
                  <a:srgbClr val="293283"/>
                </a:solidFill>
                <a:latin typeface="Tahoma"/>
                <a:cs typeface="Tahoma"/>
              </a:rPr>
              <a:t>cheatsheet</a:t>
            </a:r>
            <a:r>
              <a:rPr dirty="0" sz="10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175">
                <a:solidFill>
                  <a:srgbClr val="1B1F3A"/>
                </a:solidFill>
                <a:latin typeface="Trebuchet MS"/>
                <a:cs typeface="Trebuchet MS"/>
              </a:rPr>
              <a:t>—</a:t>
            </a:r>
            <a:r>
              <a:rPr dirty="0" sz="100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45">
                <a:solidFill>
                  <a:srgbClr val="1B1F3A"/>
                </a:solidFill>
                <a:latin typeface="Trebuchet MS"/>
                <a:cs typeface="Trebuchet MS"/>
              </a:rPr>
              <a:t>when</a:t>
            </a:r>
            <a:r>
              <a:rPr dirty="0" sz="100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50">
                <a:solidFill>
                  <a:srgbClr val="1B1F3A"/>
                </a:solidFill>
                <a:latin typeface="Trebuchet MS"/>
                <a:cs typeface="Trebuchet MS"/>
              </a:rPr>
              <a:t>to</a:t>
            </a:r>
            <a:r>
              <a:rPr dirty="0" sz="100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40">
                <a:solidFill>
                  <a:srgbClr val="1B1F3A"/>
                </a:solidFill>
                <a:latin typeface="Trebuchet MS"/>
                <a:cs typeface="Trebuchet MS"/>
              </a:rPr>
              <a:t>use</a:t>
            </a:r>
            <a:r>
              <a:rPr dirty="0" sz="100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55">
                <a:solidFill>
                  <a:srgbClr val="1B1F3A"/>
                </a:solidFill>
                <a:latin typeface="Trebuchet MS"/>
                <a:cs typeface="Trebuchet MS"/>
              </a:rPr>
              <a:t>which</a:t>
            </a:r>
            <a:r>
              <a:rPr dirty="0" sz="100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1B1F3A"/>
                </a:solidFill>
                <a:latin typeface="Trebuchet MS"/>
                <a:cs typeface="Trebuchet MS"/>
              </a:rPr>
              <a:t>primitive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49" y="3914774"/>
            <a:ext cx="209549" cy="209549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004887" y="3924981"/>
            <a:ext cx="152400" cy="203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50" spc="130">
                <a:solidFill>
                  <a:srgbClr val="FF6A5B"/>
                </a:solidFill>
                <a:latin typeface="Arial MT"/>
                <a:cs typeface="Arial MT"/>
              </a:rPr>
              <a:t>"”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933699" y="3933824"/>
            <a:ext cx="590550" cy="152400"/>
          </a:xfrm>
          <a:custGeom>
            <a:avLst/>
            <a:gdLst/>
            <a:ahLst/>
            <a:cxnLst/>
            <a:rect l="l" t="t" r="r" b="b"/>
            <a:pathLst>
              <a:path w="590550" h="152400">
                <a:moveTo>
                  <a:pt x="557502" y="152399"/>
                </a:moveTo>
                <a:lnTo>
                  <a:pt x="33047" y="152399"/>
                </a:lnTo>
                <a:lnTo>
                  <a:pt x="28187" y="151432"/>
                </a:lnTo>
                <a:lnTo>
                  <a:pt x="966" y="124212"/>
                </a:lnTo>
                <a:lnTo>
                  <a:pt x="0" y="119352"/>
                </a:lnTo>
                <a:lnTo>
                  <a:pt x="0" y="1142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557502" y="0"/>
                </a:lnTo>
                <a:lnTo>
                  <a:pt x="589583" y="28187"/>
                </a:lnTo>
                <a:lnTo>
                  <a:pt x="590549" y="33047"/>
                </a:lnTo>
                <a:lnTo>
                  <a:pt x="590549" y="119352"/>
                </a:lnTo>
                <a:lnTo>
                  <a:pt x="562362" y="151432"/>
                </a:lnTo>
                <a:lnTo>
                  <a:pt x="557502" y="15239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314449" y="3897312"/>
            <a:ext cx="4208780" cy="179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000" spc="-95" b="1">
                <a:solidFill>
                  <a:srgbClr val="293283"/>
                </a:solidFill>
                <a:latin typeface="Tahoma"/>
                <a:cs typeface="Tahoma"/>
              </a:rPr>
              <a:t>Built</a:t>
            </a:r>
            <a:r>
              <a:rPr dirty="0" sz="1000" spc="-6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10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1000" spc="-6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5" b="1">
                <a:solidFill>
                  <a:srgbClr val="293283"/>
                </a:solidFill>
                <a:latin typeface="Tahoma"/>
                <a:cs typeface="Tahoma"/>
              </a:rPr>
              <a:t>personal</a:t>
            </a:r>
            <a:r>
              <a:rPr dirty="0" sz="1000" spc="-6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95" b="1">
                <a:solidFill>
                  <a:srgbClr val="293283"/>
                </a:solidFill>
                <a:latin typeface="Tahoma"/>
                <a:cs typeface="Tahoma"/>
              </a:rPr>
              <a:t>info</a:t>
            </a:r>
            <a:r>
              <a:rPr dirty="0" sz="1000" spc="-6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form</a:t>
            </a:r>
            <a:r>
              <a:rPr dirty="0" sz="1000" spc="-6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1B1F3A"/>
                </a:solidFill>
                <a:latin typeface="Trebuchet MS"/>
                <a:cs typeface="Trebuchet MS"/>
              </a:rPr>
              <a:t>with</a:t>
            </a:r>
            <a:r>
              <a:rPr dirty="0" sz="1000" spc="33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293283"/>
                </a:solidFill>
                <a:latin typeface="Courier New"/>
                <a:cs typeface="Courier New"/>
              </a:rPr>
              <a:t>st.form</a:t>
            </a:r>
            <a:r>
              <a:rPr dirty="0" sz="900" spc="9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000" spc="175">
                <a:solidFill>
                  <a:srgbClr val="1B1F3A"/>
                </a:solidFill>
                <a:latin typeface="Trebuchet MS"/>
                <a:cs typeface="Trebuchet MS"/>
              </a:rPr>
              <a:t>—</a:t>
            </a:r>
            <a:r>
              <a:rPr dirty="0" sz="1000" spc="-7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60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1000" spc="-7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55">
                <a:solidFill>
                  <a:srgbClr val="1B1F3A"/>
                </a:solidFill>
                <a:latin typeface="Trebuchet MS"/>
                <a:cs typeface="Trebuchet MS"/>
              </a:rPr>
              <a:t>Phase-</a:t>
            </a:r>
            <a:r>
              <a:rPr dirty="0" sz="1000" spc="-25">
                <a:solidFill>
                  <a:srgbClr val="1B1F3A"/>
                </a:solidFill>
                <a:latin typeface="Trebuchet MS"/>
                <a:cs typeface="Trebuchet MS"/>
              </a:rPr>
              <a:t>4</a:t>
            </a:r>
            <a:r>
              <a:rPr dirty="0" sz="1000" spc="-7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70">
                <a:solidFill>
                  <a:srgbClr val="1B1F3A"/>
                </a:solidFill>
                <a:latin typeface="Trebuchet MS"/>
                <a:cs typeface="Trebuchet MS"/>
              </a:rPr>
              <a:t>data-</a:t>
            </a:r>
            <a:r>
              <a:rPr dirty="0" sz="1000" spc="-65">
                <a:solidFill>
                  <a:srgbClr val="1B1F3A"/>
                </a:solidFill>
                <a:latin typeface="Trebuchet MS"/>
                <a:cs typeface="Trebuchet MS"/>
              </a:rPr>
              <a:t>collection</a:t>
            </a:r>
            <a:r>
              <a:rPr dirty="0" sz="1000" spc="-7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B1F3A"/>
                </a:solidFill>
                <a:latin typeface="Trebuchet MS"/>
                <a:cs typeface="Trebuchet MS"/>
              </a:rPr>
              <a:t>pattern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248524" y="1666875"/>
            <a:ext cx="4257675" cy="4657725"/>
            <a:chOff x="7248524" y="1666875"/>
            <a:chExt cx="4257675" cy="4657725"/>
          </a:xfrm>
        </p:grpSpPr>
        <p:sp>
          <p:nvSpPr>
            <p:cNvPr id="38" name="object 38"/>
            <p:cNvSpPr/>
            <p:nvPr/>
          </p:nvSpPr>
          <p:spPr>
            <a:xfrm>
              <a:off x="7267574" y="1671637"/>
              <a:ext cx="4234180" cy="4648200"/>
            </a:xfrm>
            <a:custGeom>
              <a:avLst/>
              <a:gdLst/>
              <a:ahLst/>
              <a:cxnLst/>
              <a:rect l="l" t="t" r="r" b="b"/>
              <a:pathLst>
                <a:path w="4234180" h="4648200">
                  <a:moveTo>
                    <a:pt x="4113717" y="4648199"/>
                  </a:moveTo>
                  <a:lnTo>
                    <a:pt x="106794" y="4648199"/>
                  </a:lnTo>
                  <a:lnTo>
                    <a:pt x="99361" y="4647375"/>
                  </a:lnTo>
                  <a:lnTo>
                    <a:pt x="57037" y="4631218"/>
                  </a:lnTo>
                  <a:lnTo>
                    <a:pt x="28170" y="4604566"/>
                  </a:lnTo>
                  <a:lnTo>
                    <a:pt x="5828" y="4561019"/>
                  </a:lnTo>
                  <a:lnTo>
                    <a:pt x="0" y="4528055"/>
                  </a:lnTo>
                  <a:lnTo>
                    <a:pt x="0" y="4519612"/>
                  </a:lnTo>
                  <a:lnTo>
                    <a:pt x="0" y="120144"/>
                  </a:lnTo>
                  <a:lnTo>
                    <a:pt x="11571" y="71578"/>
                  </a:lnTo>
                  <a:lnTo>
                    <a:pt x="38784" y="31691"/>
                  </a:lnTo>
                  <a:lnTo>
                    <a:pt x="77492" y="6557"/>
                  </a:lnTo>
                  <a:lnTo>
                    <a:pt x="106794" y="0"/>
                  </a:lnTo>
                  <a:lnTo>
                    <a:pt x="4113717" y="0"/>
                  </a:lnTo>
                  <a:lnTo>
                    <a:pt x="4162282" y="13019"/>
                  </a:lnTo>
                  <a:lnTo>
                    <a:pt x="4202169" y="43632"/>
                  </a:lnTo>
                  <a:lnTo>
                    <a:pt x="4227303" y="87179"/>
                  </a:lnTo>
                  <a:lnTo>
                    <a:pt x="4233861" y="120144"/>
                  </a:lnTo>
                  <a:lnTo>
                    <a:pt x="4233861" y="4528055"/>
                  </a:lnTo>
                  <a:lnTo>
                    <a:pt x="4220841" y="4576619"/>
                  </a:lnTo>
                  <a:lnTo>
                    <a:pt x="4190229" y="4616506"/>
                  </a:lnTo>
                  <a:lnTo>
                    <a:pt x="4146682" y="4641641"/>
                  </a:lnTo>
                  <a:lnTo>
                    <a:pt x="4122080" y="4647375"/>
                  </a:lnTo>
                  <a:lnTo>
                    <a:pt x="4113717" y="4648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316495" y="1666874"/>
              <a:ext cx="4189729" cy="4657725"/>
            </a:xfrm>
            <a:custGeom>
              <a:avLst/>
              <a:gdLst/>
              <a:ahLst/>
              <a:cxnLst/>
              <a:rect l="l" t="t" r="r" b="b"/>
              <a:pathLst>
                <a:path w="4189729" h="4657725">
                  <a:moveTo>
                    <a:pt x="4189692" y="133350"/>
                  </a:moveTo>
                  <a:lnTo>
                    <a:pt x="4183989" y="94703"/>
                  </a:lnTo>
                  <a:lnTo>
                    <a:pt x="4167238" y="59258"/>
                  </a:lnTo>
                  <a:lnTo>
                    <a:pt x="4151084" y="39573"/>
                  </a:lnTo>
                  <a:lnTo>
                    <a:pt x="4119270" y="15773"/>
                  </a:lnTo>
                  <a:lnTo>
                    <a:pt x="4082364" y="2540"/>
                  </a:lnTo>
                  <a:lnTo>
                    <a:pt x="4056342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4056342" y="9525"/>
                  </a:lnTo>
                  <a:lnTo>
                    <a:pt x="4103725" y="18961"/>
                  </a:lnTo>
                  <a:lnTo>
                    <a:pt x="4143908" y="45796"/>
                  </a:lnTo>
                  <a:lnTo>
                    <a:pt x="4144353" y="46304"/>
                  </a:lnTo>
                  <a:lnTo>
                    <a:pt x="4152112" y="54838"/>
                  </a:lnTo>
                  <a:lnTo>
                    <a:pt x="4174871" y="97459"/>
                  </a:lnTo>
                  <a:lnTo>
                    <a:pt x="4180167" y="133350"/>
                  </a:lnTo>
                  <a:lnTo>
                    <a:pt x="4180167" y="4524375"/>
                  </a:lnTo>
                  <a:lnTo>
                    <a:pt x="4170743" y="4571771"/>
                  </a:lnTo>
                  <a:lnTo>
                    <a:pt x="4144353" y="4611433"/>
                  </a:lnTo>
                  <a:lnTo>
                    <a:pt x="4143908" y="4611941"/>
                  </a:lnTo>
                  <a:lnTo>
                    <a:pt x="4103725" y="4638776"/>
                  </a:lnTo>
                  <a:lnTo>
                    <a:pt x="4068788" y="4647577"/>
                  </a:lnTo>
                  <a:lnTo>
                    <a:pt x="4069296" y="4647577"/>
                  </a:lnTo>
                  <a:lnTo>
                    <a:pt x="4056342" y="4648200"/>
                  </a:lnTo>
                  <a:lnTo>
                    <a:pt x="65366" y="4648200"/>
                  </a:lnTo>
                  <a:lnTo>
                    <a:pt x="55410" y="4647577"/>
                  </a:lnTo>
                  <a:lnTo>
                    <a:pt x="55803" y="4647577"/>
                  </a:lnTo>
                  <a:lnTo>
                    <a:pt x="46786" y="4645850"/>
                  </a:lnTo>
                  <a:lnTo>
                    <a:pt x="37769" y="4642904"/>
                  </a:lnTo>
                  <a:lnTo>
                    <a:pt x="28917" y="4638776"/>
                  </a:lnTo>
                  <a:lnTo>
                    <a:pt x="22542" y="4634865"/>
                  </a:lnTo>
                  <a:lnTo>
                    <a:pt x="0" y="4640504"/>
                  </a:lnTo>
                  <a:lnTo>
                    <a:pt x="39357" y="4655197"/>
                  </a:lnTo>
                  <a:lnTo>
                    <a:pt x="65366" y="4657725"/>
                  </a:lnTo>
                  <a:lnTo>
                    <a:pt x="4056342" y="4657725"/>
                  </a:lnTo>
                  <a:lnTo>
                    <a:pt x="4069486" y="4657090"/>
                  </a:lnTo>
                  <a:lnTo>
                    <a:pt x="4082364" y="4655197"/>
                  </a:lnTo>
                  <a:lnTo>
                    <a:pt x="4095000" y="4652022"/>
                  </a:lnTo>
                  <a:lnTo>
                    <a:pt x="4105630" y="4648200"/>
                  </a:lnTo>
                  <a:lnTo>
                    <a:pt x="4107383" y="4647577"/>
                  </a:lnTo>
                  <a:lnTo>
                    <a:pt x="4140898" y="4627511"/>
                  </a:lnTo>
                  <a:lnTo>
                    <a:pt x="4167238" y="4598479"/>
                  </a:lnTo>
                  <a:lnTo>
                    <a:pt x="4183989" y="4563034"/>
                  </a:lnTo>
                  <a:lnTo>
                    <a:pt x="4189692" y="4524375"/>
                  </a:lnTo>
                  <a:lnTo>
                    <a:pt x="4189692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248524" y="1683938"/>
              <a:ext cx="90805" cy="4624070"/>
            </a:xfrm>
            <a:custGeom>
              <a:avLst/>
              <a:gdLst/>
              <a:ahLst/>
              <a:cxnLst/>
              <a:rect l="l" t="t" r="r" b="b"/>
              <a:pathLst>
                <a:path w="90804" h="4624070">
                  <a:moveTo>
                    <a:pt x="68254" y="4623597"/>
                  </a:moveTo>
                  <a:lnTo>
                    <a:pt x="30217" y="4591866"/>
                  </a:lnTo>
                  <a:lnTo>
                    <a:pt x="10149" y="4558341"/>
                  </a:lnTo>
                  <a:lnTo>
                    <a:pt x="634" y="4520447"/>
                  </a:lnTo>
                  <a:lnTo>
                    <a:pt x="0" y="450731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507311"/>
                  </a:lnTo>
                  <a:lnTo>
                    <a:pt x="45350" y="4554696"/>
                  </a:lnTo>
                  <a:lnTo>
                    <a:pt x="65998" y="4594868"/>
                  </a:lnTo>
                  <a:lnTo>
                    <a:pt x="90791" y="4617963"/>
                  </a:lnTo>
                  <a:lnTo>
                    <a:pt x="68254" y="4623597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9182099" y="1885949"/>
              <a:ext cx="495300" cy="200025"/>
            </a:xfrm>
            <a:custGeom>
              <a:avLst/>
              <a:gdLst/>
              <a:ahLst/>
              <a:cxnLst/>
              <a:rect l="l" t="t" r="r" b="b"/>
              <a:pathLst>
                <a:path w="495300" h="200025">
                  <a:moveTo>
                    <a:pt x="401853" y="200024"/>
                  </a:moveTo>
                  <a:lnTo>
                    <a:pt x="93445" y="200024"/>
                  </a:lnTo>
                  <a:lnTo>
                    <a:pt x="86941" y="199384"/>
                  </a:lnTo>
                  <a:lnTo>
                    <a:pt x="49907" y="186817"/>
                  </a:lnTo>
                  <a:lnTo>
                    <a:pt x="20501" y="161036"/>
                  </a:lnTo>
                  <a:lnTo>
                    <a:pt x="3202" y="125964"/>
                  </a:lnTo>
                  <a:lnTo>
                    <a:pt x="0" y="106579"/>
                  </a:lnTo>
                  <a:lnTo>
                    <a:pt x="0" y="100012"/>
                  </a:lnTo>
                  <a:lnTo>
                    <a:pt x="0" y="93445"/>
                  </a:lnTo>
                  <a:lnTo>
                    <a:pt x="10124" y="55672"/>
                  </a:lnTo>
                  <a:lnTo>
                    <a:pt x="33935" y="24649"/>
                  </a:lnTo>
                  <a:lnTo>
                    <a:pt x="67805" y="5099"/>
                  </a:lnTo>
                  <a:lnTo>
                    <a:pt x="93445" y="0"/>
                  </a:lnTo>
                  <a:lnTo>
                    <a:pt x="401853" y="0"/>
                  </a:lnTo>
                  <a:lnTo>
                    <a:pt x="439626" y="10126"/>
                  </a:lnTo>
                  <a:lnTo>
                    <a:pt x="470649" y="33936"/>
                  </a:lnTo>
                  <a:lnTo>
                    <a:pt x="490198" y="67806"/>
                  </a:lnTo>
                  <a:lnTo>
                    <a:pt x="495299" y="93445"/>
                  </a:lnTo>
                  <a:lnTo>
                    <a:pt x="495299" y="106579"/>
                  </a:lnTo>
                  <a:lnTo>
                    <a:pt x="485172" y="144352"/>
                  </a:lnTo>
                  <a:lnTo>
                    <a:pt x="461362" y="175375"/>
                  </a:lnTo>
                  <a:lnTo>
                    <a:pt x="427492" y="194924"/>
                  </a:lnTo>
                  <a:lnTo>
                    <a:pt x="408357" y="199384"/>
                  </a:lnTo>
                  <a:lnTo>
                    <a:pt x="401853" y="200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534274" y="2219324"/>
              <a:ext cx="3714750" cy="2838450"/>
            </a:xfrm>
            <a:custGeom>
              <a:avLst/>
              <a:gdLst/>
              <a:ahLst/>
              <a:cxnLst/>
              <a:rect l="l" t="t" r="r" b="b"/>
              <a:pathLst>
                <a:path w="3714750" h="2838450">
                  <a:moveTo>
                    <a:pt x="3607953" y="2838449"/>
                  </a:moveTo>
                  <a:lnTo>
                    <a:pt x="106795" y="2838449"/>
                  </a:lnTo>
                  <a:lnTo>
                    <a:pt x="99361" y="2837717"/>
                  </a:lnTo>
                  <a:lnTo>
                    <a:pt x="57038" y="2823355"/>
                  </a:lnTo>
                  <a:lnTo>
                    <a:pt x="23432" y="2793890"/>
                  </a:lnTo>
                  <a:lnTo>
                    <a:pt x="3660" y="2753809"/>
                  </a:lnTo>
                  <a:lnTo>
                    <a:pt x="0" y="2724149"/>
                  </a:lnTo>
                  <a:lnTo>
                    <a:pt x="0" y="106794"/>
                  </a:lnTo>
                  <a:lnTo>
                    <a:pt x="11572" y="63624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3607953" y="0"/>
                  </a:lnTo>
                  <a:lnTo>
                    <a:pt x="3651122" y="11572"/>
                  </a:lnTo>
                  <a:lnTo>
                    <a:pt x="3686577" y="38784"/>
                  </a:lnTo>
                  <a:lnTo>
                    <a:pt x="3708918" y="77492"/>
                  </a:lnTo>
                  <a:lnTo>
                    <a:pt x="3714748" y="106794"/>
                  </a:lnTo>
                  <a:lnTo>
                    <a:pt x="3714748" y="2731654"/>
                  </a:lnTo>
                  <a:lnTo>
                    <a:pt x="3703175" y="2774824"/>
                  </a:lnTo>
                  <a:lnTo>
                    <a:pt x="3675962" y="2810277"/>
                  </a:lnTo>
                  <a:lnTo>
                    <a:pt x="3637255" y="2832620"/>
                  </a:lnTo>
                  <a:lnTo>
                    <a:pt x="3607953" y="283844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534274" y="5172074"/>
              <a:ext cx="3714750" cy="933450"/>
            </a:xfrm>
            <a:custGeom>
              <a:avLst/>
              <a:gdLst/>
              <a:ahLst/>
              <a:cxnLst/>
              <a:rect l="l" t="t" r="r" b="b"/>
              <a:pathLst>
                <a:path w="3714750" h="933450">
                  <a:moveTo>
                    <a:pt x="3625754" y="933449"/>
                  </a:moveTo>
                  <a:lnTo>
                    <a:pt x="88995" y="933449"/>
                  </a:lnTo>
                  <a:lnTo>
                    <a:pt x="82801" y="932839"/>
                  </a:lnTo>
                  <a:lnTo>
                    <a:pt x="37131" y="913921"/>
                  </a:lnTo>
                  <a:lnTo>
                    <a:pt x="9643" y="880427"/>
                  </a:lnTo>
                  <a:lnTo>
                    <a:pt x="0" y="8381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3625754" y="0"/>
                  </a:lnTo>
                  <a:lnTo>
                    <a:pt x="3667215" y="12577"/>
                  </a:lnTo>
                  <a:lnTo>
                    <a:pt x="3702170" y="47531"/>
                  </a:lnTo>
                  <a:lnTo>
                    <a:pt x="3714748" y="88995"/>
                  </a:lnTo>
                  <a:lnTo>
                    <a:pt x="3714748" y="844454"/>
                  </a:lnTo>
                  <a:lnTo>
                    <a:pt x="3702170" y="885916"/>
                  </a:lnTo>
                  <a:lnTo>
                    <a:pt x="3667215" y="920870"/>
                  </a:lnTo>
                  <a:lnTo>
                    <a:pt x="3625754" y="9334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2040" y="5308600"/>
              <a:ext cx="158750" cy="1397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934312" y="5476875"/>
              <a:ext cx="2171700" cy="495300"/>
            </a:xfrm>
            <a:custGeom>
              <a:avLst/>
              <a:gdLst/>
              <a:ahLst/>
              <a:cxnLst/>
              <a:rect l="l" t="t" r="r" b="b"/>
              <a:pathLst>
                <a:path w="2171700" h="495300">
                  <a:moveTo>
                    <a:pt x="1219200" y="214033"/>
                  </a:moveTo>
                  <a:lnTo>
                    <a:pt x="1191018" y="181952"/>
                  </a:lnTo>
                  <a:lnTo>
                    <a:pt x="1186154" y="180975"/>
                  </a:lnTo>
                  <a:lnTo>
                    <a:pt x="0" y="180975"/>
                  </a:lnTo>
                  <a:lnTo>
                    <a:pt x="0" y="323850"/>
                  </a:lnTo>
                  <a:lnTo>
                    <a:pt x="1186154" y="323850"/>
                  </a:lnTo>
                  <a:lnTo>
                    <a:pt x="1218234" y="295668"/>
                  </a:lnTo>
                  <a:lnTo>
                    <a:pt x="1219200" y="290804"/>
                  </a:lnTo>
                  <a:lnTo>
                    <a:pt x="1219200" y="214033"/>
                  </a:lnTo>
                  <a:close/>
                </a:path>
                <a:path w="2171700" h="495300">
                  <a:moveTo>
                    <a:pt x="1257300" y="33058"/>
                  </a:moveTo>
                  <a:lnTo>
                    <a:pt x="1229118" y="977"/>
                  </a:lnTo>
                  <a:lnTo>
                    <a:pt x="1224254" y="0"/>
                  </a:lnTo>
                  <a:lnTo>
                    <a:pt x="871258" y="0"/>
                  </a:lnTo>
                  <a:lnTo>
                    <a:pt x="839177" y="28194"/>
                  </a:lnTo>
                  <a:lnTo>
                    <a:pt x="838200" y="33058"/>
                  </a:lnTo>
                  <a:lnTo>
                    <a:pt x="838200" y="104775"/>
                  </a:lnTo>
                  <a:lnTo>
                    <a:pt x="838200" y="109829"/>
                  </a:lnTo>
                  <a:lnTo>
                    <a:pt x="866394" y="141909"/>
                  </a:lnTo>
                  <a:lnTo>
                    <a:pt x="871258" y="142875"/>
                  </a:lnTo>
                  <a:lnTo>
                    <a:pt x="1224254" y="142875"/>
                  </a:lnTo>
                  <a:lnTo>
                    <a:pt x="1256334" y="114693"/>
                  </a:lnTo>
                  <a:lnTo>
                    <a:pt x="1257300" y="109829"/>
                  </a:lnTo>
                  <a:lnTo>
                    <a:pt x="1257300" y="33058"/>
                  </a:lnTo>
                  <a:close/>
                </a:path>
                <a:path w="2171700" h="495300">
                  <a:moveTo>
                    <a:pt x="1781175" y="385483"/>
                  </a:moveTo>
                  <a:lnTo>
                    <a:pt x="1752993" y="353402"/>
                  </a:lnTo>
                  <a:lnTo>
                    <a:pt x="1748129" y="352425"/>
                  </a:lnTo>
                  <a:lnTo>
                    <a:pt x="33058" y="352425"/>
                  </a:lnTo>
                  <a:lnTo>
                    <a:pt x="977" y="380619"/>
                  </a:lnTo>
                  <a:lnTo>
                    <a:pt x="0" y="385483"/>
                  </a:lnTo>
                  <a:lnTo>
                    <a:pt x="0" y="457200"/>
                  </a:lnTo>
                  <a:lnTo>
                    <a:pt x="0" y="462254"/>
                  </a:lnTo>
                  <a:lnTo>
                    <a:pt x="28194" y="494334"/>
                  </a:lnTo>
                  <a:lnTo>
                    <a:pt x="33058" y="495300"/>
                  </a:lnTo>
                  <a:lnTo>
                    <a:pt x="1748129" y="495300"/>
                  </a:lnTo>
                  <a:lnTo>
                    <a:pt x="1780209" y="467118"/>
                  </a:lnTo>
                  <a:lnTo>
                    <a:pt x="1781175" y="462254"/>
                  </a:lnTo>
                  <a:lnTo>
                    <a:pt x="1781175" y="385483"/>
                  </a:lnTo>
                  <a:close/>
                </a:path>
                <a:path w="2171700" h="495300">
                  <a:moveTo>
                    <a:pt x="2171700" y="0"/>
                  </a:moveTo>
                  <a:lnTo>
                    <a:pt x="1776133" y="0"/>
                  </a:lnTo>
                  <a:lnTo>
                    <a:pt x="1771269" y="977"/>
                  </a:lnTo>
                  <a:lnTo>
                    <a:pt x="1744040" y="28194"/>
                  </a:lnTo>
                  <a:lnTo>
                    <a:pt x="1743075" y="33058"/>
                  </a:lnTo>
                  <a:lnTo>
                    <a:pt x="1743075" y="109829"/>
                  </a:lnTo>
                  <a:lnTo>
                    <a:pt x="1771269" y="141909"/>
                  </a:lnTo>
                  <a:lnTo>
                    <a:pt x="1776120" y="142875"/>
                  </a:lnTo>
                  <a:lnTo>
                    <a:pt x="2171700" y="142875"/>
                  </a:lnTo>
                  <a:lnTo>
                    <a:pt x="2171700" y="0"/>
                  </a:lnTo>
                  <a:close/>
                </a:path>
              </a:pathLst>
            </a:custGeom>
            <a:solidFill>
              <a:srgbClr val="FF6A5B">
                <a:alpha val="1803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7316498" y="1901825"/>
            <a:ext cx="4144010" cy="406907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15265">
              <a:lnSpc>
                <a:spcPct val="100000"/>
              </a:lnSpc>
              <a:spcBef>
                <a:spcPts val="125"/>
              </a:spcBef>
              <a:tabLst>
                <a:tab pos="1949450" algn="l"/>
              </a:tabLst>
            </a:pPr>
            <a:r>
              <a:rPr dirty="0" baseline="3472" sz="1200" spc="-165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57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baseline="3472" sz="1200" spc="-15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65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Tahoma"/>
                <a:cs typeface="Tahoma"/>
              </a:rPr>
              <a:t>K</a:t>
            </a:r>
            <a:r>
              <a:rPr dirty="0" baseline="3472" sz="1200" spc="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79" b="1">
                <a:solidFill>
                  <a:srgbClr val="797E94"/>
                </a:solidFill>
                <a:latin typeface="Tahoma"/>
                <a:cs typeface="Tahoma"/>
              </a:rPr>
              <a:t>Y </a:t>
            </a:r>
            <a:r>
              <a:rPr dirty="0" baseline="3472" sz="1200" spc="-97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89" b="1">
                <a:solidFill>
                  <a:srgbClr val="797E94"/>
                </a:solidFill>
                <a:latin typeface="Tahoma"/>
                <a:cs typeface="Tahoma"/>
              </a:rPr>
              <a:t>U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baseline="3472" sz="1200" spc="322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87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82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42" b="1">
                <a:solidFill>
                  <a:srgbClr val="797E94"/>
                </a:solidFill>
                <a:latin typeface="Tahoma"/>
                <a:cs typeface="Tahoma"/>
              </a:rPr>
              <a:t>P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T</a:t>
            </a:r>
            <a:r>
              <a:rPr dirty="0" baseline="3472" sz="1200" spc="-16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97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b="1">
                <a:solidFill>
                  <a:srgbClr val="797E94"/>
                </a:solidFill>
                <a:latin typeface="Tahoma"/>
                <a:cs typeface="Tahoma"/>
              </a:rPr>
              <a:t>P</a:t>
            </a:r>
            <a:r>
              <a:rPr dirty="0" baseline="3472" sz="1200" spc="322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12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baseline="3472" sz="1200" spc="-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97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baseline="3472" sz="1200" spc="-15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baseline="3472" sz="1200" spc="-75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baseline="3472" sz="1200" b="1">
                <a:solidFill>
                  <a:srgbClr val="797E94"/>
                </a:solidFill>
                <a:latin typeface="Tahoma"/>
                <a:cs typeface="Tahoma"/>
              </a:rPr>
              <a:t>	</a:t>
            </a:r>
            <a:r>
              <a:rPr dirty="0" sz="750" spc="-10" b="1">
                <a:solidFill>
                  <a:srgbClr val="FF6A5B"/>
                </a:solidFill>
                <a:latin typeface="Tahoma"/>
                <a:cs typeface="Tahoma"/>
              </a:rPr>
              <a:t>VERIFY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800">
              <a:latin typeface="Tahoma"/>
              <a:cs typeface="Tahoma"/>
            </a:endParaRPr>
          </a:p>
          <a:p>
            <a:pPr marL="367665">
              <a:lnSpc>
                <a:spcPct val="100000"/>
              </a:lnSpc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You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should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have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Day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5's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form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files:</a:t>
            </a:r>
            <a:endParaRPr sz="900">
              <a:latin typeface="Courier New"/>
              <a:cs typeface="Courier New"/>
            </a:endParaRPr>
          </a:p>
          <a:p>
            <a:pPr marL="367665" marR="2479040">
              <a:lnSpc>
                <a:spcPts val="1500"/>
              </a:lnSpc>
              <a:spcBef>
                <a:spcPts val="45"/>
              </a:spcBef>
            </a:pP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900" spc="-3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ls</a:t>
            </a:r>
            <a:r>
              <a:rPr dirty="0" sz="900" spc="-2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E7E9F5"/>
                </a:solidFill>
                <a:latin typeface="Courier New"/>
                <a:cs typeface="Courier New"/>
              </a:rPr>
              <a:t>day5/ 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10_form_solution.py 11_form_extended.py</a:t>
            </a:r>
            <a:endParaRPr sz="90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300"/>
              </a:spcBef>
            </a:pP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900">
              <a:latin typeface="Courier New"/>
              <a:cs typeface="Courier New"/>
            </a:endParaRPr>
          </a:p>
          <a:p>
            <a:pPr algn="just" marL="367665">
              <a:lnSpc>
                <a:spcPct val="100000"/>
              </a:lnSpc>
              <a:spcBef>
                <a:spcPts val="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Run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form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should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open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in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browser:</a:t>
            </a:r>
            <a:endParaRPr sz="900">
              <a:latin typeface="Courier New"/>
              <a:cs typeface="Courier New"/>
            </a:endParaRPr>
          </a:p>
          <a:p>
            <a:pPr algn="just" marL="367665" marR="1394460">
              <a:lnSpc>
                <a:spcPct val="138900"/>
              </a:lnSpc>
            </a:pP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900" spc="-5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streamlit</a:t>
            </a:r>
            <a:r>
              <a:rPr dirty="0" sz="900" spc="-5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run</a:t>
            </a:r>
            <a:r>
              <a:rPr dirty="0" sz="900" spc="-4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10_form_solution.py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Browser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opens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at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localhost:8501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Fill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form,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click</a:t>
            </a:r>
            <a:r>
              <a:rPr dirty="0" sz="9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Submit</a:t>
            </a:r>
            <a:endParaRPr sz="900">
              <a:latin typeface="Courier New"/>
              <a:cs typeface="Courier New"/>
            </a:endParaRPr>
          </a:p>
          <a:p>
            <a:pPr algn="just" marL="367665">
              <a:lnSpc>
                <a:spcPct val="100000"/>
              </a:lnSpc>
              <a:spcBef>
                <a:spcPts val="420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Success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message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+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summary</a:t>
            </a:r>
            <a:r>
              <a:rPr dirty="0" sz="9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appears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900">
              <a:latin typeface="Courier New"/>
              <a:cs typeface="Courier New"/>
            </a:endParaRPr>
          </a:p>
          <a:p>
            <a:pPr marL="615315" marR="505459">
              <a:lnSpc>
                <a:spcPct val="125000"/>
              </a:lnSpc>
            </a:pP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IF</a:t>
            </a:r>
            <a:r>
              <a:rPr dirty="0" sz="900" spc="-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THE</a:t>
            </a:r>
            <a:r>
              <a:rPr dirty="0" sz="900" spc="-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Tahoma"/>
                <a:cs typeface="Tahoma"/>
              </a:rPr>
              <a:t>FORM</a:t>
            </a:r>
            <a:r>
              <a:rPr dirty="0" sz="900" spc="-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DOESN’T</a:t>
            </a:r>
            <a:r>
              <a:rPr dirty="0" sz="900" spc="-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RUN</a:t>
            </a:r>
            <a:r>
              <a:rPr dirty="0" sz="900" spc="-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185">
                <a:solidFill>
                  <a:srgbClr val="1B1F3A"/>
                </a:solidFill>
                <a:latin typeface="Trebuchet MS"/>
                <a:cs typeface="Trebuchet MS"/>
              </a:rPr>
              <a:t>—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 raise </a:t>
            </a:r>
            <a:r>
              <a:rPr dirty="0" sz="900" spc="-30">
                <a:solidFill>
                  <a:srgbClr val="1B1F3A"/>
                </a:solidFill>
                <a:latin typeface="Trebuchet MS"/>
                <a:cs typeface="Trebuchet MS"/>
              </a:rPr>
              <a:t>your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hand.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rebuchet MS"/>
                <a:cs typeface="Trebuchet MS"/>
              </a:rPr>
              <a:t>Common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rebuchet MS"/>
                <a:cs typeface="Trebuchet MS"/>
              </a:rPr>
              <a:t>issue: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forgot</a:t>
            </a:r>
            <a:r>
              <a:rPr dirty="0" sz="900" spc="-7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to</a:t>
            </a:r>
            <a:r>
              <a:rPr dirty="0" sz="900" spc="-7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rebuchet MS"/>
                <a:cs typeface="Trebuchet MS"/>
              </a:rPr>
              <a:t>activate</a:t>
            </a:r>
            <a:r>
              <a:rPr dirty="0" sz="900" spc="2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FF6A5B"/>
                </a:solidFill>
                <a:latin typeface="Courier New"/>
                <a:cs typeface="Courier New"/>
              </a:rPr>
              <a:t>.venv</a:t>
            </a:r>
            <a:r>
              <a:rPr dirty="0" sz="850" spc="45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first.</a:t>
            </a:r>
            <a:r>
              <a:rPr dirty="0" sz="900" spc="-7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1B1F3A"/>
                </a:solidFill>
                <a:latin typeface="Trebuchet MS"/>
                <a:cs typeface="Trebuchet MS"/>
              </a:rPr>
              <a:t>Run</a:t>
            </a:r>
            <a:r>
              <a:rPr dirty="0" sz="900" spc="28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FF6A5B"/>
                </a:solidFill>
                <a:latin typeface="Courier New"/>
                <a:cs typeface="Courier New"/>
              </a:rPr>
              <a:t>source</a:t>
            </a:r>
            <a:endParaRPr sz="850">
              <a:latin typeface="Courier New"/>
              <a:cs typeface="Courier New"/>
            </a:endParaRPr>
          </a:p>
          <a:p>
            <a:pPr marL="615315">
              <a:lnSpc>
                <a:spcPct val="100000"/>
              </a:lnSpc>
              <a:spcBef>
                <a:spcPts val="345"/>
              </a:spcBef>
            </a:pPr>
            <a:r>
              <a:rPr dirty="0" sz="850">
                <a:solidFill>
                  <a:srgbClr val="FF6A5B"/>
                </a:solidFill>
                <a:latin typeface="Courier New"/>
                <a:cs typeface="Courier New"/>
              </a:rPr>
              <a:t>.venv/bin/activate</a:t>
            </a:r>
            <a:r>
              <a:rPr dirty="0" sz="850" spc="-65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(macOS)</a:t>
            </a:r>
            <a:r>
              <a:rPr dirty="0" sz="900" spc="-7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rebuchet MS"/>
                <a:cs typeface="Trebuchet MS"/>
              </a:rPr>
              <a:t>or</a:t>
            </a:r>
            <a:endParaRPr sz="900">
              <a:latin typeface="Trebuchet MS"/>
              <a:cs typeface="Trebuchet MS"/>
            </a:endParaRPr>
          </a:p>
          <a:p>
            <a:pPr marL="662940">
              <a:lnSpc>
                <a:spcPct val="100000"/>
              </a:lnSpc>
              <a:spcBef>
                <a:spcPts val="270"/>
              </a:spcBef>
            </a:pPr>
            <a:r>
              <a:rPr dirty="0" sz="850" spc="-10">
                <a:solidFill>
                  <a:srgbClr val="FF6A5B"/>
                </a:solidFill>
                <a:latin typeface="Courier New"/>
                <a:cs typeface="Courier New"/>
              </a:rPr>
              <a:t>.venv\Scripts\Activate.ps1</a:t>
            </a:r>
            <a:r>
              <a:rPr dirty="0" sz="850" spc="135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rebuchet MS"/>
                <a:cs typeface="Trebuchet MS"/>
              </a:rPr>
              <a:t>(Windows),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rebuchet MS"/>
                <a:cs typeface="Trebuchet MS"/>
              </a:rPr>
              <a:t>then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rebuchet MS"/>
                <a:cs typeface="Trebuchet MS"/>
              </a:rPr>
              <a:t>retry.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0</a:t>
            </a:r>
            <a:r>
              <a:rPr dirty="0" spc="-110"/>
              <a:t> </a:t>
            </a:r>
            <a:fld id="{81D60167-4931-47E6-BA6A-407CBD079E47}" type="slidenum">
              <a:rPr dirty="0"/>
              <a:t>2</a:t>
            </a:fld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87375"/>
            <a:ext cx="159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W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sz="900" spc="22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45" b="1">
                <a:solidFill>
                  <a:srgbClr val="FF6A5B"/>
                </a:solidFill>
                <a:latin typeface="Tahoma"/>
                <a:cs typeface="Tahoma"/>
              </a:rPr>
              <a:t>PA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099" y="674460"/>
            <a:ext cx="9963150" cy="708025"/>
          </a:xfrm>
          <a:prstGeom prst="rect"/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250" spc="-270">
                <a:solidFill>
                  <a:srgbClr val="293283"/>
                </a:solidFill>
              </a:rPr>
              <a:t>pandas</a:t>
            </a:r>
            <a:r>
              <a:rPr dirty="0" sz="2250" spc="-195">
                <a:solidFill>
                  <a:srgbClr val="293283"/>
                </a:solidFill>
              </a:rPr>
              <a:t> </a:t>
            </a:r>
            <a:r>
              <a:rPr dirty="0" sz="2250" spc="-225">
                <a:solidFill>
                  <a:srgbClr val="293283"/>
                </a:solidFill>
              </a:rPr>
              <a:t>is</a:t>
            </a:r>
            <a:r>
              <a:rPr dirty="0" sz="2250" spc="-190">
                <a:solidFill>
                  <a:srgbClr val="293283"/>
                </a:solidFill>
              </a:rPr>
              <a:t> </a:t>
            </a:r>
            <a:r>
              <a:rPr dirty="0" sz="2250" spc="-250">
                <a:solidFill>
                  <a:srgbClr val="293283"/>
                </a:solidFill>
              </a:rPr>
              <a:t>a</a:t>
            </a:r>
            <a:r>
              <a:rPr dirty="0" sz="2250" spc="-195">
                <a:solidFill>
                  <a:srgbClr val="293283"/>
                </a:solidFill>
              </a:rPr>
              <a:t> </a:t>
            </a:r>
            <a:r>
              <a:rPr dirty="0" sz="2250" spc="-260">
                <a:solidFill>
                  <a:srgbClr val="293283"/>
                </a:solidFill>
              </a:rPr>
              <a:t>spreadsheet</a:t>
            </a:r>
            <a:r>
              <a:rPr dirty="0" sz="2250" spc="-190">
                <a:solidFill>
                  <a:srgbClr val="293283"/>
                </a:solidFill>
              </a:rPr>
              <a:t> </a:t>
            </a:r>
            <a:r>
              <a:rPr dirty="0" sz="2250" spc="-260">
                <a:solidFill>
                  <a:srgbClr val="293283"/>
                </a:solidFill>
              </a:rPr>
              <a:t>you</a:t>
            </a:r>
            <a:r>
              <a:rPr dirty="0" sz="2250" spc="-195">
                <a:solidFill>
                  <a:srgbClr val="293283"/>
                </a:solidFill>
              </a:rPr>
              <a:t> </a:t>
            </a:r>
            <a:r>
              <a:rPr dirty="0" sz="2250" spc="-235">
                <a:solidFill>
                  <a:srgbClr val="293283"/>
                </a:solidFill>
              </a:rPr>
              <a:t>control</a:t>
            </a:r>
            <a:r>
              <a:rPr dirty="0" sz="2250" spc="-190">
                <a:solidFill>
                  <a:srgbClr val="293283"/>
                </a:solidFill>
              </a:rPr>
              <a:t> </a:t>
            </a:r>
            <a:r>
              <a:rPr dirty="0" sz="2250" spc="-250">
                <a:solidFill>
                  <a:srgbClr val="293283"/>
                </a:solidFill>
              </a:rPr>
              <a:t>with</a:t>
            </a:r>
            <a:r>
              <a:rPr dirty="0" sz="2250" spc="-195">
                <a:solidFill>
                  <a:srgbClr val="293283"/>
                </a:solidFill>
              </a:rPr>
              <a:t> </a:t>
            </a:r>
            <a:r>
              <a:rPr dirty="0" sz="2250" spc="-10">
                <a:solidFill>
                  <a:srgbClr val="293283"/>
                </a:solidFill>
              </a:rPr>
              <a:t>code.</a:t>
            </a:r>
            <a:endParaRPr sz="2250"/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050" spc="-75" b="0">
                <a:solidFill>
                  <a:srgbClr val="4A4E6A"/>
                </a:solidFill>
                <a:latin typeface="Trebuchet MS"/>
                <a:cs typeface="Trebuchet MS"/>
              </a:rPr>
              <a:t>You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 b="0">
                <a:solidFill>
                  <a:srgbClr val="4A4E6A"/>
                </a:solidFill>
                <a:latin typeface="Trebuchet MS"/>
                <a:cs typeface="Trebuchet MS"/>
              </a:rPr>
              <a:t>already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50" b="0">
                <a:solidFill>
                  <a:srgbClr val="4A4E6A"/>
                </a:solidFill>
                <a:latin typeface="Trebuchet MS"/>
                <a:cs typeface="Trebuchet MS"/>
              </a:rPr>
              <a:t>know </a:t>
            </a:r>
            <a:r>
              <a:rPr dirty="0" sz="1050" spc="-60" b="0">
                <a:solidFill>
                  <a:srgbClr val="4A4E6A"/>
                </a:solidFill>
                <a:latin typeface="Trebuchet MS"/>
                <a:cs typeface="Trebuchet MS"/>
              </a:rPr>
              <a:t>spreadsheets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170" b="0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10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 b="0">
                <a:solidFill>
                  <a:srgbClr val="4A4E6A"/>
                </a:solidFill>
                <a:latin typeface="Trebuchet MS"/>
                <a:cs typeface="Trebuchet MS"/>
              </a:rPr>
              <a:t>rows,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 b="0">
                <a:solidFill>
                  <a:srgbClr val="4A4E6A"/>
                </a:solidFill>
                <a:latin typeface="Trebuchet MS"/>
                <a:cs typeface="Trebuchet MS"/>
              </a:rPr>
              <a:t>columns,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85" b="0">
                <a:solidFill>
                  <a:srgbClr val="4A4E6A"/>
                </a:solidFill>
                <a:latin typeface="Trebuchet MS"/>
                <a:cs typeface="Trebuchet MS"/>
              </a:rPr>
              <a:t>filters,</a:t>
            </a:r>
            <a:r>
              <a:rPr dirty="0" sz="10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5" b="0">
                <a:solidFill>
                  <a:srgbClr val="4A4E6A"/>
                </a:solidFill>
                <a:latin typeface="Trebuchet MS"/>
                <a:cs typeface="Trebuchet MS"/>
              </a:rPr>
              <a:t>sorts.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pandas</a:t>
            </a:r>
            <a:r>
              <a:rPr dirty="0" sz="10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0" b="0">
                <a:solidFill>
                  <a:srgbClr val="4A4E6A"/>
                </a:solidFill>
                <a:latin typeface="Trebuchet MS"/>
                <a:cs typeface="Trebuchet MS"/>
              </a:rPr>
              <a:t>gives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45" b="0">
                <a:solidFill>
                  <a:srgbClr val="4A4E6A"/>
                </a:solidFill>
                <a:latin typeface="Trebuchet MS"/>
                <a:cs typeface="Trebuchet MS"/>
              </a:rPr>
              <a:t>you</a:t>
            </a:r>
            <a:r>
              <a:rPr dirty="0" sz="10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5" b="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same </a:t>
            </a:r>
            <a:r>
              <a:rPr dirty="0" sz="1050" spc="-65" b="0">
                <a:solidFill>
                  <a:srgbClr val="4A4E6A"/>
                </a:solidFill>
                <a:latin typeface="Trebuchet MS"/>
                <a:cs typeface="Trebuchet MS"/>
              </a:rPr>
              <a:t>operations,</a:t>
            </a:r>
            <a:r>
              <a:rPr dirty="0" sz="10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0" b="0">
                <a:solidFill>
                  <a:srgbClr val="4A4E6A"/>
                </a:solidFill>
                <a:latin typeface="Trebuchet MS"/>
                <a:cs typeface="Trebuchet MS"/>
              </a:rPr>
              <a:t>but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45" b="0">
                <a:solidFill>
                  <a:srgbClr val="4A4E6A"/>
                </a:solidFill>
                <a:latin typeface="Trebuchet MS"/>
                <a:cs typeface="Trebuchet MS"/>
              </a:rPr>
              <a:t>as</a:t>
            </a:r>
            <a:r>
              <a:rPr dirty="0" sz="1050" spc="-50" b="0">
                <a:solidFill>
                  <a:srgbClr val="4A4E6A"/>
                </a:solidFill>
                <a:latin typeface="Trebuchet MS"/>
                <a:cs typeface="Trebuchet MS"/>
              </a:rPr>
              <a:t> Python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80" b="0">
                <a:solidFill>
                  <a:srgbClr val="4A4E6A"/>
                </a:solidFill>
                <a:latin typeface="Trebuchet MS"/>
                <a:cs typeface="Trebuchet MS"/>
              </a:rPr>
              <a:t>code.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80" b="0">
                <a:solidFill>
                  <a:srgbClr val="4A4E6A"/>
                </a:solidFill>
                <a:latin typeface="Trebuchet MS"/>
                <a:cs typeface="Trebuchet MS"/>
              </a:rPr>
              <a:t>Repeatable,</a:t>
            </a:r>
            <a:r>
              <a:rPr dirty="0" sz="10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80" b="0">
                <a:solidFill>
                  <a:srgbClr val="4A4E6A"/>
                </a:solidFill>
                <a:latin typeface="Trebuchet MS"/>
                <a:cs typeface="Trebuchet MS"/>
              </a:rPr>
              <a:t>scriptable,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and</a:t>
            </a:r>
            <a:r>
              <a:rPr dirty="0" sz="10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 b="0">
                <a:solidFill>
                  <a:srgbClr val="4A4E6A"/>
                </a:solidFill>
                <a:latin typeface="Trebuchet MS"/>
                <a:cs typeface="Trebuchet MS"/>
              </a:rPr>
              <a:t>able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to</a:t>
            </a:r>
            <a:r>
              <a:rPr dirty="0" sz="10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0" b="0">
                <a:solidFill>
                  <a:srgbClr val="4A4E6A"/>
                </a:solidFill>
                <a:latin typeface="Trebuchet MS"/>
                <a:cs typeface="Trebuchet MS"/>
              </a:rPr>
              <a:t>handle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 b="0">
                <a:solidFill>
                  <a:srgbClr val="4A4E6A"/>
                </a:solidFill>
                <a:latin typeface="Trebuchet MS"/>
                <a:cs typeface="Trebuchet MS"/>
              </a:rPr>
              <a:t>files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85" b="0">
                <a:solidFill>
                  <a:srgbClr val="4A4E6A"/>
                </a:solidFill>
                <a:latin typeface="Trebuchet MS"/>
                <a:cs typeface="Trebuchet MS"/>
              </a:rPr>
              <a:t>Excel</a:t>
            </a:r>
            <a:r>
              <a:rPr dirty="0" sz="10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5" b="0">
                <a:solidFill>
                  <a:srgbClr val="4A4E6A"/>
                </a:solidFill>
                <a:latin typeface="Trebuchet MS"/>
                <a:cs typeface="Trebuchet MS"/>
              </a:rPr>
              <a:t>chokes</a:t>
            </a:r>
            <a:r>
              <a:rPr dirty="0" sz="1050" spc="-5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25" b="0">
                <a:solidFill>
                  <a:srgbClr val="4A4E6A"/>
                </a:solidFill>
                <a:latin typeface="Trebuchet MS"/>
                <a:cs typeface="Trebuchet MS"/>
              </a:rPr>
              <a:t>on.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5799" y="1514474"/>
            <a:ext cx="5334000" cy="4238625"/>
            <a:chOff x="685799" y="1514474"/>
            <a:chExt cx="5334000" cy="4238625"/>
          </a:xfrm>
        </p:grpSpPr>
        <p:sp>
          <p:nvSpPr>
            <p:cNvPr id="5" name="object 5"/>
            <p:cNvSpPr/>
            <p:nvPr/>
          </p:nvSpPr>
          <p:spPr>
            <a:xfrm>
              <a:off x="704849" y="1519237"/>
              <a:ext cx="5310505" cy="4229100"/>
            </a:xfrm>
            <a:custGeom>
              <a:avLst/>
              <a:gdLst/>
              <a:ahLst/>
              <a:cxnLst/>
              <a:rect l="l" t="t" r="r" b="b"/>
              <a:pathLst>
                <a:path w="5310505" h="4229100">
                  <a:moveTo>
                    <a:pt x="5190042" y="4229099"/>
                  </a:moveTo>
                  <a:lnTo>
                    <a:pt x="106794" y="4229099"/>
                  </a:lnTo>
                  <a:lnTo>
                    <a:pt x="99362" y="4228275"/>
                  </a:lnTo>
                  <a:lnTo>
                    <a:pt x="57038" y="4212118"/>
                  </a:lnTo>
                  <a:lnTo>
                    <a:pt x="28170" y="4185466"/>
                  </a:lnTo>
                  <a:lnTo>
                    <a:pt x="5828" y="4141919"/>
                  </a:lnTo>
                  <a:lnTo>
                    <a:pt x="0" y="4108955"/>
                  </a:lnTo>
                  <a:lnTo>
                    <a:pt x="0" y="4100512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2"/>
                  </a:lnTo>
                  <a:lnTo>
                    <a:pt x="77493" y="6557"/>
                  </a:lnTo>
                  <a:lnTo>
                    <a:pt x="106794" y="0"/>
                  </a:lnTo>
                  <a:lnTo>
                    <a:pt x="5190042" y="0"/>
                  </a:lnTo>
                  <a:lnTo>
                    <a:pt x="5238607" y="13019"/>
                  </a:lnTo>
                  <a:lnTo>
                    <a:pt x="5278494" y="43632"/>
                  </a:lnTo>
                  <a:lnTo>
                    <a:pt x="5303629" y="87179"/>
                  </a:lnTo>
                  <a:lnTo>
                    <a:pt x="5310186" y="120144"/>
                  </a:lnTo>
                  <a:lnTo>
                    <a:pt x="5310186" y="4108955"/>
                  </a:lnTo>
                  <a:lnTo>
                    <a:pt x="5297167" y="4157519"/>
                  </a:lnTo>
                  <a:lnTo>
                    <a:pt x="5266554" y="4197406"/>
                  </a:lnTo>
                  <a:lnTo>
                    <a:pt x="5223006" y="4222541"/>
                  </a:lnTo>
                  <a:lnTo>
                    <a:pt x="5198405" y="4228275"/>
                  </a:lnTo>
                  <a:lnTo>
                    <a:pt x="5190042" y="4229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53770" y="1514474"/>
              <a:ext cx="5266055" cy="4238625"/>
            </a:xfrm>
            <a:custGeom>
              <a:avLst/>
              <a:gdLst/>
              <a:ahLst/>
              <a:cxnLst/>
              <a:rect l="l" t="t" r="r" b="b"/>
              <a:pathLst>
                <a:path w="5266055" h="4238625">
                  <a:moveTo>
                    <a:pt x="5266017" y="133350"/>
                  </a:moveTo>
                  <a:lnTo>
                    <a:pt x="5260314" y="94703"/>
                  </a:lnTo>
                  <a:lnTo>
                    <a:pt x="5243563" y="59258"/>
                  </a:lnTo>
                  <a:lnTo>
                    <a:pt x="5227409" y="39573"/>
                  </a:lnTo>
                  <a:lnTo>
                    <a:pt x="5195595" y="15773"/>
                  </a:lnTo>
                  <a:lnTo>
                    <a:pt x="5158689" y="2540"/>
                  </a:lnTo>
                  <a:lnTo>
                    <a:pt x="51326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32667" y="9525"/>
                  </a:lnTo>
                  <a:lnTo>
                    <a:pt x="5180063" y="18961"/>
                  </a:lnTo>
                  <a:lnTo>
                    <a:pt x="5220233" y="45796"/>
                  </a:lnTo>
                  <a:lnTo>
                    <a:pt x="5220678" y="46304"/>
                  </a:lnTo>
                  <a:lnTo>
                    <a:pt x="5228437" y="54838"/>
                  </a:lnTo>
                  <a:lnTo>
                    <a:pt x="5251196" y="97459"/>
                  </a:lnTo>
                  <a:lnTo>
                    <a:pt x="5256492" y="133350"/>
                  </a:lnTo>
                  <a:lnTo>
                    <a:pt x="5256492" y="4105275"/>
                  </a:lnTo>
                  <a:lnTo>
                    <a:pt x="5247068" y="4152671"/>
                  </a:lnTo>
                  <a:lnTo>
                    <a:pt x="5220678" y="4192333"/>
                  </a:lnTo>
                  <a:lnTo>
                    <a:pt x="5220233" y="4192841"/>
                  </a:lnTo>
                  <a:lnTo>
                    <a:pt x="5180063" y="4219676"/>
                  </a:lnTo>
                  <a:lnTo>
                    <a:pt x="5145125" y="4228477"/>
                  </a:lnTo>
                  <a:lnTo>
                    <a:pt x="5145633" y="4228477"/>
                  </a:lnTo>
                  <a:lnTo>
                    <a:pt x="5132667" y="4229100"/>
                  </a:lnTo>
                  <a:lnTo>
                    <a:pt x="65366" y="4229100"/>
                  </a:lnTo>
                  <a:lnTo>
                    <a:pt x="55410" y="4228477"/>
                  </a:lnTo>
                  <a:lnTo>
                    <a:pt x="55803" y="4228477"/>
                  </a:lnTo>
                  <a:lnTo>
                    <a:pt x="46786" y="4226750"/>
                  </a:lnTo>
                  <a:lnTo>
                    <a:pt x="37769" y="4223804"/>
                  </a:lnTo>
                  <a:lnTo>
                    <a:pt x="28917" y="4219676"/>
                  </a:lnTo>
                  <a:lnTo>
                    <a:pt x="22542" y="4215765"/>
                  </a:lnTo>
                  <a:lnTo>
                    <a:pt x="0" y="4221404"/>
                  </a:lnTo>
                  <a:lnTo>
                    <a:pt x="39357" y="4236097"/>
                  </a:lnTo>
                  <a:lnTo>
                    <a:pt x="65366" y="4238625"/>
                  </a:lnTo>
                  <a:lnTo>
                    <a:pt x="5132667" y="4238625"/>
                  </a:lnTo>
                  <a:lnTo>
                    <a:pt x="5145811" y="4238002"/>
                  </a:lnTo>
                  <a:lnTo>
                    <a:pt x="5158689" y="4236097"/>
                  </a:lnTo>
                  <a:lnTo>
                    <a:pt x="5171325" y="4232922"/>
                  </a:lnTo>
                  <a:lnTo>
                    <a:pt x="5181955" y="4229100"/>
                  </a:lnTo>
                  <a:lnTo>
                    <a:pt x="5183708" y="4228477"/>
                  </a:lnTo>
                  <a:lnTo>
                    <a:pt x="5217223" y="4208411"/>
                  </a:lnTo>
                  <a:lnTo>
                    <a:pt x="5243563" y="4179379"/>
                  </a:lnTo>
                  <a:lnTo>
                    <a:pt x="5260314" y="4143933"/>
                  </a:lnTo>
                  <a:lnTo>
                    <a:pt x="5266017" y="4105275"/>
                  </a:lnTo>
                  <a:lnTo>
                    <a:pt x="52660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799" y="1531538"/>
              <a:ext cx="90805" cy="4204970"/>
            </a:xfrm>
            <a:custGeom>
              <a:avLst/>
              <a:gdLst/>
              <a:ahLst/>
              <a:cxnLst/>
              <a:rect l="l" t="t" r="r" b="b"/>
              <a:pathLst>
                <a:path w="90804" h="4204970">
                  <a:moveTo>
                    <a:pt x="68254" y="4204497"/>
                  </a:moveTo>
                  <a:lnTo>
                    <a:pt x="30217" y="4172766"/>
                  </a:lnTo>
                  <a:lnTo>
                    <a:pt x="10150" y="4139241"/>
                  </a:lnTo>
                  <a:lnTo>
                    <a:pt x="634" y="4101347"/>
                  </a:lnTo>
                  <a:lnTo>
                    <a:pt x="0" y="408821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088211"/>
                  </a:lnTo>
                  <a:lnTo>
                    <a:pt x="45350" y="4135596"/>
                  </a:lnTo>
                  <a:lnTo>
                    <a:pt x="65998" y="4175768"/>
                  </a:lnTo>
                  <a:lnTo>
                    <a:pt x="90792" y="4198862"/>
                  </a:lnTo>
                  <a:lnTo>
                    <a:pt x="68254" y="4204497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14474" y="1676399"/>
              <a:ext cx="1000125" cy="200025"/>
            </a:xfrm>
            <a:custGeom>
              <a:avLst/>
              <a:gdLst/>
              <a:ahLst/>
              <a:cxnLst/>
              <a:rect l="l" t="t" r="r" b="b"/>
              <a:pathLst>
                <a:path w="1000125" h="200025">
                  <a:moveTo>
                    <a:pt x="906679" y="200024"/>
                  </a:moveTo>
                  <a:lnTo>
                    <a:pt x="93445" y="200024"/>
                  </a:lnTo>
                  <a:lnTo>
                    <a:pt x="86941" y="199384"/>
                  </a:lnTo>
                  <a:lnTo>
                    <a:pt x="49908" y="186818"/>
                  </a:lnTo>
                  <a:lnTo>
                    <a:pt x="20503" y="161036"/>
                  </a:lnTo>
                  <a:lnTo>
                    <a:pt x="3202" y="125964"/>
                  </a:lnTo>
                  <a:lnTo>
                    <a:pt x="0" y="106579"/>
                  </a:lnTo>
                  <a:lnTo>
                    <a:pt x="0" y="100012"/>
                  </a:lnTo>
                  <a:lnTo>
                    <a:pt x="0" y="93445"/>
                  </a:lnTo>
                  <a:lnTo>
                    <a:pt x="10125" y="55672"/>
                  </a:lnTo>
                  <a:lnTo>
                    <a:pt x="33936" y="24649"/>
                  </a:lnTo>
                  <a:lnTo>
                    <a:pt x="67806" y="5099"/>
                  </a:lnTo>
                  <a:lnTo>
                    <a:pt x="93445" y="0"/>
                  </a:lnTo>
                  <a:lnTo>
                    <a:pt x="906679" y="0"/>
                  </a:lnTo>
                  <a:lnTo>
                    <a:pt x="944452" y="10126"/>
                  </a:lnTo>
                  <a:lnTo>
                    <a:pt x="975475" y="33936"/>
                  </a:lnTo>
                  <a:lnTo>
                    <a:pt x="995024" y="67806"/>
                  </a:lnTo>
                  <a:lnTo>
                    <a:pt x="1000124" y="93445"/>
                  </a:lnTo>
                  <a:lnTo>
                    <a:pt x="1000124" y="106579"/>
                  </a:lnTo>
                  <a:lnTo>
                    <a:pt x="989998" y="144352"/>
                  </a:lnTo>
                  <a:lnTo>
                    <a:pt x="966188" y="175375"/>
                  </a:lnTo>
                  <a:lnTo>
                    <a:pt x="932318" y="194924"/>
                  </a:lnTo>
                  <a:lnTo>
                    <a:pt x="913183" y="199384"/>
                  </a:lnTo>
                  <a:lnTo>
                    <a:pt x="906679" y="2000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14399" y="2471737"/>
              <a:ext cx="4905375" cy="0"/>
            </a:xfrm>
            <a:custGeom>
              <a:avLst/>
              <a:gdLst/>
              <a:ahLst/>
              <a:cxnLst/>
              <a:rect l="l" t="t" r="r" b="b"/>
              <a:pathLst>
                <a:path w="4905375" h="0">
                  <a:moveTo>
                    <a:pt x="0" y="0"/>
                  </a:moveTo>
                  <a:lnTo>
                    <a:pt x="49053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4399" y="20478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1" y="266211"/>
                  </a:lnTo>
                  <a:lnTo>
                    <a:pt x="29705" y="251078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4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8" y="236994"/>
                  </a:lnTo>
                  <a:lnTo>
                    <a:pt x="215037" y="262814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599" y="2124074"/>
              <a:ext cx="114300" cy="114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14399" y="2967037"/>
              <a:ext cx="4905375" cy="0"/>
            </a:xfrm>
            <a:custGeom>
              <a:avLst/>
              <a:gdLst/>
              <a:ahLst/>
              <a:cxnLst/>
              <a:rect l="l" t="t" r="r" b="b"/>
              <a:pathLst>
                <a:path w="4905375" h="0">
                  <a:moveTo>
                    <a:pt x="0" y="0"/>
                  </a:moveTo>
                  <a:lnTo>
                    <a:pt x="49053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14399" y="25526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1" y="266211"/>
                  </a:lnTo>
                  <a:lnTo>
                    <a:pt x="29705" y="251077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4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8" y="236994"/>
                  </a:lnTo>
                  <a:lnTo>
                    <a:pt x="215037" y="262813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6949" y="2632074"/>
              <a:ext cx="101600" cy="10795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14399" y="3462337"/>
              <a:ext cx="4905375" cy="0"/>
            </a:xfrm>
            <a:custGeom>
              <a:avLst/>
              <a:gdLst/>
              <a:ahLst/>
              <a:cxnLst/>
              <a:rect l="l" t="t" r="r" b="b"/>
              <a:pathLst>
                <a:path w="4905375" h="0">
                  <a:moveTo>
                    <a:pt x="0" y="0"/>
                  </a:moveTo>
                  <a:lnTo>
                    <a:pt x="49053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14399" y="30479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1" y="266211"/>
                  </a:lnTo>
                  <a:lnTo>
                    <a:pt x="29705" y="251077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4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8" y="236993"/>
                  </a:lnTo>
                  <a:lnTo>
                    <a:pt x="215037" y="262813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0599" y="3143249"/>
              <a:ext cx="114300" cy="762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14399" y="3967162"/>
              <a:ext cx="4905375" cy="0"/>
            </a:xfrm>
            <a:custGeom>
              <a:avLst/>
              <a:gdLst/>
              <a:ahLst/>
              <a:cxnLst/>
              <a:rect l="l" t="t" r="r" b="b"/>
              <a:pathLst>
                <a:path w="4905375" h="0">
                  <a:moveTo>
                    <a:pt x="0" y="0"/>
                  </a:moveTo>
                  <a:lnTo>
                    <a:pt x="49053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14399" y="35433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1" y="266211"/>
                  </a:lnTo>
                  <a:lnTo>
                    <a:pt x="29705" y="251077"/>
                  </a:lnTo>
                  <a:lnTo>
                    <a:pt x="3885" y="215037"/>
                  </a:lnTo>
                  <a:lnTo>
                    <a:pt x="0" y="195502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4" y="51661"/>
                  </a:lnTo>
                  <a:lnTo>
                    <a:pt x="266699" y="71196"/>
                  </a:lnTo>
                  <a:lnTo>
                    <a:pt x="266699" y="195502"/>
                  </a:lnTo>
                  <a:lnTo>
                    <a:pt x="251078" y="236993"/>
                  </a:lnTo>
                  <a:lnTo>
                    <a:pt x="215037" y="262813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9649" y="3622674"/>
              <a:ext cx="76200" cy="1079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14399" y="4462462"/>
              <a:ext cx="4905375" cy="0"/>
            </a:xfrm>
            <a:custGeom>
              <a:avLst/>
              <a:gdLst/>
              <a:ahLst/>
              <a:cxnLst/>
              <a:rect l="l" t="t" r="r" b="b"/>
              <a:pathLst>
                <a:path w="4905375" h="0">
                  <a:moveTo>
                    <a:pt x="0" y="0"/>
                  </a:moveTo>
                  <a:lnTo>
                    <a:pt x="49053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14399" y="404812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6" y="266699"/>
                  </a:lnTo>
                  <a:lnTo>
                    <a:pt x="66241" y="266211"/>
                  </a:lnTo>
                  <a:lnTo>
                    <a:pt x="29705" y="251077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4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8" y="236993"/>
                  </a:lnTo>
                  <a:lnTo>
                    <a:pt x="215037" y="262813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0599" y="4124324"/>
              <a:ext cx="120650" cy="12065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53773" y="1692275"/>
            <a:ext cx="5220335" cy="30003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125"/>
              </a:spcBef>
              <a:tabLst>
                <a:tab pos="849630" algn="l"/>
              </a:tabLst>
            </a:pP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X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	</a:t>
            </a:r>
            <a:r>
              <a:rPr dirty="0" sz="750" spc="-40" b="1">
                <a:solidFill>
                  <a:srgbClr val="FF6A5B"/>
                </a:solidFill>
                <a:latin typeface="Tahoma"/>
                <a:cs typeface="Tahoma"/>
              </a:rPr>
              <a:t>WHAT</a:t>
            </a:r>
            <a:r>
              <a:rPr dirty="0" sz="750" spc="-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25" b="1">
                <a:solidFill>
                  <a:srgbClr val="FF6A5B"/>
                </a:solidFill>
                <a:latin typeface="Tahoma"/>
                <a:cs typeface="Tahoma"/>
              </a:rPr>
              <a:t>YOU</a:t>
            </a:r>
            <a:r>
              <a:rPr dirty="0" sz="750" spc="-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20" b="1">
                <a:solidFill>
                  <a:srgbClr val="FF6A5B"/>
                </a:solidFill>
                <a:latin typeface="Tahoma"/>
                <a:cs typeface="Tahoma"/>
              </a:rPr>
              <a:t>KNOW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750">
              <a:latin typeface="Tahoma"/>
              <a:cs typeface="Tahoma"/>
            </a:endParaRPr>
          </a:p>
          <a:p>
            <a:pPr marL="541020">
              <a:lnSpc>
                <a:spcPct val="100000"/>
              </a:lnSpc>
              <a:spcBef>
                <a:spcPts val="5"/>
              </a:spcBef>
            </a:pPr>
            <a:r>
              <a:rPr dirty="0" sz="1000" spc="-140" b="1">
                <a:solidFill>
                  <a:srgbClr val="293283"/>
                </a:solidFill>
                <a:latin typeface="Tahoma"/>
                <a:cs typeface="Tahoma"/>
              </a:rPr>
              <a:t>Rows</a:t>
            </a:r>
            <a:r>
              <a:rPr dirty="0" sz="10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10" b="1">
                <a:solidFill>
                  <a:srgbClr val="293283"/>
                </a:solidFill>
                <a:latin typeface="Tahoma"/>
                <a:cs typeface="Tahoma"/>
              </a:rPr>
              <a:t>and</a:t>
            </a:r>
            <a:r>
              <a:rPr dirty="0" sz="10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293283"/>
                </a:solidFill>
                <a:latin typeface="Tahoma"/>
                <a:cs typeface="Tahoma"/>
              </a:rPr>
              <a:t>columns</a:t>
            </a:r>
            <a:endParaRPr sz="1000">
              <a:latin typeface="Tahoma"/>
              <a:cs typeface="Tahoma"/>
            </a:endParaRPr>
          </a:p>
          <a:p>
            <a:pPr marL="541020">
              <a:lnSpc>
                <a:spcPct val="100000"/>
              </a:lnSpc>
              <a:spcBef>
                <a:spcPts val="400"/>
              </a:spcBef>
            </a:pP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grid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of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data.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Each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column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has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name,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each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row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has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position.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Trebuchet MS"/>
              <a:cs typeface="Trebuchet MS"/>
            </a:endParaRPr>
          </a:p>
          <a:p>
            <a:pPr marL="541020">
              <a:lnSpc>
                <a:spcPct val="100000"/>
              </a:lnSpc>
              <a:spcBef>
                <a:spcPts val="5"/>
              </a:spcBef>
            </a:pPr>
            <a:r>
              <a:rPr dirty="0" sz="1000" spc="-10" b="1">
                <a:solidFill>
                  <a:srgbClr val="293283"/>
                </a:solidFill>
                <a:latin typeface="Tahoma"/>
                <a:cs typeface="Tahoma"/>
              </a:rPr>
              <a:t>Filters</a:t>
            </a:r>
            <a:endParaRPr sz="1000">
              <a:latin typeface="Tahoma"/>
              <a:cs typeface="Tahoma"/>
            </a:endParaRPr>
          </a:p>
          <a:p>
            <a:pPr marL="541020">
              <a:lnSpc>
                <a:spcPct val="100000"/>
              </a:lnSpc>
              <a:spcBef>
                <a:spcPts val="400"/>
              </a:spcBef>
            </a:pP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Show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only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rows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where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column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5">
                <a:solidFill>
                  <a:srgbClr val="4A4E6A"/>
                </a:solidFill>
                <a:latin typeface="Trebuchet MS"/>
                <a:cs typeface="Trebuchet MS"/>
              </a:rPr>
              <a:t>X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meets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condition.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900">
              <a:latin typeface="Trebuchet MS"/>
              <a:cs typeface="Trebuchet MS"/>
            </a:endParaRPr>
          </a:p>
          <a:p>
            <a:pPr marL="541020">
              <a:lnSpc>
                <a:spcPct val="100000"/>
              </a:lnSpc>
              <a:spcBef>
                <a:spcPts val="5"/>
              </a:spcBef>
            </a:pPr>
            <a:r>
              <a:rPr dirty="0" sz="1000" spc="-10" b="1">
                <a:solidFill>
                  <a:srgbClr val="293283"/>
                </a:solidFill>
                <a:latin typeface="Tahoma"/>
                <a:cs typeface="Tahoma"/>
              </a:rPr>
              <a:t>Sorts</a:t>
            </a:r>
            <a:endParaRPr sz="1000">
              <a:latin typeface="Tahoma"/>
              <a:cs typeface="Tahoma"/>
            </a:endParaRPr>
          </a:p>
          <a:p>
            <a:pPr marL="541020">
              <a:lnSpc>
                <a:spcPct val="100000"/>
              </a:lnSpc>
              <a:spcBef>
                <a:spcPts val="400"/>
              </a:spcBef>
            </a:pP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Reorder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rows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one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or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more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columns,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ascending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or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descending.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900">
              <a:latin typeface="Trebuchet MS"/>
              <a:cs typeface="Trebuchet MS"/>
            </a:endParaRPr>
          </a:p>
          <a:p>
            <a:pPr marL="541020">
              <a:lnSpc>
                <a:spcPct val="100000"/>
              </a:lnSpc>
              <a:spcBef>
                <a:spcPts val="5"/>
              </a:spcBef>
            </a:pPr>
            <a:r>
              <a:rPr dirty="0" sz="1000" spc="-10" b="1">
                <a:solidFill>
                  <a:srgbClr val="293283"/>
                </a:solidFill>
                <a:latin typeface="Tahoma"/>
                <a:cs typeface="Tahoma"/>
              </a:rPr>
              <a:t>Formulas</a:t>
            </a:r>
            <a:endParaRPr sz="1000">
              <a:latin typeface="Tahoma"/>
              <a:cs typeface="Tahoma"/>
            </a:endParaRPr>
          </a:p>
          <a:p>
            <a:pPr marL="541020">
              <a:lnSpc>
                <a:spcPct val="100000"/>
              </a:lnSpc>
              <a:spcBef>
                <a:spcPts val="400"/>
              </a:spcBef>
            </a:pP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SUM,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AVERAGE,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COUNT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18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aggregate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column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or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selection.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Trebuchet MS"/>
              <a:cs typeface="Trebuchet MS"/>
            </a:endParaRPr>
          </a:p>
          <a:p>
            <a:pPr marL="541020">
              <a:lnSpc>
                <a:spcPct val="100000"/>
              </a:lnSpc>
              <a:spcBef>
                <a:spcPts val="5"/>
              </a:spcBef>
            </a:pP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Pivot</a:t>
            </a:r>
            <a:r>
              <a:rPr dirty="0" sz="10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293283"/>
                </a:solidFill>
                <a:latin typeface="Tahoma"/>
                <a:cs typeface="Tahoma"/>
              </a:rPr>
              <a:t>tables</a:t>
            </a:r>
            <a:endParaRPr sz="1000">
              <a:latin typeface="Tahoma"/>
              <a:cs typeface="Tahoma"/>
            </a:endParaRPr>
          </a:p>
          <a:p>
            <a:pPr marL="541020">
              <a:lnSpc>
                <a:spcPct val="100000"/>
              </a:lnSpc>
              <a:spcBef>
                <a:spcPts val="400"/>
              </a:spcBef>
            </a:pP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Group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by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one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column,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aggregate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another.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 most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powerful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Excel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feature.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900">
              <a:latin typeface="Trebuchet MS"/>
              <a:cs typeface="Trebuchet MS"/>
            </a:endParaRPr>
          </a:p>
          <a:p>
            <a:pPr algn="ctr" marL="6985">
              <a:lnSpc>
                <a:spcPct val="100000"/>
              </a:lnSpc>
              <a:spcBef>
                <a:spcPts val="5"/>
              </a:spcBef>
            </a:pPr>
            <a:r>
              <a:rPr dirty="0" sz="850" spc="-10" i="1">
                <a:solidFill>
                  <a:srgbClr val="797E94"/>
                </a:solidFill>
                <a:latin typeface="Calibri"/>
                <a:cs typeface="Calibri"/>
              </a:rPr>
              <a:t>Powerful,</a:t>
            </a:r>
            <a:r>
              <a:rPr dirty="0" sz="850" spc="-1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but</a:t>
            </a:r>
            <a:r>
              <a:rPr dirty="0" sz="850" spc="-1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every</a:t>
            </a:r>
            <a:r>
              <a:rPr dirty="0" sz="850" spc="-1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action</a:t>
            </a:r>
            <a:r>
              <a:rPr dirty="0" sz="850" spc="-1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is</a:t>
            </a:r>
            <a:r>
              <a:rPr dirty="0" sz="850" spc="-1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a</a:t>
            </a:r>
            <a:r>
              <a:rPr dirty="0" sz="850" spc="-1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click.</a:t>
            </a:r>
            <a:r>
              <a:rPr dirty="0" sz="850" spc="-10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Not</a:t>
            </a:r>
            <a:r>
              <a:rPr dirty="0" sz="850" spc="-1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797E94"/>
                </a:solidFill>
                <a:latin typeface="Calibri"/>
                <a:cs typeface="Calibri"/>
              </a:rPr>
              <a:t>repeatable.</a:t>
            </a:r>
            <a:r>
              <a:rPr dirty="0" sz="850" spc="-1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Not</a:t>
            </a:r>
            <a:r>
              <a:rPr dirty="0" sz="850" spc="-1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797E94"/>
                </a:solidFill>
                <a:latin typeface="Calibri"/>
                <a:cs typeface="Calibri"/>
              </a:rPr>
              <a:t>scriptable.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172199" y="1514474"/>
            <a:ext cx="5334000" cy="4238625"/>
            <a:chOff x="6172199" y="1514474"/>
            <a:chExt cx="5334000" cy="4238625"/>
          </a:xfrm>
        </p:grpSpPr>
        <p:sp>
          <p:nvSpPr>
            <p:cNvPr id="26" name="object 26"/>
            <p:cNvSpPr/>
            <p:nvPr/>
          </p:nvSpPr>
          <p:spPr>
            <a:xfrm>
              <a:off x="6191248" y="1519237"/>
              <a:ext cx="5310505" cy="4229100"/>
            </a:xfrm>
            <a:custGeom>
              <a:avLst/>
              <a:gdLst/>
              <a:ahLst/>
              <a:cxnLst/>
              <a:rect l="l" t="t" r="r" b="b"/>
              <a:pathLst>
                <a:path w="5310505" h="4229100">
                  <a:moveTo>
                    <a:pt x="5190042" y="4229099"/>
                  </a:moveTo>
                  <a:lnTo>
                    <a:pt x="106795" y="4229099"/>
                  </a:lnTo>
                  <a:lnTo>
                    <a:pt x="99361" y="4228275"/>
                  </a:lnTo>
                  <a:lnTo>
                    <a:pt x="57037" y="4212118"/>
                  </a:lnTo>
                  <a:lnTo>
                    <a:pt x="28170" y="4185466"/>
                  </a:lnTo>
                  <a:lnTo>
                    <a:pt x="5828" y="4141919"/>
                  </a:lnTo>
                  <a:lnTo>
                    <a:pt x="0" y="4108955"/>
                  </a:lnTo>
                  <a:lnTo>
                    <a:pt x="0" y="4100512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3" y="31692"/>
                  </a:lnTo>
                  <a:lnTo>
                    <a:pt x="77492" y="6557"/>
                  </a:lnTo>
                  <a:lnTo>
                    <a:pt x="106795" y="0"/>
                  </a:lnTo>
                  <a:lnTo>
                    <a:pt x="5190042" y="0"/>
                  </a:lnTo>
                  <a:lnTo>
                    <a:pt x="5238607" y="13019"/>
                  </a:lnTo>
                  <a:lnTo>
                    <a:pt x="5278494" y="43632"/>
                  </a:lnTo>
                  <a:lnTo>
                    <a:pt x="5303628" y="87179"/>
                  </a:lnTo>
                  <a:lnTo>
                    <a:pt x="5310186" y="120144"/>
                  </a:lnTo>
                  <a:lnTo>
                    <a:pt x="5310186" y="4108955"/>
                  </a:lnTo>
                  <a:lnTo>
                    <a:pt x="5297166" y="4157519"/>
                  </a:lnTo>
                  <a:lnTo>
                    <a:pt x="5266554" y="4197406"/>
                  </a:lnTo>
                  <a:lnTo>
                    <a:pt x="5223006" y="4222541"/>
                  </a:lnTo>
                  <a:lnTo>
                    <a:pt x="5198404" y="4228275"/>
                  </a:lnTo>
                  <a:lnTo>
                    <a:pt x="5190042" y="4229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240170" y="1514474"/>
              <a:ext cx="5266055" cy="4238625"/>
            </a:xfrm>
            <a:custGeom>
              <a:avLst/>
              <a:gdLst/>
              <a:ahLst/>
              <a:cxnLst/>
              <a:rect l="l" t="t" r="r" b="b"/>
              <a:pathLst>
                <a:path w="5266055" h="4238625">
                  <a:moveTo>
                    <a:pt x="5266017" y="133350"/>
                  </a:moveTo>
                  <a:lnTo>
                    <a:pt x="5260314" y="94703"/>
                  </a:lnTo>
                  <a:lnTo>
                    <a:pt x="5243563" y="59258"/>
                  </a:lnTo>
                  <a:lnTo>
                    <a:pt x="5227409" y="39573"/>
                  </a:lnTo>
                  <a:lnTo>
                    <a:pt x="5195595" y="15773"/>
                  </a:lnTo>
                  <a:lnTo>
                    <a:pt x="5158689" y="2540"/>
                  </a:lnTo>
                  <a:lnTo>
                    <a:pt x="51326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5132667" y="9525"/>
                  </a:lnTo>
                  <a:lnTo>
                    <a:pt x="5180050" y="18961"/>
                  </a:lnTo>
                  <a:lnTo>
                    <a:pt x="5220233" y="45796"/>
                  </a:lnTo>
                  <a:lnTo>
                    <a:pt x="5220678" y="46304"/>
                  </a:lnTo>
                  <a:lnTo>
                    <a:pt x="5228437" y="54838"/>
                  </a:lnTo>
                  <a:lnTo>
                    <a:pt x="5251196" y="97459"/>
                  </a:lnTo>
                  <a:lnTo>
                    <a:pt x="5256492" y="133350"/>
                  </a:lnTo>
                  <a:lnTo>
                    <a:pt x="5256492" y="4105275"/>
                  </a:lnTo>
                  <a:lnTo>
                    <a:pt x="5247068" y="4152671"/>
                  </a:lnTo>
                  <a:lnTo>
                    <a:pt x="5220678" y="4192333"/>
                  </a:lnTo>
                  <a:lnTo>
                    <a:pt x="5220233" y="4192841"/>
                  </a:lnTo>
                  <a:lnTo>
                    <a:pt x="5180050" y="4219676"/>
                  </a:lnTo>
                  <a:lnTo>
                    <a:pt x="5145125" y="4228477"/>
                  </a:lnTo>
                  <a:lnTo>
                    <a:pt x="5145633" y="4228477"/>
                  </a:lnTo>
                  <a:lnTo>
                    <a:pt x="5132667" y="4229100"/>
                  </a:lnTo>
                  <a:lnTo>
                    <a:pt x="65366" y="4229100"/>
                  </a:lnTo>
                  <a:lnTo>
                    <a:pt x="55410" y="4228477"/>
                  </a:lnTo>
                  <a:lnTo>
                    <a:pt x="55803" y="4228477"/>
                  </a:lnTo>
                  <a:lnTo>
                    <a:pt x="46786" y="4226750"/>
                  </a:lnTo>
                  <a:lnTo>
                    <a:pt x="37769" y="4223804"/>
                  </a:lnTo>
                  <a:lnTo>
                    <a:pt x="28917" y="4219676"/>
                  </a:lnTo>
                  <a:lnTo>
                    <a:pt x="22542" y="4215765"/>
                  </a:lnTo>
                  <a:lnTo>
                    <a:pt x="0" y="4221404"/>
                  </a:lnTo>
                  <a:lnTo>
                    <a:pt x="39357" y="4236097"/>
                  </a:lnTo>
                  <a:lnTo>
                    <a:pt x="65366" y="4238625"/>
                  </a:lnTo>
                  <a:lnTo>
                    <a:pt x="5132667" y="4238625"/>
                  </a:lnTo>
                  <a:lnTo>
                    <a:pt x="5145811" y="4238002"/>
                  </a:lnTo>
                  <a:lnTo>
                    <a:pt x="5158689" y="4236097"/>
                  </a:lnTo>
                  <a:lnTo>
                    <a:pt x="5171325" y="4232922"/>
                  </a:lnTo>
                  <a:lnTo>
                    <a:pt x="5181955" y="4229100"/>
                  </a:lnTo>
                  <a:lnTo>
                    <a:pt x="5183708" y="4228477"/>
                  </a:lnTo>
                  <a:lnTo>
                    <a:pt x="5217223" y="4208411"/>
                  </a:lnTo>
                  <a:lnTo>
                    <a:pt x="5243563" y="4179379"/>
                  </a:lnTo>
                  <a:lnTo>
                    <a:pt x="5260314" y="4143933"/>
                  </a:lnTo>
                  <a:lnTo>
                    <a:pt x="5266017" y="4105275"/>
                  </a:lnTo>
                  <a:lnTo>
                    <a:pt x="52660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172199" y="1531538"/>
              <a:ext cx="90805" cy="4204970"/>
            </a:xfrm>
            <a:custGeom>
              <a:avLst/>
              <a:gdLst/>
              <a:ahLst/>
              <a:cxnLst/>
              <a:rect l="l" t="t" r="r" b="b"/>
              <a:pathLst>
                <a:path w="90804" h="4204970">
                  <a:moveTo>
                    <a:pt x="68254" y="4204497"/>
                  </a:moveTo>
                  <a:lnTo>
                    <a:pt x="30216" y="4172766"/>
                  </a:lnTo>
                  <a:lnTo>
                    <a:pt x="10149" y="4139241"/>
                  </a:lnTo>
                  <a:lnTo>
                    <a:pt x="634" y="4101347"/>
                  </a:lnTo>
                  <a:lnTo>
                    <a:pt x="0" y="408821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1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088211"/>
                  </a:lnTo>
                  <a:lnTo>
                    <a:pt x="45350" y="4135596"/>
                  </a:lnTo>
                  <a:lnTo>
                    <a:pt x="65997" y="4175768"/>
                  </a:lnTo>
                  <a:lnTo>
                    <a:pt x="90792" y="4198863"/>
                  </a:lnTo>
                  <a:lnTo>
                    <a:pt x="68254" y="4204497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124698" y="1676399"/>
              <a:ext cx="1066800" cy="200025"/>
            </a:xfrm>
            <a:custGeom>
              <a:avLst/>
              <a:gdLst/>
              <a:ahLst/>
              <a:cxnLst/>
              <a:rect l="l" t="t" r="r" b="b"/>
              <a:pathLst>
                <a:path w="1066800" h="200025">
                  <a:moveTo>
                    <a:pt x="973354" y="200024"/>
                  </a:moveTo>
                  <a:lnTo>
                    <a:pt x="93446" y="200024"/>
                  </a:lnTo>
                  <a:lnTo>
                    <a:pt x="86942" y="199384"/>
                  </a:lnTo>
                  <a:lnTo>
                    <a:pt x="49907" y="186818"/>
                  </a:lnTo>
                  <a:lnTo>
                    <a:pt x="20503" y="161036"/>
                  </a:lnTo>
                  <a:lnTo>
                    <a:pt x="3202" y="125964"/>
                  </a:lnTo>
                  <a:lnTo>
                    <a:pt x="0" y="106579"/>
                  </a:lnTo>
                  <a:lnTo>
                    <a:pt x="0" y="100012"/>
                  </a:lnTo>
                  <a:lnTo>
                    <a:pt x="0" y="93445"/>
                  </a:lnTo>
                  <a:lnTo>
                    <a:pt x="10124" y="55672"/>
                  </a:lnTo>
                  <a:lnTo>
                    <a:pt x="33936" y="24649"/>
                  </a:lnTo>
                  <a:lnTo>
                    <a:pt x="67806" y="5099"/>
                  </a:lnTo>
                  <a:lnTo>
                    <a:pt x="93446" y="0"/>
                  </a:lnTo>
                  <a:lnTo>
                    <a:pt x="973354" y="0"/>
                  </a:lnTo>
                  <a:lnTo>
                    <a:pt x="1011127" y="10126"/>
                  </a:lnTo>
                  <a:lnTo>
                    <a:pt x="1042150" y="33936"/>
                  </a:lnTo>
                  <a:lnTo>
                    <a:pt x="1061699" y="67806"/>
                  </a:lnTo>
                  <a:lnTo>
                    <a:pt x="1066800" y="93445"/>
                  </a:lnTo>
                  <a:lnTo>
                    <a:pt x="1066800" y="106579"/>
                  </a:lnTo>
                  <a:lnTo>
                    <a:pt x="1056673" y="144352"/>
                  </a:lnTo>
                  <a:lnTo>
                    <a:pt x="1032863" y="175375"/>
                  </a:lnTo>
                  <a:lnTo>
                    <a:pt x="998992" y="194924"/>
                  </a:lnTo>
                  <a:lnTo>
                    <a:pt x="979857" y="199384"/>
                  </a:lnTo>
                  <a:lnTo>
                    <a:pt x="973354" y="20002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400799" y="2452687"/>
              <a:ext cx="4905375" cy="0"/>
            </a:xfrm>
            <a:custGeom>
              <a:avLst/>
              <a:gdLst/>
              <a:ahLst/>
              <a:cxnLst/>
              <a:rect l="l" t="t" r="r" b="b"/>
              <a:pathLst>
                <a:path w="4905375" h="0">
                  <a:moveTo>
                    <a:pt x="0" y="0"/>
                  </a:moveTo>
                  <a:lnTo>
                    <a:pt x="49053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400798" y="20478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7" y="266699"/>
                  </a:lnTo>
                  <a:lnTo>
                    <a:pt x="66241" y="266211"/>
                  </a:lnTo>
                  <a:lnTo>
                    <a:pt x="29705" y="251078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3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8" y="236994"/>
                  </a:lnTo>
                  <a:lnTo>
                    <a:pt x="215038" y="262814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0649" y="2143124"/>
              <a:ext cx="127000" cy="7620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400799" y="2938462"/>
              <a:ext cx="4905375" cy="0"/>
            </a:xfrm>
            <a:custGeom>
              <a:avLst/>
              <a:gdLst/>
              <a:ahLst/>
              <a:cxnLst/>
              <a:rect l="l" t="t" r="r" b="b"/>
              <a:pathLst>
                <a:path w="4905375" h="0">
                  <a:moveTo>
                    <a:pt x="0" y="0"/>
                  </a:moveTo>
                  <a:lnTo>
                    <a:pt x="49053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400798" y="253364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7" y="266699"/>
                  </a:lnTo>
                  <a:lnTo>
                    <a:pt x="66241" y="266211"/>
                  </a:lnTo>
                  <a:lnTo>
                    <a:pt x="29705" y="251078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3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8" y="236994"/>
                  </a:lnTo>
                  <a:lnTo>
                    <a:pt x="215038" y="262814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3349" y="2613024"/>
              <a:ext cx="101600" cy="10795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400799" y="3424237"/>
              <a:ext cx="4905375" cy="0"/>
            </a:xfrm>
            <a:custGeom>
              <a:avLst/>
              <a:gdLst/>
              <a:ahLst/>
              <a:cxnLst/>
              <a:rect l="l" t="t" r="r" b="b"/>
              <a:pathLst>
                <a:path w="4905375" h="0">
                  <a:moveTo>
                    <a:pt x="0" y="0"/>
                  </a:moveTo>
                  <a:lnTo>
                    <a:pt x="49053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400798" y="301942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7" y="266699"/>
                  </a:lnTo>
                  <a:lnTo>
                    <a:pt x="66241" y="266211"/>
                  </a:lnTo>
                  <a:lnTo>
                    <a:pt x="29705" y="251077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3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8" y="236994"/>
                  </a:lnTo>
                  <a:lnTo>
                    <a:pt x="215038" y="262813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76999" y="3114674"/>
              <a:ext cx="114300" cy="7620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400799" y="3910012"/>
              <a:ext cx="4905375" cy="0"/>
            </a:xfrm>
            <a:custGeom>
              <a:avLst/>
              <a:gdLst/>
              <a:ahLst/>
              <a:cxnLst/>
              <a:rect l="l" t="t" r="r" b="b"/>
              <a:pathLst>
                <a:path w="4905375" h="0">
                  <a:moveTo>
                    <a:pt x="0" y="0"/>
                  </a:moveTo>
                  <a:lnTo>
                    <a:pt x="49053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400798" y="35051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7" y="266699"/>
                  </a:lnTo>
                  <a:lnTo>
                    <a:pt x="66241" y="266211"/>
                  </a:lnTo>
                  <a:lnTo>
                    <a:pt x="29705" y="251077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3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8" y="236994"/>
                  </a:lnTo>
                  <a:lnTo>
                    <a:pt x="215038" y="262813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96049" y="3584574"/>
              <a:ext cx="76200" cy="10795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400799" y="4395787"/>
              <a:ext cx="4905375" cy="0"/>
            </a:xfrm>
            <a:custGeom>
              <a:avLst/>
              <a:gdLst/>
              <a:ahLst/>
              <a:cxnLst/>
              <a:rect l="l" t="t" r="r" b="b"/>
              <a:pathLst>
                <a:path w="4905375" h="0">
                  <a:moveTo>
                    <a:pt x="0" y="0"/>
                  </a:moveTo>
                  <a:lnTo>
                    <a:pt x="4905374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400798" y="39909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95503" y="266699"/>
                  </a:moveTo>
                  <a:lnTo>
                    <a:pt x="71197" y="266699"/>
                  </a:lnTo>
                  <a:lnTo>
                    <a:pt x="66241" y="266211"/>
                  </a:lnTo>
                  <a:lnTo>
                    <a:pt x="29705" y="251077"/>
                  </a:lnTo>
                  <a:lnTo>
                    <a:pt x="3885" y="215037"/>
                  </a:lnTo>
                  <a:lnTo>
                    <a:pt x="0" y="195503"/>
                  </a:lnTo>
                  <a:lnTo>
                    <a:pt x="0" y="1904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7" y="0"/>
                  </a:lnTo>
                  <a:lnTo>
                    <a:pt x="195503" y="0"/>
                  </a:lnTo>
                  <a:lnTo>
                    <a:pt x="236994" y="15621"/>
                  </a:lnTo>
                  <a:lnTo>
                    <a:pt x="262813" y="51661"/>
                  </a:lnTo>
                  <a:lnTo>
                    <a:pt x="266699" y="71196"/>
                  </a:lnTo>
                  <a:lnTo>
                    <a:pt x="266699" y="195503"/>
                  </a:lnTo>
                  <a:lnTo>
                    <a:pt x="251078" y="236994"/>
                  </a:lnTo>
                  <a:lnTo>
                    <a:pt x="215038" y="262813"/>
                  </a:lnTo>
                  <a:lnTo>
                    <a:pt x="200458" y="266211"/>
                  </a:lnTo>
                  <a:lnTo>
                    <a:pt x="195503" y="2666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76999" y="4067174"/>
              <a:ext cx="120650" cy="120650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6240172" y="1692275"/>
            <a:ext cx="5220335" cy="29337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125"/>
              </a:spcBef>
              <a:tabLst>
                <a:tab pos="970280" algn="l"/>
              </a:tabLst>
            </a:pPr>
            <a:r>
              <a:rPr dirty="0" sz="800" spc="-18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35" b="1">
                <a:solidFill>
                  <a:srgbClr val="797E94"/>
                </a:solidFill>
                <a:latin typeface="Tahoma"/>
                <a:cs typeface="Tahoma"/>
              </a:rPr>
              <a:t>PA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D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	</a:t>
            </a:r>
            <a:r>
              <a:rPr dirty="0" sz="750" spc="-30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750" spc="-1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30" b="1">
                <a:solidFill>
                  <a:srgbClr val="293283"/>
                </a:solidFill>
                <a:latin typeface="Tahoma"/>
                <a:cs typeface="Tahoma"/>
              </a:rPr>
              <a:t>CODE</a:t>
            </a:r>
            <a:r>
              <a:rPr dirty="0" sz="750" spc="-10" b="1">
                <a:solidFill>
                  <a:srgbClr val="293283"/>
                </a:solidFill>
                <a:latin typeface="Tahoma"/>
                <a:cs typeface="Tahoma"/>
              </a:rPr>
              <a:t> VERSION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750">
              <a:latin typeface="Tahoma"/>
              <a:cs typeface="Tahoma"/>
            </a:endParaRPr>
          </a:p>
          <a:p>
            <a:pPr marL="541020">
              <a:lnSpc>
                <a:spcPct val="100000"/>
              </a:lnSpc>
              <a:spcBef>
                <a:spcPts val="5"/>
              </a:spcBef>
            </a:pPr>
            <a:r>
              <a:rPr dirty="0" sz="900" spc="-10" b="1">
                <a:solidFill>
                  <a:srgbClr val="293283"/>
                </a:solidFill>
                <a:latin typeface="Courier New"/>
                <a:cs typeface="Courier New"/>
              </a:rPr>
              <a:t>DataFrame</a:t>
            </a:r>
            <a:endParaRPr sz="900">
              <a:latin typeface="Courier New"/>
              <a:cs typeface="Courier New"/>
            </a:endParaRPr>
          </a:p>
          <a:p>
            <a:pPr marL="541020">
              <a:lnSpc>
                <a:spcPct val="100000"/>
              </a:lnSpc>
              <a:spcBef>
                <a:spcPts val="495"/>
              </a:spcBef>
            </a:pP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table.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Rows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have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an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index,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columns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have names.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central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pandas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object.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900">
              <a:latin typeface="Trebuchet MS"/>
              <a:cs typeface="Trebuchet MS"/>
            </a:endParaRPr>
          </a:p>
          <a:p>
            <a:pPr marL="541020">
              <a:lnSpc>
                <a:spcPct val="100000"/>
              </a:lnSpc>
              <a:spcBef>
                <a:spcPts val="5"/>
              </a:spcBef>
            </a:pPr>
            <a:r>
              <a:rPr dirty="0" sz="900" b="1">
                <a:solidFill>
                  <a:srgbClr val="293283"/>
                </a:solidFill>
                <a:latin typeface="Courier New"/>
                <a:cs typeface="Courier New"/>
              </a:rPr>
              <a:t>df[df["age"]</a:t>
            </a:r>
            <a:r>
              <a:rPr dirty="0" sz="900" spc="8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293283"/>
                </a:solidFill>
                <a:latin typeface="Courier New"/>
                <a:cs typeface="Courier New"/>
              </a:rPr>
              <a:t>&gt;</a:t>
            </a:r>
            <a:r>
              <a:rPr dirty="0" sz="900" spc="9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25" b="1">
                <a:solidFill>
                  <a:srgbClr val="293283"/>
                </a:solidFill>
                <a:latin typeface="Courier New"/>
                <a:cs typeface="Courier New"/>
              </a:rPr>
              <a:t>20]</a:t>
            </a:r>
            <a:endParaRPr sz="900">
              <a:latin typeface="Courier New"/>
              <a:cs typeface="Courier New"/>
            </a:endParaRPr>
          </a:p>
          <a:p>
            <a:pPr marL="541020">
              <a:lnSpc>
                <a:spcPct val="100000"/>
              </a:lnSpc>
              <a:spcBef>
                <a:spcPts val="495"/>
              </a:spcBef>
            </a:pP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Boolean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mask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filtering.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One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line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of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code,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repeatable.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900">
              <a:latin typeface="Trebuchet MS"/>
              <a:cs typeface="Trebuchet MS"/>
            </a:endParaRPr>
          </a:p>
          <a:p>
            <a:pPr marL="541020">
              <a:lnSpc>
                <a:spcPct val="100000"/>
              </a:lnSpc>
              <a:spcBef>
                <a:spcPts val="5"/>
              </a:spcBef>
            </a:pPr>
            <a:r>
              <a:rPr dirty="0" sz="900" spc="-10" b="1">
                <a:solidFill>
                  <a:srgbClr val="293283"/>
                </a:solidFill>
                <a:latin typeface="Courier New"/>
                <a:cs typeface="Courier New"/>
              </a:rPr>
              <a:t>df.sort_values("marks")</a:t>
            </a:r>
            <a:endParaRPr sz="900">
              <a:latin typeface="Courier New"/>
              <a:cs typeface="Courier New"/>
            </a:endParaRPr>
          </a:p>
          <a:p>
            <a:pPr marL="541020">
              <a:lnSpc>
                <a:spcPct val="100000"/>
              </a:lnSpc>
              <a:spcBef>
                <a:spcPts val="495"/>
              </a:spcBef>
            </a:pP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Sort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column.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Chain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multiple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sorts.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900">
              <a:latin typeface="Trebuchet MS"/>
              <a:cs typeface="Trebuchet MS"/>
            </a:endParaRPr>
          </a:p>
          <a:p>
            <a:pPr marL="541020">
              <a:lnSpc>
                <a:spcPct val="100000"/>
              </a:lnSpc>
              <a:spcBef>
                <a:spcPts val="5"/>
              </a:spcBef>
            </a:pPr>
            <a:r>
              <a:rPr dirty="0" sz="900" spc="-10" b="1">
                <a:solidFill>
                  <a:srgbClr val="293283"/>
                </a:solidFill>
                <a:latin typeface="Courier New"/>
                <a:cs typeface="Courier New"/>
              </a:rPr>
              <a:t>df["marks"].mean()</a:t>
            </a:r>
            <a:endParaRPr sz="900">
              <a:latin typeface="Courier New"/>
              <a:cs typeface="Courier New"/>
            </a:endParaRPr>
          </a:p>
          <a:p>
            <a:pPr marL="541020">
              <a:lnSpc>
                <a:spcPct val="100000"/>
              </a:lnSpc>
              <a:spcBef>
                <a:spcPts val="495"/>
              </a:spcBef>
            </a:pP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Aggregate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column.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Same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idea,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code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syntax.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900">
              <a:latin typeface="Trebuchet MS"/>
              <a:cs typeface="Trebuchet MS"/>
            </a:endParaRPr>
          </a:p>
          <a:p>
            <a:pPr marL="541020">
              <a:lnSpc>
                <a:spcPct val="100000"/>
              </a:lnSpc>
              <a:spcBef>
                <a:spcPts val="5"/>
              </a:spcBef>
            </a:pPr>
            <a:r>
              <a:rPr dirty="0" sz="900" spc="-10" b="1">
                <a:solidFill>
                  <a:srgbClr val="293283"/>
                </a:solidFill>
                <a:latin typeface="Courier New"/>
                <a:cs typeface="Courier New"/>
              </a:rPr>
              <a:t>df.groupby("city")["marks"].mean()</a:t>
            </a:r>
            <a:endParaRPr sz="900">
              <a:latin typeface="Courier New"/>
              <a:cs typeface="Courier New"/>
            </a:endParaRPr>
          </a:p>
          <a:p>
            <a:pPr marL="541020">
              <a:lnSpc>
                <a:spcPct val="100000"/>
              </a:lnSpc>
              <a:spcBef>
                <a:spcPts val="495"/>
              </a:spcBef>
            </a:pP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Group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+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aggregate.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The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pivot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table,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as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one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line.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900">
              <a:latin typeface="Trebuchet MS"/>
              <a:cs typeface="Trebuchet MS"/>
            </a:endParaRPr>
          </a:p>
          <a:p>
            <a:pPr algn="ctr" marL="6350">
              <a:lnSpc>
                <a:spcPct val="100000"/>
              </a:lnSpc>
              <a:spcBef>
                <a:spcPts val="5"/>
              </a:spcBef>
            </a:pP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Same</a:t>
            </a:r>
            <a:r>
              <a:rPr dirty="0" sz="850" spc="-5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797E94"/>
                </a:solidFill>
                <a:latin typeface="Calibri"/>
                <a:cs typeface="Calibri"/>
              </a:rPr>
              <a:t>operations.</a:t>
            </a: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 Code </a:t>
            </a:r>
            <a:r>
              <a:rPr dirty="0" sz="850" spc="-10" i="1">
                <a:solidFill>
                  <a:srgbClr val="797E94"/>
                </a:solidFill>
                <a:latin typeface="Calibri"/>
                <a:cs typeface="Calibri"/>
              </a:rPr>
              <a:t>instead</a:t>
            </a: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 of </a:t>
            </a:r>
            <a:r>
              <a:rPr dirty="0" sz="850" spc="-10" i="1">
                <a:solidFill>
                  <a:srgbClr val="797E94"/>
                </a:solidFill>
                <a:latin typeface="Calibri"/>
                <a:cs typeface="Calibri"/>
              </a:rPr>
              <a:t>clicks.</a:t>
            </a: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797E94"/>
                </a:solidFill>
                <a:latin typeface="Calibri"/>
                <a:cs typeface="Calibri"/>
              </a:rPr>
              <a:t>Scriptable,</a:t>
            </a: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797E94"/>
                </a:solidFill>
                <a:latin typeface="Calibri"/>
                <a:cs typeface="Calibri"/>
              </a:rPr>
              <a:t>repeatable,</a:t>
            </a: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 scales to </a:t>
            </a:r>
            <a:r>
              <a:rPr dirty="0" sz="850" spc="-10" i="1">
                <a:solidFill>
                  <a:srgbClr val="797E94"/>
                </a:solidFill>
                <a:latin typeface="Calibri"/>
                <a:cs typeface="Calibri"/>
              </a:rPr>
              <a:t>millions</a:t>
            </a:r>
            <a:r>
              <a:rPr dirty="0" sz="850" i="1">
                <a:solidFill>
                  <a:srgbClr val="797E94"/>
                </a:solidFill>
                <a:latin typeface="Calibri"/>
                <a:cs typeface="Calibri"/>
              </a:rPr>
              <a:t> of </a:t>
            </a:r>
            <a:r>
              <a:rPr dirty="0" sz="850" spc="-10" i="1">
                <a:solidFill>
                  <a:srgbClr val="797E94"/>
                </a:solidFill>
                <a:latin typeface="Calibri"/>
                <a:cs typeface="Calibri"/>
              </a:rPr>
              <a:t>rows.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85787" y="5867412"/>
            <a:ext cx="10820400" cy="457200"/>
          </a:xfrm>
          <a:custGeom>
            <a:avLst/>
            <a:gdLst/>
            <a:ahLst/>
            <a:cxnLst/>
            <a:rect l="l" t="t" r="r" b="b"/>
            <a:pathLst>
              <a:path w="10820400" h="457200">
                <a:moveTo>
                  <a:pt x="10820400" y="221107"/>
                </a:moveTo>
                <a:lnTo>
                  <a:pt x="10814545" y="176657"/>
                </a:lnTo>
                <a:lnTo>
                  <a:pt x="10800144" y="134188"/>
                </a:lnTo>
                <a:lnTo>
                  <a:pt x="10777715" y="95364"/>
                </a:lnTo>
                <a:lnTo>
                  <a:pt x="10748162" y="61658"/>
                </a:lnTo>
                <a:lnTo>
                  <a:pt x="10712590" y="34353"/>
                </a:lnTo>
                <a:lnTo>
                  <a:pt x="10672369" y="14528"/>
                </a:lnTo>
                <a:lnTo>
                  <a:pt x="10629062" y="2921"/>
                </a:lnTo>
                <a:lnTo>
                  <a:pt x="10599293" y="0"/>
                </a:lnTo>
                <a:lnTo>
                  <a:pt x="221119" y="0"/>
                </a:lnTo>
                <a:lnTo>
                  <a:pt x="176669" y="5842"/>
                </a:lnTo>
                <a:lnTo>
                  <a:pt x="134213" y="20256"/>
                </a:lnTo>
                <a:lnTo>
                  <a:pt x="95377" y="42672"/>
                </a:lnTo>
                <a:lnTo>
                  <a:pt x="61671" y="72237"/>
                </a:lnTo>
                <a:lnTo>
                  <a:pt x="34378" y="107810"/>
                </a:lnTo>
                <a:lnTo>
                  <a:pt x="14541" y="148031"/>
                </a:lnTo>
                <a:lnTo>
                  <a:pt x="2933" y="191338"/>
                </a:lnTo>
                <a:lnTo>
                  <a:pt x="0" y="221107"/>
                </a:lnTo>
                <a:lnTo>
                  <a:pt x="0" y="228587"/>
                </a:lnTo>
                <a:lnTo>
                  <a:pt x="0" y="236080"/>
                </a:lnTo>
                <a:lnTo>
                  <a:pt x="5854" y="280530"/>
                </a:lnTo>
                <a:lnTo>
                  <a:pt x="20269" y="322986"/>
                </a:lnTo>
                <a:lnTo>
                  <a:pt x="42697" y="361823"/>
                </a:lnTo>
                <a:lnTo>
                  <a:pt x="72250" y="395528"/>
                </a:lnTo>
                <a:lnTo>
                  <a:pt x="107823" y="422821"/>
                </a:lnTo>
                <a:lnTo>
                  <a:pt x="148043" y="442658"/>
                </a:lnTo>
                <a:lnTo>
                  <a:pt x="191350" y="454266"/>
                </a:lnTo>
                <a:lnTo>
                  <a:pt x="221119" y="457187"/>
                </a:lnTo>
                <a:lnTo>
                  <a:pt x="10599293" y="457187"/>
                </a:lnTo>
                <a:lnTo>
                  <a:pt x="10643743" y="451345"/>
                </a:lnTo>
                <a:lnTo>
                  <a:pt x="10686199" y="436930"/>
                </a:lnTo>
                <a:lnTo>
                  <a:pt x="10725036" y="414502"/>
                </a:lnTo>
                <a:lnTo>
                  <a:pt x="10758742" y="384937"/>
                </a:lnTo>
                <a:lnTo>
                  <a:pt x="10786034" y="349364"/>
                </a:lnTo>
                <a:lnTo>
                  <a:pt x="10805871" y="309156"/>
                </a:lnTo>
                <a:lnTo>
                  <a:pt x="10817479" y="265849"/>
                </a:lnTo>
                <a:lnTo>
                  <a:pt x="10820400" y="236080"/>
                </a:lnTo>
                <a:lnTo>
                  <a:pt x="10820400" y="221107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958850" y="6007099"/>
            <a:ext cx="4870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KEY</a:t>
            </a:r>
            <a:r>
              <a:rPr dirty="0" sz="900" spc="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IDEA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0</a:t>
            </a:r>
            <a:r>
              <a:rPr dirty="0" spc="-110"/>
              <a:t> </a:t>
            </a:r>
            <a:fld id="{81D60167-4931-47E6-BA6A-407CBD079E47}" type="slidenum">
              <a:rPr dirty="0"/>
              <a:t>2</a:t>
            </a:fld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653728" y="6002337"/>
            <a:ext cx="489077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If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rebuchet MS"/>
                <a:cs typeface="Trebuchet MS"/>
              </a:rPr>
              <a:t>you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can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rebuchet MS"/>
                <a:cs typeface="Trebuchet MS"/>
              </a:rPr>
              <a:t>do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it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rebuchet MS"/>
                <a:cs typeface="Trebuchet MS"/>
              </a:rPr>
              <a:t>in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70">
                <a:solidFill>
                  <a:srgbClr val="1B1F3A"/>
                </a:solidFill>
                <a:latin typeface="Trebuchet MS"/>
                <a:cs typeface="Trebuchet MS"/>
              </a:rPr>
              <a:t>Excel,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rebuchet MS"/>
                <a:cs typeface="Trebuchet MS"/>
              </a:rPr>
              <a:t>you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can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rebuchet MS"/>
                <a:cs typeface="Trebuchet MS"/>
              </a:rPr>
              <a:t>do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it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rebuchet MS"/>
                <a:cs typeface="Trebuchet MS"/>
              </a:rPr>
              <a:t>in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pandas.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mental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rebuchet MS"/>
                <a:cs typeface="Trebuchet MS"/>
              </a:rPr>
              <a:t>model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rebuchet MS"/>
                <a:cs typeface="Trebuchet MS"/>
              </a:rPr>
              <a:t>is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rebuchet MS"/>
                <a:cs typeface="Trebuchet MS"/>
              </a:rPr>
              <a:t>same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185">
                <a:solidFill>
                  <a:srgbClr val="1B1F3A"/>
                </a:solidFill>
                <a:latin typeface="Trebuchet MS"/>
                <a:cs typeface="Trebuchet MS"/>
              </a:rPr>
              <a:t>—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syntax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rebuchet MS"/>
                <a:cs typeface="Trebuchet MS"/>
              </a:rPr>
              <a:t>is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30" b="1">
                <a:solidFill>
                  <a:srgbClr val="FF6A5B"/>
                </a:solidFill>
                <a:latin typeface="Tahoma"/>
                <a:cs typeface="Tahoma"/>
              </a:rPr>
              <a:t>Python</a:t>
            </a:r>
            <a:r>
              <a:rPr dirty="0" sz="900" spc="-30">
                <a:solidFill>
                  <a:srgbClr val="1B1F3A"/>
                </a:solidFill>
                <a:latin typeface="Trebuchet MS"/>
                <a:cs typeface="Trebuchet MS"/>
              </a:rPr>
              <a:t>.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" y="647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5500" y="587375"/>
            <a:ext cx="1804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ATA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0">
                <a:solidFill>
                  <a:srgbClr val="293283"/>
                </a:solidFill>
              </a:rPr>
              <a:t>A</a:t>
            </a:r>
            <a:r>
              <a:rPr dirty="0" spc="-190">
                <a:solidFill>
                  <a:srgbClr val="293283"/>
                </a:solidFill>
              </a:rPr>
              <a:t> </a:t>
            </a:r>
            <a:r>
              <a:rPr dirty="0" spc="-270">
                <a:solidFill>
                  <a:srgbClr val="293283"/>
                </a:solidFill>
              </a:rPr>
              <a:t>DataFrame</a:t>
            </a:r>
            <a:r>
              <a:rPr dirty="0" spc="-185">
                <a:solidFill>
                  <a:srgbClr val="293283"/>
                </a:solidFill>
              </a:rPr>
              <a:t> </a:t>
            </a:r>
            <a:r>
              <a:rPr dirty="0" spc="-210">
                <a:solidFill>
                  <a:srgbClr val="293283"/>
                </a:solidFill>
              </a:rPr>
              <a:t>is</a:t>
            </a:r>
            <a:r>
              <a:rPr dirty="0" spc="-185">
                <a:solidFill>
                  <a:srgbClr val="293283"/>
                </a:solidFill>
              </a:rPr>
              <a:t> </a:t>
            </a:r>
            <a:r>
              <a:rPr dirty="0" spc="-235">
                <a:solidFill>
                  <a:srgbClr val="293283"/>
                </a:solidFill>
              </a:rPr>
              <a:t>a</a:t>
            </a:r>
            <a:r>
              <a:rPr dirty="0" spc="-190">
                <a:solidFill>
                  <a:srgbClr val="293283"/>
                </a:solidFill>
              </a:rPr>
              <a:t> </a:t>
            </a:r>
            <a:r>
              <a:rPr dirty="0" spc="-210">
                <a:solidFill>
                  <a:srgbClr val="293283"/>
                </a:solidFill>
              </a:rPr>
              <a:t>table.</a:t>
            </a:r>
            <a:r>
              <a:rPr dirty="0" spc="-185">
                <a:solidFill>
                  <a:srgbClr val="293283"/>
                </a:solidFill>
              </a:rPr>
              <a:t> </a:t>
            </a:r>
            <a:r>
              <a:rPr dirty="0" spc="-310">
                <a:solidFill>
                  <a:srgbClr val="293283"/>
                </a:solidFill>
              </a:rPr>
              <a:t>Rows</a:t>
            </a:r>
            <a:r>
              <a:rPr dirty="0" spc="-185">
                <a:solidFill>
                  <a:srgbClr val="293283"/>
                </a:solidFill>
              </a:rPr>
              <a:t> </a:t>
            </a:r>
            <a:r>
              <a:rPr dirty="0" spc="-265">
                <a:solidFill>
                  <a:srgbClr val="293283"/>
                </a:solidFill>
              </a:rPr>
              <a:t>have</a:t>
            </a:r>
            <a:r>
              <a:rPr dirty="0" spc="-190">
                <a:solidFill>
                  <a:srgbClr val="293283"/>
                </a:solidFill>
              </a:rPr>
              <a:t> </a:t>
            </a:r>
            <a:r>
              <a:rPr dirty="0" spc="-254">
                <a:solidFill>
                  <a:srgbClr val="293283"/>
                </a:solidFill>
              </a:rPr>
              <a:t>an</a:t>
            </a:r>
            <a:r>
              <a:rPr dirty="0" spc="-185">
                <a:solidFill>
                  <a:srgbClr val="293283"/>
                </a:solidFill>
              </a:rPr>
              <a:t> </a:t>
            </a:r>
            <a:r>
              <a:rPr dirty="0" spc="-240">
                <a:solidFill>
                  <a:srgbClr val="293283"/>
                </a:solidFill>
              </a:rPr>
              <a:t>index,</a:t>
            </a:r>
            <a:r>
              <a:rPr dirty="0" spc="-185">
                <a:solidFill>
                  <a:srgbClr val="293283"/>
                </a:solidFill>
              </a:rPr>
              <a:t> </a:t>
            </a:r>
            <a:r>
              <a:rPr dirty="0" spc="-254">
                <a:solidFill>
                  <a:srgbClr val="293283"/>
                </a:solidFill>
              </a:rPr>
              <a:t>columns</a:t>
            </a:r>
            <a:r>
              <a:rPr dirty="0" spc="-185">
                <a:solidFill>
                  <a:srgbClr val="293283"/>
                </a:solidFill>
              </a:rPr>
              <a:t> </a:t>
            </a:r>
            <a:r>
              <a:rPr dirty="0" spc="-265">
                <a:solidFill>
                  <a:srgbClr val="293283"/>
                </a:solidFill>
              </a:rPr>
              <a:t>have</a:t>
            </a:r>
            <a:r>
              <a:rPr dirty="0" spc="-190">
                <a:solidFill>
                  <a:srgbClr val="293283"/>
                </a:solidFill>
              </a:rPr>
              <a:t> </a:t>
            </a:r>
            <a:r>
              <a:rPr dirty="0" spc="-165">
                <a:solidFill>
                  <a:srgbClr val="293283"/>
                </a:solidFill>
              </a:rPr>
              <a:t>names.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3099" y="1177925"/>
            <a:ext cx="88214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85">
                <a:solidFill>
                  <a:srgbClr val="4A4E6A"/>
                </a:solidFill>
                <a:latin typeface="Trebuchet MS"/>
                <a:cs typeface="Trebuchet MS"/>
              </a:rPr>
              <a:t>That’s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95">
                <a:solidFill>
                  <a:srgbClr val="4A4E6A"/>
                </a:solidFill>
                <a:latin typeface="Trebuchet MS"/>
                <a:cs typeface="Trebuchet MS"/>
              </a:rPr>
              <a:t>it.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4A4E6A"/>
                </a:solidFill>
                <a:latin typeface="Trebuchet MS"/>
                <a:cs typeface="Trebuchet MS"/>
              </a:rPr>
              <a:t>Every</a:t>
            </a:r>
            <a:r>
              <a:rPr dirty="0" sz="10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pandas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operation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is</a:t>
            </a:r>
            <a:r>
              <a:rPr dirty="0" sz="10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about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4A4E6A"/>
                </a:solidFill>
                <a:latin typeface="Trebuchet MS"/>
                <a:cs typeface="Trebuchet MS"/>
              </a:rPr>
              <a:t>selecting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4A4E6A"/>
                </a:solidFill>
                <a:latin typeface="Trebuchet MS"/>
                <a:cs typeface="Trebuchet MS"/>
              </a:rPr>
              <a:t>rows,</a:t>
            </a:r>
            <a:r>
              <a:rPr dirty="0" sz="10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4A4E6A"/>
                </a:solidFill>
                <a:latin typeface="Trebuchet MS"/>
                <a:cs typeface="Trebuchet MS"/>
              </a:rPr>
              <a:t>selecting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4A4E6A"/>
                </a:solidFill>
                <a:latin typeface="Trebuchet MS"/>
                <a:cs typeface="Trebuchet MS"/>
              </a:rPr>
              <a:t>columns,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45">
                <a:solidFill>
                  <a:srgbClr val="4A4E6A"/>
                </a:solidFill>
                <a:latin typeface="Trebuchet MS"/>
                <a:cs typeface="Trebuchet MS"/>
              </a:rPr>
              <a:t>or </a:t>
            </a:r>
            <a:r>
              <a:rPr dirty="0" sz="1050" spc="-65">
                <a:solidFill>
                  <a:srgbClr val="4A4E6A"/>
                </a:solidFill>
                <a:latin typeface="Trebuchet MS"/>
                <a:cs typeface="Trebuchet MS"/>
              </a:rPr>
              <a:t>transforming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80">
                <a:solidFill>
                  <a:srgbClr val="4A4E6A"/>
                </a:solidFill>
                <a:latin typeface="Trebuchet MS"/>
                <a:cs typeface="Trebuchet MS"/>
              </a:rPr>
              <a:t>them.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5">
                <a:solidFill>
                  <a:srgbClr val="4A4E6A"/>
                </a:solidFill>
                <a:latin typeface="Trebuchet MS"/>
                <a:cs typeface="Trebuchet MS"/>
              </a:rPr>
              <a:t>Once</a:t>
            </a:r>
            <a:r>
              <a:rPr dirty="0" sz="1050" spc="-45">
                <a:solidFill>
                  <a:srgbClr val="4A4E6A"/>
                </a:solidFill>
                <a:latin typeface="Trebuchet MS"/>
                <a:cs typeface="Trebuchet MS"/>
              </a:rPr>
              <a:t> you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4A4E6A"/>
                </a:solidFill>
                <a:latin typeface="Trebuchet MS"/>
                <a:cs typeface="Trebuchet MS"/>
              </a:rPr>
              <a:t>internalise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this</a:t>
            </a:r>
            <a:r>
              <a:rPr dirty="0" sz="10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4A4E6A"/>
                </a:solidFill>
                <a:latin typeface="Trebuchet MS"/>
                <a:cs typeface="Trebuchet MS"/>
              </a:rPr>
              <a:t>mental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5">
                <a:solidFill>
                  <a:srgbClr val="4A4E6A"/>
                </a:solidFill>
                <a:latin typeface="Trebuchet MS"/>
                <a:cs typeface="Trebuchet MS"/>
              </a:rPr>
              <a:t>model,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1050" spc="-45">
                <a:solidFill>
                  <a:srgbClr val="4A4E6A"/>
                </a:solidFill>
                <a:latin typeface="Trebuchet MS"/>
                <a:cs typeface="Trebuchet MS"/>
              </a:rPr>
              <a:t> API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becomes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10">
                <a:solidFill>
                  <a:srgbClr val="4A4E6A"/>
                </a:solidFill>
                <a:latin typeface="Trebuchet MS"/>
                <a:cs typeface="Trebuchet MS"/>
              </a:rPr>
              <a:t>obvious.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799" y="1476374"/>
            <a:ext cx="5838825" cy="4295775"/>
            <a:chOff x="685799" y="1476374"/>
            <a:chExt cx="5838825" cy="4295775"/>
          </a:xfrm>
        </p:grpSpPr>
        <p:sp>
          <p:nvSpPr>
            <p:cNvPr id="7" name="object 7"/>
            <p:cNvSpPr/>
            <p:nvPr/>
          </p:nvSpPr>
          <p:spPr>
            <a:xfrm>
              <a:off x="690562" y="1481137"/>
              <a:ext cx="5829300" cy="4286250"/>
            </a:xfrm>
            <a:custGeom>
              <a:avLst/>
              <a:gdLst/>
              <a:ahLst/>
              <a:cxnLst/>
              <a:rect l="l" t="t" r="r" b="b"/>
              <a:pathLst>
                <a:path w="5829300" h="4286250">
                  <a:moveTo>
                    <a:pt x="5709155" y="4286249"/>
                  </a:moveTo>
                  <a:lnTo>
                    <a:pt x="120144" y="4286249"/>
                  </a:lnTo>
                  <a:lnTo>
                    <a:pt x="111782" y="4285425"/>
                  </a:lnTo>
                  <a:lnTo>
                    <a:pt x="71578" y="4273228"/>
                  </a:lnTo>
                  <a:lnTo>
                    <a:pt x="31692" y="4242615"/>
                  </a:lnTo>
                  <a:lnTo>
                    <a:pt x="6557" y="4199069"/>
                  </a:lnTo>
                  <a:lnTo>
                    <a:pt x="0" y="4166105"/>
                  </a:lnTo>
                  <a:lnTo>
                    <a:pt x="0" y="4157662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2"/>
                  </a:lnTo>
                  <a:lnTo>
                    <a:pt x="87179" y="6557"/>
                  </a:lnTo>
                  <a:lnTo>
                    <a:pt x="120144" y="0"/>
                  </a:lnTo>
                  <a:lnTo>
                    <a:pt x="5709155" y="0"/>
                  </a:lnTo>
                  <a:lnTo>
                    <a:pt x="5757720" y="13018"/>
                  </a:lnTo>
                  <a:lnTo>
                    <a:pt x="5797607" y="43632"/>
                  </a:lnTo>
                  <a:lnTo>
                    <a:pt x="5822741" y="87179"/>
                  </a:lnTo>
                  <a:lnTo>
                    <a:pt x="5829298" y="120144"/>
                  </a:lnTo>
                  <a:lnTo>
                    <a:pt x="5829298" y="4166105"/>
                  </a:lnTo>
                  <a:lnTo>
                    <a:pt x="5816280" y="4214669"/>
                  </a:lnTo>
                  <a:lnTo>
                    <a:pt x="5785666" y="4254556"/>
                  </a:lnTo>
                  <a:lnTo>
                    <a:pt x="5742119" y="4279691"/>
                  </a:lnTo>
                  <a:lnTo>
                    <a:pt x="5717516" y="4285425"/>
                  </a:lnTo>
                  <a:lnTo>
                    <a:pt x="5709155" y="42862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90562" y="1481137"/>
              <a:ext cx="5829300" cy="4286250"/>
            </a:xfrm>
            <a:custGeom>
              <a:avLst/>
              <a:gdLst/>
              <a:ahLst/>
              <a:cxnLst/>
              <a:rect l="l" t="t" r="r" b="b"/>
              <a:pathLst>
                <a:path w="5829300" h="4286250">
                  <a:moveTo>
                    <a:pt x="0" y="4157662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13019" y="71578"/>
                  </a:lnTo>
                  <a:lnTo>
                    <a:pt x="21670" y="57147"/>
                  </a:lnTo>
                  <a:lnTo>
                    <a:pt x="26361" y="50127"/>
                  </a:lnTo>
                  <a:lnTo>
                    <a:pt x="31692" y="43632"/>
                  </a:lnTo>
                  <a:lnTo>
                    <a:pt x="37662" y="37662"/>
                  </a:lnTo>
                  <a:lnTo>
                    <a:pt x="43632" y="31692"/>
                  </a:lnTo>
                  <a:lnTo>
                    <a:pt x="79379" y="9787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5700712" y="0"/>
                  </a:lnTo>
                  <a:lnTo>
                    <a:pt x="5709155" y="0"/>
                  </a:lnTo>
                  <a:lnTo>
                    <a:pt x="5717516" y="823"/>
                  </a:lnTo>
                  <a:lnTo>
                    <a:pt x="5757720" y="13018"/>
                  </a:lnTo>
                  <a:lnTo>
                    <a:pt x="5772150" y="21670"/>
                  </a:lnTo>
                  <a:lnTo>
                    <a:pt x="5779171" y="26361"/>
                  </a:lnTo>
                  <a:lnTo>
                    <a:pt x="5807628" y="57147"/>
                  </a:lnTo>
                  <a:lnTo>
                    <a:pt x="5825181" y="95220"/>
                  </a:lnTo>
                  <a:lnTo>
                    <a:pt x="5829299" y="128587"/>
                  </a:lnTo>
                  <a:lnTo>
                    <a:pt x="5829299" y="4157662"/>
                  </a:lnTo>
                  <a:lnTo>
                    <a:pt x="5829298" y="4166105"/>
                  </a:lnTo>
                  <a:lnTo>
                    <a:pt x="5828475" y="4174466"/>
                  </a:lnTo>
                  <a:lnTo>
                    <a:pt x="5826828" y="4182747"/>
                  </a:lnTo>
                  <a:lnTo>
                    <a:pt x="5825181" y="4191028"/>
                  </a:lnTo>
                  <a:lnTo>
                    <a:pt x="5807628" y="4229100"/>
                  </a:lnTo>
                  <a:lnTo>
                    <a:pt x="5779171" y="4259886"/>
                  </a:lnTo>
                  <a:lnTo>
                    <a:pt x="5742119" y="4279691"/>
                  </a:lnTo>
                  <a:lnTo>
                    <a:pt x="5725797" y="4283777"/>
                  </a:lnTo>
                  <a:lnTo>
                    <a:pt x="5717516" y="4285425"/>
                  </a:lnTo>
                  <a:lnTo>
                    <a:pt x="5709155" y="4286249"/>
                  </a:lnTo>
                  <a:lnTo>
                    <a:pt x="5700712" y="4286249"/>
                  </a:lnTo>
                  <a:lnTo>
                    <a:pt x="128587" y="4286249"/>
                  </a:lnTo>
                  <a:lnTo>
                    <a:pt x="120144" y="4286249"/>
                  </a:lnTo>
                  <a:lnTo>
                    <a:pt x="111782" y="4285425"/>
                  </a:lnTo>
                  <a:lnTo>
                    <a:pt x="103501" y="4283777"/>
                  </a:lnTo>
                  <a:lnTo>
                    <a:pt x="95220" y="4282130"/>
                  </a:lnTo>
                  <a:lnTo>
                    <a:pt x="87179" y="4279691"/>
                  </a:lnTo>
                  <a:lnTo>
                    <a:pt x="79379" y="4276460"/>
                  </a:lnTo>
                  <a:lnTo>
                    <a:pt x="71578" y="4273228"/>
                  </a:lnTo>
                  <a:lnTo>
                    <a:pt x="37662" y="4248586"/>
                  </a:lnTo>
                  <a:lnTo>
                    <a:pt x="13019" y="4214669"/>
                  </a:lnTo>
                  <a:lnTo>
                    <a:pt x="2470" y="4182747"/>
                  </a:lnTo>
                  <a:lnTo>
                    <a:pt x="823" y="4174466"/>
                  </a:lnTo>
                  <a:lnTo>
                    <a:pt x="0" y="4166105"/>
                  </a:lnTo>
                  <a:lnTo>
                    <a:pt x="0" y="4157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54075" y="1606550"/>
            <a:ext cx="1913889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800" spc="24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800" spc="-1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20" b="1">
                <a:solidFill>
                  <a:srgbClr val="797E94"/>
                </a:solidFill>
                <a:latin typeface="Tahoma"/>
                <a:cs typeface="Tahoma"/>
              </a:rPr>
              <a:t>ATA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F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24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—</a:t>
            </a:r>
            <a:r>
              <a:rPr dirty="0" sz="800" spc="24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T </a:t>
            </a:r>
            <a:r>
              <a:rPr dirty="0" sz="800" spc="-60" b="1">
                <a:solidFill>
                  <a:srgbClr val="293283"/>
                </a:solidFill>
                <a:latin typeface="Tahoma"/>
                <a:cs typeface="Tahoma"/>
              </a:rPr>
              <a:t>U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 D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 T </a:t>
            </a:r>
            <a:r>
              <a:rPr dirty="0" sz="800" spc="-13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30" b="1">
                <a:solidFill>
                  <a:srgbClr val="293283"/>
                </a:solidFill>
                <a:latin typeface="Tahoma"/>
                <a:cs typeface="Tahoma"/>
              </a:rPr>
              <a:t>.</a:t>
            </a:r>
            <a:r>
              <a:rPr dirty="0" sz="80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10" b="1">
                <a:solidFill>
                  <a:srgbClr val="293283"/>
                </a:solidFill>
                <a:latin typeface="Tahoma"/>
                <a:cs typeface="Tahoma"/>
              </a:rPr>
              <a:t>C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Tahoma"/>
                <a:cs typeface="Tahoma"/>
              </a:rPr>
              <a:t>V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34174" y="1476374"/>
            <a:ext cx="4772025" cy="4295775"/>
            <a:chOff x="6734174" y="1476374"/>
            <a:chExt cx="4772025" cy="4295775"/>
          </a:xfrm>
        </p:grpSpPr>
        <p:sp>
          <p:nvSpPr>
            <p:cNvPr id="11" name="object 11"/>
            <p:cNvSpPr/>
            <p:nvPr/>
          </p:nvSpPr>
          <p:spPr>
            <a:xfrm>
              <a:off x="6753223" y="1481137"/>
              <a:ext cx="4748530" cy="4286250"/>
            </a:xfrm>
            <a:custGeom>
              <a:avLst/>
              <a:gdLst/>
              <a:ahLst/>
              <a:cxnLst/>
              <a:rect l="l" t="t" r="r" b="b"/>
              <a:pathLst>
                <a:path w="4748530" h="4286250">
                  <a:moveTo>
                    <a:pt x="4628067" y="4286249"/>
                  </a:moveTo>
                  <a:lnTo>
                    <a:pt x="106795" y="4286249"/>
                  </a:lnTo>
                  <a:lnTo>
                    <a:pt x="99361" y="4285425"/>
                  </a:lnTo>
                  <a:lnTo>
                    <a:pt x="57037" y="4269268"/>
                  </a:lnTo>
                  <a:lnTo>
                    <a:pt x="28170" y="4242615"/>
                  </a:lnTo>
                  <a:lnTo>
                    <a:pt x="5828" y="4199069"/>
                  </a:lnTo>
                  <a:lnTo>
                    <a:pt x="0" y="4166105"/>
                  </a:lnTo>
                  <a:lnTo>
                    <a:pt x="0" y="4157662"/>
                  </a:lnTo>
                  <a:lnTo>
                    <a:pt x="0" y="120144"/>
                  </a:lnTo>
                  <a:lnTo>
                    <a:pt x="11571" y="71578"/>
                  </a:lnTo>
                  <a:lnTo>
                    <a:pt x="38784" y="31692"/>
                  </a:lnTo>
                  <a:lnTo>
                    <a:pt x="77492" y="6557"/>
                  </a:lnTo>
                  <a:lnTo>
                    <a:pt x="106795" y="0"/>
                  </a:lnTo>
                  <a:lnTo>
                    <a:pt x="4628067" y="0"/>
                  </a:lnTo>
                  <a:lnTo>
                    <a:pt x="4676632" y="13018"/>
                  </a:lnTo>
                  <a:lnTo>
                    <a:pt x="4716519" y="43632"/>
                  </a:lnTo>
                  <a:lnTo>
                    <a:pt x="4741653" y="87179"/>
                  </a:lnTo>
                  <a:lnTo>
                    <a:pt x="4748211" y="120144"/>
                  </a:lnTo>
                  <a:lnTo>
                    <a:pt x="4748211" y="4166105"/>
                  </a:lnTo>
                  <a:lnTo>
                    <a:pt x="4735191" y="4214669"/>
                  </a:lnTo>
                  <a:lnTo>
                    <a:pt x="4704579" y="4254556"/>
                  </a:lnTo>
                  <a:lnTo>
                    <a:pt x="4661031" y="4279691"/>
                  </a:lnTo>
                  <a:lnTo>
                    <a:pt x="4636429" y="4285425"/>
                  </a:lnTo>
                  <a:lnTo>
                    <a:pt x="4628067" y="42862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802145" y="1476374"/>
              <a:ext cx="4704080" cy="4295775"/>
            </a:xfrm>
            <a:custGeom>
              <a:avLst/>
              <a:gdLst/>
              <a:ahLst/>
              <a:cxnLst/>
              <a:rect l="l" t="t" r="r" b="b"/>
              <a:pathLst>
                <a:path w="4704080" h="4295775">
                  <a:moveTo>
                    <a:pt x="4704042" y="133350"/>
                  </a:moveTo>
                  <a:lnTo>
                    <a:pt x="4698339" y="94703"/>
                  </a:lnTo>
                  <a:lnTo>
                    <a:pt x="4681588" y="59258"/>
                  </a:lnTo>
                  <a:lnTo>
                    <a:pt x="4665434" y="39573"/>
                  </a:lnTo>
                  <a:lnTo>
                    <a:pt x="4633620" y="15773"/>
                  </a:lnTo>
                  <a:lnTo>
                    <a:pt x="4596714" y="2540"/>
                  </a:lnTo>
                  <a:lnTo>
                    <a:pt x="4570692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4570692" y="9525"/>
                  </a:lnTo>
                  <a:lnTo>
                    <a:pt x="4618075" y="18961"/>
                  </a:lnTo>
                  <a:lnTo>
                    <a:pt x="4658258" y="45796"/>
                  </a:lnTo>
                  <a:lnTo>
                    <a:pt x="4658703" y="46304"/>
                  </a:lnTo>
                  <a:lnTo>
                    <a:pt x="4666462" y="54838"/>
                  </a:lnTo>
                  <a:lnTo>
                    <a:pt x="4689221" y="97459"/>
                  </a:lnTo>
                  <a:lnTo>
                    <a:pt x="4694517" y="133350"/>
                  </a:lnTo>
                  <a:lnTo>
                    <a:pt x="4694517" y="4162425"/>
                  </a:lnTo>
                  <a:lnTo>
                    <a:pt x="4685093" y="4209821"/>
                  </a:lnTo>
                  <a:lnTo>
                    <a:pt x="4658703" y="4249483"/>
                  </a:lnTo>
                  <a:lnTo>
                    <a:pt x="4658258" y="4249991"/>
                  </a:lnTo>
                  <a:lnTo>
                    <a:pt x="4618075" y="4276826"/>
                  </a:lnTo>
                  <a:lnTo>
                    <a:pt x="4583138" y="4285627"/>
                  </a:lnTo>
                  <a:lnTo>
                    <a:pt x="4583658" y="4285627"/>
                  </a:lnTo>
                  <a:lnTo>
                    <a:pt x="4570692" y="4286250"/>
                  </a:lnTo>
                  <a:lnTo>
                    <a:pt x="65366" y="4286250"/>
                  </a:lnTo>
                  <a:lnTo>
                    <a:pt x="55410" y="4285627"/>
                  </a:lnTo>
                  <a:lnTo>
                    <a:pt x="55803" y="4285627"/>
                  </a:lnTo>
                  <a:lnTo>
                    <a:pt x="46786" y="4283900"/>
                  </a:lnTo>
                  <a:lnTo>
                    <a:pt x="37769" y="4280954"/>
                  </a:lnTo>
                  <a:lnTo>
                    <a:pt x="28917" y="4276826"/>
                  </a:lnTo>
                  <a:lnTo>
                    <a:pt x="22542" y="4272915"/>
                  </a:lnTo>
                  <a:lnTo>
                    <a:pt x="0" y="4278554"/>
                  </a:lnTo>
                  <a:lnTo>
                    <a:pt x="39357" y="4293247"/>
                  </a:lnTo>
                  <a:lnTo>
                    <a:pt x="65366" y="4295775"/>
                  </a:lnTo>
                  <a:lnTo>
                    <a:pt x="4570692" y="4295775"/>
                  </a:lnTo>
                  <a:lnTo>
                    <a:pt x="4583836" y="4295152"/>
                  </a:lnTo>
                  <a:lnTo>
                    <a:pt x="4596714" y="4293247"/>
                  </a:lnTo>
                  <a:lnTo>
                    <a:pt x="4609350" y="4290072"/>
                  </a:lnTo>
                  <a:lnTo>
                    <a:pt x="4619980" y="4286250"/>
                  </a:lnTo>
                  <a:lnTo>
                    <a:pt x="4621733" y="4285627"/>
                  </a:lnTo>
                  <a:lnTo>
                    <a:pt x="4655248" y="4265561"/>
                  </a:lnTo>
                  <a:lnTo>
                    <a:pt x="4681588" y="4236529"/>
                  </a:lnTo>
                  <a:lnTo>
                    <a:pt x="4698339" y="4201083"/>
                  </a:lnTo>
                  <a:lnTo>
                    <a:pt x="4704042" y="4162425"/>
                  </a:lnTo>
                  <a:lnTo>
                    <a:pt x="4704042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734174" y="1493438"/>
              <a:ext cx="90805" cy="4262120"/>
            </a:xfrm>
            <a:custGeom>
              <a:avLst/>
              <a:gdLst/>
              <a:ahLst/>
              <a:cxnLst/>
              <a:rect l="l" t="t" r="r" b="b"/>
              <a:pathLst>
                <a:path w="90804" h="4262120">
                  <a:moveTo>
                    <a:pt x="68254" y="4261647"/>
                  </a:moveTo>
                  <a:lnTo>
                    <a:pt x="30216" y="4229916"/>
                  </a:lnTo>
                  <a:lnTo>
                    <a:pt x="10150" y="4196391"/>
                  </a:lnTo>
                  <a:lnTo>
                    <a:pt x="634" y="4158497"/>
                  </a:lnTo>
                  <a:lnTo>
                    <a:pt x="0" y="4145361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80"/>
                  </a:lnTo>
                  <a:lnTo>
                    <a:pt x="39913" y="92124"/>
                  </a:lnTo>
                  <a:lnTo>
                    <a:pt x="38100" y="116286"/>
                  </a:lnTo>
                  <a:lnTo>
                    <a:pt x="38100" y="4145361"/>
                  </a:lnTo>
                  <a:lnTo>
                    <a:pt x="45350" y="4192746"/>
                  </a:lnTo>
                  <a:lnTo>
                    <a:pt x="65998" y="4232918"/>
                  </a:lnTo>
                  <a:lnTo>
                    <a:pt x="90792" y="4256013"/>
                  </a:lnTo>
                  <a:lnTo>
                    <a:pt x="68254" y="4261647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978848" y="1644650"/>
            <a:ext cx="119951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T </a:t>
            </a:r>
            <a:r>
              <a:rPr dirty="0" sz="800" spc="-105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14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35" b="1">
                <a:solidFill>
                  <a:srgbClr val="797E94"/>
                </a:solidFill>
                <a:latin typeface="Tahoma"/>
                <a:cs typeface="Tahoma"/>
              </a:rPr>
              <a:t>TA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800" spc="22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D </a:t>
            </a:r>
            <a:r>
              <a:rPr dirty="0" sz="800" spc="-9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80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977062" y="2019299"/>
            <a:ext cx="4314825" cy="561975"/>
            <a:chOff x="6977062" y="2019299"/>
            <a:chExt cx="4314825" cy="561975"/>
          </a:xfrm>
        </p:grpSpPr>
        <p:sp>
          <p:nvSpPr>
            <p:cNvPr id="16" name="object 16"/>
            <p:cNvSpPr/>
            <p:nvPr/>
          </p:nvSpPr>
          <p:spPr>
            <a:xfrm>
              <a:off x="6981825" y="2576512"/>
              <a:ext cx="4305300" cy="0"/>
            </a:xfrm>
            <a:custGeom>
              <a:avLst/>
              <a:gdLst/>
              <a:ahLst/>
              <a:cxnLst/>
              <a:rect l="l" t="t" r="r" b="b"/>
              <a:pathLst>
                <a:path w="4305300" h="0">
                  <a:moveTo>
                    <a:pt x="0" y="0"/>
                  </a:moveTo>
                  <a:lnTo>
                    <a:pt x="430529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4" y="2019299"/>
              <a:ext cx="247650" cy="2476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069187" y="2035175"/>
            <a:ext cx="806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85" b="1">
                <a:solidFill>
                  <a:srgbClr val="FF6A5B"/>
                </a:solidFill>
                <a:latin typeface="Tahoma"/>
                <a:cs typeface="Tahoma"/>
              </a:rPr>
              <a:t>1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40798" y="1947425"/>
            <a:ext cx="3622675" cy="54610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r>
              <a:rPr dirty="0" sz="1000" spc="-85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100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30" b="1">
                <a:solidFill>
                  <a:srgbClr val="293283"/>
                </a:solidFill>
                <a:latin typeface="Tahoma"/>
                <a:cs typeface="Tahoma"/>
              </a:rPr>
              <a:t>DataFrame</a:t>
            </a:r>
            <a:r>
              <a:rPr dirty="0" sz="100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is</a:t>
            </a:r>
            <a:r>
              <a:rPr dirty="0" sz="100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25" b="1">
                <a:solidFill>
                  <a:srgbClr val="293283"/>
                </a:solidFill>
                <a:latin typeface="Tahoma"/>
                <a:cs typeface="Tahoma"/>
              </a:rPr>
              <a:t>2D</a:t>
            </a:r>
            <a:endParaRPr sz="1000">
              <a:latin typeface="Tahoma"/>
              <a:cs typeface="Tahoma"/>
            </a:endParaRPr>
          </a:p>
          <a:p>
            <a:pPr marR="5080">
              <a:lnSpc>
                <a:spcPct val="118100"/>
              </a:lnSpc>
              <a:spcBef>
                <a:spcPts val="55"/>
              </a:spcBef>
            </a:pP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Rows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+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columns.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75">
                <a:solidFill>
                  <a:srgbClr val="4A4E6A"/>
                </a:solidFill>
                <a:latin typeface="Trebuchet MS"/>
                <a:cs typeface="Trebuchet MS"/>
              </a:rPr>
              <a:t>Like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a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spreadsheet.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75">
                <a:solidFill>
                  <a:srgbClr val="4A4E6A"/>
                </a:solidFill>
                <a:latin typeface="Trebuchet MS"/>
                <a:cs typeface="Trebuchet MS"/>
              </a:rPr>
              <a:t>Like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a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SQL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75">
                <a:solidFill>
                  <a:srgbClr val="4A4E6A"/>
                </a:solidFill>
                <a:latin typeface="Trebuchet MS"/>
                <a:cs typeface="Trebuchet MS"/>
              </a:rPr>
              <a:t>table.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75">
                <a:solidFill>
                  <a:srgbClr val="4A4E6A"/>
                </a:solidFill>
                <a:latin typeface="Trebuchet MS"/>
                <a:cs typeface="Trebuchet MS"/>
              </a:rPr>
              <a:t>Like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a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CSV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file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loaded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into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memory.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977062" y="2666999"/>
            <a:ext cx="4314825" cy="571500"/>
            <a:chOff x="6977062" y="2666999"/>
            <a:chExt cx="4314825" cy="571500"/>
          </a:xfrm>
        </p:grpSpPr>
        <p:sp>
          <p:nvSpPr>
            <p:cNvPr id="21" name="object 21"/>
            <p:cNvSpPr/>
            <p:nvPr/>
          </p:nvSpPr>
          <p:spPr>
            <a:xfrm>
              <a:off x="6981825" y="3233737"/>
              <a:ext cx="4305300" cy="0"/>
            </a:xfrm>
            <a:custGeom>
              <a:avLst/>
              <a:gdLst/>
              <a:ahLst/>
              <a:cxnLst/>
              <a:rect l="l" t="t" r="r" b="b"/>
              <a:pathLst>
                <a:path w="4305300" h="0">
                  <a:moveTo>
                    <a:pt x="0" y="0"/>
                  </a:moveTo>
                  <a:lnTo>
                    <a:pt x="430529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4" y="2666999"/>
              <a:ext cx="247650" cy="24764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069187" y="2692400"/>
            <a:ext cx="806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85" b="1">
                <a:solidFill>
                  <a:srgbClr val="FF6A5B"/>
                </a:solidFill>
                <a:latin typeface="Tahoma"/>
                <a:cs typeface="Tahoma"/>
              </a:rPr>
              <a:t>2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40798" y="2584410"/>
            <a:ext cx="3635375" cy="55689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r>
              <a:rPr dirty="0" sz="1000" spc="-85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100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25" b="1">
                <a:solidFill>
                  <a:srgbClr val="293283"/>
                </a:solidFill>
                <a:latin typeface="Tahoma"/>
                <a:cs typeface="Tahoma"/>
              </a:rPr>
              <a:t>Series</a:t>
            </a:r>
            <a:r>
              <a:rPr dirty="0" sz="100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is</a:t>
            </a:r>
            <a:r>
              <a:rPr dirty="0" sz="100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25" b="1">
                <a:solidFill>
                  <a:srgbClr val="293283"/>
                </a:solidFill>
                <a:latin typeface="Tahoma"/>
                <a:cs typeface="Tahoma"/>
              </a:rPr>
              <a:t>1D</a:t>
            </a:r>
            <a:endParaRPr sz="1000">
              <a:latin typeface="Tahoma"/>
              <a:cs typeface="Tahoma"/>
            </a:endParaRPr>
          </a:p>
          <a:p>
            <a:pPr marR="5080">
              <a:lnSpc>
                <a:spcPct val="111100"/>
              </a:lnSpc>
              <a:spcBef>
                <a:spcPts val="204"/>
              </a:spcBef>
            </a:pP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single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column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(or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a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single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row).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Every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column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in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a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DataFrame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is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a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Series.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Most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operations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work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on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both.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977062" y="3324224"/>
            <a:ext cx="4314825" cy="571500"/>
            <a:chOff x="6977062" y="3324224"/>
            <a:chExt cx="4314825" cy="571500"/>
          </a:xfrm>
        </p:grpSpPr>
        <p:sp>
          <p:nvSpPr>
            <p:cNvPr id="26" name="object 26"/>
            <p:cNvSpPr/>
            <p:nvPr/>
          </p:nvSpPr>
          <p:spPr>
            <a:xfrm>
              <a:off x="6981825" y="3890962"/>
              <a:ext cx="4305300" cy="0"/>
            </a:xfrm>
            <a:custGeom>
              <a:avLst/>
              <a:gdLst/>
              <a:ahLst/>
              <a:cxnLst/>
              <a:rect l="l" t="t" r="r" b="b"/>
              <a:pathLst>
                <a:path w="4305300" h="0">
                  <a:moveTo>
                    <a:pt x="0" y="0"/>
                  </a:moveTo>
                  <a:lnTo>
                    <a:pt x="4305299" y="0"/>
                  </a:lnTo>
                </a:path>
              </a:pathLst>
            </a:custGeom>
            <a:ln w="9524">
              <a:solidFill>
                <a:srgbClr val="E4DED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1824" y="3324224"/>
              <a:ext cx="247650" cy="24764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069187" y="3349625"/>
            <a:ext cx="806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85" b="1">
                <a:solidFill>
                  <a:srgbClr val="FF6A5B"/>
                </a:solidFill>
                <a:latin typeface="Tahoma"/>
                <a:cs typeface="Tahoma"/>
              </a:rPr>
              <a:t>3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40798" y="3252351"/>
            <a:ext cx="3792220" cy="54610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r>
              <a:rPr dirty="0" sz="1000" spc="-125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100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20" b="1">
                <a:solidFill>
                  <a:srgbClr val="293283"/>
                </a:solidFill>
                <a:latin typeface="Tahoma"/>
                <a:cs typeface="Tahoma"/>
              </a:rPr>
              <a:t>index</a:t>
            </a:r>
            <a:r>
              <a:rPr dirty="0" sz="100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0" b="1">
                <a:solidFill>
                  <a:srgbClr val="293283"/>
                </a:solidFill>
                <a:latin typeface="Tahoma"/>
                <a:cs typeface="Tahoma"/>
              </a:rPr>
              <a:t>is</a:t>
            </a:r>
            <a:r>
              <a:rPr dirty="0" sz="100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35" b="1">
                <a:solidFill>
                  <a:srgbClr val="293283"/>
                </a:solidFill>
                <a:latin typeface="Tahoma"/>
                <a:cs typeface="Tahoma"/>
              </a:rPr>
              <a:t>NOT</a:t>
            </a:r>
            <a:r>
              <a:rPr dirty="0" sz="100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10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100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293283"/>
                </a:solidFill>
                <a:latin typeface="Tahoma"/>
                <a:cs typeface="Tahoma"/>
              </a:rPr>
              <a:t>column</a:t>
            </a:r>
            <a:endParaRPr sz="1000">
              <a:latin typeface="Tahoma"/>
              <a:cs typeface="Tahoma"/>
            </a:endParaRPr>
          </a:p>
          <a:p>
            <a:pPr marR="5080">
              <a:lnSpc>
                <a:spcPct val="118100"/>
              </a:lnSpc>
              <a:spcBef>
                <a:spcPts val="55"/>
              </a:spcBef>
            </a:pP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leftmost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numbers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(0,1,2,3)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are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the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index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14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row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labels,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not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75">
                <a:solidFill>
                  <a:srgbClr val="4A4E6A"/>
                </a:solidFill>
                <a:latin typeface="Trebuchet MS"/>
                <a:cs typeface="Trebuchet MS"/>
              </a:rPr>
              <a:t>data.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Don’t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confuse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them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with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the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first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data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column.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1824" y="3981449"/>
            <a:ext cx="247650" cy="247649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7069187" y="3997325"/>
            <a:ext cx="806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85" b="1">
                <a:solidFill>
                  <a:srgbClr val="FF6A5B"/>
                </a:solidFill>
                <a:latin typeface="Tahoma"/>
                <a:cs typeface="Tahoma"/>
              </a:rPr>
              <a:t>4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343762" y="4162425"/>
            <a:ext cx="3657600" cy="304800"/>
          </a:xfrm>
          <a:custGeom>
            <a:avLst/>
            <a:gdLst/>
            <a:ahLst/>
            <a:cxnLst/>
            <a:rect l="l" t="t" r="r" b="b"/>
            <a:pathLst>
              <a:path w="3657600" h="304800">
                <a:moveTo>
                  <a:pt x="695325" y="204508"/>
                </a:moveTo>
                <a:lnTo>
                  <a:pt x="667143" y="172427"/>
                </a:lnTo>
                <a:lnTo>
                  <a:pt x="662279" y="171450"/>
                </a:lnTo>
                <a:lnTo>
                  <a:pt x="33058" y="171450"/>
                </a:lnTo>
                <a:lnTo>
                  <a:pt x="965" y="199644"/>
                </a:lnTo>
                <a:lnTo>
                  <a:pt x="0" y="204508"/>
                </a:lnTo>
                <a:lnTo>
                  <a:pt x="0" y="266700"/>
                </a:lnTo>
                <a:lnTo>
                  <a:pt x="0" y="271754"/>
                </a:lnTo>
                <a:lnTo>
                  <a:pt x="28194" y="303834"/>
                </a:lnTo>
                <a:lnTo>
                  <a:pt x="33058" y="304800"/>
                </a:lnTo>
                <a:lnTo>
                  <a:pt x="662279" y="304800"/>
                </a:lnTo>
                <a:lnTo>
                  <a:pt x="694359" y="276618"/>
                </a:lnTo>
                <a:lnTo>
                  <a:pt x="695325" y="271754"/>
                </a:lnTo>
                <a:lnTo>
                  <a:pt x="695325" y="204508"/>
                </a:lnTo>
                <a:close/>
              </a:path>
              <a:path w="3657600" h="304800">
                <a:moveTo>
                  <a:pt x="1571625" y="33058"/>
                </a:moveTo>
                <a:lnTo>
                  <a:pt x="1543443" y="977"/>
                </a:lnTo>
                <a:lnTo>
                  <a:pt x="1538579" y="0"/>
                </a:lnTo>
                <a:lnTo>
                  <a:pt x="1214158" y="0"/>
                </a:lnTo>
                <a:lnTo>
                  <a:pt x="1182065" y="28194"/>
                </a:lnTo>
                <a:lnTo>
                  <a:pt x="1181100" y="33058"/>
                </a:lnTo>
                <a:lnTo>
                  <a:pt x="1181100" y="95250"/>
                </a:lnTo>
                <a:lnTo>
                  <a:pt x="1181100" y="100304"/>
                </a:lnTo>
                <a:lnTo>
                  <a:pt x="1209294" y="132384"/>
                </a:lnTo>
                <a:lnTo>
                  <a:pt x="1214158" y="133350"/>
                </a:lnTo>
                <a:lnTo>
                  <a:pt x="1538579" y="133350"/>
                </a:lnTo>
                <a:lnTo>
                  <a:pt x="1570659" y="105168"/>
                </a:lnTo>
                <a:lnTo>
                  <a:pt x="1571625" y="100304"/>
                </a:lnTo>
                <a:lnTo>
                  <a:pt x="1571625" y="33058"/>
                </a:lnTo>
                <a:close/>
              </a:path>
              <a:path w="3657600" h="304800">
                <a:moveTo>
                  <a:pt x="2133600" y="33058"/>
                </a:moveTo>
                <a:lnTo>
                  <a:pt x="2105418" y="977"/>
                </a:lnTo>
                <a:lnTo>
                  <a:pt x="2100554" y="0"/>
                </a:lnTo>
                <a:lnTo>
                  <a:pt x="1652308" y="0"/>
                </a:lnTo>
                <a:lnTo>
                  <a:pt x="1620215" y="28194"/>
                </a:lnTo>
                <a:lnTo>
                  <a:pt x="1619250" y="33058"/>
                </a:lnTo>
                <a:lnTo>
                  <a:pt x="1619250" y="95250"/>
                </a:lnTo>
                <a:lnTo>
                  <a:pt x="1619250" y="100304"/>
                </a:lnTo>
                <a:lnTo>
                  <a:pt x="1647444" y="132384"/>
                </a:lnTo>
                <a:lnTo>
                  <a:pt x="1652308" y="133350"/>
                </a:lnTo>
                <a:lnTo>
                  <a:pt x="2100554" y="133350"/>
                </a:lnTo>
                <a:lnTo>
                  <a:pt x="2132634" y="105168"/>
                </a:lnTo>
                <a:lnTo>
                  <a:pt x="2133600" y="100304"/>
                </a:lnTo>
                <a:lnTo>
                  <a:pt x="2133600" y="33058"/>
                </a:lnTo>
                <a:close/>
              </a:path>
              <a:path w="3657600" h="304800">
                <a:moveTo>
                  <a:pt x="2628900" y="33058"/>
                </a:moveTo>
                <a:lnTo>
                  <a:pt x="2600718" y="977"/>
                </a:lnTo>
                <a:lnTo>
                  <a:pt x="2595854" y="0"/>
                </a:lnTo>
                <a:lnTo>
                  <a:pt x="2214283" y="0"/>
                </a:lnTo>
                <a:lnTo>
                  <a:pt x="2182190" y="28194"/>
                </a:lnTo>
                <a:lnTo>
                  <a:pt x="2181225" y="33058"/>
                </a:lnTo>
                <a:lnTo>
                  <a:pt x="2181225" y="95250"/>
                </a:lnTo>
                <a:lnTo>
                  <a:pt x="2181225" y="100304"/>
                </a:lnTo>
                <a:lnTo>
                  <a:pt x="2209419" y="132384"/>
                </a:lnTo>
                <a:lnTo>
                  <a:pt x="2214283" y="133350"/>
                </a:lnTo>
                <a:lnTo>
                  <a:pt x="2595854" y="133350"/>
                </a:lnTo>
                <a:lnTo>
                  <a:pt x="2627934" y="105168"/>
                </a:lnTo>
                <a:lnTo>
                  <a:pt x="2628900" y="100304"/>
                </a:lnTo>
                <a:lnTo>
                  <a:pt x="2628900" y="33058"/>
                </a:lnTo>
                <a:close/>
              </a:path>
              <a:path w="3657600" h="304800">
                <a:moveTo>
                  <a:pt x="3400425" y="33058"/>
                </a:moveTo>
                <a:lnTo>
                  <a:pt x="3372243" y="977"/>
                </a:lnTo>
                <a:lnTo>
                  <a:pt x="3367379" y="0"/>
                </a:lnTo>
                <a:lnTo>
                  <a:pt x="3109633" y="0"/>
                </a:lnTo>
                <a:lnTo>
                  <a:pt x="3077553" y="28194"/>
                </a:lnTo>
                <a:lnTo>
                  <a:pt x="3076575" y="33058"/>
                </a:lnTo>
                <a:lnTo>
                  <a:pt x="3076575" y="95250"/>
                </a:lnTo>
                <a:lnTo>
                  <a:pt x="3076575" y="100304"/>
                </a:lnTo>
                <a:lnTo>
                  <a:pt x="3104769" y="132384"/>
                </a:lnTo>
                <a:lnTo>
                  <a:pt x="3109633" y="133350"/>
                </a:lnTo>
                <a:lnTo>
                  <a:pt x="3367379" y="133350"/>
                </a:lnTo>
                <a:lnTo>
                  <a:pt x="3399459" y="105168"/>
                </a:lnTo>
                <a:lnTo>
                  <a:pt x="3400425" y="100304"/>
                </a:lnTo>
                <a:lnTo>
                  <a:pt x="3400425" y="33058"/>
                </a:lnTo>
                <a:close/>
              </a:path>
              <a:path w="3657600" h="304800">
                <a:moveTo>
                  <a:pt x="3657600" y="204508"/>
                </a:moveTo>
                <a:lnTo>
                  <a:pt x="3629418" y="172427"/>
                </a:lnTo>
                <a:lnTo>
                  <a:pt x="3624554" y="171450"/>
                </a:lnTo>
                <a:lnTo>
                  <a:pt x="3052483" y="171450"/>
                </a:lnTo>
                <a:lnTo>
                  <a:pt x="3020390" y="199644"/>
                </a:lnTo>
                <a:lnTo>
                  <a:pt x="3019425" y="204508"/>
                </a:lnTo>
                <a:lnTo>
                  <a:pt x="3019425" y="266700"/>
                </a:lnTo>
                <a:lnTo>
                  <a:pt x="3019425" y="271754"/>
                </a:lnTo>
                <a:lnTo>
                  <a:pt x="3047619" y="303834"/>
                </a:lnTo>
                <a:lnTo>
                  <a:pt x="3052483" y="304800"/>
                </a:lnTo>
                <a:lnTo>
                  <a:pt x="3624554" y="304800"/>
                </a:lnTo>
                <a:lnTo>
                  <a:pt x="3656634" y="276618"/>
                </a:lnTo>
                <a:lnTo>
                  <a:pt x="3657600" y="271754"/>
                </a:lnTo>
                <a:lnTo>
                  <a:pt x="3657600" y="204508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340798" y="3909575"/>
            <a:ext cx="3703320" cy="55562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r>
              <a:rPr dirty="0" sz="1000" spc="-114" b="1">
                <a:solidFill>
                  <a:srgbClr val="293283"/>
                </a:solidFill>
                <a:latin typeface="Tahoma"/>
                <a:cs typeface="Tahoma"/>
              </a:rPr>
              <a:t>dtypes</a:t>
            </a:r>
            <a:r>
              <a:rPr dirty="0" sz="10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293283"/>
                </a:solidFill>
                <a:latin typeface="Tahoma"/>
                <a:cs typeface="Tahoma"/>
              </a:rPr>
              <a:t>matter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Each</a:t>
            </a:r>
            <a:r>
              <a:rPr dirty="0" sz="90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column</a:t>
            </a:r>
            <a:r>
              <a:rPr dirty="0" sz="90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has</a:t>
            </a:r>
            <a:r>
              <a:rPr dirty="0" sz="90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dtype:</a:t>
            </a:r>
            <a:r>
              <a:rPr dirty="0" sz="900" spc="1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int64</a:t>
            </a:r>
            <a:r>
              <a:rPr dirty="0" sz="800" spc="-1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,</a:t>
            </a:r>
            <a:r>
              <a:rPr dirty="0" sz="900" spc="2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float64</a:t>
            </a:r>
            <a:r>
              <a:rPr dirty="0" sz="800" spc="-1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,</a:t>
            </a:r>
            <a:r>
              <a:rPr dirty="0" sz="900" spc="2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object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(strings),</a:t>
            </a:r>
            <a:r>
              <a:rPr dirty="0" sz="900" spc="2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bool</a:t>
            </a:r>
            <a:r>
              <a:rPr dirty="0" sz="800" spc="-1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,</a:t>
            </a:r>
            <a:endParaRPr sz="900">
              <a:latin typeface="Trebuchet MS"/>
              <a:cs typeface="Trebuchet MS"/>
            </a:endParaRPr>
          </a:p>
          <a:p>
            <a:pPr marL="37465">
              <a:lnSpc>
                <a:spcPct val="100000"/>
              </a:lnSpc>
              <a:spcBef>
                <a:spcPts val="270"/>
              </a:spcBef>
            </a:pP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datetime64</a:t>
            </a:r>
            <a:r>
              <a:rPr dirty="0" sz="800" spc="-15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11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Mismatched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dtypes cause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silent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bugs.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Check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900" spc="30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df.dtypes</a:t>
            </a:r>
            <a:r>
              <a:rPr dirty="0" sz="800" spc="-1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85787" y="5867412"/>
            <a:ext cx="10820400" cy="457200"/>
          </a:xfrm>
          <a:custGeom>
            <a:avLst/>
            <a:gdLst/>
            <a:ahLst/>
            <a:cxnLst/>
            <a:rect l="l" t="t" r="r" b="b"/>
            <a:pathLst>
              <a:path w="10820400" h="457200">
                <a:moveTo>
                  <a:pt x="10820400" y="221107"/>
                </a:moveTo>
                <a:lnTo>
                  <a:pt x="10814545" y="176657"/>
                </a:lnTo>
                <a:lnTo>
                  <a:pt x="10800144" y="134188"/>
                </a:lnTo>
                <a:lnTo>
                  <a:pt x="10777715" y="95364"/>
                </a:lnTo>
                <a:lnTo>
                  <a:pt x="10748162" y="61658"/>
                </a:lnTo>
                <a:lnTo>
                  <a:pt x="10712590" y="34353"/>
                </a:lnTo>
                <a:lnTo>
                  <a:pt x="10672369" y="14528"/>
                </a:lnTo>
                <a:lnTo>
                  <a:pt x="10629062" y="2921"/>
                </a:lnTo>
                <a:lnTo>
                  <a:pt x="10599293" y="0"/>
                </a:lnTo>
                <a:lnTo>
                  <a:pt x="221119" y="0"/>
                </a:lnTo>
                <a:lnTo>
                  <a:pt x="176669" y="5842"/>
                </a:lnTo>
                <a:lnTo>
                  <a:pt x="134213" y="20256"/>
                </a:lnTo>
                <a:lnTo>
                  <a:pt x="95377" y="42672"/>
                </a:lnTo>
                <a:lnTo>
                  <a:pt x="61671" y="72237"/>
                </a:lnTo>
                <a:lnTo>
                  <a:pt x="34378" y="107810"/>
                </a:lnTo>
                <a:lnTo>
                  <a:pt x="14541" y="148031"/>
                </a:lnTo>
                <a:lnTo>
                  <a:pt x="2933" y="191338"/>
                </a:lnTo>
                <a:lnTo>
                  <a:pt x="0" y="221107"/>
                </a:lnTo>
                <a:lnTo>
                  <a:pt x="0" y="228587"/>
                </a:lnTo>
                <a:lnTo>
                  <a:pt x="0" y="236080"/>
                </a:lnTo>
                <a:lnTo>
                  <a:pt x="5854" y="280530"/>
                </a:lnTo>
                <a:lnTo>
                  <a:pt x="20269" y="322986"/>
                </a:lnTo>
                <a:lnTo>
                  <a:pt x="42697" y="361823"/>
                </a:lnTo>
                <a:lnTo>
                  <a:pt x="72250" y="395528"/>
                </a:lnTo>
                <a:lnTo>
                  <a:pt x="107823" y="422821"/>
                </a:lnTo>
                <a:lnTo>
                  <a:pt x="148043" y="442658"/>
                </a:lnTo>
                <a:lnTo>
                  <a:pt x="191350" y="454266"/>
                </a:lnTo>
                <a:lnTo>
                  <a:pt x="221119" y="457187"/>
                </a:lnTo>
                <a:lnTo>
                  <a:pt x="10599293" y="457187"/>
                </a:lnTo>
                <a:lnTo>
                  <a:pt x="10643743" y="451345"/>
                </a:lnTo>
                <a:lnTo>
                  <a:pt x="10686199" y="436930"/>
                </a:lnTo>
                <a:lnTo>
                  <a:pt x="10725036" y="414502"/>
                </a:lnTo>
                <a:lnTo>
                  <a:pt x="10758742" y="384937"/>
                </a:lnTo>
                <a:lnTo>
                  <a:pt x="10786034" y="349364"/>
                </a:lnTo>
                <a:lnTo>
                  <a:pt x="10805871" y="309156"/>
                </a:lnTo>
                <a:lnTo>
                  <a:pt x="10817479" y="265849"/>
                </a:lnTo>
                <a:lnTo>
                  <a:pt x="10820400" y="236080"/>
                </a:lnTo>
                <a:lnTo>
                  <a:pt x="10820400" y="221107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58850" y="6007099"/>
            <a:ext cx="4870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KEY</a:t>
            </a:r>
            <a:r>
              <a:rPr dirty="0" sz="900" spc="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IDEA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53728" y="6002337"/>
            <a:ext cx="504190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Selecting</a:t>
            </a:r>
            <a:r>
              <a:rPr dirty="0" sz="900" spc="-3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rows,</a:t>
            </a:r>
            <a:r>
              <a:rPr dirty="0" sz="900" spc="-2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selecting</a:t>
            </a:r>
            <a:r>
              <a:rPr dirty="0" sz="900" spc="-3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columns,</a:t>
            </a:r>
            <a:r>
              <a:rPr dirty="0" sz="900" spc="-2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transforming</a:t>
            </a:r>
            <a:r>
              <a:rPr dirty="0" sz="900" spc="-3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them.</a:t>
            </a:r>
            <a:r>
              <a:rPr dirty="0" sz="900" spc="-2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1B1F3A"/>
                </a:solidFill>
                <a:latin typeface="Trebuchet MS"/>
                <a:cs typeface="Trebuchet MS"/>
              </a:rPr>
              <a:t>That’s</a:t>
            </a:r>
            <a:r>
              <a:rPr dirty="0" sz="900" spc="-2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215" b="1">
                <a:solidFill>
                  <a:srgbClr val="FF6A5B"/>
                </a:solidFill>
                <a:latin typeface="Tahoma"/>
                <a:cs typeface="Tahoma"/>
              </a:rPr>
              <a:t>90%</a:t>
            </a:r>
            <a:r>
              <a:rPr dirty="0" sz="900" spc="-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65" b="1">
                <a:solidFill>
                  <a:srgbClr val="FF6A5B"/>
                </a:solidFill>
                <a:latin typeface="Tahoma"/>
                <a:cs typeface="Tahoma"/>
              </a:rPr>
              <a:t>of</a:t>
            </a:r>
            <a:r>
              <a:rPr dirty="0" sz="900" spc="-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pandas</a:t>
            </a:r>
            <a:r>
              <a:rPr dirty="0" sz="900" spc="-90">
                <a:solidFill>
                  <a:srgbClr val="1B1F3A"/>
                </a:solidFill>
                <a:latin typeface="Trebuchet MS"/>
                <a:cs typeface="Trebuchet MS"/>
              </a:rPr>
              <a:t>.</a:t>
            </a:r>
            <a:r>
              <a:rPr dirty="0" sz="900" spc="-3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900" spc="-2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rebuchet MS"/>
                <a:cs typeface="Trebuchet MS"/>
              </a:rPr>
              <a:t>other</a:t>
            </a:r>
            <a:r>
              <a:rPr dirty="0" sz="900" spc="-3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1B1F3A"/>
                </a:solidFill>
                <a:latin typeface="Trebuchet MS"/>
                <a:cs typeface="Trebuchet MS"/>
              </a:rPr>
              <a:t>10%</a:t>
            </a:r>
            <a:r>
              <a:rPr dirty="0" sz="900" spc="-2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rebuchet MS"/>
                <a:cs typeface="Trebuchet MS"/>
              </a:rPr>
              <a:t>is</a:t>
            </a:r>
            <a:r>
              <a:rPr dirty="0" sz="900" spc="-3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just</a:t>
            </a:r>
            <a:r>
              <a:rPr dirty="0" sz="900" spc="-2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rebuchet MS"/>
                <a:cs typeface="Trebuchet MS"/>
              </a:rPr>
              <a:t>syntax.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019174" y="2181224"/>
            <a:ext cx="5172075" cy="1581150"/>
            <a:chOff x="1019174" y="2181224"/>
            <a:chExt cx="5172075" cy="1581150"/>
          </a:xfrm>
        </p:grpSpPr>
        <p:sp>
          <p:nvSpPr>
            <p:cNvPr id="38" name="object 38"/>
            <p:cNvSpPr/>
            <p:nvPr/>
          </p:nvSpPr>
          <p:spPr>
            <a:xfrm>
              <a:off x="1023937" y="2185987"/>
              <a:ext cx="5162550" cy="1571625"/>
            </a:xfrm>
            <a:custGeom>
              <a:avLst/>
              <a:gdLst/>
              <a:ahLst/>
              <a:cxnLst/>
              <a:rect l="l" t="t" r="r" b="b"/>
              <a:pathLst>
                <a:path w="5162550" h="1571625">
                  <a:moveTo>
                    <a:pt x="5078003" y="1571624"/>
                  </a:moveTo>
                  <a:lnTo>
                    <a:pt x="84545" y="1571624"/>
                  </a:lnTo>
                  <a:lnTo>
                    <a:pt x="78661" y="1571045"/>
                  </a:lnTo>
                  <a:lnTo>
                    <a:pt x="35275" y="1553073"/>
                  </a:lnTo>
                  <a:lnTo>
                    <a:pt x="9161" y="1521254"/>
                  </a:lnTo>
                  <a:lnTo>
                    <a:pt x="0" y="1487078"/>
                  </a:lnTo>
                  <a:lnTo>
                    <a:pt x="0" y="1481137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078003" y="0"/>
                  </a:lnTo>
                  <a:lnTo>
                    <a:pt x="5117393" y="11948"/>
                  </a:lnTo>
                  <a:lnTo>
                    <a:pt x="5150599" y="45155"/>
                  </a:lnTo>
                  <a:lnTo>
                    <a:pt x="5162549" y="84545"/>
                  </a:lnTo>
                  <a:lnTo>
                    <a:pt x="5162549" y="1487078"/>
                  </a:lnTo>
                  <a:lnTo>
                    <a:pt x="5150599" y="1526469"/>
                  </a:lnTo>
                  <a:lnTo>
                    <a:pt x="5117393" y="1559675"/>
                  </a:lnTo>
                  <a:lnTo>
                    <a:pt x="5083888" y="1571045"/>
                  </a:lnTo>
                  <a:lnTo>
                    <a:pt x="5078003" y="15716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023937" y="2185987"/>
              <a:ext cx="5162550" cy="1571625"/>
            </a:xfrm>
            <a:custGeom>
              <a:avLst/>
              <a:gdLst/>
              <a:ahLst/>
              <a:cxnLst/>
              <a:rect l="l" t="t" r="r" b="b"/>
              <a:pathLst>
                <a:path w="5162550" h="1571625">
                  <a:moveTo>
                    <a:pt x="0" y="14811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4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50370" y="9161"/>
                  </a:lnTo>
                  <a:lnTo>
                    <a:pt x="55859" y="6887"/>
                  </a:lnTo>
                  <a:lnTo>
                    <a:pt x="61348" y="4614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5072062" y="0"/>
                  </a:lnTo>
                  <a:lnTo>
                    <a:pt x="5078003" y="0"/>
                  </a:lnTo>
                  <a:lnTo>
                    <a:pt x="5083888" y="579"/>
                  </a:lnTo>
                  <a:lnTo>
                    <a:pt x="5089715" y="1738"/>
                  </a:lnTo>
                  <a:lnTo>
                    <a:pt x="5095542" y="2897"/>
                  </a:lnTo>
                  <a:lnTo>
                    <a:pt x="5131844" y="22301"/>
                  </a:lnTo>
                  <a:lnTo>
                    <a:pt x="5155661" y="55859"/>
                  </a:lnTo>
                  <a:lnTo>
                    <a:pt x="5160810" y="72834"/>
                  </a:lnTo>
                  <a:lnTo>
                    <a:pt x="5161969" y="78661"/>
                  </a:lnTo>
                  <a:lnTo>
                    <a:pt x="5162549" y="84545"/>
                  </a:lnTo>
                  <a:lnTo>
                    <a:pt x="5162549" y="90487"/>
                  </a:lnTo>
                  <a:lnTo>
                    <a:pt x="5162549" y="1481137"/>
                  </a:lnTo>
                  <a:lnTo>
                    <a:pt x="5162549" y="1487078"/>
                  </a:lnTo>
                  <a:lnTo>
                    <a:pt x="5161969" y="1492963"/>
                  </a:lnTo>
                  <a:lnTo>
                    <a:pt x="5160810" y="1498790"/>
                  </a:lnTo>
                  <a:lnTo>
                    <a:pt x="5159651" y="1504617"/>
                  </a:lnTo>
                  <a:lnTo>
                    <a:pt x="5140246" y="1540920"/>
                  </a:lnTo>
                  <a:lnTo>
                    <a:pt x="5106689" y="1564736"/>
                  </a:lnTo>
                  <a:lnTo>
                    <a:pt x="5089715" y="1569885"/>
                  </a:lnTo>
                  <a:lnTo>
                    <a:pt x="5083888" y="1571045"/>
                  </a:lnTo>
                  <a:lnTo>
                    <a:pt x="5078003" y="1571624"/>
                  </a:lnTo>
                  <a:lnTo>
                    <a:pt x="5072062" y="1571624"/>
                  </a:lnTo>
                  <a:lnTo>
                    <a:pt x="90487" y="1571624"/>
                  </a:lnTo>
                  <a:lnTo>
                    <a:pt x="84545" y="1571624"/>
                  </a:lnTo>
                  <a:lnTo>
                    <a:pt x="78661" y="1571045"/>
                  </a:lnTo>
                  <a:lnTo>
                    <a:pt x="72834" y="1569885"/>
                  </a:lnTo>
                  <a:lnTo>
                    <a:pt x="67006" y="1568726"/>
                  </a:lnTo>
                  <a:lnTo>
                    <a:pt x="30704" y="1549322"/>
                  </a:lnTo>
                  <a:lnTo>
                    <a:pt x="26503" y="1545121"/>
                  </a:lnTo>
                  <a:lnTo>
                    <a:pt x="22301" y="1540920"/>
                  </a:lnTo>
                  <a:lnTo>
                    <a:pt x="18550" y="1536349"/>
                  </a:lnTo>
                  <a:lnTo>
                    <a:pt x="15249" y="1531409"/>
                  </a:lnTo>
                  <a:lnTo>
                    <a:pt x="11948" y="1526469"/>
                  </a:lnTo>
                  <a:lnTo>
                    <a:pt x="1738" y="1498790"/>
                  </a:lnTo>
                  <a:lnTo>
                    <a:pt x="579" y="1492963"/>
                  </a:lnTo>
                  <a:lnTo>
                    <a:pt x="0" y="1487078"/>
                  </a:lnTo>
                  <a:lnTo>
                    <a:pt x="0" y="14811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028699" y="2190749"/>
              <a:ext cx="733425" cy="314325"/>
            </a:xfrm>
            <a:custGeom>
              <a:avLst/>
              <a:gdLst/>
              <a:ahLst/>
              <a:cxnLst/>
              <a:rect l="l" t="t" r="r" b="b"/>
              <a:pathLst>
                <a:path w="733425" h="314325">
                  <a:moveTo>
                    <a:pt x="733424" y="314324"/>
                  </a:moveTo>
                  <a:lnTo>
                    <a:pt x="0" y="314324"/>
                  </a:lnTo>
                  <a:lnTo>
                    <a:pt x="0" y="85725"/>
                  </a:lnTo>
                  <a:lnTo>
                    <a:pt x="10133" y="45273"/>
                  </a:lnTo>
                  <a:lnTo>
                    <a:pt x="38089" y="14433"/>
                  </a:lnTo>
                  <a:lnTo>
                    <a:pt x="77280" y="407"/>
                  </a:lnTo>
                  <a:lnTo>
                    <a:pt x="85725" y="0"/>
                  </a:lnTo>
                  <a:lnTo>
                    <a:pt x="733424" y="0"/>
                  </a:lnTo>
                  <a:lnTo>
                    <a:pt x="733424" y="3143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410199" y="2190749"/>
              <a:ext cx="771525" cy="314325"/>
            </a:xfrm>
            <a:custGeom>
              <a:avLst/>
              <a:gdLst/>
              <a:ahLst/>
              <a:cxnLst/>
              <a:rect l="l" t="t" r="r" b="b"/>
              <a:pathLst>
                <a:path w="771525" h="314325">
                  <a:moveTo>
                    <a:pt x="771524" y="314324"/>
                  </a:moveTo>
                  <a:lnTo>
                    <a:pt x="0" y="314324"/>
                  </a:lnTo>
                  <a:lnTo>
                    <a:pt x="0" y="0"/>
                  </a:lnTo>
                  <a:lnTo>
                    <a:pt x="685800" y="0"/>
                  </a:lnTo>
                  <a:lnTo>
                    <a:pt x="694244" y="407"/>
                  </a:lnTo>
                  <a:lnTo>
                    <a:pt x="733434" y="14433"/>
                  </a:lnTo>
                  <a:lnTo>
                    <a:pt x="761391" y="45273"/>
                  </a:lnTo>
                  <a:lnTo>
                    <a:pt x="771524" y="85725"/>
                  </a:lnTo>
                  <a:lnTo>
                    <a:pt x="771524" y="31432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028699" y="3448049"/>
              <a:ext cx="733425" cy="304800"/>
            </a:xfrm>
            <a:custGeom>
              <a:avLst/>
              <a:gdLst/>
              <a:ahLst/>
              <a:cxnLst/>
              <a:rect l="l" t="t" r="r" b="b"/>
              <a:pathLst>
                <a:path w="733425" h="304800">
                  <a:moveTo>
                    <a:pt x="733424" y="304799"/>
                  </a:moveTo>
                  <a:lnTo>
                    <a:pt x="85725" y="304799"/>
                  </a:lnTo>
                  <a:lnTo>
                    <a:pt x="77280" y="304392"/>
                  </a:lnTo>
                  <a:lnTo>
                    <a:pt x="38089" y="290366"/>
                  </a:lnTo>
                  <a:lnTo>
                    <a:pt x="10133" y="259526"/>
                  </a:lnTo>
                  <a:lnTo>
                    <a:pt x="0" y="219075"/>
                  </a:lnTo>
                  <a:lnTo>
                    <a:pt x="0" y="0"/>
                  </a:lnTo>
                  <a:lnTo>
                    <a:pt x="733424" y="0"/>
                  </a:lnTo>
                  <a:lnTo>
                    <a:pt x="733424" y="3047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410199" y="3448049"/>
              <a:ext cx="771525" cy="304800"/>
            </a:xfrm>
            <a:custGeom>
              <a:avLst/>
              <a:gdLst/>
              <a:ahLst/>
              <a:cxnLst/>
              <a:rect l="l" t="t" r="r" b="b"/>
              <a:pathLst>
                <a:path w="771525" h="304800">
                  <a:moveTo>
                    <a:pt x="685800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771525" y="0"/>
                  </a:lnTo>
                  <a:lnTo>
                    <a:pt x="771525" y="219075"/>
                  </a:lnTo>
                  <a:lnTo>
                    <a:pt x="761391" y="259526"/>
                  </a:lnTo>
                  <a:lnTo>
                    <a:pt x="733434" y="290366"/>
                  </a:lnTo>
                  <a:lnTo>
                    <a:pt x="694244" y="304392"/>
                  </a:lnTo>
                  <a:lnTo>
                    <a:pt x="685800" y="304799"/>
                  </a:lnTo>
                  <a:close/>
                </a:path>
              </a:pathLst>
            </a:custGeom>
            <a:solidFill>
              <a:srgbClr val="293283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1019174" y="2190749"/>
          <a:ext cx="5238750" cy="1559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345"/>
                <a:gridCol w="838200"/>
                <a:gridCol w="590550"/>
                <a:gridCol w="1266825"/>
                <a:gridCol w="952500"/>
                <a:gridCol w="767079"/>
              </a:tblGrid>
              <a:tr h="30924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 b="1" i="1">
                          <a:solidFill>
                            <a:srgbClr val="FF6A5B"/>
                          </a:solidFill>
                          <a:latin typeface="Calibri"/>
                          <a:cs typeface="Calibri"/>
                        </a:rPr>
                        <a:t>index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6200">
                    <a:lnR w="9525">
                      <a:solidFill>
                        <a:srgbClr val="E4DED0"/>
                      </a:solidFill>
                      <a:prstDash val="solid"/>
                    </a:lnR>
                    <a:lnB w="9525">
                      <a:solidFill>
                        <a:srgbClr val="E4DE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20" b="1">
                          <a:solidFill>
                            <a:srgbClr val="293283"/>
                          </a:solidFill>
                          <a:latin typeface="Tahoma"/>
                          <a:cs typeface="Tahoma"/>
                        </a:rPr>
                        <a:t>name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7620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B w="9525">
                      <a:solidFill>
                        <a:srgbClr val="E4DED0"/>
                      </a:solidFill>
                      <a:prstDash val="solid"/>
                    </a:lnB>
                    <a:solidFill>
                      <a:srgbClr val="E7E9F5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25" b="1">
                          <a:solidFill>
                            <a:srgbClr val="293283"/>
                          </a:solidFill>
                          <a:latin typeface="Tahoma"/>
                          <a:cs typeface="Tahoma"/>
                        </a:rPr>
                        <a:t>age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7620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B w="9525">
                      <a:solidFill>
                        <a:srgbClr val="E4DED0"/>
                      </a:solidFill>
                      <a:prstDash val="solid"/>
                    </a:lnB>
                    <a:solidFill>
                      <a:srgbClr val="E7E9F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20" b="1">
                          <a:solidFill>
                            <a:srgbClr val="293283"/>
                          </a:solidFill>
                          <a:latin typeface="Tahoma"/>
                          <a:cs typeface="Tahoma"/>
                        </a:rPr>
                        <a:t>city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7620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B w="9525">
                      <a:solidFill>
                        <a:srgbClr val="E4DED0"/>
                      </a:solidFill>
                      <a:prstDash val="solid"/>
                    </a:lnB>
                    <a:solidFill>
                      <a:srgbClr val="E7E9F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 b="1">
                          <a:solidFill>
                            <a:srgbClr val="293283"/>
                          </a:solidFill>
                          <a:latin typeface="Tahoma"/>
                          <a:cs typeface="Tahoma"/>
                        </a:rPr>
                        <a:t>branch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7620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B w="9525">
                      <a:solidFill>
                        <a:srgbClr val="E4DED0"/>
                      </a:solidFill>
                      <a:prstDash val="solid"/>
                    </a:lnB>
                    <a:solidFill>
                      <a:srgbClr val="E7E9F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 b="1">
                          <a:solidFill>
                            <a:srgbClr val="293283"/>
                          </a:solidFill>
                          <a:latin typeface="Tahoma"/>
                          <a:cs typeface="Tahoma"/>
                        </a:rPr>
                        <a:t>marks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76200">
                    <a:lnL w="9525">
                      <a:solidFill>
                        <a:srgbClr val="E4DED0"/>
                      </a:solidFill>
                      <a:prstDash val="solid"/>
                    </a:lnL>
                    <a:lnB w="9525">
                      <a:solidFill>
                        <a:srgbClr val="E4DED0"/>
                      </a:solidFill>
                      <a:prstDash val="solid"/>
                    </a:lnB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50" b="1">
                          <a:solidFill>
                            <a:srgbClr val="FF6A5B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  <a:solidFill>
                      <a:srgbClr val="FFE7E2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10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Aarav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25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10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Amritsar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25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BCA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25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85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T w="9525">
                      <a:solidFill>
                        <a:srgbClr val="E4DED0"/>
                      </a:solidFill>
                      <a:prstDash val="solid"/>
                    </a:lnT>
                    <a:lnB w="28575">
                      <a:solidFill>
                        <a:srgbClr val="FF6A5B"/>
                      </a:solidFill>
                      <a:prstDash val="solid"/>
                    </a:lnB>
                    <a:solidFill>
                      <a:srgbClr val="293283">
                        <a:alpha val="3919"/>
                      </a:srgbClr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50" b="1">
                          <a:solidFill>
                            <a:srgbClr val="FF6A5B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  <a:solidFill>
                      <a:srgbClr val="FFE7E2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10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Priya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  <a:solidFill>
                      <a:srgbClr val="FF6A5B">
                        <a:alpha val="78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25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21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  <a:solidFill>
                      <a:srgbClr val="FF6A5B">
                        <a:alpha val="78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10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Jalandhar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  <a:solidFill>
                      <a:srgbClr val="FF6A5B">
                        <a:alpha val="78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25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BCA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28575">
                      <a:solidFill>
                        <a:srgbClr val="FF6A5B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  <a:solidFill>
                      <a:srgbClr val="FF6A5B">
                        <a:alpha val="78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2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92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19050">
                      <a:solidFill>
                        <a:srgbClr val="FF6A5B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  <a:solidFill>
                      <a:srgbClr val="FF6A5B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50" b="1">
                          <a:solidFill>
                            <a:srgbClr val="FF6A5B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  <a:solidFill>
                      <a:srgbClr val="FFE7E2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10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Rahul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25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10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Amritsar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10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BSc-</a:t>
                      </a:r>
                      <a:r>
                        <a:rPr dirty="0" sz="900" spc="-25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IT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25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78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T w="28575">
                      <a:solidFill>
                        <a:srgbClr val="FF6A5B"/>
                      </a:solidFill>
                      <a:prstDash val="solid"/>
                    </a:lnT>
                    <a:lnB w="9525">
                      <a:solidFill>
                        <a:srgbClr val="E4DED0"/>
                      </a:solidFill>
                      <a:prstDash val="solid"/>
                    </a:lnB>
                    <a:solidFill>
                      <a:srgbClr val="293283">
                        <a:alpha val="3919"/>
                      </a:srgbClr>
                    </a:solidFill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50" b="1">
                          <a:solidFill>
                            <a:srgbClr val="FF6A5B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10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Meera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25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10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Ludhiana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25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BCA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R w="9525">
                      <a:solidFill>
                        <a:srgbClr val="E4DED0"/>
                      </a:solidFill>
                      <a:prstDash val="solid"/>
                    </a:lnR>
                    <a:lnT w="9525">
                      <a:solidFill>
                        <a:srgbClr val="E4DED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-25">
                          <a:solidFill>
                            <a:srgbClr val="1B1F3A"/>
                          </a:solidFill>
                          <a:latin typeface="Courier New"/>
                          <a:cs typeface="Courier New"/>
                        </a:rPr>
                        <a:t>88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120">
                    <a:lnL w="9525">
                      <a:solidFill>
                        <a:srgbClr val="E4DED0"/>
                      </a:solidFill>
                      <a:prstDash val="solid"/>
                    </a:lnL>
                    <a:lnT w="9525">
                      <a:solidFill>
                        <a:srgbClr val="E4DED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45" name="object 45"/>
          <p:cNvGrpSpPr/>
          <p:nvPr/>
        </p:nvGrpSpPr>
        <p:grpSpPr>
          <a:xfrm>
            <a:off x="2981175" y="1914525"/>
            <a:ext cx="1238250" cy="219075"/>
            <a:chOff x="2981175" y="1914525"/>
            <a:chExt cx="1238250" cy="219075"/>
          </a:xfrm>
        </p:grpSpPr>
        <p:sp>
          <p:nvSpPr>
            <p:cNvPr id="46" name="object 46"/>
            <p:cNvSpPr/>
            <p:nvPr/>
          </p:nvSpPr>
          <p:spPr>
            <a:xfrm>
              <a:off x="2985938" y="1919287"/>
              <a:ext cx="1228725" cy="209550"/>
            </a:xfrm>
            <a:custGeom>
              <a:avLst/>
              <a:gdLst/>
              <a:ahLst/>
              <a:cxnLst/>
              <a:rect l="l" t="t" r="r" b="b"/>
              <a:pathLst>
                <a:path w="1228725" h="209550">
                  <a:moveTo>
                    <a:pt x="1179777" y="209549"/>
                  </a:moveTo>
                  <a:lnTo>
                    <a:pt x="48947" y="209549"/>
                  </a:lnTo>
                  <a:lnTo>
                    <a:pt x="45540" y="209214"/>
                  </a:lnTo>
                  <a:lnTo>
                    <a:pt x="10739" y="189127"/>
                  </a:lnTo>
                  <a:lnTo>
                    <a:pt x="0" y="160602"/>
                  </a:lnTo>
                  <a:lnTo>
                    <a:pt x="0" y="157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179777" y="0"/>
                  </a:lnTo>
                  <a:lnTo>
                    <a:pt x="1215813" y="17776"/>
                  </a:lnTo>
                  <a:lnTo>
                    <a:pt x="1228724" y="48947"/>
                  </a:lnTo>
                  <a:lnTo>
                    <a:pt x="1228724" y="160602"/>
                  </a:lnTo>
                  <a:lnTo>
                    <a:pt x="1210948" y="196638"/>
                  </a:lnTo>
                  <a:lnTo>
                    <a:pt x="1183183" y="209214"/>
                  </a:lnTo>
                  <a:lnTo>
                    <a:pt x="1179777" y="209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985938" y="1919287"/>
              <a:ext cx="1228725" cy="209550"/>
            </a:xfrm>
            <a:custGeom>
              <a:avLst/>
              <a:gdLst/>
              <a:ahLst/>
              <a:cxnLst/>
              <a:rect l="l" t="t" r="r" b="b"/>
              <a:pathLst>
                <a:path w="1228725" h="209550">
                  <a:moveTo>
                    <a:pt x="0" y="157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176337" y="0"/>
                  </a:lnTo>
                  <a:lnTo>
                    <a:pt x="1179777" y="0"/>
                  </a:lnTo>
                  <a:lnTo>
                    <a:pt x="1183183" y="335"/>
                  </a:lnTo>
                  <a:lnTo>
                    <a:pt x="1186557" y="1006"/>
                  </a:lnTo>
                  <a:lnTo>
                    <a:pt x="1189931" y="1677"/>
                  </a:lnTo>
                  <a:lnTo>
                    <a:pt x="1193207" y="2671"/>
                  </a:lnTo>
                  <a:lnTo>
                    <a:pt x="1196385" y="3987"/>
                  </a:lnTo>
                  <a:lnTo>
                    <a:pt x="1199563" y="5304"/>
                  </a:lnTo>
                  <a:lnTo>
                    <a:pt x="1213380" y="15343"/>
                  </a:lnTo>
                  <a:lnTo>
                    <a:pt x="1215813" y="17776"/>
                  </a:lnTo>
                  <a:lnTo>
                    <a:pt x="1217984" y="20422"/>
                  </a:lnTo>
                  <a:lnTo>
                    <a:pt x="1219895" y="23282"/>
                  </a:lnTo>
                  <a:lnTo>
                    <a:pt x="1221806" y="26142"/>
                  </a:lnTo>
                  <a:lnTo>
                    <a:pt x="1223420" y="29161"/>
                  </a:lnTo>
                  <a:lnTo>
                    <a:pt x="1224736" y="32339"/>
                  </a:lnTo>
                  <a:lnTo>
                    <a:pt x="1226053" y="35517"/>
                  </a:lnTo>
                  <a:lnTo>
                    <a:pt x="1227047" y="38793"/>
                  </a:lnTo>
                  <a:lnTo>
                    <a:pt x="1227718" y="42167"/>
                  </a:lnTo>
                  <a:lnTo>
                    <a:pt x="1228389" y="45540"/>
                  </a:lnTo>
                  <a:lnTo>
                    <a:pt x="1228724" y="48947"/>
                  </a:lnTo>
                  <a:lnTo>
                    <a:pt x="1228724" y="52387"/>
                  </a:lnTo>
                  <a:lnTo>
                    <a:pt x="1228724" y="157162"/>
                  </a:lnTo>
                  <a:lnTo>
                    <a:pt x="1228724" y="160602"/>
                  </a:lnTo>
                  <a:lnTo>
                    <a:pt x="1228389" y="164009"/>
                  </a:lnTo>
                  <a:lnTo>
                    <a:pt x="1227718" y="167382"/>
                  </a:lnTo>
                  <a:lnTo>
                    <a:pt x="1227047" y="170756"/>
                  </a:lnTo>
                  <a:lnTo>
                    <a:pt x="1219895" y="186267"/>
                  </a:lnTo>
                  <a:lnTo>
                    <a:pt x="1217984" y="189127"/>
                  </a:lnTo>
                  <a:lnTo>
                    <a:pt x="1186557" y="208543"/>
                  </a:lnTo>
                  <a:lnTo>
                    <a:pt x="1183183" y="209214"/>
                  </a:lnTo>
                  <a:lnTo>
                    <a:pt x="1179777" y="209549"/>
                  </a:lnTo>
                  <a:lnTo>
                    <a:pt x="1176337" y="209549"/>
                  </a:lnTo>
                  <a:lnTo>
                    <a:pt x="52387" y="209549"/>
                  </a:lnTo>
                  <a:lnTo>
                    <a:pt x="48947" y="209549"/>
                  </a:lnTo>
                  <a:lnTo>
                    <a:pt x="45540" y="209214"/>
                  </a:lnTo>
                  <a:lnTo>
                    <a:pt x="42167" y="208543"/>
                  </a:lnTo>
                  <a:lnTo>
                    <a:pt x="38793" y="207872"/>
                  </a:lnTo>
                  <a:lnTo>
                    <a:pt x="35517" y="206878"/>
                  </a:lnTo>
                  <a:lnTo>
                    <a:pt x="32339" y="205562"/>
                  </a:lnTo>
                  <a:lnTo>
                    <a:pt x="29161" y="204245"/>
                  </a:lnTo>
                  <a:lnTo>
                    <a:pt x="8828" y="186267"/>
                  </a:lnTo>
                  <a:lnTo>
                    <a:pt x="6917" y="183407"/>
                  </a:lnTo>
                  <a:lnTo>
                    <a:pt x="0" y="160602"/>
                  </a:lnTo>
                  <a:lnTo>
                    <a:pt x="0" y="157162"/>
                  </a:lnTo>
                  <a:close/>
                </a:path>
              </a:pathLst>
            </a:custGeom>
            <a:ln w="9524">
              <a:solidFill>
                <a:srgbClr val="FF6A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3057475" y="1949450"/>
            <a:ext cx="10795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75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75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Tahoma"/>
                <a:cs typeface="Tahoma"/>
              </a:rPr>
              <a:t>LU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30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95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750" spc="28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300" b="1">
                <a:solidFill>
                  <a:srgbClr val="FF6A5B"/>
                </a:solidFill>
                <a:latin typeface="Tahoma"/>
                <a:cs typeface="Tahoma"/>
              </a:rPr>
              <a:t>↓</a:t>
            </a:r>
            <a:r>
              <a:rPr dirty="0" sz="750" spc="3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95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7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30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0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75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0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70854" y="2767012"/>
            <a:ext cx="657225" cy="219075"/>
            <a:chOff x="170854" y="2767012"/>
            <a:chExt cx="657225" cy="219075"/>
          </a:xfrm>
        </p:grpSpPr>
        <p:sp>
          <p:nvSpPr>
            <p:cNvPr id="50" name="object 50"/>
            <p:cNvSpPr/>
            <p:nvPr/>
          </p:nvSpPr>
          <p:spPr>
            <a:xfrm>
              <a:off x="175617" y="2771774"/>
              <a:ext cx="647700" cy="209550"/>
            </a:xfrm>
            <a:custGeom>
              <a:avLst/>
              <a:gdLst/>
              <a:ahLst/>
              <a:cxnLst/>
              <a:rect l="l" t="t" r="r" b="b"/>
              <a:pathLst>
                <a:path w="647700" h="209550">
                  <a:moveTo>
                    <a:pt x="598752" y="209549"/>
                  </a:moveTo>
                  <a:lnTo>
                    <a:pt x="48947" y="209549"/>
                  </a:lnTo>
                  <a:lnTo>
                    <a:pt x="45540" y="209214"/>
                  </a:lnTo>
                  <a:lnTo>
                    <a:pt x="10739" y="189127"/>
                  </a:lnTo>
                  <a:lnTo>
                    <a:pt x="0" y="160602"/>
                  </a:lnTo>
                  <a:lnTo>
                    <a:pt x="0" y="157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98752" y="0"/>
                  </a:lnTo>
                  <a:lnTo>
                    <a:pt x="634788" y="17776"/>
                  </a:lnTo>
                  <a:lnTo>
                    <a:pt x="647699" y="48947"/>
                  </a:lnTo>
                  <a:lnTo>
                    <a:pt x="647699" y="160602"/>
                  </a:lnTo>
                  <a:lnTo>
                    <a:pt x="629923" y="196638"/>
                  </a:lnTo>
                  <a:lnTo>
                    <a:pt x="602158" y="209214"/>
                  </a:lnTo>
                  <a:lnTo>
                    <a:pt x="598752" y="209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75617" y="2771774"/>
              <a:ext cx="647700" cy="209550"/>
            </a:xfrm>
            <a:custGeom>
              <a:avLst/>
              <a:gdLst/>
              <a:ahLst/>
              <a:cxnLst/>
              <a:rect l="l" t="t" r="r" b="b"/>
              <a:pathLst>
                <a:path w="647700" h="209550">
                  <a:moveTo>
                    <a:pt x="0" y="157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595312" y="0"/>
                  </a:lnTo>
                  <a:lnTo>
                    <a:pt x="598752" y="0"/>
                  </a:lnTo>
                  <a:lnTo>
                    <a:pt x="602158" y="335"/>
                  </a:lnTo>
                  <a:lnTo>
                    <a:pt x="636959" y="20422"/>
                  </a:lnTo>
                  <a:lnTo>
                    <a:pt x="638870" y="23282"/>
                  </a:lnTo>
                  <a:lnTo>
                    <a:pt x="640782" y="26142"/>
                  </a:lnTo>
                  <a:lnTo>
                    <a:pt x="642395" y="29161"/>
                  </a:lnTo>
                  <a:lnTo>
                    <a:pt x="643712" y="32339"/>
                  </a:lnTo>
                  <a:lnTo>
                    <a:pt x="645028" y="35517"/>
                  </a:lnTo>
                  <a:lnTo>
                    <a:pt x="647699" y="52387"/>
                  </a:lnTo>
                  <a:lnTo>
                    <a:pt x="647699" y="157162"/>
                  </a:lnTo>
                  <a:lnTo>
                    <a:pt x="638870" y="186267"/>
                  </a:lnTo>
                  <a:lnTo>
                    <a:pt x="636959" y="189127"/>
                  </a:lnTo>
                  <a:lnTo>
                    <a:pt x="605532" y="208543"/>
                  </a:lnTo>
                  <a:lnTo>
                    <a:pt x="602158" y="209214"/>
                  </a:lnTo>
                  <a:lnTo>
                    <a:pt x="598752" y="209549"/>
                  </a:lnTo>
                  <a:lnTo>
                    <a:pt x="595312" y="209549"/>
                  </a:lnTo>
                  <a:lnTo>
                    <a:pt x="52387" y="209549"/>
                  </a:lnTo>
                  <a:lnTo>
                    <a:pt x="48947" y="209549"/>
                  </a:lnTo>
                  <a:lnTo>
                    <a:pt x="45540" y="209214"/>
                  </a:lnTo>
                  <a:lnTo>
                    <a:pt x="42167" y="208543"/>
                  </a:lnTo>
                  <a:lnTo>
                    <a:pt x="38793" y="207872"/>
                  </a:lnTo>
                  <a:lnTo>
                    <a:pt x="35517" y="206878"/>
                  </a:lnTo>
                  <a:lnTo>
                    <a:pt x="32339" y="205562"/>
                  </a:lnTo>
                  <a:lnTo>
                    <a:pt x="29161" y="204245"/>
                  </a:lnTo>
                  <a:lnTo>
                    <a:pt x="8828" y="186267"/>
                  </a:lnTo>
                  <a:lnTo>
                    <a:pt x="6917" y="183407"/>
                  </a:lnTo>
                  <a:lnTo>
                    <a:pt x="0" y="160602"/>
                  </a:lnTo>
                  <a:lnTo>
                    <a:pt x="0" y="157162"/>
                  </a:lnTo>
                  <a:close/>
                </a:path>
              </a:pathLst>
            </a:custGeom>
            <a:ln w="9524">
              <a:solidFill>
                <a:srgbClr val="FF6A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243879" y="2801937"/>
            <a:ext cx="47942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7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95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9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0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75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FF6A5B"/>
                </a:solidFill>
                <a:latin typeface="Tahoma"/>
                <a:cs typeface="Tahoma"/>
              </a:rPr>
              <a:t>X</a:t>
            </a:r>
            <a:r>
              <a:rPr dirty="0" sz="750" spc="2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Tahoma"/>
                <a:cs typeface="Tahoma"/>
              </a:rPr>
              <a:t>→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771900" y="3948112"/>
            <a:ext cx="2133600" cy="238125"/>
            <a:chOff x="3771900" y="3948112"/>
            <a:chExt cx="2133600" cy="238125"/>
          </a:xfrm>
        </p:grpSpPr>
        <p:sp>
          <p:nvSpPr>
            <p:cNvPr id="54" name="object 54"/>
            <p:cNvSpPr/>
            <p:nvPr/>
          </p:nvSpPr>
          <p:spPr>
            <a:xfrm>
              <a:off x="3776662" y="3952874"/>
              <a:ext cx="1190625" cy="228600"/>
            </a:xfrm>
            <a:custGeom>
              <a:avLst/>
              <a:gdLst/>
              <a:ahLst/>
              <a:cxnLst/>
              <a:rect l="l" t="t" r="r" b="b"/>
              <a:pathLst>
                <a:path w="1190625" h="228600">
                  <a:moveTo>
                    <a:pt x="1141677" y="228599"/>
                  </a:moveTo>
                  <a:lnTo>
                    <a:pt x="48947" y="228599"/>
                  </a:lnTo>
                  <a:lnTo>
                    <a:pt x="45540" y="228264"/>
                  </a:lnTo>
                  <a:lnTo>
                    <a:pt x="10739" y="208177"/>
                  </a:lnTo>
                  <a:lnTo>
                    <a:pt x="0" y="179652"/>
                  </a:lnTo>
                  <a:lnTo>
                    <a:pt x="0" y="1762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141677" y="0"/>
                  </a:lnTo>
                  <a:lnTo>
                    <a:pt x="1177713" y="17776"/>
                  </a:lnTo>
                  <a:lnTo>
                    <a:pt x="1190624" y="48947"/>
                  </a:lnTo>
                  <a:lnTo>
                    <a:pt x="1190624" y="179652"/>
                  </a:lnTo>
                  <a:lnTo>
                    <a:pt x="1172848" y="215688"/>
                  </a:lnTo>
                  <a:lnTo>
                    <a:pt x="1145083" y="228264"/>
                  </a:lnTo>
                  <a:lnTo>
                    <a:pt x="1141677" y="228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776662" y="3952874"/>
              <a:ext cx="1190625" cy="228600"/>
            </a:xfrm>
            <a:custGeom>
              <a:avLst/>
              <a:gdLst/>
              <a:ahLst/>
              <a:cxnLst/>
              <a:rect l="l" t="t" r="r" b="b"/>
              <a:pathLst>
                <a:path w="1190625" h="228600">
                  <a:moveTo>
                    <a:pt x="0" y="1762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138237" y="0"/>
                  </a:lnTo>
                  <a:lnTo>
                    <a:pt x="1141677" y="0"/>
                  </a:lnTo>
                  <a:lnTo>
                    <a:pt x="1145083" y="335"/>
                  </a:lnTo>
                  <a:lnTo>
                    <a:pt x="1148457" y="1006"/>
                  </a:lnTo>
                  <a:lnTo>
                    <a:pt x="1151831" y="1677"/>
                  </a:lnTo>
                  <a:lnTo>
                    <a:pt x="1155107" y="2671"/>
                  </a:lnTo>
                  <a:lnTo>
                    <a:pt x="1158285" y="3987"/>
                  </a:lnTo>
                  <a:lnTo>
                    <a:pt x="1161463" y="5304"/>
                  </a:lnTo>
                  <a:lnTo>
                    <a:pt x="1186636" y="32339"/>
                  </a:lnTo>
                  <a:lnTo>
                    <a:pt x="1187953" y="35517"/>
                  </a:lnTo>
                  <a:lnTo>
                    <a:pt x="1188947" y="38793"/>
                  </a:lnTo>
                  <a:lnTo>
                    <a:pt x="1189618" y="42167"/>
                  </a:lnTo>
                  <a:lnTo>
                    <a:pt x="1190289" y="45540"/>
                  </a:lnTo>
                  <a:lnTo>
                    <a:pt x="1190624" y="48947"/>
                  </a:lnTo>
                  <a:lnTo>
                    <a:pt x="1190624" y="52387"/>
                  </a:lnTo>
                  <a:lnTo>
                    <a:pt x="1190624" y="176212"/>
                  </a:lnTo>
                  <a:lnTo>
                    <a:pt x="1190624" y="179652"/>
                  </a:lnTo>
                  <a:lnTo>
                    <a:pt x="1190289" y="183059"/>
                  </a:lnTo>
                  <a:lnTo>
                    <a:pt x="1189618" y="186432"/>
                  </a:lnTo>
                  <a:lnTo>
                    <a:pt x="1188947" y="189806"/>
                  </a:lnTo>
                  <a:lnTo>
                    <a:pt x="1187953" y="193082"/>
                  </a:lnTo>
                  <a:lnTo>
                    <a:pt x="1186636" y="196260"/>
                  </a:lnTo>
                  <a:lnTo>
                    <a:pt x="1185320" y="199438"/>
                  </a:lnTo>
                  <a:lnTo>
                    <a:pt x="1183706" y="202457"/>
                  </a:lnTo>
                  <a:lnTo>
                    <a:pt x="1181795" y="205317"/>
                  </a:lnTo>
                  <a:lnTo>
                    <a:pt x="1179884" y="208177"/>
                  </a:lnTo>
                  <a:lnTo>
                    <a:pt x="1167342" y="219771"/>
                  </a:lnTo>
                  <a:lnTo>
                    <a:pt x="1164482" y="221682"/>
                  </a:lnTo>
                  <a:lnTo>
                    <a:pt x="1148457" y="227593"/>
                  </a:lnTo>
                  <a:lnTo>
                    <a:pt x="1145083" y="228264"/>
                  </a:lnTo>
                  <a:lnTo>
                    <a:pt x="1141677" y="228599"/>
                  </a:lnTo>
                  <a:lnTo>
                    <a:pt x="1138237" y="228599"/>
                  </a:lnTo>
                  <a:lnTo>
                    <a:pt x="52387" y="228599"/>
                  </a:lnTo>
                  <a:lnTo>
                    <a:pt x="48947" y="228599"/>
                  </a:lnTo>
                  <a:lnTo>
                    <a:pt x="45540" y="228264"/>
                  </a:lnTo>
                  <a:lnTo>
                    <a:pt x="42167" y="227593"/>
                  </a:lnTo>
                  <a:lnTo>
                    <a:pt x="38793" y="226922"/>
                  </a:lnTo>
                  <a:lnTo>
                    <a:pt x="35517" y="225928"/>
                  </a:lnTo>
                  <a:lnTo>
                    <a:pt x="32339" y="224612"/>
                  </a:lnTo>
                  <a:lnTo>
                    <a:pt x="29161" y="223295"/>
                  </a:lnTo>
                  <a:lnTo>
                    <a:pt x="3987" y="196260"/>
                  </a:lnTo>
                  <a:lnTo>
                    <a:pt x="2671" y="193082"/>
                  </a:lnTo>
                  <a:lnTo>
                    <a:pt x="1677" y="189806"/>
                  </a:lnTo>
                  <a:lnTo>
                    <a:pt x="1006" y="186432"/>
                  </a:lnTo>
                  <a:lnTo>
                    <a:pt x="335" y="183059"/>
                  </a:lnTo>
                  <a:lnTo>
                    <a:pt x="0" y="179652"/>
                  </a:lnTo>
                  <a:lnTo>
                    <a:pt x="0" y="176212"/>
                  </a:lnTo>
                  <a:close/>
                </a:path>
              </a:pathLst>
            </a:custGeom>
            <a:ln w="9524">
              <a:solidFill>
                <a:srgbClr val="FF6A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4376737" y="3952874"/>
              <a:ext cx="1524000" cy="228600"/>
            </a:xfrm>
            <a:custGeom>
              <a:avLst/>
              <a:gdLst/>
              <a:ahLst/>
              <a:cxnLst/>
              <a:rect l="l" t="t" r="r" b="b"/>
              <a:pathLst>
                <a:path w="1524000" h="228600">
                  <a:moveTo>
                    <a:pt x="1475052" y="228599"/>
                  </a:moveTo>
                  <a:lnTo>
                    <a:pt x="48947" y="228599"/>
                  </a:lnTo>
                  <a:lnTo>
                    <a:pt x="45540" y="228264"/>
                  </a:lnTo>
                  <a:lnTo>
                    <a:pt x="10739" y="208177"/>
                  </a:lnTo>
                  <a:lnTo>
                    <a:pt x="0" y="179652"/>
                  </a:lnTo>
                  <a:lnTo>
                    <a:pt x="0" y="1762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475052" y="0"/>
                  </a:lnTo>
                  <a:lnTo>
                    <a:pt x="1511088" y="17776"/>
                  </a:lnTo>
                  <a:lnTo>
                    <a:pt x="1523999" y="48947"/>
                  </a:lnTo>
                  <a:lnTo>
                    <a:pt x="1523999" y="179652"/>
                  </a:lnTo>
                  <a:lnTo>
                    <a:pt x="1506223" y="215688"/>
                  </a:lnTo>
                  <a:lnTo>
                    <a:pt x="1478458" y="228264"/>
                  </a:lnTo>
                  <a:lnTo>
                    <a:pt x="1475052" y="228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376737" y="3952874"/>
              <a:ext cx="1524000" cy="228600"/>
            </a:xfrm>
            <a:custGeom>
              <a:avLst/>
              <a:gdLst/>
              <a:ahLst/>
              <a:cxnLst/>
              <a:rect l="l" t="t" r="r" b="b"/>
              <a:pathLst>
                <a:path w="1524000" h="228600">
                  <a:moveTo>
                    <a:pt x="0" y="1762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471612" y="0"/>
                  </a:lnTo>
                  <a:lnTo>
                    <a:pt x="1475052" y="0"/>
                  </a:lnTo>
                  <a:lnTo>
                    <a:pt x="1478458" y="335"/>
                  </a:lnTo>
                  <a:lnTo>
                    <a:pt x="1481832" y="1006"/>
                  </a:lnTo>
                  <a:lnTo>
                    <a:pt x="1485206" y="1677"/>
                  </a:lnTo>
                  <a:lnTo>
                    <a:pt x="1488482" y="2671"/>
                  </a:lnTo>
                  <a:lnTo>
                    <a:pt x="1491659" y="3987"/>
                  </a:lnTo>
                  <a:lnTo>
                    <a:pt x="1494837" y="5304"/>
                  </a:lnTo>
                  <a:lnTo>
                    <a:pt x="1497856" y="6917"/>
                  </a:lnTo>
                  <a:lnTo>
                    <a:pt x="1500716" y="8828"/>
                  </a:lnTo>
                  <a:lnTo>
                    <a:pt x="1503577" y="10739"/>
                  </a:lnTo>
                  <a:lnTo>
                    <a:pt x="1520011" y="32339"/>
                  </a:lnTo>
                  <a:lnTo>
                    <a:pt x="1521328" y="35517"/>
                  </a:lnTo>
                  <a:lnTo>
                    <a:pt x="1523999" y="52387"/>
                  </a:lnTo>
                  <a:lnTo>
                    <a:pt x="1523999" y="176212"/>
                  </a:lnTo>
                  <a:lnTo>
                    <a:pt x="1520011" y="196260"/>
                  </a:lnTo>
                  <a:lnTo>
                    <a:pt x="1518695" y="199438"/>
                  </a:lnTo>
                  <a:lnTo>
                    <a:pt x="1500716" y="219771"/>
                  </a:lnTo>
                  <a:lnTo>
                    <a:pt x="1497856" y="221682"/>
                  </a:lnTo>
                  <a:lnTo>
                    <a:pt x="1494837" y="223295"/>
                  </a:lnTo>
                  <a:lnTo>
                    <a:pt x="1491659" y="224612"/>
                  </a:lnTo>
                  <a:lnTo>
                    <a:pt x="1488482" y="225928"/>
                  </a:lnTo>
                  <a:lnTo>
                    <a:pt x="1471612" y="228599"/>
                  </a:lnTo>
                  <a:lnTo>
                    <a:pt x="52387" y="228599"/>
                  </a:lnTo>
                  <a:lnTo>
                    <a:pt x="48947" y="228599"/>
                  </a:lnTo>
                  <a:lnTo>
                    <a:pt x="45540" y="228264"/>
                  </a:lnTo>
                  <a:lnTo>
                    <a:pt x="42167" y="227593"/>
                  </a:lnTo>
                  <a:lnTo>
                    <a:pt x="38793" y="226922"/>
                  </a:lnTo>
                  <a:lnTo>
                    <a:pt x="35517" y="225928"/>
                  </a:lnTo>
                  <a:lnTo>
                    <a:pt x="32339" y="224612"/>
                  </a:lnTo>
                  <a:lnTo>
                    <a:pt x="29161" y="223295"/>
                  </a:lnTo>
                  <a:lnTo>
                    <a:pt x="3987" y="196260"/>
                  </a:lnTo>
                  <a:lnTo>
                    <a:pt x="2671" y="193082"/>
                  </a:lnTo>
                  <a:lnTo>
                    <a:pt x="1677" y="189806"/>
                  </a:lnTo>
                  <a:lnTo>
                    <a:pt x="1006" y="186432"/>
                  </a:lnTo>
                  <a:lnTo>
                    <a:pt x="335" y="183059"/>
                  </a:lnTo>
                  <a:lnTo>
                    <a:pt x="0" y="179652"/>
                  </a:lnTo>
                  <a:lnTo>
                    <a:pt x="0" y="176212"/>
                  </a:lnTo>
                  <a:close/>
                </a:path>
              </a:pathLst>
            </a:custGeom>
            <a:ln w="9524">
              <a:solidFill>
                <a:srgbClr val="FF6A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3840757" y="3983037"/>
            <a:ext cx="197612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40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75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75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75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FF6A5B"/>
                </a:solidFill>
                <a:latin typeface="Tahoma"/>
                <a:cs typeface="Tahoma"/>
              </a:rPr>
              <a:t>W</a:t>
            </a:r>
            <a:r>
              <a:rPr dirty="0" sz="750" spc="3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FF6A5B"/>
                </a:solidFill>
                <a:latin typeface="Tahoma"/>
                <a:cs typeface="Tahoma"/>
              </a:rPr>
              <a:t>←</a:t>
            </a:r>
            <a:r>
              <a:rPr dirty="0" sz="750" spc="3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FF6A5B"/>
                </a:solidFill>
                <a:latin typeface="Courier New"/>
                <a:cs typeface="Courier New"/>
              </a:rPr>
              <a:t>D</a:t>
            </a:r>
            <a:r>
              <a:rPr dirty="0" sz="650" spc="-29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650" b="1">
                <a:solidFill>
                  <a:srgbClr val="FF6A5B"/>
                </a:solidFill>
                <a:latin typeface="Courier New"/>
                <a:cs typeface="Courier New"/>
              </a:rPr>
              <a:t>F</a:t>
            </a:r>
            <a:r>
              <a:rPr dirty="0" sz="650" spc="-28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650" spc="-200" b="1">
                <a:solidFill>
                  <a:srgbClr val="FF6A5B"/>
                </a:solidFill>
                <a:latin typeface="Courier New"/>
                <a:cs typeface="Courier New"/>
              </a:rPr>
              <a:t>.</a:t>
            </a:r>
            <a:r>
              <a:rPr dirty="0" sz="750" spc="-200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650" spc="-200" b="1">
                <a:solidFill>
                  <a:srgbClr val="FF6A5B"/>
                </a:solidFill>
                <a:latin typeface="Courier New"/>
                <a:cs typeface="Courier New"/>
              </a:rPr>
              <a:t>L</a:t>
            </a:r>
            <a:r>
              <a:rPr dirty="0" sz="750" spc="-20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650" spc="-200" b="1">
                <a:solidFill>
                  <a:srgbClr val="FF6A5B"/>
                </a:solidFill>
                <a:latin typeface="Courier New"/>
                <a:cs typeface="Courier New"/>
              </a:rPr>
              <a:t>O</a:t>
            </a:r>
            <a:r>
              <a:rPr dirty="0" sz="750" spc="-20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650" spc="-200" b="1">
                <a:solidFill>
                  <a:srgbClr val="FF6A5B"/>
                </a:solidFill>
                <a:latin typeface="Courier New"/>
                <a:cs typeface="Courier New"/>
              </a:rPr>
              <a:t>C</a:t>
            </a:r>
            <a:r>
              <a:rPr dirty="0" sz="750" spc="-200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650" spc="-200" b="1">
                <a:solidFill>
                  <a:srgbClr val="FF6A5B"/>
                </a:solidFill>
                <a:latin typeface="Courier New"/>
                <a:cs typeface="Courier New"/>
              </a:rPr>
              <a:t>[</a:t>
            </a:r>
            <a:r>
              <a:rPr dirty="0" sz="750" spc="-200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650" spc="-200" b="1">
                <a:solidFill>
                  <a:srgbClr val="FF6A5B"/>
                </a:solidFill>
                <a:latin typeface="Courier New"/>
                <a:cs typeface="Courier New"/>
              </a:rPr>
              <a:t>1</a:t>
            </a:r>
            <a:r>
              <a:rPr dirty="0" sz="650" spc="-29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750" spc="-57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sz="650" spc="10" b="1">
                <a:solidFill>
                  <a:srgbClr val="FF6A5B"/>
                </a:solidFill>
                <a:latin typeface="Courier New"/>
                <a:cs typeface="Courier New"/>
              </a:rPr>
              <a:t>]</a:t>
            </a:r>
            <a:r>
              <a:rPr dirty="0" sz="650" spc="229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750" spc="300" b="1">
                <a:solidFill>
                  <a:srgbClr val="FF6A5B"/>
                </a:solidFill>
                <a:latin typeface="Tahoma"/>
                <a:cs typeface="Tahoma"/>
              </a:rPr>
              <a:t>↑</a:t>
            </a:r>
            <a:r>
              <a:rPr dirty="0" sz="750" spc="3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FF6A5B"/>
                </a:solidFill>
                <a:latin typeface="Courier New"/>
                <a:cs typeface="Courier New"/>
              </a:rPr>
              <a:t>D</a:t>
            </a:r>
            <a:r>
              <a:rPr dirty="0" sz="650" spc="-29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650" b="1">
                <a:solidFill>
                  <a:srgbClr val="FF6A5B"/>
                </a:solidFill>
                <a:latin typeface="Courier New"/>
                <a:cs typeface="Courier New"/>
              </a:rPr>
              <a:t>F</a:t>
            </a:r>
            <a:r>
              <a:rPr dirty="0" sz="650" spc="-28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650" b="1">
                <a:solidFill>
                  <a:srgbClr val="FF6A5B"/>
                </a:solidFill>
                <a:latin typeface="Courier New"/>
                <a:cs typeface="Courier New"/>
              </a:rPr>
              <a:t>[</a:t>
            </a:r>
            <a:r>
              <a:rPr dirty="0" sz="650" spc="-29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650" b="1">
                <a:solidFill>
                  <a:srgbClr val="FF6A5B"/>
                </a:solidFill>
                <a:latin typeface="Courier New"/>
                <a:cs typeface="Courier New"/>
              </a:rPr>
              <a:t>"</a:t>
            </a:r>
            <a:r>
              <a:rPr dirty="0" sz="650" spc="-28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650" b="1">
                <a:solidFill>
                  <a:srgbClr val="FF6A5B"/>
                </a:solidFill>
                <a:latin typeface="Courier New"/>
                <a:cs typeface="Courier New"/>
              </a:rPr>
              <a:t>M</a:t>
            </a:r>
            <a:r>
              <a:rPr dirty="0" sz="650" spc="-29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650" b="1">
                <a:solidFill>
                  <a:srgbClr val="FF6A5B"/>
                </a:solidFill>
                <a:latin typeface="Courier New"/>
                <a:cs typeface="Courier New"/>
              </a:rPr>
              <a:t>A</a:t>
            </a:r>
            <a:r>
              <a:rPr dirty="0" sz="650" spc="-28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650" b="1">
                <a:solidFill>
                  <a:srgbClr val="FF6A5B"/>
                </a:solidFill>
                <a:latin typeface="Courier New"/>
                <a:cs typeface="Courier New"/>
              </a:rPr>
              <a:t>R</a:t>
            </a:r>
            <a:r>
              <a:rPr dirty="0" sz="650" spc="-29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650" b="1">
                <a:solidFill>
                  <a:srgbClr val="FF6A5B"/>
                </a:solidFill>
                <a:latin typeface="Courier New"/>
                <a:cs typeface="Courier New"/>
              </a:rPr>
              <a:t>K</a:t>
            </a:r>
            <a:r>
              <a:rPr dirty="0" sz="650" spc="-28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650" b="1">
                <a:solidFill>
                  <a:srgbClr val="FF6A5B"/>
                </a:solidFill>
                <a:latin typeface="Courier New"/>
                <a:cs typeface="Courier New"/>
              </a:rPr>
              <a:t>S</a:t>
            </a:r>
            <a:r>
              <a:rPr dirty="0" sz="650" spc="-29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650" b="1">
                <a:solidFill>
                  <a:srgbClr val="FF6A5B"/>
                </a:solidFill>
                <a:latin typeface="Courier New"/>
                <a:cs typeface="Courier New"/>
              </a:rPr>
              <a:t>"</a:t>
            </a:r>
            <a:r>
              <a:rPr dirty="0" sz="650" spc="-28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650" spc="-50" b="1">
                <a:solidFill>
                  <a:srgbClr val="FF6A5B"/>
                </a:solidFill>
                <a:latin typeface="Courier New"/>
                <a:cs typeface="Courier New"/>
              </a:rPr>
              <a:t>]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0</a:t>
            </a:r>
            <a:r>
              <a:rPr dirty="0" spc="-110"/>
              <a:t> </a:t>
            </a:r>
            <a:fld id="{81D60167-4931-47E6-BA6A-407CBD079E47}" type="slidenum">
              <a:rPr dirty="0"/>
              <a:t>2</a:t>
            </a:fld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" y="647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5500" y="587375"/>
            <a:ext cx="16998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r>
              <a:rPr dirty="0" sz="900" spc="22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ATA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66949" y="857249"/>
            <a:ext cx="1219200" cy="295275"/>
          </a:xfrm>
          <a:custGeom>
            <a:avLst/>
            <a:gdLst/>
            <a:ahLst/>
            <a:cxnLst/>
            <a:rect l="l" t="t" r="r" b="b"/>
            <a:pathLst>
              <a:path w="1219200" h="295275">
                <a:moveTo>
                  <a:pt x="1177890" y="295274"/>
                </a:moveTo>
                <a:lnTo>
                  <a:pt x="41309" y="295274"/>
                </a:lnTo>
                <a:lnTo>
                  <a:pt x="35234" y="294066"/>
                </a:lnTo>
                <a:lnTo>
                  <a:pt x="1208" y="260040"/>
                </a:lnTo>
                <a:lnTo>
                  <a:pt x="0" y="253965"/>
                </a:lnTo>
                <a:lnTo>
                  <a:pt x="0" y="247649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1177890" y="0"/>
                </a:lnTo>
                <a:lnTo>
                  <a:pt x="1213157" y="23564"/>
                </a:lnTo>
                <a:lnTo>
                  <a:pt x="1219199" y="41309"/>
                </a:lnTo>
                <a:lnTo>
                  <a:pt x="1219199" y="253965"/>
                </a:lnTo>
                <a:lnTo>
                  <a:pt x="1195634" y="289232"/>
                </a:lnTo>
                <a:lnTo>
                  <a:pt x="1183965" y="294066"/>
                </a:lnTo>
                <a:lnTo>
                  <a:pt x="1177890" y="2952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4">
                <a:solidFill>
                  <a:srgbClr val="293283"/>
                </a:solidFill>
              </a:rPr>
              <a:t>Three</a:t>
            </a:r>
            <a:r>
              <a:rPr dirty="0" spc="-204">
                <a:solidFill>
                  <a:srgbClr val="293283"/>
                </a:solidFill>
              </a:rPr>
              <a:t> </a:t>
            </a:r>
            <a:r>
              <a:rPr dirty="0" spc="-180">
                <a:solidFill>
                  <a:srgbClr val="293283"/>
                </a:solidFill>
              </a:rPr>
              <a:t>loaders.</a:t>
            </a:r>
            <a:r>
              <a:rPr dirty="0" spc="165">
                <a:solidFill>
                  <a:srgbClr val="293283"/>
                </a:solidFill>
              </a:rPr>
              <a:t> </a:t>
            </a:r>
            <a:r>
              <a:rPr dirty="0" sz="1800" spc="-10">
                <a:latin typeface="Courier New"/>
                <a:cs typeface="Courier New"/>
              </a:rPr>
              <a:t>read_csv</a:t>
            </a:r>
            <a:r>
              <a:rPr dirty="0" sz="1800" spc="-125">
                <a:latin typeface="Courier New"/>
                <a:cs typeface="Courier New"/>
              </a:rPr>
              <a:t> </a:t>
            </a:r>
            <a:r>
              <a:rPr dirty="0" spc="-254">
                <a:solidFill>
                  <a:srgbClr val="293283"/>
                </a:solidFill>
              </a:rPr>
              <a:t>covers</a:t>
            </a:r>
            <a:r>
              <a:rPr dirty="0" spc="-204">
                <a:solidFill>
                  <a:srgbClr val="293283"/>
                </a:solidFill>
              </a:rPr>
              <a:t> </a:t>
            </a:r>
            <a:r>
              <a:rPr dirty="0" spc="-550">
                <a:solidFill>
                  <a:srgbClr val="293283"/>
                </a:solidFill>
              </a:rPr>
              <a:t>90%</a:t>
            </a:r>
            <a:r>
              <a:rPr dirty="0" spc="-204">
                <a:solidFill>
                  <a:srgbClr val="293283"/>
                </a:solidFill>
              </a:rPr>
              <a:t> </a:t>
            </a:r>
            <a:r>
              <a:rPr dirty="0" spc="-185">
                <a:solidFill>
                  <a:srgbClr val="293283"/>
                </a:solidFill>
              </a:rPr>
              <a:t>of</a:t>
            </a:r>
            <a:r>
              <a:rPr dirty="0" spc="-204">
                <a:solidFill>
                  <a:srgbClr val="293283"/>
                </a:solidFill>
              </a:rPr>
              <a:t> </a:t>
            </a:r>
            <a:r>
              <a:rPr dirty="0" spc="-260">
                <a:solidFill>
                  <a:srgbClr val="293283"/>
                </a:solidFill>
              </a:rPr>
              <a:t>what</a:t>
            </a:r>
            <a:r>
              <a:rPr dirty="0" spc="-204">
                <a:solidFill>
                  <a:srgbClr val="293283"/>
                </a:solidFill>
              </a:rPr>
              <a:t> </a:t>
            </a:r>
            <a:r>
              <a:rPr dirty="0" spc="-245">
                <a:solidFill>
                  <a:srgbClr val="293283"/>
                </a:solidFill>
              </a:rPr>
              <a:t>you</a:t>
            </a:r>
            <a:r>
              <a:rPr dirty="0" spc="-204">
                <a:solidFill>
                  <a:srgbClr val="293283"/>
                </a:solidFill>
              </a:rPr>
              <a:t> will </a:t>
            </a:r>
            <a:r>
              <a:rPr dirty="0" spc="-240">
                <a:solidFill>
                  <a:srgbClr val="293283"/>
                </a:solidFill>
              </a:rPr>
              <a:t>ever</a:t>
            </a:r>
            <a:r>
              <a:rPr dirty="0" spc="-204">
                <a:solidFill>
                  <a:srgbClr val="293283"/>
                </a:solidFill>
              </a:rPr>
              <a:t> </a:t>
            </a:r>
            <a:r>
              <a:rPr dirty="0" spc="-25">
                <a:solidFill>
                  <a:srgbClr val="293283"/>
                </a:solidFill>
              </a:rPr>
              <a:t>do.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099" y="1177925"/>
            <a:ext cx="7738109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pandas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4A4E6A"/>
                </a:solidFill>
                <a:latin typeface="Trebuchet MS"/>
                <a:cs typeface="Trebuchet MS"/>
              </a:rPr>
              <a:t>can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4A4E6A"/>
                </a:solidFill>
                <a:latin typeface="Trebuchet MS"/>
                <a:cs typeface="Trebuchet MS"/>
              </a:rPr>
              <a:t>read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95">
                <a:solidFill>
                  <a:srgbClr val="4A4E6A"/>
                </a:solidFill>
                <a:latin typeface="Trebuchet MS"/>
                <a:cs typeface="Trebuchet MS"/>
              </a:rPr>
              <a:t>CSV,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95">
                <a:solidFill>
                  <a:srgbClr val="4A4E6A"/>
                </a:solidFill>
                <a:latin typeface="Trebuchet MS"/>
                <a:cs typeface="Trebuchet MS"/>
              </a:rPr>
              <a:t>Excel,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85">
                <a:solidFill>
                  <a:srgbClr val="4A4E6A"/>
                </a:solidFill>
                <a:latin typeface="Trebuchet MS"/>
                <a:cs typeface="Trebuchet MS"/>
              </a:rPr>
              <a:t>JSON,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5">
                <a:solidFill>
                  <a:srgbClr val="4A4E6A"/>
                </a:solidFill>
                <a:latin typeface="Trebuchet MS"/>
                <a:cs typeface="Trebuchet MS"/>
              </a:rPr>
              <a:t>SQL,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rebuchet MS"/>
                <a:cs typeface="Trebuchet MS"/>
              </a:rPr>
              <a:t>HTML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80">
                <a:solidFill>
                  <a:srgbClr val="4A4E6A"/>
                </a:solidFill>
                <a:latin typeface="Trebuchet MS"/>
                <a:cs typeface="Trebuchet MS"/>
              </a:rPr>
              <a:t>tables,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80">
                <a:solidFill>
                  <a:srgbClr val="4A4E6A"/>
                </a:solidFill>
                <a:latin typeface="Trebuchet MS"/>
                <a:cs typeface="Trebuchet MS"/>
              </a:rPr>
              <a:t>Parquet,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a </a:t>
            </a:r>
            <a:r>
              <a:rPr dirty="0" sz="1050" spc="-70">
                <a:solidFill>
                  <a:srgbClr val="4A4E6A"/>
                </a:solidFill>
                <a:latin typeface="Trebuchet MS"/>
                <a:cs typeface="Trebuchet MS"/>
              </a:rPr>
              <a:t>dozen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other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5">
                <a:solidFill>
                  <a:srgbClr val="4A4E6A"/>
                </a:solidFill>
                <a:latin typeface="Trebuchet MS"/>
                <a:cs typeface="Trebuchet MS"/>
              </a:rPr>
              <a:t>formats.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40">
                <a:solidFill>
                  <a:srgbClr val="4A4E6A"/>
                </a:solidFill>
                <a:latin typeface="Trebuchet MS"/>
                <a:cs typeface="Trebuchet MS"/>
              </a:rPr>
              <a:t>In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this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4A4E6A"/>
                </a:solidFill>
                <a:latin typeface="Trebuchet MS"/>
                <a:cs typeface="Trebuchet MS"/>
              </a:rPr>
              <a:t>program,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45">
                <a:solidFill>
                  <a:srgbClr val="4A4E6A"/>
                </a:solidFill>
                <a:latin typeface="Trebuchet MS"/>
                <a:cs typeface="Trebuchet MS"/>
              </a:rPr>
              <a:t>you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5">
                <a:solidFill>
                  <a:srgbClr val="4A4E6A"/>
                </a:solidFill>
                <a:latin typeface="Trebuchet MS"/>
                <a:cs typeface="Trebuchet MS"/>
              </a:rPr>
              <a:t>will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use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80">
                <a:solidFill>
                  <a:srgbClr val="4A4E6A"/>
                </a:solidFill>
                <a:latin typeface="Trebuchet MS"/>
                <a:cs typeface="Trebuchet MS"/>
              </a:rPr>
              <a:t>three.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35">
                <a:solidFill>
                  <a:srgbClr val="4A4E6A"/>
                </a:solidFill>
                <a:latin typeface="Trebuchet MS"/>
                <a:cs typeface="Trebuchet MS"/>
              </a:rPr>
              <a:t>Master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those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10">
                <a:solidFill>
                  <a:srgbClr val="4A4E6A"/>
                </a:solidFill>
                <a:latin typeface="Trebuchet MS"/>
                <a:cs typeface="Trebuchet MS"/>
              </a:rPr>
              <a:t>three.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5799" y="1504950"/>
            <a:ext cx="4791075" cy="1000125"/>
            <a:chOff x="685799" y="1504950"/>
            <a:chExt cx="4791075" cy="1000125"/>
          </a:xfrm>
        </p:grpSpPr>
        <p:sp>
          <p:nvSpPr>
            <p:cNvPr id="8" name="object 8"/>
            <p:cNvSpPr/>
            <p:nvPr/>
          </p:nvSpPr>
          <p:spPr>
            <a:xfrm>
              <a:off x="704849" y="1509712"/>
              <a:ext cx="4767580" cy="990600"/>
            </a:xfrm>
            <a:custGeom>
              <a:avLst/>
              <a:gdLst/>
              <a:ahLst/>
              <a:cxnLst/>
              <a:rect l="l" t="t" r="r" b="b"/>
              <a:pathLst>
                <a:path w="4767580" h="990600">
                  <a:moveTo>
                    <a:pt x="4664916" y="990599"/>
                  </a:moveTo>
                  <a:lnTo>
                    <a:pt x="88995" y="990599"/>
                  </a:lnTo>
                  <a:lnTo>
                    <a:pt x="82801" y="989898"/>
                  </a:lnTo>
                  <a:lnTo>
                    <a:pt x="37131" y="968143"/>
                  </a:lnTo>
                  <a:lnTo>
                    <a:pt x="12577" y="935937"/>
                  </a:lnTo>
                  <a:lnTo>
                    <a:pt x="610" y="895377"/>
                  </a:lnTo>
                  <a:lnTo>
                    <a:pt x="0" y="888254"/>
                  </a:lnTo>
                  <a:lnTo>
                    <a:pt x="0" y="881062"/>
                  </a:lnTo>
                  <a:lnTo>
                    <a:pt x="0" y="102345"/>
                  </a:lnTo>
                  <a:lnTo>
                    <a:pt x="9643" y="60974"/>
                  </a:lnTo>
                  <a:lnTo>
                    <a:pt x="32320" y="26996"/>
                  </a:lnTo>
                  <a:lnTo>
                    <a:pt x="64577" y="5585"/>
                  </a:lnTo>
                  <a:lnTo>
                    <a:pt x="88995" y="0"/>
                  </a:lnTo>
                  <a:lnTo>
                    <a:pt x="4664916" y="0"/>
                  </a:lnTo>
                  <a:lnTo>
                    <a:pt x="4706286" y="11090"/>
                  </a:lnTo>
                  <a:lnTo>
                    <a:pt x="4740264" y="37168"/>
                  </a:lnTo>
                  <a:lnTo>
                    <a:pt x="4761675" y="74263"/>
                  </a:lnTo>
                  <a:lnTo>
                    <a:pt x="4767262" y="102345"/>
                  </a:lnTo>
                  <a:lnTo>
                    <a:pt x="4767262" y="888254"/>
                  </a:lnTo>
                  <a:lnTo>
                    <a:pt x="4756170" y="929625"/>
                  </a:lnTo>
                  <a:lnTo>
                    <a:pt x="4730093" y="963602"/>
                  </a:lnTo>
                  <a:lnTo>
                    <a:pt x="4692997" y="985013"/>
                  </a:lnTo>
                  <a:lnTo>
                    <a:pt x="4672040" y="989898"/>
                  </a:lnTo>
                  <a:lnTo>
                    <a:pt x="4664916" y="990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44016" y="1504949"/>
              <a:ext cx="4733290" cy="1000125"/>
            </a:xfrm>
            <a:custGeom>
              <a:avLst/>
              <a:gdLst/>
              <a:ahLst/>
              <a:cxnLst/>
              <a:rect l="l" t="t" r="r" b="b"/>
              <a:pathLst>
                <a:path w="4733290" h="1000125">
                  <a:moveTo>
                    <a:pt x="4732845" y="114300"/>
                  </a:moveTo>
                  <a:lnTo>
                    <a:pt x="4724146" y="70561"/>
                  </a:lnTo>
                  <a:lnTo>
                    <a:pt x="4699813" y="33997"/>
                  </a:lnTo>
                  <a:lnTo>
                    <a:pt x="4664037" y="9525"/>
                  </a:lnTo>
                  <a:lnTo>
                    <a:pt x="4618545" y="0"/>
                  </a:lnTo>
                  <a:lnTo>
                    <a:pt x="56070" y="0"/>
                  </a:lnTo>
                  <a:lnTo>
                    <a:pt x="12331" y="8712"/>
                  </a:lnTo>
                  <a:lnTo>
                    <a:pt x="0" y="14795"/>
                  </a:lnTo>
                  <a:lnTo>
                    <a:pt x="22440" y="20408"/>
                  </a:lnTo>
                  <a:lnTo>
                    <a:pt x="26911" y="17500"/>
                  </a:lnTo>
                  <a:lnTo>
                    <a:pt x="33985" y="14020"/>
                  </a:lnTo>
                  <a:lnTo>
                    <a:pt x="41211" y="11518"/>
                  </a:lnTo>
                  <a:lnTo>
                    <a:pt x="48564" y="10033"/>
                  </a:lnTo>
                  <a:lnTo>
                    <a:pt x="56070" y="9525"/>
                  </a:lnTo>
                  <a:lnTo>
                    <a:pt x="4618545" y="9525"/>
                  </a:lnTo>
                  <a:lnTo>
                    <a:pt x="4658652" y="17500"/>
                  </a:lnTo>
                  <a:lnTo>
                    <a:pt x="4692637" y="40220"/>
                  </a:lnTo>
                  <a:lnTo>
                    <a:pt x="4715345" y="74206"/>
                  </a:lnTo>
                  <a:lnTo>
                    <a:pt x="4723320" y="114300"/>
                  </a:lnTo>
                  <a:lnTo>
                    <a:pt x="4723320" y="885825"/>
                  </a:lnTo>
                  <a:lnTo>
                    <a:pt x="4715345" y="925931"/>
                  </a:lnTo>
                  <a:lnTo>
                    <a:pt x="4693094" y="959421"/>
                  </a:lnTo>
                  <a:lnTo>
                    <a:pt x="4658652" y="982624"/>
                  </a:lnTo>
                  <a:lnTo>
                    <a:pt x="4618545" y="990600"/>
                  </a:lnTo>
                  <a:lnTo>
                    <a:pt x="56070" y="990600"/>
                  </a:lnTo>
                  <a:lnTo>
                    <a:pt x="22440" y="979728"/>
                  </a:lnTo>
                  <a:lnTo>
                    <a:pt x="0" y="985342"/>
                  </a:lnTo>
                  <a:lnTo>
                    <a:pt x="44818" y="999591"/>
                  </a:lnTo>
                  <a:lnTo>
                    <a:pt x="56070" y="1000125"/>
                  </a:lnTo>
                  <a:lnTo>
                    <a:pt x="4618545" y="1000125"/>
                  </a:lnTo>
                  <a:lnTo>
                    <a:pt x="4662297" y="991425"/>
                  </a:lnTo>
                  <a:lnTo>
                    <a:pt x="4664037" y="990600"/>
                  </a:lnTo>
                  <a:lnTo>
                    <a:pt x="4672482" y="986624"/>
                  </a:lnTo>
                  <a:lnTo>
                    <a:pt x="4706950" y="958303"/>
                  </a:lnTo>
                  <a:lnTo>
                    <a:pt x="4727956" y="918959"/>
                  </a:lnTo>
                  <a:lnTo>
                    <a:pt x="4732845" y="885825"/>
                  </a:lnTo>
                  <a:lnTo>
                    <a:pt x="4732845" y="11430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5799" y="1519575"/>
              <a:ext cx="81280" cy="970915"/>
            </a:xfrm>
            <a:custGeom>
              <a:avLst/>
              <a:gdLst/>
              <a:ahLst/>
              <a:cxnLst/>
              <a:rect l="l" t="t" r="r" b="b"/>
              <a:pathLst>
                <a:path w="81279" h="970914">
                  <a:moveTo>
                    <a:pt x="58503" y="970873"/>
                  </a:moveTo>
                  <a:lnTo>
                    <a:pt x="25900" y="943674"/>
                  </a:lnTo>
                  <a:lnTo>
                    <a:pt x="4894" y="904328"/>
                  </a:lnTo>
                  <a:lnTo>
                    <a:pt x="0" y="871199"/>
                  </a:lnTo>
                  <a:lnTo>
                    <a:pt x="0" y="99674"/>
                  </a:lnTo>
                  <a:lnTo>
                    <a:pt x="8700" y="55933"/>
                  </a:lnTo>
                  <a:lnTo>
                    <a:pt x="33477" y="18851"/>
                  </a:lnTo>
                  <a:lnTo>
                    <a:pt x="58503" y="0"/>
                  </a:lnTo>
                  <a:lnTo>
                    <a:pt x="80929" y="5606"/>
                  </a:lnTo>
                  <a:lnTo>
                    <a:pt x="78343" y="7284"/>
                  </a:lnTo>
                  <a:lnTo>
                    <a:pt x="71957" y="12540"/>
                  </a:lnTo>
                  <a:lnTo>
                    <a:pt x="47107" y="50233"/>
                  </a:lnTo>
                  <a:lnTo>
                    <a:pt x="38462" y="89352"/>
                  </a:lnTo>
                  <a:lnTo>
                    <a:pt x="38100" y="99674"/>
                  </a:lnTo>
                  <a:lnTo>
                    <a:pt x="38100" y="871199"/>
                  </a:lnTo>
                  <a:lnTo>
                    <a:pt x="43900" y="911294"/>
                  </a:lnTo>
                  <a:lnTo>
                    <a:pt x="65982" y="952231"/>
                  </a:lnTo>
                  <a:lnTo>
                    <a:pt x="80930" y="965266"/>
                  </a:lnTo>
                  <a:lnTo>
                    <a:pt x="58503" y="970873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57249" y="16287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4" y="51661"/>
                  </a:lnTo>
                  <a:lnTo>
                    <a:pt x="304799" y="71196"/>
                  </a:lnTo>
                  <a:lnTo>
                    <a:pt x="304799" y="233603"/>
                  </a:lnTo>
                  <a:lnTo>
                    <a:pt x="289178" y="275094"/>
                  </a:lnTo>
                  <a:lnTo>
                    <a:pt x="253137" y="300914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9324" y="1708149"/>
              <a:ext cx="120650" cy="1460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76349" y="2200274"/>
              <a:ext cx="600075" cy="180975"/>
            </a:xfrm>
            <a:custGeom>
              <a:avLst/>
              <a:gdLst/>
              <a:ahLst/>
              <a:cxnLst/>
              <a:rect l="l" t="t" r="r" b="b"/>
              <a:pathLst>
                <a:path w="600075" h="180975">
                  <a:moveTo>
                    <a:pt x="515528" y="180974"/>
                  </a:moveTo>
                  <a:lnTo>
                    <a:pt x="84545" y="180974"/>
                  </a:lnTo>
                  <a:lnTo>
                    <a:pt x="78661" y="180395"/>
                  </a:lnTo>
                  <a:lnTo>
                    <a:pt x="35275" y="162423"/>
                  </a:lnTo>
                  <a:lnTo>
                    <a:pt x="9161" y="130604"/>
                  </a:lnTo>
                  <a:lnTo>
                    <a:pt x="0" y="96428"/>
                  </a:lnTo>
                  <a:lnTo>
                    <a:pt x="0" y="90487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15528" y="0"/>
                  </a:lnTo>
                  <a:lnTo>
                    <a:pt x="554919" y="11948"/>
                  </a:lnTo>
                  <a:lnTo>
                    <a:pt x="588125" y="45155"/>
                  </a:lnTo>
                  <a:lnTo>
                    <a:pt x="600074" y="84545"/>
                  </a:lnTo>
                  <a:lnTo>
                    <a:pt x="600074" y="96428"/>
                  </a:lnTo>
                  <a:lnTo>
                    <a:pt x="588125" y="135818"/>
                  </a:lnTo>
                  <a:lnTo>
                    <a:pt x="554919" y="169025"/>
                  </a:lnTo>
                  <a:lnTo>
                    <a:pt x="521413" y="180395"/>
                  </a:lnTo>
                  <a:lnTo>
                    <a:pt x="515528" y="1809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44022" y="1560353"/>
            <a:ext cx="4692650" cy="79883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532130">
              <a:lnSpc>
                <a:spcPct val="100000"/>
              </a:lnSpc>
              <a:spcBef>
                <a:spcPts val="560"/>
              </a:spcBef>
            </a:pPr>
            <a:r>
              <a:rPr dirty="0" sz="950" spc="-10" b="1">
                <a:solidFill>
                  <a:srgbClr val="293283"/>
                </a:solidFill>
                <a:latin typeface="Courier New"/>
                <a:cs typeface="Courier New"/>
              </a:rPr>
              <a:t>pd.read_csv(filepath)</a:t>
            </a:r>
            <a:endParaRPr sz="950">
              <a:latin typeface="Courier New"/>
              <a:cs typeface="Courier New"/>
            </a:endParaRPr>
          </a:p>
          <a:p>
            <a:pPr marL="532130" marR="283845">
              <a:lnSpc>
                <a:spcPct val="118100"/>
              </a:lnSpc>
              <a:spcBef>
                <a:spcPts val="215"/>
              </a:spcBef>
            </a:pP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CSV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files.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most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common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format.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Comma-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separated,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plain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85">
                <a:solidFill>
                  <a:srgbClr val="4A4E6A"/>
                </a:solidFill>
                <a:latin typeface="Trebuchet MS"/>
                <a:cs typeface="Trebuchet MS"/>
              </a:rPr>
              <a:t>text.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What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you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will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use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90%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of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time.</a:t>
            </a:r>
            <a:endParaRPr sz="900">
              <a:latin typeface="Trebuchet MS"/>
              <a:cs typeface="Trebuchet MS"/>
            </a:endParaRPr>
          </a:p>
          <a:p>
            <a:pPr marL="598805">
              <a:lnSpc>
                <a:spcPct val="100000"/>
              </a:lnSpc>
              <a:spcBef>
                <a:spcPts val="695"/>
              </a:spcBef>
              <a:tabLst>
                <a:tab pos="1186815" algn="l"/>
              </a:tabLst>
            </a:pPr>
            <a:r>
              <a:rPr dirty="0" sz="750" spc="-10" b="1">
                <a:solidFill>
                  <a:srgbClr val="FF6A5B"/>
                </a:solidFill>
                <a:latin typeface="Tahoma"/>
                <a:cs typeface="Tahoma"/>
              </a:rPr>
              <a:t>BEST</a:t>
            </a:r>
            <a:r>
              <a:rPr dirty="0" sz="750" spc="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25" b="1">
                <a:solidFill>
                  <a:srgbClr val="FF6A5B"/>
                </a:solidFill>
                <a:latin typeface="Tahoma"/>
                <a:cs typeface="Tahoma"/>
              </a:rPr>
              <a:t>FOR</a:t>
            </a:r>
            <a:r>
              <a:rPr dirty="0" sz="750" b="1">
                <a:solidFill>
                  <a:srgbClr val="FF6A5B"/>
                </a:solidFill>
                <a:latin typeface="Tahoma"/>
                <a:cs typeface="Tahoma"/>
              </a:rPr>
              <a:t>	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Tabular</a:t>
            </a:r>
            <a:r>
              <a:rPr dirty="0" sz="85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data</a:t>
            </a:r>
            <a:r>
              <a:rPr dirty="0" sz="85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exported</a:t>
            </a:r>
            <a:r>
              <a:rPr dirty="0" sz="85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from</a:t>
            </a:r>
            <a:r>
              <a:rPr dirty="0" sz="85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any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tool.</a:t>
            </a:r>
            <a:r>
              <a:rPr dirty="0" sz="85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Logs,</a:t>
            </a:r>
            <a:r>
              <a:rPr dirty="0" sz="85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exports,</a:t>
            </a:r>
            <a:r>
              <a:rPr dirty="0" sz="85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datasets.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85799" y="2600324"/>
            <a:ext cx="4791075" cy="1171575"/>
            <a:chOff x="685799" y="2600324"/>
            <a:chExt cx="4791075" cy="1171575"/>
          </a:xfrm>
        </p:grpSpPr>
        <p:sp>
          <p:nvSpPr>
            <p:cNvPr id="16" name="object 16"/>
            <p:cNvSpPr/>
            <p:nvPr/>
          </p:nvSpPr>
          <p:spPr>
            <a:xfrm>
              <a:off x="690562" y="2605087"/>
              <a:ext cx="4781550" cy="1162050"/>
            </a:xfrm>
            <a:custGeom>
              <a:avLst/>
              <a:gdLst/>
              <a:ahLst/>
              <a:cxnLst/>
              <a:rect l="l" t="t" r="r" b="b"/>
              <a:pathLst>
                <a:path w="4781550" h="1162050">
                  <a:moveTo>
                    <a:pt x="4679204" y="1162049"/>
                  </a:moveTo>
                  <a:lnTo>
                    <a:pt x="102345" y="1162049"/>
                  </a:lnTo>
                  <a:lnTo>
                    <a:pt x="95221" y="1161348"/>
                  </a:lnTo>
                  <a:lnTo>
                    <a:pt x="54661" y="1147585"/>
                  </a:lnTo>
                  <a:lnTo>
                    <a:pt x="22456" y="1119348"/>
                  </a:lnTo>
                  <a:lnTo>
                    <a:pt x="3507" y="1080935"/>
                  </a:lnTo>
                  <a:lnTo>
                    <a:pt x="0" y="1059704"/>
                  </a:lnTo>
                  <a:lnTo>
                    <a:pt x="0" y="10525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4679204" y="0"/>
                  </a:lnTo>
                  <a:lnTo>
                    <a:pt x="4720574" y="11090"/>
                  </a:lnTo>
                  <a:lnTo>
                    <a:pt x="4754551" y="37168"/>
                  </a:lnTo>
                  <a:lnTo>
                    <a:pt x="4775963" y="74264"/>
                  </a:lnTo>
                  <a:lnTo>
                    <a:pt x="4781549" y="102345"/>
                  </a:lnTo>
                  <a:lnTo>
                    <a:pt x="4781549" y="1059704"/>
                  </a:lnTo>
                  <a:lnTo>
                    <a:pt x="4770457" y="1101075"/>
                  </a:lnTo>
                  <a:lnTo>
                    <a:pt x="4744380" y="1135052"/>
                  </a:lnTo>
                  <a:lnTo>
                    <a:pt x="4707285" y="1156463"/>
                  </a:lnTo>
                  <a:lnTo>
                    <a:pt x="4686327" y="1161348"/>
                  </a:lnTo>
                  <a:lnTo>
                    <a:pt x="4679204" y="1162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90562" y="2605087"/>
              <a:ext cx="4781550" cy="1162050"/>
            </a:xfrm>
            <a:custGeom>
              <a:avLst/>
              <a:gdLst/>
              <a:ahLst/>
              <a:cxnLst/>
              <a:rect l="l" t="t" r="r" b="b"/>
              <a:pathLst>
                <a:path w="4781550" h="1162050">
                  <a:moveTo>
                    <a:pt x="0" y="10525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4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4672012" y="0"/>
                  </a:lnTo>
                  <a:lnTo>
                    <a:pt x="4679204" y="0"/>
                  </a:lnTo>
                  <a:lnTo>
                    <a:pt x="4686327" y="701"/>
                  </a:lnTo>
                  <a:lnTo>
                    <a:pt x="4693381" y="2104"/>
                  </a:lnTo>
                  <a:lnTo>
                    <a:pt x="4700435" y="3507"/>
                  </a:lnTo>
                  <a:lnTo>
                    <a:pt x="4707285" y="5585"/>
                  </a:lnTo>
                  <a:lnTo>
                    <a:pt x="4713929" y="8337"/>
                  </a:lnTo>
                  <a:lnTo>
                    <a:pt x="4720574" y="11090"/>
                  </a:lnTo>
                  <a:lnTo>
                    <a:pt x="4726887" y="14464"/>
                  </a:lnTo>
                  <a:lnTo>
                    <a:pt x="4732867" y="18460"/>
                  </a:lnTo>
                  <a:lnTo>
                    <a:pt x="4738848" y="22456"/>
                  </a:lnTo>
                  <a:lnTo>
                    <a:pt x="4767084" y="54661"/>
                  </a:lnTo>
                  <a:lnTo>
                    <a:pt x="4779444" y="88167"/>
                  </a:lnTo>
                  <a:lnTo>
                    <a:pt x="4780847" y="95221"/>
                  </a:lnTo>
                  <a:lnTo>
                    <a:pt x="4781549" y="102345"/>
                  </a:lnTo>
                  <a:lnTo>
                    <a:pt x="4781549" y="109537"/>
                  </a:lnTo>
                  <a:lnTo>
                    <a:pt x="4781549" y="1052512"/>
                  </a:lnTo>
                  <a:lnTo>
                    <a:pt x="4781549" y="1059704"/>
                  </a:lnTo>
                  <a:lnTo>
                    <a:pt x="4780847" y="1066828"/>
                  </a:lnTo>
                  <a:lnTo>
                    <a:pt x="4779444" y="1073882"/>
                  </a:lnTo>
                  <a:lnTo>
                    <a:pt x="4778041" y="1080936"/>
                  </a:lnTo>
                  <a:lnTo>
                    <a:pt x="4775963" y="1087785"/>
                  </a:lnTo>
                  <a:lnTo>
                    <a:pt x="4773210" y="1094430"/>
                  </a:lnTo>
                  <a:lnTo>
                    <a:pt x="4770457" y="1101075"/>
                  </a:lnTo>
                  <a:lnTo>
                    <a:pt x="4744380" y="1135052"/>
                  </a:lnTo>
                  <a:lnTo>
                    <a:pt x="4732867" y="1143589"/>
                  </a:lnTo>
                  <a:lnTo>
                    <a:pt x="4726887" y="1147585"/>
                  </a:lnTo>
                  <a:lnTo>
                    <a:pt x="4720574" y="1150958"/>
                  </a:lnTo>
                  <a:lnTo>
                    <a:pt x="4713929" y="1153711"/>
                  </a:lnTo>
                  <a:lnTo>
                    <a:pt x="4707285" y="1156463"/>
                  </a:lnTo>
                  <a:lnTo>
                    <a:pt x="4700435" y="1158541"/>
                  </a:lnTo>
                  <a:lnTo>
                    <a:pt x="4693381" y="1159945"/>
                  </a:lnTo>
                  <a:lnTo>
                    <a:pt x="4686327" y="1161348"/>
                  </a:lnTo>
                  <a:lnTo>
                    <a:pt x="4679204" y="1162049"/>
                  </a:lnTo>
                  <a:lnTo>
                    <a:pt x="4672012" y="1162049"/>
                  </a:lnTo>
                  <a:lnTo>
                    <a:pt x="109537" y="1162049"/>
                  </a:lnTo>
                  <a:lnTo>
                    <a:pt x="102345" y="1162049"/>
                  </a:lnTo>
                  <a:lnTo>
                    <a:pt x="95221" y="1161348"/>
                  </a:lnTo>
                  <a:lnTo>
                    <a:pt x="88167" y="1159945"/>
                  </a:lnTo>
                  <a:lnTo>
                    <a:pt x="81113" y="1158542"/>
                  </a:lnTo>
                  <a:lnTo>
                    <a:pt x="74264" y="1156464"/>
                  </a:lnTo>
                  <a:lnTo>
                    <a:pt x="67619" y="1153711"/>
                  </a:lnTo>
                  <a:lnTo>
                    <a:pt x="60974" y="1150959"/>
                  </a:lnTo>
                  <a:lnTo>
                    <a:pt x="32082" y="1129966"/>
                  </a:lnTo>
                  <a:lnTo>
                    <a:pt x="26997" y="1124881"/>
                  </a:lnTo>
                  <a:lnTo>
                    <a:pt x="8338" y="1094430"/>
                  </a:lnTo>
                  <a:lnTo>
                    <a:pt x="5585" y="1087785"/>
                  </a:lnTo>
                  <a:lnTo>
                    <a:pt x="3507" y="1080935"/>
                  </a:lnTo>
                  <a:lnTo>
                    <a:pt x="2104" y="1073882"/>
                  </a:lnTo>
                  <a:lnTo>
                    <a:pt x="701" y="1066828"/>
                  </a:lnTo>
                  <a:lnTo>
                    <a:pt x="0" y="1059704"/>
                  </a:lnTo>
                  <a:lnTo>
                    <a:pt x="0" y="10525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28674" y="27241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2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4" y="51661"/>
                  </a:lnTo>
                  <a:lnTo>
                    <a:pt x="304799" y="71196"/>
                  </a:lnTo>
                  <a:lnTo>
                    <a:pt x="304799" y="233602"/>
                  </a:lnTo>
                  <a:lnTo>
                    <a:pt x="289178" y="275094"/>
                  </a:lnTo>
                  <a:lnTo>
                    <a:pt x="253137" y="300913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399" y="2809874"/>
              <a:ext cx="133350" cy="13335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43062" y="2943224"/>
              <a:ext cx="2028825" cy="133350"/>
            </a:xfrm>
            <a:custGeom>
              <a:avLst/>
              <a:gdLst/>
              <a:ahLst/>
              <a:cxnLst/>
              <a:rect l="l" t="t" r="r" b="b"/>
              <a:pathLst>
                <a:path w="2028825" h="133350">
                  <a:moveTo>
                    <a:pt x="390525" y="33058"/>
                  </a:moveTo>
                  <a:lnTo>
                    <a:pt x="362343" y="977"/>
                  </a:lnTo>
                  <a:lnTo>
                    <a:pt x="357479" y="0"/>
                  </a:lnTo>
                  <a:lnTo>
                    <a:pt x="33058" y="0"/>
                  </a:lnTo>
                  <a:lnTo>
                    <a:pt x="977" y="28194"/>
                  </a:lnTo>
                  <a:lnTo>
                    <a:pt x="0" y="33058"/>
                  </a:lnTo>
                  <a:lnTo>
                    <a:pt x="0" y="95250"/>
                  </a:lnTo>
                  <a:lnTo>
                    <a:pt x="0" y="100304"/>
                  </a:lnTo>
                  <a:lnTo>
                    <a:pt x="28194" y="132384"/>
                  </a:lnTo>
                  <a:lnTo>
                    <a:pt x="33058" y="133350"/>
                  </a:lnTo>
                  <a:lnTo>
                    <a:pt x="357479" y="133350"/>
                  </a:lnTo>
                  <a:lnTo>
                    <a:pt x="389559" y="105168"/>
                  </a:lnTo>
                  <a:lnTo>
                    <a:pt x="390525" y="100304"/>
                  </a:lnTo>
                  <a:lnTo>
                    <a:pt x="390525" y="33058"/>
                  </a:lnTo>
                  <a:close/>
                </a:path>
                <a:path w="2028825" h="133350">
                  <a:moveTo>
                    <a:pt x="771525" y="33058"/>
                  </a:moveTo>
                  <a:lnTo>
                    <a:pt x="743343" y="977"/>
                  </a:lnTo>
                  <a:lnTo>
                    <a:pt x="738479" y="0"/>
                  </a:lnTo>
                  <a:lnTo>
                    <a:pt x="480733" y="0"/>
                  </a:lnTo>
                  <a:lnTo>
                    <a:pt x="448652" y="28194"/>
                  </a:lnTo>
                  <a:lnTo>
                    <a:pt x="447675" y="33058"/>
                  </a:lnTo>
                  <a:lnTo>
                    <a:pt x="447675" y="95250"/>
                  </a:lnTo>
                  <a:lnTo>
                    <a:pt x="447675" y="100304"/>
                  </a:lnTo>
                  <a:lnTo>
                    <a:pt x="475869" y="132384"/>
                  </a:lnTo>
                  <a:lnTo>
                    <a:pt x="480733" y="133350"/>
                  </a:lnTo>
                  <a:lnTo>
                    <a:pt x="738479" y="133350"/>
                  </a:lnTo>
                  <a:lnTo>
                    <a:pt x="770559" y="105168"/>
                  </a:lnTo>
                  <a:lnTo>
                    <a:pt x="771525" y="100304"/>
                  </a:lnTo>
                  <a:lnTo>
                    <a:pt x="771525" y="33058"/>
                  </a:lnTo>
                  <a:close/>
                </a:path>
                <a:path w="2028825" h="133350">
                  <a:moveTo>
                    <a:pt x="2028825" y="33058"/>
                  </a:moveTo>
                  <a:lnTo>
                    <a:pt x="2000643" y="977"/>
                  </a:lnTo>
                  <a:lnTo>
                    <a:pt x="1995779" y="0"/>
                  </a:lnTo>
                  <a:lnTo>
                    <a:pt x="1490383" y="0"/>
                  </a:lnTo>
                  <a:lnTo>
                    <a:pt x="1458302" y="28194"/>
                  </a:lnTo>
                  <a:lnTo>
                    <a:pt x="1457325" y="33058"/>
                  </a:lnTo>
                  <a:lnTo>
                    <a:pt x="1457325" y="95250"/>
                  </a:lnTo>
                  <a:lnTo>
                    <a:pt x="1457325" y="100304"/>
                  </a:lnTo>
                  <a:lnTo>
                    <a:pt x="1485519" y="132384"/>
                  </a:lnTo>
                  <a:lnTo>
                    <a:pt x="1490383" y="133350"/>
                  </a:lnTo>
                  <a:lnTo>
                    <a:pt x="1995779" y="133350"/>
                  </a:lnTo>
                  <a:lnTo>
                    <a:pt x="2027859" y="105168"/>
                  </a:lnTo>
                  <a:lnTo>
                    <a:pt x="2028825" y="100304"/>
                  </a:lnTo>
                  <a:lnTo>
                    <a:pt x="2028825" y="33058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247762" y="2943224"/>
              <a:ext cx="3790950" cy="304800"/>
            </a:xfrm>
            <a:custGeom>
              <a:avLst/>
              <a:gdLst/>
              <a:ahLst/>
              <a:cxnLst/>
              <a:rect l="l" t="t" r="r" b="b"/>
              <a:pathLst>
                <a:path w="3790950" h="304800">
                  <a:moveTo>
                    <a:pt x="533400" y="204508"/>
                  </a:moveTo>
                  <a:lnTo>
                    <a:pt x="505218" y="172427"/>
                  </a:lnTo>
                  <a:lnTo>
                    <a:pt x="500354" y="171450"/>
                  </a:lnTo>
                  <a:lnTo>
                    <a:pt x="0" y="171450"/>
                  </a:lnTo>
                  <a:lnTo>
                    <a:pt x="0" y="304800"/>
                  </a:lnTo>
                  <a:lnTo>
                    <a:pt x="500354" y="304800"/>
                  </a:lnTo>
                  <a:lnTo>
                    <a:pt x="532434" y="276618"/>
                  </a:lnTo>
                  <a:lnTo>
                    <a:pt x="533400" y="271754"/>
                  </a:lnTo>
                  <a:lnTo>
                    <a:pt x="533400" y="204508"/>
                  </a:lnTo>
                  <a:close/>
                </a:path>
                <a:path w="3790950" h="304800">
                  <a:moveTo>
                    <a:pt x="3790950" y="0"/>
                  </a:moveTo>
                  <a:lnTo>
                    <a:pt x="3109633" y="0"/>
                  </a:lnTo>
                  <a:lnTo>
                    <a:pt x="3104769" y="977"/>
                  </a:lnTo>
                  <a:lnTo>
                    <a:pt x="3077553" y="28194"/>
                  </a:lnTo>
                  <a:lnTo>
                    <a:pt x="3076575" y="33058"/>
                  </a:lnTo>
                  <a:lnTo>
                    <a:pt x="3076575" y="100304"/>
                  </a:lnTo>
                  <a:lnTo>
                    <a:pt x="3104769" y="132384"/>
                  </a:lnTo>
                  <a:lnTo>
                    <a:pt x="3109633" y="133350"/>
                  </a:lnTo>
                  <a:lnTo>
                    <a:pt x="3790950" y="133350"/>
                  </a:lnTo>
                  <a:lnTo>
                    <a:pt x="3790950" y="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235074" y="2655728"/>
            <a:ext cx="3819525" cy="58991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950" spc="-10" b="1">
                <a:solidFill>
                  <a:srgbClr val="293283"/>
                </a:solidFill>
                <a:latin typeface="Courier New"/>
                <a:cs typeface="Courier New"/>
              </a:rPr>
              <a:t>pd.read_excel(filepath)</a:t>
            </a:r>
            <a:endParaRPr sz="950">
              <a:latin typeface="Courier New"/>
              <a:cs typeface="Courier New"/>
            </a:endParaRPr>
          </a:p>
          <a:p>
            <a:pPr marL="12700" marR="5080">
              <a:lnSpc>
                <a:spcPct val="125000"/>
              </a:lnSpc>
              <a:spcBef>
                <a:spcPts val="140"/>
              </a:spcBef>
            </a:pPr>
            <a:r>
              <a:rPr dirty="0" sz="900" spc="-75">
                <a:solidFill>
                  <a:srgbClr val="4A4E6A"/>
                </a:solidFill>
                <a:latin typeface="Trebuchet MS"/>
                <a:cs typeface="Trebuchet MS"/>
              </a:rPr>
              <a:t>Excel</a:t>
            </a:r>
            <a:r>
              <a:rPr dirty="0" sz="90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files</a:t>
            </a:r>
            <a:r>
              <a:rPr dirty="0" sz="90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(</a:t>
            </a:r>
            <a:r>
              <a:rPr dirty="0" sz="900" spc="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.xlsx</a:t>
            </a:r>
            <a:r>
              <a:rPr dirty="0" sz="800" spc="-18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,</a:t>
            </a:r>
            <a:r>
              <a:rPr dirty="0" sz="900" spc="229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.xls</a:t>
            </a:r>
            <a:r>
              <a:rPr dirty="0" sz="800" spc="-18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90">
                <a:solidFill>
                  <a:srgbClr val="4A4E6A"/>
                </a:solidFill>
                <a:latin typeface="Trebuchet MS"/>
                <a:cs typeface="Trebuchet MS"/>
              </a:rPr>
              <a:t>).</a:t>
            </a:r>
            <a:r>
              <a:rPr dirty="0" sz="90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Requires</a:t>
            </a:r>
            <a:r>
              <a:rPr dirty="0" sz="90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900" spc="2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openpyxl</a:t>
            </a:r>
            <a:r>
              <a:rPr dirty="0" sz="800" spc="2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package</a:t>
            </a:r>
            <a:r>
              <a:rPr dirty="0" sz="90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14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900" spc="2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pip</a:t>
            </a:r>
            <a:r>
              <a:rPr dirty="0" sz="800" spc="1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293283"/>
                </a:solidFill>
                <a:latin typeface="Courier New"/>
                <a:cs typeface="Courier New"/>
              </a:rPr>
              <a:t>install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openpyxl</a:t>
            </a:r>
            <a:r>
              <a:rPr dirty="0" sz="800" spc="-11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47774" y="3305174"/>
            <a:ext cx="571500" cy="323850"/>
          </a:xfrm>
          <a:custGeom>
            <a:avLst/>
            <a:gdLst/>
            <a:ahLst/>
            <a:cxnLst/>
            <a:rect l="l" t="t" r="r" b="b"/>
            <a:pathLst>
              <a:path w="571500" h="323850">
                <a:moveTo>
                  <a:pt x="409574" y="323849"/>
                </a:moveTo>
                <a:lnTo>
                  <a:pt x="161924" y="323849"/>
                </a:lnTo>
                <a:lnTo>
                  <a:pt x="153969" y="323655"/>
                </a:lnTo>
                <a:lnTo>
                  <a:pt x="114919" y="316879"/>
                </a:lnTo>
                <a:lnTo>
                  <a:pt x="78686" y="300818"/>
                </a:lnTo>
                <a:lnTo>
                  <a:pt x="47426" y="276423"/>
                </a:lnTo>
                <a:lnTo>
                  <a:pt x="23031" y="245163"/>
                </a:lnTo>
                <a:lnTo>
                  <a:pt x="6970" y="208929"/>
                </a:lnTo>
                <a:lnTo>
                  <a:pt x="194" y="169879"/>
                </a:lnTo>
                <a:lnTo>
                  <a:pt x="0" y="161924"/>
                </a:lnTo>
                <a:lnTo>
                  <a:pt x="194" y="153969"/>
                </a:lnTo>
                <a:lnTo>
                  <a:pt x="6970" y="114919"/>
                </a:lnTo>
                <a:lnTo>
                  <a:pt x="23031" y="78686"/>
                </a:lnTo>
                <a:lnTo>
                  <a:pt x="47426" y="47426"/>
                </a:lnTo>
                <a:lnTo>
                  <a:pt x="78686" y="23031"/>
                </a:lnTo>
                <a:lnTo>
                  <a:pt x="114919" y="6970"/>
                </a:lnTo>
                <a:lnTo>
                  <a:pt x="153969" y="194"/>
                </a:lnTo>
                <a:lnTo>
                  <a:pt x="161924" y="0"/>
                </a:lnTo>
                <a:lnTo>
                  <a:pt x="409574" y="0"/>
                </a:lnTo>
                <a:lnTo>
                  <a:pt x="448928" y="4853"/>
                </a:lnTo>
                <a:lnTo>
                  <a:pt x="485906" y="19118"/>
                </a:lnTo>
                <a:lnTo>
                  <a:pt x="518310" y="41938"/>
                </a:lnTo>
                <a:lnTo>
                  <a:pt x="544210" y="71964"/>
                </a:lnTo>
                <a:lnTo>
                  <a:pt x="562038" y="107382"/>
                </a:lnTo>
                <a:lnTo>
                  <a:pt x="570721" y="146053"/>
                </a:lnTo>
                <a:lnTo>
                  <a:pt x="571499" y="161924"/>
                </a:lnTo>
                <a:lnTo>
                  <a:pt x="571305" y="169879"/>
                </a:lnTo>
                <a:lnTo>
                  <a:pt x="564529" y="208929"/>
                </a:lnTo>
                <a:lnTo>
                  <a:pt x="548468" y="245163"/>
                </a:lnTo>
                <a:lnTo>
                  <a:pt x="524073" y="276423"/>
                </a:lnTo>
                <a:lnTo>
                  <a:pt x="492813" y="300818"/>
                </a:lnTo>
                <a:lnTo>
                  <a:pt x="456579" y="316879"/>
                </a:lnTo>
                <a:lnTo>
                  <a:pt x="417529" y="323655"/>
                </a:lnTo>
                <a:lnTo>
                  <a:pt x="409574" y="323849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301749" y="3292475"/>
            <a:ext cx="250190" cy="311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750" spc="-55" b="1">
                <a:solidFill>
                  <a:srgbClr val="FF6A5B"/>
                </a:solidFill>
                <a:latin typeface="Tahoma"/>
                <a:cs typeface="Tahoma"/>
              </a:rPr>
              <a:t>BEST</a:t>
            </a:r>
            <a:r>
              <a:rPr dirty="0" sz="750" spc="5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25" b="1">
                <a:solidFill>
                  <a:srgbClr val="FF6A5B"/>
                </a:solidFill>
                <a:latin typeface="Tahoma"/>
                <a:cs typeface="Tahoma"/>
              </a:rPr>
              <a:t>FOR</a:t>
            </a:r>
            <a:endParaRPr sz="7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68338" y="3276282"/>
            <a:ext cx="3178175" cy="349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When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rebuchet MS"/>
                <a:cs typeface="Trebuchet MS"/>
              </a:rPr>
              <a:t>the source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is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an</a:t>
            </a:r>
            <a:r>
              <a:rPr dirty="0" sz="850" spc="-2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Excel</a:t>
            </a:r>
            <a:r>
              <a:rPr dirty="0" sz="850" spc="-2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file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rebuchet MS"/>
                <a:cs typeface="Trebuchet MS"/>
              </a:rPr>
              <a:t>with 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formatting,</a:t>
            </a:r>
            <a:r>
              <a:rPr dirty="0" sz="850" spc="-2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multiple 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sheets,</a:t>
            </a:r>
            <a:r>
              <a:rPr dirty="0" sz="850" spc="-2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or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formulas.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85799" y="3867149"/>
            <a:ext cx="4791075" cy="1000125"/>
            <a:chOff x="685799" y="3867149"/>
            <a:chExt cx="4791075" cy="1000125"/>
          </a:xfrm>
        </p:grpSpPr>
        <p:sp>
          <p:nvSpPr>
            <p:cNvPr id="27" name="object 27"/>
            <p:cNvSpPr/>
            <p:nvPr/>
          </p:nvSpPr>
          <p:spPr>
            <a:xfrm>
              <a:off x="690562" y="3871912"/>
              <a:ext cx="4781550" cy="990600"/>
            </a:xfrm>
            <a:custGeom>
              <a:avLst/>
              <a:gdLst/>
              <a:ahLst/>
              <a:cxnLst/>
              <a:rect l="l" t="t" r="r" b="b"/>
              <a:pathLst>
                <a:path w="4781550" h="990600">
                  <a:moveTo>
                    <a:pt x="4679204" y="990599"/>
                  </a:moveTo>
                  <a:lnTo>
                    <a:pt x="102345" y="990599"/>
                  </a:lnTo>
                  <a:lnTo>
                    <a:pt x="95221" y="989898"/>
                  </a:lnTo>
                  <a:lnTo>
                    <a:pt x="54661" y="976134"/>
                  </a:lnTo>
                  <a:lnTo>
                    <a:pt x="22456" y="947898"/>
                  </a:lnTo>
                  <a:lnTo>
                    <a:pt x="3507" y="909485"/>
                  </a:lnTo>
                  <a:lnTo>
                    <a:pt x="0" y="888254"/>
                  </a:lnTo>
                  <a:lnTo>
                    <a:pt x="0" y="881062"/>
                  </a:lnTo>
                  <a:lnTo>
                    <a:pt x="0" y="102344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4679204" y="0"/>
                  </a:lnTo>
                  <a:lnTo>
                    <a:pt x="4720574" y="11090"/>
                  </a:lnTo>
                  <a:lnTo>
                    <a:pt x="4754551" y="37168"/>
                  </a:lnTo>
                  <a:lnTo>
                    <a:pt x="4775963" y="74263"/>
                  </a:lnTo>
                  <a:lnTo>
                    <a:pt x="4781549" y="102344"/>
                  </a:lnTo>
                  <a:lnTo>
                    <a:pt x="4781549" y="888254"/>
                  </a:lnTo>
                  <a:lnTo>
                    <a:pt x="4770457" y="929625"/>
                  </a:lnTo>
                  <a:lnTo>
                    <a:pt x="4744380" y="963602"/>
                  </a:lnTo>
                  <a:lnTo>
                    <a:pt x="4707285" y="985013"/>
                  </a:lnTo>
                  <a:lnTo>
                    <a:pt x="4686327" y="989898"/>
                  </a:lnTo>
                  <a:lnTo>
                    <a:pt x="4679204" y="990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90562" y="3871912"/>
              <a:ext cx="4781550" cy="990600"/>
            </a:xfrm>
            <a:custGeom>
              <a:avLst/>
              <a:gdLst/>
              <a:ahLst/>
              <a:cxnLst/>
              <a:rect l="l" t="t" r="r" b="b"/>
              <a:pathLst>
                <a:path w="4781550" h="990600">
                  <a:moveTo>
                    <a:pt x="0" y="881062"/>
                  </a:moveTo>
                  <a:lnTo>
                    <a:pt x="0" y="109537"/>
                  </a:lnTo>
                  <a:lnTo>
                    <a:pt x="0" y="102344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8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4672012" y="0"/>
                  </a:lnTo>
                  <a:lnTo>
                    <a:pt x="4679204" y="0"/>
                  </a:lnTo>
                  <a:lnTo>
                    <a:pt x="4686327" y="701"/>
                  </a:lnTo>
                  <a:lnTo>
                    <a:pt x="4693381" y="2104"/>
                  </a:lnTo>
                  <a:lnTo>
                    <a:pt x="4700435" y="3507"/>
                  </a:lnTo>
                  <a:lnTo>
                    <a:pt x="4732867" y="18460"/>
                  </a:lnTo>
                  <a:lnTo>
                    <a:pt x="4738848" y="22455"/>
                  </a:lnTo>
                  <a:lnTo>
                    <a:pt x="4744380" y="26996"/>
                  </a:lnTo>
                  <a:lnTo>
                    <a:pt x="4749466" y="32082"/>
                  </a:lnTo>
                  <a:lnTo>
                    <a:pt x="4754551" y="37168"/>
                  </a:lnTo>
                  <a:lnTo>
                    <a:pt x="4759092" y="42701"/>
                  </a:lnTo>
                  <a:lnTo>
                    <a:pt x="4763088" y="48681"/>
                  </a:lnTo>
                  <a:lnTo>
                    <a:pt x="4767084" y="54661"/>
                  </a:lnTo>
                  <a:lnTo>
                    <a:pt x="4770457" y="60973"/>
                  </a:lnTo>
                  <a:lnTo>
                    <a:pt x="4773210" y="67618"/>
                  </a:lnTo>
                  <a:lnTo>
                    <a:pt x="4775963" y="74263"/>
                  </a:lnTo>
                  <a:lnTo>
                    <a:pt x="4778041" y="81113"/>
                  </a:lnTo>
                  <a:lnTo>
                    <a:pt x="4779444" y="88167"/>
                  </a:lnTo>
                  <a:lnTo>
                    <a:pt x="4780847" y="95221"/>
                  </a:lnTo>
                  <a:lnTo>
                    <a:pt x="4781549" y="102344"/>
                  </a:lnTo>
                  <a:lnTo>
                    <a:pt x="4781549" y="109537"/>
                  </a:lnTo>
                  <a:lnTo>
                    <a:pt x="4781549" y="881062"/>
                  </a:lnTo>
                  <a:lnTo>
                    <a:pt x="4781549" y="888254"/>
                  </a:lnTo>
                  <a:lnTo>
                    <a:pt x="4780847" y="895377"/>
                  </a:lnTo>
                  <a:lnTo>
                    <a:pt x="4779444" y="902432"/>
                  </a:lnTo>
                  <a:lnTo>
                    <a:pt x="4778041" y="909485"/>
                  </a:lnTo>
                  <a:lnTo>
                    <a:pt x="4775963" y="916335"/>
                  </a:lnTo>
                  <a:lnTo>
                    <a:pt x="4773210" y="922980"/>
                  </a:lnTo>
                  <a:lnTo>
                    <a:pt x="4770457" y="929625"/>
                  </a:lnTo>
                  <a:lnTo>
                    <a:pt x="4744380" y="963602"/>
                  </a:lnTo>
                  <a:lnTo>
                    <a:pt x="4732867" y="972138"/>
                  </a:lnTo>
                  <a:lnTo>
                    <a:pt x="4726887" y="976134"/>
                  </a:lnTo>
                  <a:lnTo>
                    <a:pt x="4720574" y="979509"/>
                  </a:lnTo>
                  <a:lnTo>
                    <a:pt x="4713929" y="982261"/>
                  </a:lnTo>
                  <a:lnTo>
                    <a:pt x="4707285" y="985013"/>
                  </a:lnTo>
                  <a:lnTo>
                    <a:pt x="4672012" y="990599"/>
                  </a:lnTo>
                  <a:lnTo>
                    <a:pt x="109537" y="990599"/>
                  </a:lnTo>
                  <a:lnTo>
                    <a:pt x="67619" y="982261"/>
                  </a:lnTo>
                  <a:lnTo>
                    <a:pt x="60974" y="979509"/>
                  </a:lnTo>
                  <a:lnTo>
                    <a:pt x="32082" y="958516"/>
                  </a:lnTo>
                  <a:lnTo>
                    <a:pt x="26997" y="953431"/>
                  </a:lnTo>
                  <a:lnTo>
                    <a:pt x="22456" y="947898"/>
                  </a:lnTo>
                  <a:lnTo>
                    <a:pt x="18460" y="941917"/>
                  </a:lnTo>
                  <a:lnTo>
                    <a:pt x="14464" y="935937"/>
                  </a:lnTo>
                  <a:lnTo>
                    <a:pt x="11090" y="929625"/>
                  </a:lnTo>
                  <a:lnTo>
                    <a:pt x="8338" y="922980"/>
                  </a:lnTo>
                  <a:lnTo>
                    <a:pt x="5585" y="916335"/>
                  </a:lnTo>
                  <a:lnTo>
                    <a:pt x="3507" y="909485"/>
                  </a:lnTo>
                  <a:lnTo>
                    <a:pt x="2104" y="902431"/>
                  </a:lnTo>
                  <a:lnTo>
                    <a:pt x="701" y="895377"/>
                  </a:lnTo>
                  <a:lnTo>
                    <a:pt x="0" y="888254"/>
                  </a:lnTo>
                  <a:lnTo>
                    <a:pt x="0" y="8810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28674" y="39909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33603" y="304799"/>
                  </a:moveTo>
                  <a:lnTo>
                    <a:pt x="71196" y="304799"/>
                  </a:lnTo>
                  <a:lnTo>
                    <a:pt x="66241" y="304311"/>
                  </a:lnTo>
                  <a:lnTo>
                    <a:pt x="29705" y="289177"/>
                  </a:lnTo>
                  <a:lnTo>
                    <a:pt x="3885" y="253137"/>
                  </a:lnTo>
                  <a:lnTo>
                    <a:pt x="0" y="233603"/>
                  </a:lnTo>
                  <a:lnTo>
                    <a:pt x="0" y="228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33603" y="0"/>
                  </a:lnTo>
                  <a:lnTo>
                    <a:pt x="275094" y="15621"/>
                  </a:lnTo>
                  <a:lnTo>
                    <a:pt x="300914" y="51661"/>
                  </a:lnTo>
                  <a:lnTo>
                    <a:pt x="304799" y="71196"/>
                  </a:lnTo>
                  <a:lnTo>
                    <a:pt x="304799" y="233603"/>
                  </a:lnTo>
                  <a:lnTo>
                    <a:pt x="289178" y="275094"/>
                  </a:lnTo>
                  <a:lnTo>
                    <a:pt x="253137" y="300913"/>
                  </a:lnTo>
                  <a:lnTo>
                    <a:pt x="238558" y="304311"/>
                  </a:lnTo>
                  <a:lnTo>
                    <a:pt x="233603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8049" y="4098924"/>
              <a:ext cx="146050" cy="889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247774" y="4562474"/>
              <a:ext cx="600075" cy="180975"/>
            </a:xfrm>
            <a:custGeom>
              <a:avLst/>
              <a:gdLst/>
              <a:ahLst/>
              <a:cxnLst/>
              <a:rect l="l" t="t" r="r" b="b"/>
              <a:pathLst>
                <a:path w="600075" h="180975">
                  <a:moveTo>
                    <a:pt x="515528" y="180974"/>
                  </a:moveTo>
                  <a:lnTo>
                    <a:pt x="84545" y="180974"/>
                  </a:lnTo>
                  <a:lnTo>
                    <a:pt x="78661" y="180395"/>
                  </a:lnTo>
                  <a:lnTo>
                    <a:pt x="35275" y="162423"/>
                  </a:lnTo>
                  <a:lnTo>
                    <a:pt x="9161" y="130603"/>
                  </a:lnTo>
                  <a:lnTo>
                    <a:pt x="0" y="96428"/>
                  </a:lnTo>
                  <a:lnTo>
                    <a:pt x="0" y="90487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15528" y="0"/>
                  </a:lnTo>
                  <a:lnTo>
                    <a:pt x="554919" y="11948"/>
                  </a:lnTo>
                  <a:lnTo>
                    <a:pt x="588125" y="45154"/>
                  </a:lnTo>
                  <a:lnTo>
                    <a:pt x="600075" y="84545"/>
                  </a:lnTo>
                  <a:lnTo>
                    <a:pt x="600075" y="96428"/>
                  </a:lnTo>
                  <a:lnTo>
                    <a:pt x="588125" y="135818"/>
                  </a:lnTo>
                  <a:lnTo>
                    <a:pt x="554919" y="169025"/>
                  </a:lnTo>
                  <a:lnTo>
                    <a:pt x="521413" y="180395"/>
                  </a:lnTo>
                  <a:lnTo>
                    <a:pt x="515528" y="1809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235074" y="3922553"/>
            <a:ext cx="4095115" cy="79883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950" spc="-10" b="1">
                <a:solidFill>
                  <a:srgbClr val="293283"/>
                </a:solidFill>
                <a:latin typeface="Courier New"/>
                <a:cs typeface="Courier New"/>
              </a:rPr>
              <a:t>pd.read_json(filepath)</a:t>
            </a:r>
            <a:endParaRPr sz="950">
              <a:latin typeface="Courier New"/>
              <a:cs typeface="Courier New"/>
            </a:endParaRPr>
          </a:p>
          <a:p>
            <a:pPr marL="12700" marR="5080">
              <a:lnSpc>
                <a:spcPct val="118100"/>
              </a:lnSpc>
              <a:spcBef>
                <a:spcPts val="215"/>
              </a:spcBef>
            </a:pP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JSON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files.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Common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for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API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responses.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Each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row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becomes a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80">
                <a:solidFill>
                  <a:srgbClr val="4A4E6A"/>
                </a:solidFill>
                <a:latin typeface="Trebuchet MS"/>
                <a:cs typeface="Trebuchet MS"/>
              </a:rPr>
              <a:t>dict,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the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list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of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dicts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becomes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DataFrame.</a:t>
            </a:r>
            <a:endParaRPr sz="900">
              <a:latin typeface="Trebuchet MS"/>
              <a:cs typeface="Trebuchet MS"/>
            </a:endParaRPr>
          </a:p>
          <a:p>
            <a:pPr marL="78740">
              <a:lnSpc>
                <a:spcPct val="100000"/>
              </a:lnSpc>
              <a:spcBef>
                <a:spcPts val="695"/>
              </a:spcBef>
              <a:tabLst>
                <a:tab pos="667385" algn="l"/>
              </a:tabLst>
            </a:pPr>
            <a:r>
              <a:rPr dirty="0" sz="750" spc="-10" b="1">
                <a:solidFill>
                  <a:srgbClr val="FF6A5B"/>
                </a:solidFill>
                <a:latin typeface="Tahoma"/>
                <a:cs typeface="Tahoma"/>
              </a:rPr>
              <a:t>BEST</a:t>
            </a:r>
            <a:r>
              <a:rPr dirty="0" sz="750" spc="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25" b="1">
                <a:solidFill>
                  <a:srgbClr val="FF6A5B"/>
                </a:solidFill>
                <a:latin typeface="Tahoma"/>
                <a:cs typeface="Tahoma"/>
              </a:rPr>
              <a:t>FOR</a:t>
            </a:r>
            <a:r>
              <a:rPr dirty="0" sz="750" b="1">
                <a:solidFill>
                  <a:srgbClr val="FF6A5B"/>
                </a:solidFill>
                <a:latin typeface="Tahoma"/>
                <a:cs typeface="Tahoma"/>
              </a:rPr>
              <a:t>	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Data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from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rebuchet MS"/>
                <a:cs typeface="Trebuchet MS"/>
              </a:rPr>
              <a:t>web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APIs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(Day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11),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NoSQL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databases,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rebuchet MS"/>
                <a:cs typeface="Trebuchet MS"/>
              </a:rPr>
              <a:t>config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files.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648323" y="1504949"/>
            <a:ext cx="5857875" cy="4505325"/>
            <a:chOff x="5648323" y="1504949"/>
            <a:chExt cx="5857875" cy="4505325"/>
          </a:xfrm>
        </p:grpSpPr>
        <p:sp>
          <p:nvSpPr>
            <p:cNvPr id="34" name="object 34"/>
            <p:cNvSpPr/>
            <p:nvPr/>
          </p:nvSpPr>
          <p:spPr>
            <a:xfrm>
              <a:off x="5653086" y="1509712"/>
              <a:ext cx="5848350" cy="4495800"/>
            </a:xfrm>
            <a:custGeom>
              <a:avLst/>
              <a:gdLst/>
              <a:ahLst/>
              <a:cxnLst/>
              <a:rect l="l" t="t" r="r" b="b"/>
              <a:pathLst>
                <a:path w="5848350" h="4495800">
                  <a:moveTo>
                    <a:pt x="5728205" y="4495799"/>
                  </a:moveTo>
                  <a:lnTo>
                    <a:pt x="120145" y="4495799"/>
                  </a:lnTo>
                  <a:lnTo>
                    <a:pt x="111782" y="4494975"/>
                  </a:lnTo>
                  <a:lnTo>
                    <a:pt x="71578" y="4482779"/>
                  </a:lnTo>
                  <a:lnTo>
                    <a:pt x="31691" y="4452166"/>
                  </a:lnTo>
                  <a:lnTo>
                    <a:pt x="6557" y="4408620"/>
                  </a:lnTo>
                  <a:lnTo>
                    <a:pt x="0" y="4375655"/>
                  </a:lnTo>
                  <a:lnTo>
                    <a:pt x="0" y="4367212"/>
                  </a:lnTo>
                  <a:lnTo>
                    <a:pt x="0" y="120144"/>
                  </a:lnTo>
                  <a:lnTo>
                    <a:pt x="13018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5" y="0"/>
                  </a:lnTo>
                  <a:lnTo>
                    <a:pt x="5728205" y="0"/>
                  </a:lnTo>
                  <a:lnTo>
                    <a:pt x="5776769" y="13018"/>
                  </a:lnTo>
                  <a:lnTo>
                    <a:pt x="5816656" y="43632"/>
                  </a:lnTo>
                  <a:lnTo>
                    <a:pt x="5841791" y="87179"/>
                  </a:lnTo>
                  <a:lnTo>
                    <a:pt x="5848348" y="120144"/>
                  </a:lnTo>
                  <a:lnTo>
                    <a:pt x="5848348" y="4375655"/>
                  </a:lnTo>
                  <a:lnTo>
                    <a:pt x="5835328" y="4424220"/>
                  </a:lnTo>
                  <a:lnTo>
                    <a:pt x="5804716" y="4464106"/>
                  </a:lnTo>
                  <a:lnTo>
                    <a:pt x="5761169" y="4489241"/>
                  </a:lnTo>
                  <a:lnTo>
                    <a:pt x="5736567" y="4494975"/>
                  </a:lnTo>
                  <a:lnTo>
                    <a:pt x="5728205" y="449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653086" y="1509712"/>
              <a:ext cx="5848350" cy="4495800"/>
            </a:xfrm>
            <a:custGeom>
              <a:avLst/>
              <a:gdLst/>
              <a:ahLst/>
              <a:cxnLst/>
              <a:rect l="l" t="t" r="r" b="b"/>
              <a:pathLst>
                <a:path w="5848350" h="4495800">
                  <a:moveTo>
                    <a:pt x="0" y="4367212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6557" y="87179"/>
                  </a:lnTo>
                  <a:lnTo>
                    <a:pt x="9787" y="79379"/>
                  </a:lnTo>
                  <a:lnTo>
                    <a:pt x="13018" y="71578"/>
                  </a:lnTo>
                  <a:lnTo>
                    <a:pt x="16979" y="64168"/>
                  </a:lnTo>
                  <a:lnTo>
                    <a:pt x="21670" y="57147"/>
                  </a:lnTo>
                  <a:lnTo>
                    <a:pt x="26361" y="50127"/>
                  </a:lnTo>
                  <a:lnTo>
                    <a:pt x="31691" y="43632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79379" y="9787"/>
                  </a:lnTo>
                  <a:lnTo>
                    <a:pt x="87179" y="6556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5" y="0"/>
                  </a:lnTo>
                  <a:lnTo>
                    <a:pt x="128588" y="0"/>
                  </a:lnTo>
                  <a:lnTo>
                    <a:pt x="5719762" y="0"/>
                  </a:lnTo>
                  <a:lnTo>
                    <a:pt x="5728205" y="0"/>
                  </a:lnTo>
                  <a:lnTo>
                    <a:pt x="5736567" y="823"/>
                  </a:lnTo>
                  <a:lnTo>
                    <a:pt x="5744848" y="2470"/>
                  </a:lnTo>
                  <a:lnTo>
                    <a:pt x="5753129" y="4117"/>
                  </a:lnTo>
                  <a:lnTo>
                    <a:pt x="5761169" y="6556"/>
                  </a:lnTo>
                  <a:lnTo>
                    <a:pt x="5768968" y="9787"/>
                  </a:lnTo>
                  <a:lnTo>
                    <a:pt x="5776769" y="13018"/>
                  </a:lnTo>
                  <a:lnTo>
                    <a:pt x="5810687" y="37662"/>
                  </a:lnTo>
                  <a:lnTo>
                    <a:pt x="5835328" y="71578"/>
                  </a:lnTo>
                  <a:lnTo>
                    <a:pt x="5847525" y="111782"/>
                  </a:lnTo>
                  <a:lnTo>
                    <a:pt x="5848350" y="128587"/>
                  </a:lnTo>
                  <a:lnTo>
                    <a:pt x="5848350" y="4367212"/>
                  </a:lnTo>
                  <a:lnTo>
                    <a:pt x="5848348" y="4375655"/>
                  </a:lnTo>
                  <a:lnTo>
                    <a:pt x="5847525" y="4384017"/>
                  </a:lnTo>
                  <a:lnTo>
                    <a:pt x="5845878" y="4392297"/>
                  </a:lnTo>
                  <a:lnTo>
                    <a:pt x="5844230" y="4400579"/>
                  </a:lnTo>
                  <a:lnTo>
                    <a:pt x="5826678" y="4438650"/>
                  </a:lnTo>
                  <a:lnTo>
                    <a:pt x="5798220" y="4469437"/>
                  </a:lnTo>
                  <a:lnTo>
                    <a:pt x="5768968" y="4486010"/>
                  </a:lnTo>
                  <a:lnTo>
                    <a:pt x="5761169" y="4489241"/>
                  </a:lnTo>
                  <a:lnTo>
                    <a:pt x="5719762" y="4495799"/>
                  </a:lnTo>
                  <a:lnTo>
                    <a:pt x="128588" y="4495799"/>
                  </a:lnTo>
                  <a:lnTo>
                    <a:pt x="120145" y="4495799"/>
                  </a:lnTo>
                  <a:lnTo>
                    <a:pt x="111782" y="4494975"/>
                  </a:lnTo>
                  <a:lnTo>
                    <a:pt x="103501" y="4493328"/>
                  </a:lnTo>
                  <a:lnTo>
                    <a:pt x="95220" y="4491681"/>
                  </a:lnTo>
                  <a:lnTo>
                    <a:pt x="87179" y="4489241"/>
                  </a:lnTo>
                  <a:lnTo>
                    <a:pt x="79379" y="4486010"/>
                  </a:lnTo>
                  <a:lnTo>
                    <a:pt x="71578" y="4482779"/>
                  </a:lnTo>
                  <a:lnTo>
                    <a:pt x="37662" y="4458136"/>
                  </a:lnTo>
                  <a:lnTo>
                    <a:pt x="31691" y="4452166"/>
                  </a:lnTo>
                  <a:lnTo>
                    <a:pt x="26361" y="4445671"/>
                  </a:lnTo>
                  <a:lnTo>
                    <a:pt x="21670" y="4438650"/>
                  </a:lnTo>
                  <a:lnTo>
                    <a:pt x="16979" y="4431630"/>
                  </a:lnTo>
                  <a:lnTo>
                    <a:pt x="13018" y="4424220"/>
                  </a:lnTo>
                  <a:lnTo>
                    <a:pt x="9787" y="4416420"/>
                  </a:lnTo>
                  <a:lnTo>
                    <a:pt x="6557" y="4408620"/>
                  </a:lnTo>
                  <a:lnTo>
                    <a:pt x="4117" y="4400579"/>
                  </a:lnTo>
                  <a:lnTo>
                    <a:pt x="2470" y="4392297"/>
                  </a:lnTo>
                  <a:lnTo>
                    <a:pt x="823" y="4384017"/>
                  </a:lnTo>
                  <a:lnTo>
                    <a:pt x="0" y="4375655"/>
                  </a:lnTo>
                  <a:lnTo>
                    <a:pt x="0" y="43672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810249" y="1647824"/>
              <a:ext cx="1190625" cy="219075"/>
            </a:xfrm>
            <a:custGeom>
              <a:avLst/>
              <a:gdLst/>
              <a:ahLst/>
              <a:cxnLst/>
              <a:rect l="l" t="t" r="r" b="b"/>
              <a:pathLst>
                <a:path w="1190625" h="219075">
                  <a:moveTo>
                    <a:pt x="1088279" y="219074"/>
                  </a:moveTo>
                  <a:lnTo>
                    <a:pt x="102344" y="219074"/>
                  </a:lnTo>
                  <a:lnTo>
                    <a:pt x="95221" y="218373"/>
                  </a:lnTo>
                  <a:lnTo>
                    <a:pt x="54661" y="204610"/>
                  </a:lnTo>
                  <a:lnTo>
                    <a:pt x="22456" y="176373"/>
                  </a:lnTo>
                  <a:lnTo>
                    <a:pt x="3507" y="137961"/>
                  </a:lnTo>
                  <a:lnTo>
                    <a:pt x="0" y="116729"/>
                  </a:lnTo>
                  <a:lnTo>
                    <a:pt x="0" y="1095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4" y="0"/>
                  </a:lnTo>
                  <a:lnTo>
                    <a:pt x="1088279" y="0"/>
                  </a:lnTo>
                  <a:lnTo>
                    <a:pt x="1129649" y="11090"/>
                  </a:lnTo>
                  <a:lnTo>
                    <a:pt x="1163627" y="37168"/>
                  </a:lnTo>
                  <a:lnTo>
                    <a:pt x="1185038" y="74263"/>
                  </a:lnTo>
                  <a:lnTo>
                    <a:pt x="1190624" y="102345"/>
                  </a:lnTo>
                  <a:lnTo>
                    <a:pt x="1190624" y="116729"/>
                  </a:lnTo>
                  <a:lnTo>
                    <a:pt x="1179533" y="158100"/>
                  </a:lnTo>
                  <a:lnTo>
                    <a:pt x="1153455" y="192077"/>
                  </a:lnTo>
                  <a:lnTo>
                    <a:pt x="1116360" y="213489"/>
                  </a:lnTo>
                  <a:lnTo>
                    <a:pt x="1095402" y="218373"/>
                  </a:lnTo>
                  <a:lnTo>
                    <a:pt x="1088279" y="21907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5884167" y="1668462"/>
            <a:ext cx="1042669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10" b="1">
                <a:solidFill>
                  <a:srgbClr val="293283"/>
                </a:solidFill>
                <a:latin typeface="Courier New"/>
                <a:cs typeface="Courier New"/>
              </a:rPr>
              <a:t>loading_demo.py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810249" y="1943099"/>
            <a:ext cx="5534025" cy="3924300"/>
          </a:xfrm>
          <a:custGeom>
            <a:avLst/>
            <a:gdLst/>
            <a:ahLst/>
            <a:cxnLst/>
            <a:rect l="l" t="t" r="r" b="b"/>
            <a:pathLst>
              <a:path w="5534025" h="3924300">
                <a:moveTo>
                  <a:pt x="5427229" y="3924299"/>
                </a:moveTo>
                <a:lnTo>
                  <a:pt x="106794" y="3924299"/>
                </a:lnTo>
                <a:lnTo>
                  <a:pt x="99361" y="3923567"/>
                </a:lnTo>
                <a:lnTo>
                  <a:pt x="57037" y="3909205"/>
                </a:lnTo>
                <a:lnTo>
                  <a:pt x="23432" y="3879740"/>
                </a:lnTo>
                <a:lnTo>
                  <a:pt x="3660" y="3839658"/>
                </a:lnTo>
                <a:lnTo>
                  <a:pt x="0" y="3817504"/>
                </a:lnTo>
                <a:lnTo>
                  <a:pt x="0" y="3809999"/>
                </a:lnTo>
                <a:lnTo>
                  <a:pt x="0" y="106794"/>
                </a:lnTo>
                <a:lnTo>
                  <a:pt x="11571" y="63625"/>
                </a:lnTo>
                <a:lnTo>
                  <a:pt x="38784" y="28170"/>
                </a:lnTo>
                <a:lnTo>
                  <a:pt x="77492" y="5828"/>
                </a:lnTo>
                <a:lnTo>
                  <a:pt x="106794" y="0"/>
                </a:lnTo>
                <a:lnTo>
                  <a:pt x="5427229" y="0"/>
                </a:lnTo>
                <a:lnTo>
                  <a:pt x="5470397" y="11572"/>
                </a:lnTo>
                <a:lnTo>
                  <a:pt x="5505853" y="38784"/>
                </a:lnTo>
                <a:lnTo>
                  <a:pt x="5528194" y="77492"/>
                </a:lnTo>
                <a:lnTo>
                  <a:pt x="5534024" y="106794"/>
                </a:lnTo>
                <a:lnTo>
                  <a:pt x="5534024" y="3817504"/>
                </a:lnTo>
                <a:lnTo>
                  <a:pt x="5522449" y="3860672"/>
                </a:lnTo>
                <a:lnTo>
                  <a:pt x="5495238" y="3896128"/>
                </a:lnTo>
                <a:lnTo>
                  <a:pt x="5456530" y="3918470"/>
                </a:lnTo>
                <a:lnTo>
                  <a:pt x="5434662" y="3923567"/>
                </a:lnTo>
                <a:lnTo>
                  <a:pt x="5427229" y="3924299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931792" y="2025650"/>
            <a:ext cx="12058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800" spc="5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pandas</a:t>
            </a:r>
            <a:r>
              <a:rPr dirty="0" sz="80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800" spc="5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7E9F5"/>
                </a:solidFill>
                <a:latin typeface="Courier New"/>
                <a:cs typeface="Courier New"/>
              </a:rPr>
              <a:t>pd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931792" y="2313304"/>
            <a:ext cx="2012950" cy="51117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800" spc="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Load</a:t>
            </a:r>
            <a:r>
              <a:rPr dirty="0" sz="800" spc="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800" spc="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CSV</a:t>
            </a:r>
            <a:r>
              <a:rPr dirty="0" sz="800" spc="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df</a:t>
            </a:r>
            <a:r>
              <a:rPr dirty="0" sz="800" spc="2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pd.read_csv(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"students.csv"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800" spc="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returns</a:t>
            </a:r>
            <a:r>
              <a:rPr dirty="0" sz="800" spc="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800" spc="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DataFrame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31792" y="2961004"/>
            <a:ext cx="2074545" cy="51117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80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Common</a:t>
            </a:r>
            <a:r>
              <a:rPr dirty="0" sz="80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useful</a:t>
            </a:r>
            <a:r>
              <a:rPr dirty="0" sz="80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arguments</a:t>
            </a:r>
            <a:r>
              <a:rPr dirty="0" sz="80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800">
              <a:latin typeface="Courier New"/>
              <a:cs typeface="Courier New"/>
            </a:endParaRPr>
          </a:p>
          <a:p>
            <a:pPr marL="260985" marR="873760" indent="-248920">
              <a:lnSpc>
                <a:spcPct val="132800"/>
              </a:lnSpc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df</a:t>
            </a:r>
            <a:r>
              <a:rPr dirty="0" sz="800" spc="2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pd.read_csv(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"students.csv"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80055" y="3446780"/>
            <a:ext cx="1082040" cy="84455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34800"/>
              </a:lnSpc>
              <a:spcBef>
                <a:spcPts val="75"/>
              </a:spcBef>
            </a:pP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sep=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","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50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header=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0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, index_col=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0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, nrows=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100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,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encoding=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"utf-</a:t>
            </a:r>
            <a:r>
              <a:rPr dirty="0" sz="800" spc="-25">
                <a:solidFill>
                  <a:srgbClr val="B8E886"/>
                </a:solidFill>
                <a:latin typeface="Courier New"/>
                <a:cs typeface="Courier New"/>
              </a:rPr>
              <a:t>8"</a:t>
            </a:r>
            <a:r>
              <a:rPr dirty="0" sz="800" spc="-25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545833" y="3446780"/>
            <a:ext cx="2385060" cy="8445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delimiter</a:t>
            </a:r>
            <a:r>
              <a:rPr dirty="0" sz="80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(default</a:t>
            </a:r>
            <a:r>
              <a:rPr dirty="0" sz="800" spc="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comma)</a:t>
            </a:r>
            <a:endParaRPr sz="800">
              <a:latin typeface="Courier New"/>
              <a:cs typeface="Courier New"/>
            </a:endParaRPr>
          </a:p>
          <a:p>
            <a:pPr marL="12700" marR="191135">
              <a:lnSpc>
                <a:spcPct val="132800"/>
              </a:lnSpc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row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number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to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use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as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column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names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column</a:t>
            </a:r>
            <a:r>
              <a:rPr dirty="0" sz="800" spc="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to</a:t>
            </a:r>
            <a:r>
              <a:rPr dirty="0" sz="800" spc="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use</a:t>
            </a:r>
            <a:r>
              <a:rPr dirty="0" sz="800" spc="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as</a:t>
            </a:r>
            <a:r>
              <a:rPr dirty="0" sz="800" spc="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row</a:t>
            </a:r>
            <a:r>
              <a:rPr dirty="0" sz="800" spc="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8B8FB4"/>
                </a:solidFill>
                <a:latin typeface="Courier New"/>
                <a:cs typeface="Courier New"/>
              </a:rPr>
              <a:t>index</a:t>
            </a:r>
            <a:endParaRPr sz="800">
              <a:latin typeface="Courier New"/>
              <a:cs typeface="Courier New"/>
            </a:endParaRPr>
          </a:p>
          <a:p>
            <a:pPr marL="12700" marR="5080">
              <a:lnSpc>
                <a:spcPct val="132800"/>
              </a:lnSpc>
              <a:spcBef>
                <a:spcPts val="75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only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load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first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100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rows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(big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files)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for</a:t>
            </a:r>
            <a:r>
              <a:rPr dirty="0" sz="80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files</a:t>
            </a:r>
            <a:r>
              <a:rPr dirty="0" sz="80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with</a:t>
            </a:r>
            <a:r>
              <a:rPr dirty="0" sz="80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non-ASCII</a:t>
            </a:r>
            <a:r>
              <a:rPr dirty="0" sz="80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chars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31792" y="4302125"/>
            <a:ext cx="889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931792" y="4589779"/>
            <a:ext cx="2819400" cy="51117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Loading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from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URL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(Day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11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preview)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url</a:t>
            </a:r>
            <a:r>
              <a:rPr dirty="0" sz="800" spc="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  <a:hlinkClick r:id="rId5"/>
              </a:rPr>
              <a:t>https://example.com/data.csv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df</a:t>
            </a:r>
            <a:r>
              <a:rPr dirty="0" sz="800" spc="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pd.read_csv(url)</a:t>
            </a:r>
            <a:r>
              <a:rPr dirty="0" sz="800" spc="50">
                <a:solidFill>
                  <a:srgbClr val="E7E9F5"/>
                </a:solidFill>
                <a:latin typeface="Courier New"/>
                <a:cs typeface="Courier New"/>
              </a:rPr>
              <a:t> 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works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same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8B8FB4"/>
                </a:solidFill>
                <a:latin typeface="Courier New"/>
                <a:cs typeface="Courier New"/>
              </a:rPr>
              <a:t>way!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31792" y="5237479"/>
            <a:ext cx="2012950" cy="511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95"/>
              </a:spcBef>
              <a:tabLst>
                <a:tab pos="1129665" algn="l"/>
              </a:tabLst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Quick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check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it</a:t>
            </a:r>
            <a:r>
              <a:rPr dirty="0" sz="80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loaded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B8FB4"/>
                </a:solidFill>
                <a:latin typeface="Courier New"/>
                <a:cs typeface="Courier New"/>
              </a:rPr>
              <a:t>=== 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(df.shape)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	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(rows,</a:t>
            </a:r>
            <a:r>
              <a:rPr dirty="0" sz="800" spc="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cols)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(df.head())</a:t>
            </a:r>
            <a:r>
              <a:rPr dirty="0" sz="800" spc="50">
                <a:solidFill>
                  <a:srgbClr val="E7E9F5"/>
                </a:solidFill>
                <a:latin typeface="Courier New"/>
                <a:cs typeface="Courier New"/>
              </a:rPr>
              <a:t> 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first</a:t>
            </a:r>
            <a:r>
              <a:rPr dirty="0" sz="80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5</a:t>
            </a:r>
            <a:r>
              <a:rPr dirty="0" sz="80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8B8FB4"/>
                </a:solidFill>
                <a:latin typeface="Courier New"/>
                <a:cs typeface="Courier New"/>
              </a:rPr>
              <a:t>rows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85787" y="5924550"/>
            <a:ext cx="10820400" cy="400050"/>
          </a:xfrm>
          <a:custGeom>
            <a:avLst/>
            <a:gdLst/>
            <a:ahLst/>
            <a:cxnLst/>
            <a:rect l="l" t="t" r="r" b="b"/>
            <a:pathLst>
              <a:path w="10820400" h="400050">
                <a:moveTo>
                  <a:pt x="10820400" y="200025"/>
                </a:moveTo>
                <a:lnTo>
                  <a:pt x="10816565" y="161010"/>
                </a:lnTo>
                <a:lnTo>
                  <a:pt x="10805173" y="123482"/>
                </a:lnTo>
                <a:lnTo>
                  <a:pt x="10786694" y="88900"/>
                </a:lnTo>
                <a:lnTo>
                  <a:pt x="10761815" y="58597"/>
                </a:lnTo>
                <a:lnTo>
                  <a:pt x="10731513" y="33718"/>
                </a:lnTo>
                <a:lnTo>
                  <a:pt x="10696931" y="15227"/>
                </a:lnTo>
                <a:lnTo>
                  <a:pt x="10659402" y="3848"/>
                </a:lnTo>
                <a:lnTo>
                  <a:pt x="10620375" y="0"/>
                </a:lnTo>
                <a:lnTo>
                  <a:pt x="200025" y="0"/>
                </a:lnTo>
                <a:lnTo>
                  <a:pt x="161010" y="3848"/>
                </a:lnTo>
                <a:lnTo>
                  <a:pt x="123482" y="15227"/>
                </a:lnTo>
                <a:lnTo>
                  <a:pt x="88900" y="33718"/>
                </a:lnTo>
                <a:lnTo>
                  <a:pt x="58597" y="58597"/>
                </a:lnTo>
                <a:lnTo>
                  <a:pt x="33718" y="88900"/>
                </a:lnTo>
                <a:lnTo>
                  <a:pt x="15227" y="123482"/>
                </a:lnTo>
                <a:lnTo>
                  <a:pt x="3848" y="161010"/>
                </a:lnTo>
                <a:lnTo>
                  <a:pt x="0" y="200025"/>
                </a:lnTo>
                <a:lnTo>
                  <a:pt x="241" y="209854"/>
                </a:lnTo>
                <a:lnTo>
                  <a:pt x="6007" y="248640"/>
                </a:lnTo>
                <a:lnTo>
                  <a:pt x="19215" y="285559"/>
                </a:lnTo>
                <a:lnTo>
                  <a:pt x="39370" y="319201"/>
                </a:lnTo>
                <a:lnTo>
                  <a:pt x="65709" y="348246"/>
                </a:lnTo>
                <a:lnTo>
                  <a:pt x="97205" y="371602"/>
                </a:lnTo>
                <a:lnTo>
                  <a:pt x="132651" y="388366"/>
                </a:lnTo>
                <a:lnTo>
                  <a:pt x="170688" y="397891"/>
                </a:lnTo>
                <a:lnTo>
                  <a:pt x="200025" y="400050"/>
                </a:lnTo>
                <a:lnTo>
                  <a:pt x="10620375" y="400050"/>
                </a:lnTo>
                <a:lnTo>
                  <a:pt x="10659402" y="396214"/>
                </a:lnTo>
                <a:lnTo>
                  <a:pt x="10696931" y="384835"/>
                </a:lnTo>
                <a:lnTo>
                  <a:pt x="10731513" y="366344"/>
                </a:lnTo>
                <a:lnTo>
                  <a:pt x="10761815" y="341464"/>
                </a:lnTo>
                <a:lnTo>
                  <a:pt x="10786694" y="311162"/>
                </a:lnTo>
                <a:lnTo>
                  <a:pt x="10805173" y="276580"/>
                </a:lnTo>
                <a:lnTo>
                  <a:pt x="10816565" y="239052"/>
                </a:lnTo>
                <a:lnTo>
                  <a:pt x="10820400" y="200025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20750" y="6035674"/>
            <a:ext cx="1828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TIP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390637" y="6048375"/>
            <a:ext cx="4848225" cy="142875"/>
          </a:xfrm>
          <a:custGeom>
            <a:avLst/>
            <a:gdLst/>
            <a:ahLst/>
            <a:cxnLst/>
            <a:rect l="l" t="t" r="r" b="b"/>
            <a:pathLst>
              <a:path w="4848225" h="142875">
                <a:moveTo>
                  <a:pt x="609600" y="33058"/>
                </a:moveTo>
                <a:lnTo>
                  <a:pt x="581418" y="977"/>
                </a:lnTo>
                <a:lnTo>
                  <a:pt x="576554" y="0"/>
                </a:lnTo>
                <a:lnTo>
                  <a:pt x="33058" y="0"/>
                </a:lnTo>
                <a:lnTo>
                  <a:pt x="977" y="28194"/>
                </a:lnTo>
                <a:lnTo>
                  <a:pt x="0" y="33058"/>
                </a:lnTo>
                <a:lnTo>
                  <a:pt x="0" y="104775"/>
                </a:lnTo>
                <a:lnTo>
                  <a:pt x="0" y="109829"/>
                </a:lnTo>
                <a:lnTo>
                  <a:pt x="28194" y="141909"/>
                </a:lnTo>
                <a:lnTo>
                  <a:pt x="33058" y="142875"/>
                </a:lnTo>
                <a:lnTo>
                  <a:pt x="576554" y="142875"/>
                </a:lnTo>
                <a:lnTo>
                  <a:pt x="608634" y="114693"/>
                </a:lnTo>
                <a:lnTo>
                  <a:pt x="609600" y="109829"/>
                </a:lnTo>
                <a:lnTo>
                  <a:pt x="609600" y="33058"/>
                </a:lnTo>
                <a:close/>
              </a:path>
              <a:path w="4848225" h="142875">
                <a:moveTo>
                  <a:pt x="4848225" y="33058"/>
                </a:moveTo>
                <a:lnTo>
                  <a:pt x="4820043" y="977"/>
                </a:lnTo>
                <a:lnTo>
                  <a:pt x="4815179" y="0"/>
                </a:lnTo>
                <a:lnTo>
                  <a:pt x="4462183" y="0"/>
                </a:lnTo>
                <a:lnTo>
                  <a:pt x="4430103" y="28194"/>
                </a:lnTo>
                <a:lnTo>
                  <a:pt x="4429125" y="33058"/>
                </a:lnTo>
                <a:lnTo>
                  <a:pt x="4429125" y="104775"/>
                </a:lnTo>
                <a:lnTo>
                  <a:pt x="4429125" y="109829"/>
                </a:lnTo>
                <a:lnTo>
                  <a:pt x="4457319" y="141909"/>
                </a:lnTo>
                <a:lnTo>
                  <a:pt x="4462183" y="142875"/>
                </a:lnTo>
                <a:lnTo>
                  <a:pt x="4815179" y="142875"/>
                </a:lnTo>
                <a:lnTo>
                  <a:pt x="4847260" y="114693"/>
                </a:lnTo>
                <a:lnTo>
                  <a:pt x="4848225" y="109829"/>
                </a:lnTo>
                <a:lnTo>
                  <a:pt x="4848225" y="33058"/>
                </a:lnTo>
                <a:close/>
              </a:path>
            </a:pathLst>
          </a:custGeom>
          <a:solidFill>
            <a:srgbClr val="FF6A5B">
              <a:alpha val="1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291927" y="6030912"/>
            <a:ext cx="703135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>
                <a:solidFill>
                  <a:srgbClr val="1B1F3A"/>
                </a:solidFill>
                <a:latin typeface="Trebuchet MS"/>
                <a:cs typeface="Trebuchet MS"/>
              </a:rPr>
              <a:t>If</a:t>
            </a:r>
            <a:r>
              <a:rPr dirty="0" sz="850" spc="3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FF6A5B"/>
                </a:solidFill>
                <a:latin typeface="Courier New"/>
                <a:cs typeface="Courier New"/>
              </a:rPr>
              <a:t>read_csv</a:t>
            </a:r>
            <a:r>
              <a:rPr dirty="0" sz="850" spc="90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50" spc="-70">
                <a:solidFill>
                  <a:srgbClr val="1B1F3A"/>
                </a:solidFill>
                <a:latin typeface="Trebuchet MS"/>
                <a:cs typeface="Trebuchet MS"/>
              </a:rPr>
              <a:t>fails,</a:t>
            </a:r>
            <a:r>
              <a:rPr dirty="0" sz="850" spc="-65">
                <a:solidFill>
                  <a:srgbClr val="1B1F3A"/>
                </a:solidFill>
                <a:latin typeface="Trebuchet MS"/>
                <a:cs typeface="Trebuchet MS"/>
              </a:rPr>
              <a:t> check:</a:t>
            </a:r>
            <a:r>
              <a:rPr dirty="0" sz="85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1B1F3A"/>
                </a:solidFill>
                <a:latin typeface="Trebuchet MS"/>
                <a:cs typeface="Trebuchet MS"/>
              </a:rPr>
              <a:t>(1)</a:t>
            </a:r>
            <a:r>
              <a:rPr dirty="0" sz="85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rebuchet MS"/>
                <a:cs typeface="Trebuchet MS"/>
              </a:rPr>
              <a:t>is</a:t>
            </a:r>
            <a:r>
              <a:rPr dirty="0" sz="850" spc="-6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850" spc="-60">
                <a:solidFill>
                  <a:srgbClr val="1B1F3A"/>
                </a:solidFill>
                <a:latin typeface="Trebuchet MS"/>
                <a:cs typeface="Trebuchet MS"/>
              </a:rPr>
              <a:t> file </a:t>
            </a:r>
            <a:r>
              <a:rPr dirty="0" sz="850" spc="-40">
                <a:solidFill>
                  <a:srgbClr val="1B1F3A"/>
                </a:solidFill>
                <a:latin typeface="Trebuchet MS"/>
                <a:cs typeface="Trebuchet MS"/>
              </a:rPr>
              <a:t>in</a:t>
            </a:r>
            <a:r>
              <a:rPr dirty="0" sz="85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850" spc="-6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rebuchet MS"/>
                <a:cs typeface="Trebuchet MS"/>
              </a:rPr>
              <a:t>same</a:t>
            </a:r>
            <a:r>
              <a:rPr dirty="0" sz="85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folder?</a:t>
            </a:r>
            <a:r>
              <a:rPr dirty="0" sz="85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1B1F3A"/>
                </a:solidFill>
                <a:latin typeface="Trebuchet MS"/>
                <a:cs typeface="Trebuchet MS"/>
              </a:rPr>
              <a:t>(2)</a:t>
            </a:r>
            <a:r>
              <a:rPr dirty="0" sz="850" spc="-6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rebuchet MS"/>
                <a:cs typeface="Trebuchet MS"/>
              </a:rPr>
              <a:t>is</a:t>
            </a:r>
            <a:r>
              <a:rPr dirty="0" sz="85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85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rebuchet MS"/>
                <a:cs typeface="Trebuchet MS"/>
              </a:rPr>
              <a:t>path</a:t>
            </a:r>
            <a:r>
              <a:rPr dirty="0" sz="85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rebuchet MS"/>
                <a:cs typeface="Trebuchet MS"/>
              </a:rPr>
              <a:t>correct?</a:t>
            </a:r>
            <a:r>
              <a:rPr dirty="0" sz="850" spc="-6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1B1F3A"/>
                </a:solidFill>
                <a:latin typeface="Trebuchet MS"/>
                <a:cs typeface="Trebuchet MS"/>
              </a:rPr>
              <a:t>(3)</a:t>
            </a:r>
            <a:r>
              <a:rPr dirty="0" sz="85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rebuchet MS"/>
                <a:cs typeface="Trebuchet MS"/>
              </a:rPr>
              <a:t>is</a:t>
            </a:r>
            <a:r>
              <a:rPr dirty="0" sz="850" spc="-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850" spc="-6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1B1F3A"/>
                </a:solidFill>
                <a:latin typeface="Trebuchet MS"/>
                <a:cs typeface="Trebuchet MS"/>
              </a:rPr>
              <a:t>encoding</a:t>
            </a:r>
            <a:r>
              <a:rPr dirty="0" sz="850" spc="34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FF6A5B"/>
                </a:solidFill>
                <a:latin typeface="Courier New"/>
                <a:cs typeface="Courier New"/>
              </a:rPr>
              <a:t>utf-</a:t>
            </a:r>
            <a:r>
              <a:rPr dirty="0" sz="850">
                <a:solidFill>
                  <a:srgbClr val="FF6A5B"/>
                </a:solidFill>
                <a:latin typeface="Courier New"/>
                <a:cs typeface="Courier New"/>
              </a:rPr>
              <a:t>8</a:t>
            </a:r>
            <a:r>
              <a:rPr dirty="0" sz="850" spc="-114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50" spc="80">
                <a:solidFill>
                  <a:srgbClr val="1B1F3A"/>
                </a:solidFill>
                <a:latin typeface="Trebuchet MS"/>
                <a:cs typeface="Trebuchet MS"/>
              </a:rPr>
              <a:t>?</a:t>
            </a:r>
            <a:r>
              <a:rPr dirty="0" sz="850" spc="-6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215" b="1">
                <a:solidFill>
                  <a:srgbClr val="FF6A5B"/>
                </a:solidFill>
                <a:latin typeface="Tahoma"/>
                <a:cs typeface="Tahoma"/>
              </a:rPr>
              <a:t>90%</a:t>
            </a:r>
            <a:r>
              <a:rPr dirty="0" sz="850" spc="-5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70" b="1">
                <a:solidFill>
                  <a:srgbClr val="FF6A5B"/>
                </a:solidFill>
                <a:latin typeface="Tahoma"/>
                <a:cs typeface="Tahoma"/>
              </a:rPr>
              <a:t>of</a:t>
            </a:r>
            <a:r>
              <a:rPr dirty="0" sz="850" spc="-5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95" b="1">
                <a:solidFill>
                  <a:srgbClr val="FF6A5B"/>
                </a:solidFill>
                <a:latin typeface="Tahoma"/>
                <a:cs typeface="Tahoma"/>
              </a:rPr>
              <a:t>loading</a:t>
            </a:r>
            <a:r>
              <a:rPr dirty="0" sz="850" spc="-5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85" b="1">
                <a:solidFill>
                  <a:srgbClr val="FF6A5B"/>
                </a:solidFill>
                <a:latin typeface="Tahoma"/>
                <a:cs typeface="Tahoma"/>
              </a:rPr>
              <a:t>errors</a:t>
            </a:r>
            <a:r>
              <a:rPr dirty="0" sz="850" spc="-6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90" b="1">
                <a:solidFill>
                  <a:srgbClr val="FF6A5B"/>
                </a:solidFill>
                <a:latin typeface="Tahoma"/>
                <a:cs typeface="Tahoma"/>
              </a:rPr>
              <a:t>are</a:t>
            </a:r>
            <a:r>
              <a:rPr dirty="0" sz="850" spc="-5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90" b="1">
                <a:solidFill>
                  <a:srgbClr val="FF6A5B"/>
                </a:solidFill>
                <a:latin typeface="Tahoma"/>
                <a:cs typeface="Tahoma"/>
              </a:rPr>
              <a:t>one</a:t>
            </a:r>
            <a:r>
              <a:rPr dirty="0" sz="850" spc="-5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70" b="1">
                <a:solidFill>
                  <a:srgbClr val="FF6A5B"/>
                </a:solidFill>
                <a:latin typeface="Tahoma"/>
                <a:cs typeface="Tahoma"/>
              </a:rPr>
              <a:t>of</a:t>
            </a:r>
            <a:r>
              <a:rPr dirty="0" sz="850" spc="-5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90" b="1">
                <a:solidFill>
                  <a:srgbClr val="FF6A5B"/>
                </a:solidFill>
                <a:latin typeface="Tahoma"/>
                <a:cs typeface="Tahoma"/>
              </a:rPr>
              <a:t>these</a:t>
            </a:r>
            <a:r>
              <a:rPr dirty="0" sz="850" spc="-5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10" b="1">
                <a:solidFill>
                  <a:srgbClr val="FF6A5B"/>
                </a:solidFill>
                <a:latin typeface="Tahoma"/>
                <a:cs typeface="Tahoma"/>
              </a:rPr>
              <a:t>three.</a:t>
            </a:r>
            <a:endParaRPr sz="850">
              <a:latin typeface="Tahoma"/>
              <a:cs typeface="Tahoma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11075887" y="6431213"/>
            <a:ext cx="426720" cy="1536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00" spc="-1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 spc="-11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6</a:t>
            </a:r>
            <a:r>
              <a:rPr dirty="0" sz="800" spc="12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5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11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797E94"/>
                </a:solidFill>
                <a:latin typeface="Trebuchet MS"/>
                <a:cs typeface="Trebuchet MS"/>
              </a:rPr>
              <a:t>8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" y="647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5500" y="587375"/>
            <a:ext cx="18903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1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r>
              <a:rPr dirty="0" sz="900" spc="24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ATA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686434"/>
            <a:ext cx="8303895" cy="608330"/>
          </a:xfrm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950" spc="-235">
                <a:solidFill>
                  <a:srgbClr val="293283"/>
                </a:solidFill>
              </a:rPr>
              <a:t>Three</a:t>
            </a:r>
            <a:r>
              <a:rPr dirty="0" sz="1950" spc="-165">
                <a:solidFill>
                  <a:srgbClr val="293283"/>
                </a:solidFill>
              </a:rPr>
              <a:t> </a:t>
            </a:r>
            <a:r>
              <a:rPr dirty="0" sz="1950" spc="-240">
                <a:solidFill>
                  <a:srgbClr val="293283"/>
                </a:solidFill>
              </a:rPr>
              <a:t>commands.</a:t>
            </a:r>
            <a:r>
              <a:rPr dirty="0" sz="1950" spc="-160">
                <a:solidFill>
                  <a:srgbClr val="293283"/>
                </a:solidFill>
              </a:rPr>
              <a:t> </a:t>
            </a:r>
            <a:r>
              <a:rPr dirty="0" sz="1950" spc="-270">
                <a:solidFill>
                  <a:srgbClr val="293283"/>
                </a:solidFill>
              </a:rPr>
              <a:t>Run</a:t>
            </a:r>
            <a:r>
              <a:rPr dirty="0" sz="1950" spc="-160">
                <a:solidFill>
                  <a:srgbClr val="293283"/>
                </a:solidFill>
              </a:rPr>
              <a:t> </a:t>
            </a:r>
            <a:r>
              <a:rPr dirty="0" sz="1950" spc="-235">
                <a:solidFill>
                  <a:srgbClr val="293283"/>
                </a:solidFill>
              </a:rPr>
              <a:t>them</a:t>
            </a:r>
            <a:r>
              <a:rPr dirty="0" sz="1950" spc="-160">
                <a:solidFill>
                  <a:srgbClr val="293283"/>
                </a:solidFill>
              </a:rPr>
              <a:t> </a:t>
            </a:r>
            <a:r>
              <a:rPr dirty="0" sz="1950" spc="-225">
                <a:solidFill>
                  <a:srgbClr val="293283"/>
                </a:solidFill>
              </a:rPr>
              <a:t>every</a:t>
            </a:r>
            <a:r>
              <a:rPr dirty="0" sz="1950" spc="-160">
                <a:solidFill>
                  <a:srgbClr val="293283"/>
                </a:solidFill>
              </a:rPr>
              <a:t> </a:t>
            </a:r>
            <a:r>
              <a:rPr dirty="0" sz="1950" spc="-210">
                <a:solidFill>
                  <a:srgbClr val="293283"/>
                </a:solidFill>
              </a:rPr>
              <a:t>time</a:t>
            </a:r>
            <a:r>
              <a:rPr dirty="0" sz="1950" spc="-165">
                <a:solidFill>
                  <a:srgbClr val="293283"/>
                </a:solidFill>
              </a:rPr>
              <a:t> </a:t>
            </a:r>
            <a:r>
              <a:rPr dirty="0" sz="1950" spc="-225">
                <a:solidFill>
                  <a:srgbClr val="293283"/>
                </a:solidFill>
              </a:rPr>
              <a:t>you</a:t>
            </a:r>
            <a:r>
              <a:rPr dirty="0" sz="1950" spc="-160">
                <a:solidFill>
                  <a:srgbClr val="293283"/>
                </a:solidFill>
              </a:rPr>
              <a:t> </a:t>
            </a:r>
            <a:r>
              <a:rPr dirty="0" sz="1950" spc="-195">
                <a:solidFill>
                  <a:srgbClr val="293283"/>
                </a:solidFill>
              </a:rPr>
              <a:t>load</a:t>
            </a:r>
            <a:r>
              <a:rPr dirty="0" sz="1950" spc="-160">
                <a:solidFill>
                  <a:srgbClr val="293283"/>
                </a:solidFill>
              </a:rPr>
              <a:t> </a:t>
            </a:r>
            <a:r>
              <a:rPr dirty="0" sz="1950" spc="-215">
                <a:solidFill>
                  <a:srgbClr val="293283"/>
                </a:solidFill>
              </a:rPr>
              <a:t>a</a:t>
            </a:r>
            <a:r>
              <a:rPr dirty="0" sz="1950" spc="-160">
                <a:solidFill>
                  <a:srgbClr val="293283"/>
                </a:solidFill>
              </a:rPr>
              <a:t> </a:t>
            </a:r>
            <a:r>
              <a:rPr dirty="0" sz="1950" spc="-120">
                <a:solidFill>
                  <a:srgbClr val="293283"/>
                </a:solidFill>
              </a:rPr>
              <a:t>DataFrame.</a:t>
            </a:r>
            <a:endParaRPr sz="1950"/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950" spc="-50" b="0">
                <a:solidFill>
                  <a:srgbClr val="4A4E6A"/>
                </a:solidFill>
                <a:latin typeface="Trebuchet MS"/>
                <a:cs typeface="Trebuchet MS"/>
              </a:rPr>
              <a:t>Before </a:t>
            </a:r>
            <a:r>
              <a:rPr dirty="0" sz="950" spc="-30" b="0">
                <a:solidFill>
                  <a:srgbClr val="4A4E6A"/>
                </a:solidFill>
                <a:latin typeface="Trebuchet MS"/>
                <a:cs typeface="Trebuchet MS"/>
              </a:rPr>
              <a:t>you</a:t>
            </a:r>
            <a:r>
              <a:rPr dirty="0" sz="950" spc="-4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20" b="0">
                <a:solidFill>
                  <a:srgbClr val="4A4E6A"/>
                </a:solidFill>
                <a:latin typeface="Trebuchet MS"/>
                <a:cs typeface="Trebuchet MS"/>
              </a:rPr>
              <a:t>do</a:t>
            </a:r>
            <a:r>
              <a:rPr dirty="0" sz="9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5" b="0">
                <a:solidFill>
                  <a:srgbClr val="4A4E6A"/>
                </a:solidFill>
                <a:latin typeface="Trebuchet MS"/>
                <a:cs typeface="Trebuchet MS"/>
              </a:rPr>
              <a:t>anything </a:t>
            </a:r>
            <a:r>
              <a:rPr dirty="0" sz="950" spc="-60" b="0">
                <a:solidFill>
                  <a:srgbClr val="4A4E6A"/>
                </a:solidFill>
                <a:latin typeface="Trebuchet MS"/>
                <a:cs typeface="Trebuchet MS"/>
              </a:rPr>
              <a:t>else,</a:t>
            </a:r>
            <a:r>
              <a:rPr dirty="0" sz="9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 b="0">
                <a:solidFill>
                  <a:srgbClr val="4A4E6A"/>
                </a:solidFill>
                <a:latin typeface="Trebuchet MS"/>
                <a:cs typeface="Trebuchet MS"/>
              </a:rPr>
              <a:t>run</a:t>
            </a:r>
            <a:r>
              <a:rPr dirty="0" sz="950" spc="-4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 b="0">
                <a:solidFill>
                  <a:srgbClr val="4A4E6A"/>
                </a:solidFill>
                <a:latin typeface="Trebuchet MS"/>
                <a:cs typeface="Trebuchet MS"/>
              </a:rPr>
              <a:t>these</a:t>
            </a:r>
            <a:r>
              <a:rPr dirty="0" sz="9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60" b="0">
                <a:solidFill>
                  <a:srgbClr val="4A4E6A"/>
                </a:solidFill>
                <a:latin typeface="Trebuchet MS"/>
                <a:cs typeface="Trebuchet MS"/>
              </a:rPr>
              <a:t>three.</a:t>
            </a:r>
            <a:r>
              <a:rPr dirty="0" sz="950" spc="-4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55" b="0">
                <a:solidFill>
                  <a:srgbClr val="4A4E6A"/>
                </a:solidFill>
                <a:latin typeface="Trebuchet MS"/>
                <a:cs typeface="Trebuchet MS"/>
              </a:rPr>
              <a:t>They</a:t>
            </a:r>
            <a:r>
              <a:rPr dirty="0" sz="9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65" b="0">
                <a:solidFill>
                  <a:srgbClr val="4A4E6A"/>
                </a:solidFill>
                <a:latin typeface="Trebuchet MS"/>
                <a:cs typeface="Trebuchet MS"/>
              </a:rPr>
              <a:t>tell</a:t>
            </a:r>
            <a:r>
              <a:rPr dirty="0" sz="950" spc="-4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0" b="0">
                <a:solidFill>
                  <a:srgbClr val="4A4E6A"/>
                </a:solidFill>
                <a:latin typeface="Trebuchet MS"/>
                <a:cs typeface="Trebuchet MS"/>
              </a:rPr>
              <a:t>you</a:t>
            </a:r>
            <a:r>
              <a:rPr dirty="0" sz="9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5" b="0">
                <a:solidFill>
                  <a:srgbClr val="4A4E6A"/>
                </a:solidFill>
                <a:latin typeface="Trebuchet MS"/>
                <a:cs typeface="Trebuchet MS"/>
              </a:rPr>
              <a:t>the </a:t>
            </a:r>
            <a:r>
              <a:rPr dirty="0" sz="950" spc="-50" b="0">
                <a:solidFill>
                  <a:srgbClr val="4A4E6A"/>
                </a:solidFill>
                <a:latin typeface="Trebuchet MS"/>
                <a:cs typeface="Trebuchet MS"/>
              </a:rPr>
              <a:t>shape, </a:t>
            </a:r>
            <a:r>
              <a:rPr dirty="0" sz="950" spc="-45" b="0">
                <a:solidFill>
                  <a:srgbClr val="4A4E6A"/>
                </a:solidFill>
                <a:latin typeface="Trebuchet MS"/>
                <a:cs typeface="Trebuchet MS"/>
              </a:rPr>
              <a:t>the </a:t>
            </a:r>
            <a:r>
              <a:rPr dirty="0" sz="950" spc="-60" b="0">
                <a:solidFill>
                  <a:srgbClr val="4A4E6A"/>
                </a:solidFill>
                <a:latin typeface="Trebuchet MS"/>
                <a:cs typeface="Trebuchet MS"/>
              </a:rPr>
              <a:t>structure,</a:t>
            </a:r>
            <a:r>
              <a:rPr dirty="0" sz="9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 b="0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r>
              <a:rPr dirty="0" sz="950" spc="-45" b="0">
                <a:solidFill>
                  <a:srgbClr val="4A4E6A"/>
                </a:solidFill>
                <a:latin typeface="Trebuchet MS"/>
                <a:cs typeface="Trebuchet MS"/>
              </a:rPr>
              <a:t> the</a:t>
            </a:r>
            <a:r>
              <a:rPr dirty="0" sz="9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60" b="0">
                <a:solidFill>
                  <a:srgbClr val="4A4E6A"/>
                </a:solidFill>
                <a:latin typeface="Trebuchet MS"/>
                <a:cs typeface="Trebuchet MS"/>
              </a:rPr>
              <a:t>statistical</a:t>
            </a:r>
            <a:r>
              <a:rPr dirty="0" sz="950" spc="-4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55" b="0">
                <a:solidFill>
                  <a:srgbClr val="4A4E6A"/>
                </a:solidFill>
                <a:latin typeface="Trebuchet MS"/>
                <a:cs typeface="Trebuchet MS"/>
              </a:rPr>
              <a:t>summary.</a:t>
            </a:r>
            <a:r>
              <a:rPr dirty="0" sz="9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60" b="0">
                <a:solidFill>
                  <a:srgbClr val="4A4E6A"/>
                </a:solidFill>
                <a:latin typeface="Trebuchet MS"/>
                <a:cs typeface="Trebuchet MS"/>
              </a:rPr>
              <a:t>Five</a:t>
            </a:r>
            <a:r>
              <a:rPr dirty="0" sz="950" spc="-4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 b="0">
                <a:solidFill>
                  <a:srgbClr val="4A4E6A"/>
                </a:solidFill>
                <a:latin typeface="Trebuchet MS"/>
                <a:cs typeface="Trebuchet MS"/>
              </a:rPr>
              <a:t>seconds</a:t>
            </a:r>
            <a:r>
              <a:rPr dirty="0" sz="9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 b="0">
                <a:solidFill>
                  <a:srgbClr val="4A4E6A"/>
                </a:solidFill>
                <a:latin typeface="Trebuchet MS"/>
                <a:cs typeface="Trebuchet MS"/>
              </a:rPr>
              <a:t>of</a:t>
            </a:r>
            <a:r>
              <a:rPr dirty="0" sz="950" spc="-45" b="0">
                <a:solidFill>
                  <a:srgbClr val="4A4E6A"/>
                </a:solidFill>
                <a:latin typeface="Trebuchet MS"/>
                <a:cs typeface="Trebuchet MS"/>
              </a:rPr>
              <a:t> inspection</a:t>
            </a:r>
            <a:r>
              <a:rPr dirty="0" sz="9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 b="0">
                <a:solidFill>
                  <a:srgbClr val="4A4E6A"/>
                </a:solidFill>
                <a:latin typeface="Trebuchet MS"/>
                <a:cs typeface="Trebuchet MS"/>
              </a:rPr>
              <a:t>saves</a:t>
            </a:r>
            <a:r>
              <a:rPr dirty="0" sz="950" spc="-4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 b="0">
                <a:solidFill>
                  <a:srgbClr val="4A4E6A"/>
                </a:solidFill>
                <a:latin typeface="Trebuchet MS"/>
                <a:cs typeface="Trebuchet MS"/>
              </a:rPr>
              <a:t>an</a:t>
            </a:r>
            <a:r>
              <a:rPr dirty="0" sz="9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0" b="0">
                <a:solidFill>
                  <a:srgbClr val="4A4E6A"/>
                </a:solidFill>
                <a:latin typeface="Trebuchet MS"/>
                <a:cs typeface="Trebuchet MS"/>
              </a:rPr>
              <a:t>hour</a:t>
            </a:r>
            <a:r>
              <a:rPr dirty="0" sz="950" spc="-4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 b="0">
                <a:solidFill>
                  <a:srgbClr val="4A4E6A"/>
                </a:solidFill>
                <a:latin typeface="Trebuchet MS"/>
                <a:cs typeface="Trebuchet MS"/>
              </a:rPr>
              <a:t>of</a:t>
            </a:r>
            <a:r>
              <a:rPr dirty="0" sz="950" spc="-5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10" b="0">
                <a:solidFill>
                  <a:srgbClr val="4A4E6A"/>
                </a:solidFill>
                <a:latin typeface="Trebuchet MS"/>
                <a:cs typeface="Trebuchet MS"/>
              </a:rPr>
              <a:t>debugging.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799" y="1400174"/>
            <a:ext cx="10820400" cy="1428750"/>
            <a:chOff x="685799" y="1400174"/>
            <a:chExt cx="10820400" cy="1428750"/>
          </a:xfrm>
        </p:grpSpPr>
        <p:sp>
          <p:nvSpPr>
            <p:cNvPr id="6" name="object 6"/>
            <p:cNvSpPr/>
            <p:nvPr/>
          </p:nvSpPr>
          <p:spPr>
            <a:xfrm>
              <a:off x="690562" y="1404937"/>
              <a:ext cx="10810875" cy="1419225"/>
            </a:xfrm>
            <a:custGeom>
              <a:avLst/>
              <a:gdLst/>
              <a:ahLst/>
              <a:cxnLst/>
              <a:rect l="l" t="t" r="r" b="b"/>
              <a:pathLst>
                <a:path w="10810875" h="1419225">
                  <a:moveTo>
                    <a:pt x="10708528" y="1419224"/>
                  </a:moveTo>
                  <a:lnTo>
                    <a:pt x="102345" y="1419224"/>
                  </a:lnTo>
                  <a:lnTo>
                    <a:pt x="95221" y="1418523"/>
                  </a:lnTo>
                  <a:lnTo>
                    <a:pt x="54661" y="1404760"/>
                  </a:lnTo>
                  <a:lnTo>
                    <a:pt x="22456" y="1376523"/>
                  </a:lnTo>
                  <a:lnTo>
                    <a:pt x="3507" y="1338110"/>
                  </a:lnTo>
                  <a:lnTo>
                    <a:pt x="0" y="1316879"/>
                  </a:lnTo>
                  <a:lnTo>
                    <a:pt x="0" y="130968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10708528" y="0"/>
                  </a:lnTo>
                  <a:lnTo>
                    <a:pt x="10749898" y="11090"/>
                  </a:lnTo>
                  <a:lnTo>
                    <a:pt x="10783876" y="37168"/>
                  </a:lnTo>
                  <a:lnTo>
                    <a:pt x="10805287" y="74263"/>
                  </a:lnTo>
                  <a:lnTo>
                    <a:pt x="10810872" y="102345"/>
                  </a:lnTo>
                  <a:lnTo>
                    <a:pt x="10810872" y="1316879"/>
                  </a:lnTo>
                  <a:lnTo>
                    <a:pt x="10799782" y="1358250"/>
                  </a:lnTo>
                  <a:lnTo>
                    <a:pt x="10773705" y="1392227"/>
                  </a:lnTo>
                  <a:lnTo>
                    <a:pt x="10736608" y="1413639"/>
                  </a:lnTo>
                  <a:lnTo>
                    <a:pt x="10715652" y="1418523"/>
                  </a:lnTo>
                  <a:lnTo>
                    <a:pt x="10708528" y="1419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90562" y="1404937"/>
              <a:ext cx="10810875" cy="1419225"/>
            </a:xfrm>
            <a:custGeom>
              <a:avLst/>
              <a:gdLst/>
              <a:ahLst/>
              <a:cxnLst/>
              <a:rect l="l" t="t" r="r" b="b"/>
              <a:pathLst>
                <a:path w="10810875" h="1419225">
                  <a:moveTo>
                    <a:pt x="0" y="13096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0701336" y="0"/>
                  </a:lnTo>
                  <a:lnTo>
                    <a:pt x="10708528" y="0"/>
                  </a:lnTo>
                  <a:lnTo>
                    <a:pt x="10715652" y="701"/>
                  </a:lnTo>
                  <a:lnTo>
                    <a:pt x="10722706" y="2104"/>
                  </a:lnTo>
                  <a:lnTo>
                    <a:pt x="10729760" y="3507"/>
                  </a:lnTo>
                  <a:lnTo>
                    <a:pt x="10736608" y="5585"/>
                  </a:lnTo>
                  <a:lnTo>
                    <a:pt x="10743253" y="8337"/>
                  </a:lnTo>
                  <a:lnTo>
                    <a:pt x="10749898" y="11090"/>
                  </a:lnTo>
                  <a:lnTo>
                    <a:pt x="10756212" y="14464"/>
                  </a:lnTo>
                  <a:lnTo>
                    <a:pt x="10762192" y="18460"/>
                  </a:lnTo>
                  <a:lnTo>
                    <a:pt x="10768172" y="22456"/>
                  </a:lnTo>
                  <a:lnTo>
                    <a:pt x="10773705" y="26996"/>
                  </a:lnTo>
                  <a:lnTo>
                    <a:pt x="10778791" y="32082"/>
                  </a:lnTo>
                  <a:lnTo>
                    <a:pt x="10783876" y="37168"/>
                  </a:lnTo>
                  <a:lnTo>
                    <a:pt x="10805287" y="74263"/>
                  </a:lnTo>
                  <a:lnTo>
                    <a:pt x="10810874" y="109537"/>
                  </a:lnTo>
                  <a:lnTo>
                    <a:pt x="10810874" y="1309687"/>
                  </a:lnTo>
                  <a:lnTo>
                    <a:pt x="10802535" y="1351605"/>
                  </a:lnTo>
                  <a:lnTo>
                    <a:pt x="10799782" y="1358250"/>
                  </a:lnTo>
                  <a:lnTo>
                    <a:pt x="10778791" y="1387141"/>
                  </a:lnTo>
                  <a:lnTo>
                    <a:pt x="10773705" y="1392227"/>
                  </a:lnTo>
                  <a:lnTo>
                    <a:pt x="10743253" y="1410886"/>
                  </a:lnTo>
                  <a:lnTo>
                    <a:pt x="10736608" y="1413639"/>
                  </a:lnTo>
                  <a:lnTo>
                    <a:pt x="10729760" y="1415716"/>
                  </a:lnTo>
                  <a:lnTo>
                    <a:pt x="10722706" y="1417120"/>
                  </a:lnTo>
                  <a:lnTo>
                    <a:pt x="10715652" y="1418523"/>
                  </a:lnTo>
                  <a:lnTo>
                    <a:pt x="10708528" y="1419224"/>
                  </a:lnTo>
                  <a:lnTo>
                    <a:pt x="10701336" y="1419224"/>
                  </a:lnTo>
                  <a:lnTo>
                    <a:pt x="109537" y="1419224"/>
                  </a:lnTo>
                  <a:lnTo>
                    <a:pt x="102345" y="1419224"/>
                  </a:lnTo>
                  <a:lnTo>
                    <a:pt x="95221" y="1418523"/>
                  </a:lnTo>
                  <a:lnTo>
                    <a:pt x="88167" y="1417120"/>
                  </a:lnTo>
                  <a:lnTo>
                    <a:pt x="81113" y="1415716"/>
                  </a:lnTo>
                  <a:lnTo>
                    <a:pt x="74264" y="1413639"/>
                  </a:lnTo>
                  <a:lnTo>
                    <a:pt x="67619" y="1410886"/>
                  </a:lnTo>
                  <a:lnTo>
                    <a:pt x="60974" y="1408134"/>
                  </a:lnTo>
                  <a:lnTo>
                    <a:pt x="32082" y="1387141"/>
                  </a:lnTo>
                  <a:lnTo>
                    <a:pt x="26997" y="1382056"/>
                  </a:lnTo>
                  <a:lnTo>
                    <a:pt x="22456" y="1376523"/>
                  </a:lnTo>
                  <a:lnTo>
                    <a:pt x="18460" y="1370542"/>
                  </a:lnTo>
                  <a:lnTo>
                    <a:pt x="14464" y="1364562"/>
                  </a:lnTo>
                  <a:lnTo>
                    <a:pt x="11090" y="1358250"/>
                  </a:lnTo>
                  <a:lnTo>
                    <a:pt x="8338" y="1351605"/>
                  </a:lnTo>
                  <a:lnTo>
                    <a:pt x="5585" y="1344960"/>
                  </a:lnTo>
                  <a:lnTo>
                    <a:pt x="3507" y="1338110"/>
                  </a:lnTo>
                  <a:lnTo>
                    <a:pt x="2104" y="1331057"/>
                  </a:lnTo>
                  <a:lnTo>
                    <a:pt x="701" y="1324002"/>
                  </a:lnTo>
                  <a:lnTo>
                    <a:pt x="0" y="1316879"/>
                  </a:lnTo>
                  <a:lnTo>
                    <a:pt x="0" y="130968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8674" y="1504949"/>
              <a:ext cx="1038225" cy="257175"/>
            </a:xfrm>
            <a:custGeom>
              <a:avLst/>
              <a:gdLst/>
              <a:ahLst/>
              <a:cxnLst/>
              <a:rect l="l" t="t" r="r" b="b"/>
              <a:pathLst>
                <a:path w="1038225" h="257175">
                  <a:moveTo>
                    <a:pt x="918080" y="257174"/>
                  </a:moveTo>
                  <a:lnTo>
                    <a:pt x="120144" y="257174"/>
                  </a:lnTo>
                  <a:lnTo>
                    <a:pt x="111782" y="256351"/>
                  </a:lnTo>
                  <a:lnTo>
                    <a:pt x="71578" y="244155"/>
                  </a:lnTo>
                  <a:lnTo>
                    <a:pt x="31692" y="213542"/>
                  </a:lnTo>
                  <a:lnTo>
                    <a:pt x="6557" y="169994"/>
                  </a:lnTo>
                  <a:lnTo>
                    <a:pt x="0" y="137030"/>
                  </a:lnTo>
                  <a:lnTo>
                    <a:pt x="0" y="12858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7"/>
                  </a:lnTo>
                  <a:lnTo>
                    <a:pt x="120144" y="0"/>
                  </a:lnTo>
                  <a:lnTo>
                    <a:pt x="918080" y="0"/>
                  </a:lnTo>
                  <a:lnTo>
                    <a:pt x="966646" y="13019"/>
                  </a:lnTo>
                  <a:lnTo>
                    <a:pt x="1006532" y="43632"/>
                  </a:lnTo>
                  <a:lnTo>
                    <a:pt x="1031667" y="87179"/>
                  </a:lnTo>
                  <a:lnTo>
                    <a:pt x="1038224" y="120144"/>
                  </a:lnTo>
                  <a:lnTo>
                    <a:pt x="1038224" y="137030"/>
                  </a:lnTo>
                  <a:lnTo>
                    <a:pt x="1025205" y="185595"/>
                  </a:lnTo>
                  <a:lnTo>
                    <a:pt x="994592" y="225482"/>
                  </a:lnTo>
                  <a:lnTo>
                    <a:pt x="951044" y="250617"/>
                  </a:lnTo>
                  <a:lnTo>
                    <a:pt x="926442" y="256351"/>
                  </a:lnTo>
                  <a:lnTo>
                    <a:pt x="918080" y="2571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3099" y="1504949"/>
              <a:ext cx="247649" cy="2476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3899" y="1581149"/>
              <a:ext cx="146050" cy="9525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15975" y="1525587"/>
            <a:ext cx="3469640" cy="4438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df.head(n=5)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900" spc="-100" b="1">
                <a:solidFill>
                  <a:srgbClr val="293283"/>
                </a:solidFill>
                <a:latin typeface="Tahoma"/>
                <a:cs typeface="Tahoma"/>
              </a:rPr>
              <a:t>First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0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9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05" b="1">
                <a:solidFill>
                  <a:srgbClr val="293283"/>
                </a:solidFill>
                <a:latin typeface="Tahoma"/>
                <a:cs typeface="Tahoma"/>
              </a:rPr>
              <a:t>rows.</a:t>
            </a:r>
            <a:r>
              <a:rPr dirty="0" sz="9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Confirms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data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loaded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correctly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columns look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right.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8674" y="2276474"/>
            <a:ext cx="3952875" cy="447675"/>
          </a:xfrm>
          <a:custGeom>
            <a:avLst/>
            <a:gdLst/>
            <a:ahLst/>
            <a:cxnLst/>
            <a:rect l="l" t="t" r="r" b="b"/>
            <a:pathLst>
              <a:path w="3952875" h="447675">
                <a:moveTo>
                  <a:pt x="3899477" y="447674"/>
                </a:moveTo>
                <a:lnTo>
                  <a:pt x="53397" y="447674"/>
                </a:lnTo>
                <a:lnTo>
                  <a:pt x="49680" y="447308"/>
                </a:lnTo>
                <a:lnTo>
                  <a:pt x="14085" y="428282"/>
                </a:lnTo>
                <a:lnTo>
                  <a:pt x="0" y="394277"/>
                </a:lnTo>
                <a:lnTo>
                  <a:pt x="0" y="3905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3899477" y="0"/>
                </a:lnTo>
                <a:lnTo>
                  <a:pt x="3938789" y="19392"/>
                </a:lnTo>
                <a:lnTo>
                  <a:pt x="3952874" y="53397"/>
                </a:lnTo>
                <a:lnTo>
                  <a:pt x="3952874" y="394277"/>
                </a:lnTo>
                <a:lnTo>
                  <a:pt x="3933482" y="433589"/>
                </a:lnTo>
                <a:lnTo>
                  <a:pt x="3903193" y="447308"/>
                </a:lnTo>
                <a:lnTo>
                  <a:pt x="3899477" y="4476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11225" y="2295207"/>
            <a:ext cx="740410" cy="349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df.head() df.head(10)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50045" y="2295207"/>
            <a:ext cx="1065530" cy="349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850" i="1">
                <a:solidFill>
                  <a:srgbClr val="797E94"/>
                </a:solidFill>
                <a:latin typeface="Courier New"/>
                <a:cs typeface="Courier New"/>
              </a:rPr>
              <a:t>#</a:t>
            </a:r>
            <a:r>
              <a:rPr dirty="0" sz="850" spc="-40" i="1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797E94"/>
                </a:solidFill>
                <a:latin typeface="Courier New"/>
                <a:cs typeface="Courier New"/>
              </a:rPr>
              <a:t>default</a:t>
            </a:r>
            <a:r>
              <a:rPr dirty="0" sz="850" spc="-30" i="1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797E94"/>
                </a:solidFill>
                <a:latin typeface="Courier New"/>
                <a:cs typeface="Courier New"/>
              </a:rPr>
              <a:t>5</a:t>
            </a:r>
            <a:r>
              <a:rPr dirty="0" sz="850" spc="-30" i="1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50" spc="-20" i="1">
                <a:solidFill>
                  <a:srgbClr val="797E94"/>
                </a:solidFill>
                <a:latin typeface="Courier New"/>
                <a:cs typeface="Courier New"/>
              </a:rPr>
              <a:t>rows </a:t>
            </a:r>
            <a:r>
              <a:rPr dirty="0" sz="850" i="1">
                <a:solidFill>
                  <a:srgbClr val="797E94"/>
                </a:solidFill>
                <a:latin typeface="Courier New"/>
                <a:cs typeface="Courier New"/>
              </a:rPr>
              <a:t>#</a:t>
            </a:r>
            <a:r>
              <a:rPr dirty="0" sz="850" spc="-40" i="1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797E94"/>
                </a:solidFill>
                <a:latin typeface="Courier New"/>
                <a:cs typeface="Courier New"/>
              </a:rPr>
              <a:t>first</a:t>
            </a:r>
            <a:r>
              <a:rPr dirty="0" sz="850" spc="-25" i="1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797E94"/>
                </a:solidFill>
                <a:latin typeface="Courier New"/>
                <a:cs typeface="Courier New"/>
              </a:rPr>
              <a:t>10</a:t>
            </a:r>
            <a:r>
              <a:rPr dirty="0" sz="850" spc="-25" i="1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50" spc="-20" i="1">
                <a:solidFill>
                  <a:srgbClr val="797E94"/>
                </a:solidFill>
                <a:latin typeface="Courier New"/>
                <a:cs typeface="Courier New"/>
              </a:rPr>
              <a:t>rows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14899" y="1504949"/>
            <a:ext cx="6448425" cy="1219200"/>
          </a:xfrm>
          <a:custGeom>
            <a:avLst/>
            <a:gdLst/>
            <a:ahLst/>
            <a:cxnLst/>
            <a:rect l="l" t="t" r="r" b="b"/>
            <a:pathLst>
              <a:path w="6448425" h="1219200">
                <a:moveTo>
                  <a:pt x="6377227" y="1219199"/>
                </a:moveTo>
                <a:lnTo>
                  <a:pt x="71196" y="1219199"/>
                </a:lnTo>
                <a:lnTo>
                  <a:pt x="66240" y="1218711"/>
                </a:lnTo>
                <a:lnTo>
                  <a:pt x="29704" y="1203577"/>
                </a:lnTo>
                <a:lnTo>
                  <a:pt x="3885" y="1167537"/>
                </a:lnTo>
                <a:lnTo>
                  <a:pt x="0" y="1148003"/>
                </a:lnTo>
                <a:lnTo>
                  <a:pt x="0" y="1142999"/>
                </a:lnTo>
                <a:lnTo>
                  <a:pt x="0" y="71196"/>
                </a:lnTo>
                <a:lnTo>
                  <a:pt x="15621" y="29705"/>
                </a:lnTo>
                <a:lnTo>
                  <a:pt x="51660" y="3885"/>
                </a:lnTo>
                <a:lnTo>
                  <a:pt x="71196" y="0"/>
                </a:lnTo>
                <a:lnTo>
                  <a:pt x="6377227" y="0"/>
                </a:lnTo>
                <a:lnTo>
                  <a:pt x="6418718" y="15621"/>
                </a:lnTo>
                <a:lnTo>
                  <a:pt x="6444537" y="51661"/>
                </a:lnTo>
                <a:lnTo>
                  <a:pt x="6448423" y="71196"/>
                </a:lnTo>
                <a:lnTo>
                  <a:pt x="6448423" y="1148003"/>
                </a:lnTo>
                <a:lnTo>
                  <a:pt x="6432802" y="1189494"/>
                </a:lnTo>
                <a:lnTo>
                  <a:pt x="6396761" y="1215314"/>
                </a:lnTo>
                <a:lnTo>
                  <a:pt x="6382182" y="1218711"/>
                </a:lnTo>
                <a:lnTo>
                  <a:pt x="6377227" y="1219199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5010149" y="1601067"/>
          <a:ext cx="6334125" cy="975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7295"/>
                <a:gridCol w="1524634"/>
                <a:gridCol w="1544320"/>
                <a:gridCol w="1208404"/>
                <a:gridCol w="765810"/>
              </a:tblGrid>
              <a:tr h="146685">
                <a:tc>
                  <a:txBody>
                    <a:bodyPr/>
                    <a:lstStyle/>
                    <a:p>
                      <a:pPr marL="75565">
                        <a:lnSpc>
                          <a:spcPts val="735"/>
                        </a:lnSpc>
                      </a:pPr>
                      <a:r>
                        <a:rPr dirty="0" sz="700" spc="-20" b="1">
                          <a:solidFill>
                            <a:srgbClr val="FF8B7E"/>
                          </a:solidFill>
                          <a:latin typeface="Courier New"/>
                          <a:cs typeface="Courier New"/>
                        </a:rPr>
                        <a:t>name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8645">
                        <a:lnSpc>
                          <a:spcPts val="735"/>
                        </a:lnSpc>
                      </a:pPr>
                      <a:r>
                        <a:rPr dirty="0" sz="700" spc="-25" b="1">
                          <a:solidFill>
                            <a:srgbClr val="FFD580"/>
                          </a:solidFill>
                          <a:latin typeface="Courier New"/>
                          <a:cs typeface="Courier New"/>
                        </a:rPr>
                        <a:t>age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7200">
                        <a:lnSpc>
                          <a:spcPts val="735"/>
                        </a:lnSpc>
                      </a:pPr>
                      <a:r>
                        <a:rPr dirty="0" sz="700" spc="-20" b="1">
                          <a:solidFill>
                            <a:srgbClr val="FFD580"/>
                          </a:solidFill>
                          <a:latin typeface="Courier New"/>
                          <a:cs typeface="Courier New"/>
                        </a:rPr>
                        <a:t>city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3384">
                        <a:lnSpc>
                          <a:spcPts val="735"/>
                        </a:lnSpc>
                      </a:pPr>
                      <a:r>
                        <a:rPr dirty="0" sz="700" spc="-10" b="1">
                          <a:solidFill>
                            <a:srgbClr val="FFD580"/>
                          </a:solidFill>
                          <a:latin typeface="Courier New"/>
                          <a:cs typeface="Courier New"/>
                        </a:rPr>
                        <a:t>branch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7310">
                        <a:lnSpc>
                          <a:spcPts val="735"/>
                        </a:lnSpc>
                      </a:pPr>
                      <a:r>
                        <a:rPr dirty="0" sz="700" spc="-10" b="1">
                          <a:solidFill>
                            <a:srgbClr val="FFD580"/>
                          </a:solidFill>
                          <a:latin typeface="Courier New"/>
                          <a:cs typeface="Courier New"/>
                        </a:rPr>
                        <a:t>marks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700" spc="-10">
                          <a:solidFill>
                            <a:srgbClr val="FF8B7E"/>
                          </a:solidFill>
                          <a:latin typeface="Courier New"/>
                          <a:cs typeface="Courier New"/>
                        </a:rPr>
                        <a:t>Aarav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86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72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700" spc="-10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Amritsar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3384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BCA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731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85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700" spc="-10">
                          <a:solidFill>
                            <a:srgbClr val="FF8B7E"/>
                          </a:solidFill>
                          <a:latin typeface="Courier New"/>
                          <a:cs typeface="Courier New"/>
                        </a:rPr>
                        <a:t>Priya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86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21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72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700" spc="-10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Jalandhar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3384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BCA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731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92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 spc="-10">
                          <a:solidFill>
                            <a:srgbClr val="FF8B7E"/>
                          </a:solidFill>
                          <a:latin typeface="Courier New"/>
                          <a:cs typeface="Courier New"/>
                        </a:rPr>
                        <a:t>Rahul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86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72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 spc="-10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Amritsar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3384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 spc="-10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BSc-</a:t>
                      </a: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IT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731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78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 spc="-10">
                          <a:solidFill>
                            <a:srgbClr val="FF8B7E"/>
                          </a:solidFill>
                          <a:latin typeface="Courier New"/>
                          <a:cs typeface="Courier New"/>
                        </a:rPr>
                        <a:t>Meera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86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572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 spc="-10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Ludhiana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3384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BCA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731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88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>
                    <a:lnT w="9525">
                      <a:solidFill>
                        <a:srgbClr val="E7E9F5"/>
                      </a:solidFill>
                      <a:prstDash val="solid"/>
                    </a:lnT>
                    <a:lnB w="9525">
                      <a:solidFill>
                        <a:srgbClr val="E7E9F5"/>
                      </a:solidFill>
                      <a:prstDash val="solid"/>
                    </a:lnB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marL="75565">
                        <a:lnSpc>
                          <a:spcPts val="815"/>
                        </a:lnSpc>
                        <a:spcBef>
                          <a:spcPts val="160"/>
                        </a:spcBef>
                      </a:pPr>
                      <a:r>
                        <a:rPr dirty="0" sz="700" spc="-10">
                          <a:solidFill>
                            <a:srgbClr val="FF8B7E"/>
                          </a:solidFill>
                          <a:latin typeface="Courier New"/>
                          <a:cs typeface="Courier New"/>
                        </a:rPr>
                        <a:t>Sanjana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8645">
                        <a:lnSpc>
                          <a:spcPts val="815"/>
                        </a:lnSpc>
                        <a:spcBef>
                          <a:spcPts val="160"/>
                        </a:spcBef>
                      </a:pP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21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457200">
                        <a:lnSpc>
                          <a:spcPts val="815"/>
                        </a:lnSpc>
                        <a:spcBef>
                          <a:spcPts val="160"/>
                        </a:spcBef>
                      </a:pPr>
                      <a:r>
                        <a:rPr dirty="0" sz="700" spc="-10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Amritsar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413384">
                        <a:lnSpc>
                          <a:spcPts val="815"/>
                        </a:lnSpc>
                        <a:spcBef>
                          <a:spcPts val="160"/>
                        </a:spcBef>
                      </a:pP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BCA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67310">
                        <a:lnSpc>
                          <a:spcPts val="815"/>
                        </a:lnSpc>
                        <a:spcBef>
                          <a:spcPts val="160"/>
                        </a:spcBef>
                      </a:pPr>
                      <a:r>
                        <a:rPr dirty="0" sz="700" spc="-25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91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685799" y="2886074"/>
            <a:ext cx="10820400" cy="1438275"/>
            <a:chOff x="685799" y="2886074"/>
            <a:chExt cx="10820400" cy="1438275"/>
          </a:xfrm>
        </p:grpSpPr>
        <p:sp>
          <p:nvSpPr>
            <p:cNvPr id="18" name="object 18"/>
            <p:cNvSpPr/>
            <p:nvPr/>
          </p:nvSpPr>
          <p:spPr>
            <a:xfrm>
              <a:off x="690562" y="2890837"/>
              <a:ext cx="10810875" cy="1428750"/>
            </a:xfrm>
            <a:custGeom>
              <a:avLst/>
              <a:gdLst/>
              <a:ahLst/>
              <a:cxnLst/>
              <a:rect l="l" t="t" r="r" b="b"/>
              <a:pathLst>
                <a:path w="10810875" h="1428750">
                  <a:moveTo>
                    <a:pt x="10708528" y="1428749"/>
                  </a:moveTo>
                  <a:lnTo>
                    <a:pt x="102345" y="1428749"/>
                  </a:lnTo>
                  <a:lnTo>
                    <a:pt x="95221" y="1428048"/>
                  </a:lnTo>
                  <a:lnTo>
                    <a:pt x="54661" y="1414284"/>
                  </a:lnTo>
                  <a:lnTo>
                    <a:pt x="22456" y="1386047"/>
                  </a:lnTo>
                  <a:lnTo>
                    <a:pt x="3507" y="1347635"/>
                  </a:lnTo>
                  <a:lnTo>
                    <a:pt x="0" y="1326404"/>
                  </a:lnTo>
                  <a:lnTo>
                    <a:pt x="0" y="13192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10708528" y="0"/>
                  </a:lnTo>
                  <a:lnTo>
                    <a:pt x="10749898" y="11090"/>
                  </a:lnTo>
                  <a:lnTo>
                    <a:pt x="10783876" y="37168"/>
                  </a:lnTo>
                  <a:lnTo>
                    <a:pt x="10805287" y="74264"/>
                  </a:lnTo>
                  <a:lnTo>
                    <a:pt x="10810872" y="102345"/>
                  </a:lnTo>
                  <a:lnTo>
                    <a:pt x="10810872" y="1326404"/>
                  </a:lnTo>
                  <a:lnTo>
                    <a:pt x="10799782" y="1367774"/>
                  </a:lnTo>
                  <a:lnTo>
                    <a:pt x="10773705" y="1401752"/>
                  </a:lnTo>
                  <a:lnTo>
                    <a:pt x="10736608" y="1423163"/>
                  </a:lnTo>
                  <a:lnTo>
                    <a:pt x="10715652" y="1428048"/>
                  </a:lnTo>
                  <a:lnTo>
                    <a:pt x="10708528" y="142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90562" y="2890837"/>
              <a:ext cx="10810875" cy="1428750"/>
            </a:xfrm>
            <a:custGeom>
              <a:avLst/>
              <a:gdLst/>
              <a:ahLst/>
              <a:cxnLst/>
              <a:rect l="l" t="t" r="r" b="b"/>
              <a:pathLst>
                <a:path w="10810875" h="1428750">
                  <a:moveTo>
                    <a:pt x="0" y="13192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2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4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0701336" y="0"/>
                  </a:lnTo>
                  <a:lnTo>
                    <a:pt x="10708528" y="0"/>
                  </a:lnTo>
                  <a:lnTo>
                    <a:pt x="10715652" y="701"/>
                  </a:lnTo>
                  <a:lnTo>
                    <a:pt x="10722706" y="2104"/>
                  </a:lnTo>
                  <a:lnTo>
                    <a:pt x="10729760" y="3507"/>
                  </a:lnTo>
                  <a:lnTo>
                    <a:pt x="10736608" y="5585"/>
                  </a:lnTo>
                  <a:lnTo>
                    <a:pt x="10743253" y="8337"/>
                  </a:lnTo>
                  <a:lnTo>
                    <a:pt x="10749898" y="11090"/>
                  </a:lnTo>
                  <a:lnTo>
                    <a:pt x="10778791" y="32082"/>
                  </a:lnTo>
                  <a:lnTo>
                    <a:pt x="10783876" y="37168"/>
                  </a:lnTo>
                  <a:lnTo>
                    <a:pt x="10805287" y="74264"/>
                  </a:lnTo>
                  <a:lnTo>
                    <a:pt x="10808768" y="88167"/>
                  </a:lnTo>
                  <a:lnTo>
                    <a:pt x="10810171" y="95222"/>
                  </a:lnTo>
                  <a:lnTo>
                    <a:pt x="10810872" y="102345"/>
                  </a:lnTo>
                  <a:lnTo>
                    <a:pt x="10810874" y="109537"/>
                  </a:lnTo>
                  <a:lnTo>
                    <a:pt x="10810874" y="1319212"/>
                  </a:lnTo>
                  <a:lnTo>
                    <a:pt x="10802535" y="1361130"/>
                  </a:lnTo>
                  <a:lnTo>
                    <a:pt x="10778791" y="1396666"/>
                  </a:lnTo>
                  <a:lnTo>
                    <a:pt x="10773705" y="1401752"/>
                  </a:lnTo>
                  <a:lnTo>
                    <a:pt x="10768172" y="1406293"/>
                  </a:lnTo>
                  <a:lnTo>
                    <a:pt x="10762192" y="1410288"/>
                  </a:lnTo>
                  <a:lnTo>
                    <a:pt x="10756212" y="1414284"/>
                  </a:lnTo>
                  <a:lnTo>
                    <a:pt x="10749898" y="1417658"/>
                  </a:lnTo>
                  <a:lnTo>
                    <a:pt x="10743253" y="1420411"/>
                  </a:lnTo>
                  <a:lnTo>
                    <a:pt x="10736608" y="1423163"/>
                  </a:lnTo>
                  <a:lnTo>
                    <a:pt x="10729760" y="1425241"/>
                  </a:lnTo>
                  <a:lnTo>
                    <a:pt x="10722706" y="1426644"/>
                  </a:lnTo>
                  <a:lnTo>
                    <a:pt x="10715652" y="1428048"/>
                  </a:lnTo>
                  <a:lnTo>
                    <a:pt x="10708528" y="1428749"/>
                  </a:lnTo>
                  <a:lnTo>
                    <a:pt x="10701336" y="1428749"/>
                  </a:lnTo>
                  <a:lnTo>
                    <a:pt x="109537" y="1428749"/>
                  </a:lnTo>
                  <a:lnTo>
                    <a:pt x="102345" y="1428749"/>
                  </a:lnTo>
                  <a:lnTo>
                    <a:pt x="95221" y="1428048"/>
                  </a:lnTo>
                  <a:lnTo>
                    <a:pt x="88167" y="1426644"/>
                  </a:lnTo>
                  <a:lnTo>
                    <a:pt x="81113" y="1425241"/>
                  </a:lnTo>
                  <a:lnTo>
                    <a:pt x="74264" y="1423163"/>
                  </a:lnTo>
                  <a:lnTo>
                    <a:pt x="67619" y="1420411"/>
                  </a:lnTo>
                  <a:lnTo>
                    <a:pt x="60974" y="1417658"/>
                  </a:lnTo>
                  <a:lnTo>
                    <a:pt x="32082" y="1396666"/>
                  </a:lnTo>
                  <a:lnTo>
                    <a:pt x="26997" y="1391580"/>
                  </a:lnTo>
                  <a:lnTo>
                    <a:pt x="5585" y="1354485"/>
                  </a:lnTo>
                  <a:lnTo>
                    <a:pt x="0" y="1326404"/>
                  </a:lnTo>
                  <a:lnTo>
                    <a:pt x="0" y="13192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28674" y="2990849"/>
              <a:ext cx="828675" cy="257175"/>
            </a:xfrm>
            <a:custGeom>
              <a:avLst/>
              <a:gdLst/>
              <a:ahLst/>
              <a:cxnLst/>
              <a:rect l="l" t="t" r="r" b="b"/>
              <a:pathLst>
                <a:path w="828675" h="257175">
                  <a:moveTo>
                    <a:pt x="708530" y="257174"/>
                  </a:moveTo>
                  <a:lnTo>
                    <a:pt x="120144" y="257174"/>
                  </a:lnTo>
                  <a:lnTo>
                    <a:pt x="111782" y="256351"/>
                  </a:lnTo>
                  <a:lnTo>
                    <a:pt x="71578" y="244155"/>
                  </a:lnTo>
                  <a:lnTo>
                    <a:pt x="31692" y="213542"/>
                  </a:lnTo>
                  <a:lnTo>
                    <a:pt x="6557" y="169994"/>
                  </a:lnTo>
                  <a:lnTo>
                    <a:pt x="0" y="137030"/>
                  </a:lnTo>
                  <a:lnTo>
                    <a:pt x="0" y="12858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708530" y="0"/>
                  </a:lnTo>
                  <a:lnTo>
                    <a:pt x="757095" y="13018"/>
                  </a:lnTo>
                  <a:lnTo>
                    <a:pt x="796982" y="43631"/>
                  </a:lnTo>
                  <a:lnTo>
                    <a:pt x="822117" y="87178"/>
                  </a:lnTo>
                  <a:lnTo>
                    <a:pt x="828674" y="120144"/>
                  </a:lnTo>
                  <a:lnTo>
                    <a:pt x="828674" y="137030"/>
                  </a:lnTo>
                  <a:lnTo>
                    <a:pt x="815655" y="185595"/>
                  </a:lnTo>
                  <a:lnTo>
                    <a:pt x="785041" y="225482"/>
                  </a:lnTo>
                  <a:lnTo>
                    <a:pt x="741495" y="250617"/>
                  </a:lnTo>
                  <a:lnTo>
                    <a:pt x="716892" y="256351"/>
                  </a:lnTo>
                  <a:lnTo>
                    <a:pt x="708530" y="2571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11225" y="3011487"/>
            <a:ext cx="66230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df.info()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33549" y="3000374"/>
            <a:ext cx="247650" cy="247650"/>
            <a:chOff x="1733549" y="3000374"/>
            <a:chExt cx="247650" cy="24765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3549" y="3000374"/>
              <a:ext cx="247649" cy="24764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1493" y="3060699"/>
              <a:ext cx="127000" cy="1270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15975" y="3267709"/>
            <a:ext cx="3731895" cy="34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900" spc="-105" b="1">
                <a:solidFill>
                  <a:srgbClr val="293283"/>
                </a:solidFill>
                <a:latin typeface="Tahoma"/>
                <a:cs typeface="Tahoma"/>
              </a:rPr>
              <a:t>Structure</a:t>
            </a:r>
            <a:r>
              <a:rPr dirty="0" sz="9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293283"/>
                </a:solidFill>
                <a:latin typeface="Tahoma"/>
                <a:cs typeface="Tahoma"/>
              </a:rPr>
              <a:t>summary.</a:t>
            </a:r>
            <a:r>
              <a:rPr dirty="0" sz="900" spc="-2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Column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names,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dtypes,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non-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null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counts,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memory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usage.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The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most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overlooked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command.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28674" y="4181474"/>
            <a:ext cx="3952875" cy="285750"/>
          </a:xfrm>
          <a:custGeom>
            <a:avLst/>
            <a:gdLst/>
            <a:ahLst/>
            <a:cxnLst/>
            <a:rect l="l" t="t" r="r" b="b"/>
            <a:pathLst>
              <a:path w="3952875" h="285750">
                <a:moveTo>
                  <a:pt x="3899477" y="285749"/>
                </a:moveTo>
                <a:lnTo>
                  <a:pt x="53397" y="285749"/>
                </a:lnTo>
                <a:lnTo>
                  <a:pt x="49680" y="285383"/>
                </a:lnTo>
                <a:lnTo>
                  <a:pt x="14085" y="266356"/>
                </a:lnTo>
                <a:lnTo>
                  <a:pt x="0" y="232352"/>
                </a:lnTo>
                <a:lnTo>
                  <a:pt x="0" y="22859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3899477" y="0"/>
                </a:lnTo>
                <a:lnTo>
                  <a:pt x="3938789" y="19391"/>
                </a:lnTo>
                <a:lnTo>
                  <a:pt x="3952874" y="53397"/>
                </a:lnTo>
                <a:lnTo>
                  <a:pt x="3952874" y="232352"/>
                </a:lnTo>
                <a:lnTo>
                  <a:pt x="3933482" y="271664"/>
                </a:lnTo>
                <a:lnTo>
                  <a:pt x="3903193" y="285383"/>
                </a:lnTo>
                <a:lnTo>
                  <a:pt x="3899477" y="28574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911225" y="4230687"/>
            <a:ext cx="61087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df.info()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14899" y="2990849"/>
            <a:ext cx="6448425" cy="1581150"/>
          </a:xfrm>
          <a:custGeom>
            <a:avLst/>
            <a:gdLst/>
            <a:ahLst/>
            <a:cxnLst/>
            <a:rect l="l" t="t" r="r" b="b"/>
            <a:pathLst>
              <a:path w="6448425" h="1581150">
                <a:moveTo>
                  <a:pt x="6377227" y="1581149"/>
                </a:moveTo>
                <a:lnTo>
                  <a:pt x="71196" y="1581149"/>
                </a:lnTo>
                <a:lnTo>
                  <a:pt x="66240" y="1580661"/>
                </a:lnTo>
                <a:lnTo>
                  <a:pt x="29704" y="1565527"/>
                </a:lnTo>
                <a:lnTo>
                  <a:pt x="3885" y="1529487"/>
                </a:lnTo>
                <a:lnTo>
                  <a:pt x="0" y="1509953"/>
                </a:lnTo>
                <a:lnTo>
                  <a:pt x="0" y="1504949"/>
                </a:lnTo>
                <a:lnTo>
                  <a:pt x="0" y="71196"/>
                </a:lnTo>
                <a:lnTo>
                  <a:pt x="15621" y="29704"/>
                </a:lnTo>
                <a:lnTo>
                  <a:pt x="51660" y="3885"/>
                </a:lnTo>
                <a:lnTo>
                  <a:pt x="71196" y="0"/>
                </a:lnTo>
                <a:lnTo>
                  <a:pt x="6377227" y="0"/>
                </a:lnTo>
                <a:lnTo>
                  <a:pt x="6418718" y="15621"/>
                </a:lnTo>
                <a:lnTo>
                  <a:pt x="6444537" y="51661"/>
                </a:lnTo>
                <a:lnTo>
                  <a:pt x="6448423" y="71196"/>
                </a:lnTo>
                <a:lnTo>
                  <a:pt x="6448423" y="1509953"/>
                </a:lnTo>
                <a:lnTo>
                  <a:pt x="6432802" y="1551443"/>
                </a:lnTo>
                <a:lnTo>
                  <a:pt x="6396761" y="1577263"/>
                </a:lnTo>
                <a:lnTo>
                  <a:pt x="6382182" y="1580661"/>
                </a:lnTo>
                <a:lnTo>
                  <a:pt x="6377227" y="1581149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997003" y="3025775"/>
            <a:ext cx="2111375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&lt;class</a:t>
            </a:r>
            <a:r>
              <a:rPr dirty="0" sz="750" spc="-6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'pandas.core.frame.DataFrame'&gt; RangeIndex:</a:t>
            </a:r>
            <a:r>
              <a:rPr dirty="0" sz="750" spc="-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28</a:t>
            </a:r>
            <a:r>
              <a:rPr dirty="0" sz="750" spc="-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entries,</a:t>
            </a:r>
            <a:r>
              <a:rPr dirty="0" sz="750" spc="-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0</a:t>
            </a:r>
            <a:r>
              <a:rPr dirty="0" sz="750" spc="-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to</a:t>
            </a:r>
            <a:r>
              <a:rPr dirty="0" sz="750" spc="-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27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Data</a:t>
            </a:r>
            <a:r>
              <a:rPr dirty="0" sz="750" spc="-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columns</a:t>
            </a:r>
            <a:r>
              <a:rPr dirty="0" sz="750" spc="-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(total</a:t>
            </a:r>
            <a:r>
              <a:rPr dirty="0" sz="750" spc="-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5</a:t>
            </a:r>
            <a:r>
              <a:rPr dirty="0" sz="750" spc="-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columns):</a:t>
            </a:r>
            <a:endParaRPr sz="75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225"/>
              </a:spcBef>
              <a:tabLst>
                <a:tab pos="294005" algn="l"/>
              </a:tabLst>
            </a:pPr>
            <a:r>
              <a:rPr dirty="0" sz="750" spc="-50">
                <a:solidFill>
                  <a:srgbClr val="E7E9F5"/>
                </a:solidFill>
                <a:latin typeface="Courier New"/>
                <a:cs typeface="Courier New"/>
              </a:rPr>
              <a:t>#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	Column</a:t>
            </a:r>
            <a:r>
              <a:rPr dirty="0" sz="750" spc="3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Non-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Null</a:t>
            </a:r>
            <a:r>
              <a:rPr dirty="0" sz="750" spc="-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Count</a:t>
            </a:r>
            <a:r>
              <a:rPr dirty="0" sz="750" spc="38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Dtype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09703" y="3708469"/>
            <a:ext cx="1917064" cy="0"/>
          </a:xfrm>
          <a:custGeom>
            <a:avLst/>
            <a:gdLst/>
            <a:ahLst/>
            <a:cxnLst/>
            <a:rect l="l" t="t" r="r" b="b"/>
            <a:pathLst>
              <a:path w="1917065" h="0">
                <a:moveTo>
                  <a:pt x="0" y="0"/>
                </a:moveTo>
                <a:lnTo>
                  <a:pt x="169858" y="0"/>
                </a:lnTo>
              </a:path>
              <a:path w="1917065" h="0">
                <a:moveTo>
                  <a:pt x="281748" y="0"/>
                </a:moveTo>
                <a:lnTo>
                  <a:pt x="620656" y="0"/>
                </a:lnTo>
              </a:path>
              <a:path w="1917065" h="0">
                <a:moveTo>
                  <a:pt x="732546" y="0"/>
                </a:moveTo>
                <a:lnTo>
                  <a:pt x="1522252" y="0"/>
                </a:lnTo>
              </a:path>
              <a:path w="1917065" h="0">
                <a:moveTo>
                  <a:pt x="1634142" y="0"/>
                </a:moveTo>
                <a:lnTo>
                  <a:pt x="1916701" y="0"/>
                </a:lnTo>
              </a:path>
            </a:pathLst>
          </a:custGeom>
          <a:ln w="7441">
            <a:solidFill>
              <a:srgbClr val="E6E8F4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053353" y="3740149"/>
            <a:ext cx="589915" cy="73977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325"/>
              </a:spcBef>
              <a:buAutoNum type="arabicPlain"/>
              <a:tabLst>
                <a:tab pos="237490" algn="l"/>
              </a:tabLst>
            </a:pP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name</a:t>
            </a:r>
            <a:endParaRPr sz="750">
              <a:latin typeface="Courier New"/>
              <a:cs typeface="Courier New"/>
            </a:endParaRPr>
          </a:p>
          <a:p>
            <a:pPr marL="237490" indent="-224790">
              <a:lnSpc>
                <a:spcPct val="100000"/>
              </a:lnSpc>
              <a:spcBef>
                <a:spcPts val="225"/>
              </a:spcBef>
              <a:buAutoNum type="arabicPlain"/>
              <a:tabLst>
                <a:tab pos="237490" algn="l"/>
              </a:tabLst>
            </a:pP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age</a:t>
            </a:r>
            <a:endParaRPr sz="750">
              <a:latin typeface="Courier New"/>
              <a:cs typeface="Courier New"/>
            </a:endParaRPr>
          </a:p>
          <a:p>
            <a:pPr marL="237490" indent="-224790">
              <a:lnSpc>
                <a:spcPct val="100000"/>
              </a:lnSpc>
              <a:spcBef>
                <a:spcPts val="225"/>
              </a:spcBef>
              <a:buAutoNum type="arabicPlain"/>
              <a:tabLst>
                <a:tab pos="237490" algn="l"/>
              </a:tabLst>
            </a:pP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city</a:t>
            </a:r>
            <a:endParaRPr sz="750">
              <a:latin typeface="Courier New"/>
              <a:cs typeface="Courier New"/>
            </a:endParaRPr>
          </a:p>
          <a:p>
            <a:pPr marL="237490" indent="-224790">
              <a:lnSpc>
                <a:spcPct val="100000"/>
              </a:lnSpc>
              <a:spcBef>
                <a:spcPts val="225"/>
              </a:spcBef>
              <a:buAutoNum type="arabicPlain"/>
              <a:tabLst>
                <a:tab pos="237490" algn="l"/>
              </a:tabLst>
            </a:pP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branch</a:t>
            </a:r>
            <a:endParaRPr sz="750">
              <a:latin typeface="Courier New"/>
              <a:cs typeface="Courier New"/>
            </a:endParaRPr>
          </a:p>
          <a:p>
            <a:pPr marL="237490" indent="-224790">
              <a:lnSpc>
                <a:spcPct val="100000"/>
              </a:lnSpc>
              <a:spcBef>
                <a:spcPts val="225"/>
              </a:spcBef>
              <a:buAutoNum type="arabicPlain"/>
              <a:tabLst>
                <a:tab pos="237490" algn="l"/>
              </a:tabLst>
            </a:pP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marks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29550" y="3740149"/>
            <a:ext cx="646430" cy="73977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28</a:t>
            </a:r>
            <a:r>
              <a:rPr dirty="0" sz="750" spc="-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non-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null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28</a:t>
            </a:r>
            <a:r>
              <a:rPr dirty="0" sz="750" spc="-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non-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null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28</a:t>
            </a:r>
            <a:r>
              <a:rPr dirty="0" sz="750" spc="-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non-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null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28</a:t>
            </a:r>
            <a:r>
              <a:rPr dirty="0" sz="750" spc="-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non-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null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28</a:t>
            </a:r>
            <a:r>
              <a:rPr dirty="0" sz="750" spc="-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non-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null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31146" y="3740149"/>
            <a:ext cx="364490" cy="73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object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int64 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object object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int64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5799" y="4381499"/>
            <a:ext cx="10820400" cy="1428750"/>
            <a:chOff x="685799" y="4381499"/>
            <a:chExt cx="10820400" cy="1428750"/>
          </a:xfrm>
        </p:grpSpPr>
        <p:sp>
          <p:nvSpPr>
            <p:cNvPr id="35" name="object 35"/>
            <p:cNvSpPr/>
            <p:nvPr/>
          </p:nvSpPr>
          <p:spPr>
            <a:xfrm>
              <a:off x="690562" y="4386262"/>
              <a:ext cx="10810875" cy="1419225"/>
            </a:xfrm>
            <a:custGeom>
              <a:avLst/>
              <a:gdLst/>
              <a:ahLst/>
              <a:cxnLst/>
              <a:rect l="l" t="t" r="r" b="b"/>
              <a:pathLst>
                <a:path w="10810875" h="1419225">
                  <a:moveTo>
                    <a:pt x="10708528" y="1419224"/>
                  </a:moveTo>
                  <a:lnTo>
                    <a:pt x="102345" y="1419224"/>
                  </a:lnTo>
                  <a:lnTo>
                    <a:pt x="95221" y="1418522"/>
                  </a:lnTo>
                  <a:lnTo>
                    <a:pt x="54661" y="1404759"/>
                  </a:lnTo>
                  <a:lnTo>
                    <a:pt x="22456" y="1376522"/>
                  </a:lnTo>
                  <a:lnTo>
                    <a:pt x="3507" y="1338110"/>
                  </a:lnTo>
                  <a:lnTo>
                    <a:pt x="0" y="1316879"/>
                  </a:lnTo>
                  <a:lnTo>
                    <a:pt x="0" y="1309687"/>
                  </a:lnTo>
                  <a:lnTo>
                    <a:pt x="0" y="102344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10708528" y="0"/>
                  </a:lnTo>
                  <a:lnTo>
                    <a:pt x="10749898" y="11090"/>
                  </a:lnTo>
                  <a:lnTo>
                    <a:pt x="10783876" y="37168"/>
                  </a:lnTo>
                  <a:lnTo>
                    <a:pt x="10805287" y="74263"/>
                  </a:lnTo>
                  <a:lnTo>
                    <a:pt x="10810872" y="102344"/>
                  </a:lnTo>
                  <a:lnTo>
                    <a:pt x="10810872" y="1316879"/>
                  </a:lnTo>
                  <a:lnTo>
                    <a:pt x="10799782" y="1358249"/>
                  </a:lnTo>
                  <a:lnTo>
                    <a:pt x="10773705" y="1392227"/>
                  </a:lnTo>
                  <a:lnTo>
                    <a:pt x="10736608" y="1413638"/>
                  </a:lnTo>
                  <a:lnTo>
                    <a:pt x="10715652" y="1418522"/>
                  </a:lnTo>
                  <a:lnTo>
                    <a:pt x="10708528" y="1419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90562" y="4386262"/>
              <a:ext cx="10810875" cy="1419225"/>
            </a:xfrm>
            <a:custGeom>
              <a:avLst/>
              <a:gdLst/>
              <a:ahLst/>
              <a:cxnLst/>
              <a:rect l="l" t="t" r="r" b="b"/>
              <a:pathLst>
                <a:path w="10810875" h="1419225">
                  <a:moveTo>
                    <a:pt x="0" y="1309687"/>
                  </a:moveTo>
                  <a:lnTo>
                    <a:pt x="0" y="109537"/>
                  </a:lnTo>
                  <a:lnTo>
                    <a:pt x="0" y="102344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10701336" y="0"/>
                  </a:lnTo>
                  <a:lnTo>
                    <a:pt x="10708528" y="0"/>
                  </a:lnTo>
                  <a:lnTo>
                    <a:pt x="10715652" y="701"/>
                  </a:lnTo>
                  <a:lnTo>
                    <a:pt x="10722706" y="2104"/>
                  </a:lnTo>
                  <a:lnTo>
                    <a:pt x="10729760" y="3507"/>
                  </a:lnTo>
                  <a:lnTo>
                    <a:pt x="10736608" y="5585"/>
                  </a:lnTo>
                  <a:lnTo>
                    <a:pt x="10743253" y="8337"/>
                  </a:lnTo>
                  <a:lnTo>
                    <a:pt x="10749898" y="11090"/>
                  </a:lnTo>
                  <a:lnTo>
                    <a:pt x="10756212" y="14464"/>
                  </a:lnTo>
                  <a:lnTo>
                    <a:pt x="10762192" y="18460"/>
                  </a:lnTo>
                  <a:lnTo>
                    <a:pt x="10768172" y="22455"/>
                  </a:lnTo>
                  <a:lnTo>
                    <a:pt x="10773705" y="26996"/>
                  </a:lnTo>
                  <a:lnTo>
                    <a:pt x="10778791" y="32082"/>
                  </a:lnTo>
                  <a:lnTo>
                    <a:pt x="10783876" y="37168"/>
                  </a:lnTo>
                  <a:lnTo>
                    <a:pt x="10802535" y="67618"/>
                  </a:lnTo>
                  <a:lnTo>
                    <a:pt x="10805287" y="74263"/>
                  </a:lnTo>
                  <a:lnTo>
                    <a:pt x="10807365" y="81113"/>
                  </a:lnTo>
                  <a:lnTo>
                    <a:pt x="10808768" y="88167"/>
                  </a:lnTo>
                  <a:lnTo>
                    <a:pt x="10810171" y="95221"/>
                  </a:lnTo>
                  <a:lnTo>
                    <a:pt x="10810872" y="102344"/>
                  </a:lnTo>
                  <a:lnTo>
                    <a:pt x="10810874" y="109537"/>
                  </a:lnTo>
                  <a:lnTo>
                    <a:pt x="10810874" y="1309687"/>
                  </a:lnTo>
                  <a:lnTo>
                    <a:pt x="10810872" y="1316879"/>
                  </a:lnTo>
                  <a:lnTo>
                    <a:pt x="10810171" y="1324002"/>
                  </a:lnTo>
                  <a:lnTo>
                    <a:pt x="10808768" y="1331056"/>
                  </a:lnTo>
                  <a:lnTo>
                    <a:pt x="10807365" y="1338110"/>
                  </a:lnTo>
                  <a:lnTo>
                    <a:pt x="10788417" y="1376522"/>
                  </a:lnTo>
                  <a:lnTo>
                    <a:pt x="10778791" y="1387141"/>
                  </a:lnTo>
                  <a:lnTo>
                    <a:pt x="10773705" y="1392227"/>
                  </a:lnTo>
                  <a:lnTo>
                    <a:pt x="10768172" y="1396767"/>
                  </a:lnTo>
                  <a:lnTo>
                    <a:pt x="10762192" y="1400763"/>
                  </a:lnTo>
                  <a:lnTo>
                    <a:pt x="10756212" y="1404759"/>
                  </a:lnTo>
                  <a:lnTo>
                    <a:pt x="10715652" y="1418522"/>
                  </a:lnTo>
                  <a:lnTo>
                    <a:pt x="10701336" y="1419224"/>
                  </a:lnTo>
                  <a:lnTo>
                    <a:pt x="109537" y="1419224"/>
                  </a:lnTo>
                  <a:lnTo>
                    <a:pt x="67619" y="1410886"/>
                  </a:lnTo>
                  <a:lnTo>
                    <a:pt x="48681" y="1400763"/>
                  </a:lnTo>
                  <a:lnTo>
                    <a:pt x="42701" y="1396767"/>
                  </a:lnTo>
                  <a:lnTo>
                    <a:pt x="37168" y="1392227"/>
                  </a:lnTo>
                  <a:lnTo>
                    <a:pt x="32082" y="1387141"/>
                  </a:lnTo>
                  <a:lnTo>
                    <a:pt x="26997" y="1382055"/>
                  </a:lnTo>
                  <a:lnTo>
                    <a:pt x="5585" y="1344960"/>
                  </a:lnTo>
                  <a:lnTo>
                    <a:pt x="2104" y="1331056"/>
                  </a:lnTo>
                  <a:lnTo>
                    <a:pt x="701" y="1324002"/>
                  </a:lnTo>
                  <a:lnTo>
                    <a:pt x="0" y="1316879"/>
                  </a:lnTo>
                  <a:lnTo>
                    <a:pt x="0" y="130968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28674" y="4486274"/>
              <a:ext cx="1104900" cy="247650"/>
            </a:xfrm>
            <a:custGeom>
              <a:avLst/>
              <a:gdLst/>
              <a:ahLst/>
              <a:cxnLst/>
              <a:rect l="l" t="t" r="r" b="b"/>
              <a:pathLst>
                <a:path w="1104900" h="247650">
                  <a:moveTo>
                    <a:pt x="989205" y="247649"/>
                  </a:moveTo>
                  <a:lnTo>
                    <a:pt x="115694" y="247649"/>
                  </a:lnTo>
                  <a:lnTo>
                    <a:pt x="107642" y="246856"/>
                  </a:lnTo>
                  <a:lnTo>
                    <a:pt x="68927" y="235112"/>
                  </a:lnTo>
                  <a:lnTo>
                    <a:pt x="30518" y="205633"/>
                  </a:lnTo>
                  <a:lnTo>
                    <a:pt x="6314" y="163698"/>
                  </a:lnTo>
                  <a:lnTo>
                    <a:pt x="0" y="131955"/>
                  </a:lnTo>
                  <a:lnTo>
                    <a:pt x="0" y="123824"/>
                  </a:lnTo>
                  <a:lnTo>
                    <a:pt x="0" y="115694"/>
                  </a:lnTo>
                  <a:lnTo>
                    <a:pt x="12536" y="68927"/>
                  </a:lnTo>
                  <a:lnTo>
                    <a:pt x="42016" y="30517"/>
                  </a:lnTo>
                  <a:lnTo>
                    <a:pt x="83950" y="6314"/>
                  </a:lnTo>
                  <a:lnTo>
                    <a:pt x="115694" y="0"/>
                  </a:lnTo>
                  <a:lnTo>
                    <a:pt x="989205" y="0"/>
                  </a:lnTo>
                  <a:lnTo>
                    <a:pt x="1035972" y="12536"/>
                  </a:lnTo>
                  <a:lnTo>
                    <a:pt x="1074381" y="42016"/>
                  </a:lnTo>
                  <a:lnTo>
                    <a:pt x="1098585" y="83950"/>
                  </a:lnTo>
                  <a:lnTo>
                    <a:pt x="1104899" y="115694"/>
                  </a:lnTo>
                  <a:lnTo>
                    <a:pt x="1104899" y="131955"/>
                  </a:lnTo>
                  <a:lnTo>
                    <a:pt x="1092362" y="178721"/>
                  </a:lnTo>
                  <a:lnTo>
                    <a:pt x="1062883" y="217131"/>
                  </a:lnTo>
                  <a:lnTo>
                    <a:pt x="1020949" y="241335"/>
                  </a:lnTo>
                  <a:lnTo>
                    <a:pt x="997257" y="246856"/>
                  </a:lnTo>
                  <a:lnTo>
                    <a:pt x="989205" y="2476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911225" y="4506912"/>
            <a:ext cx="94488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FF6A5B"/>
                </a:solidFill>
                <a:latin typeface="Courier New"/>
                <a:cs typeface="Courier New"/>
              </a:rPr>
              <a:t>df.describe()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28674" y="4486274"/>
            <a:ext cx="10534650" cy="1704975"/>
            <a:chOff x="828674" y="4486274"/>
            <a:chExt cx="10534650" cy="1704975"/>
          </a:xfrm>
        </p:grpSpPr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09774" y="4486274"/>
              <a:ext cx="247649" cy="24764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80468" y="4552949"/>
              <a:ext cx="114300" cy="1143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828674" y="5800725"/>
              <a:ext cx="3952875" cy="285750"/>
            </a:xfrm>
            <a:custGeom>
              <a:avLst/>
              <a:gdLst/>
              <a:ahLst/>
              <a:cxnLst/>
              <a:rect l="l" t="t" r="r" b="b"/>
              <a:pathLst>
                <a:path w="3952875" h="285750">
                  <a:moveTo>
                    <a:pt x="3899477" y="285748"/>
                  </a:moveTo>
                  <a:lnTo>
                    <a:pt x="53397" y="285748"/>
                  </a:lnTo>
                  <a:lnTo>
                    <a:pt x="49680" y="285382"/>
                  </a:lnTo>
                  <a:lnTo>
                    <a:pt x="14085" y="266355"/>
                  </a:lnTo>
                  <a:lnTo>
                    <a:pt x="0" y="232351"/>
                  </a:lnTo>
                  <a:lnTo>
                    <a:pt x="0" y="228599"/>
                  </a:lnTo>
                  <a:lnTo>
                    <a:pt x="0" y="53396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3899477" y="0"/>
                  </a:lnTo>
                  <a:lnTo>
                    <a:pt x="3938789" y="19391"/>
                  </a:lnTo>
                  <a:lnTo>
                    <a:pt x="3952874" y="53396"/>
                  </a:lnTo>
                  <a:lnTo>
                    <a:pt x="3952874" y="232351"/>
                  </a:lnTo>
                  <a:lnTo>
                    <a:pt x="3933482" y="271663"/>
                  </a:lnTo>
                  <a:lnTo>
                    <a:pt x="3903193" y="285382"/>
                  </a:lnTo>
                  <a:lnTo>
                    <a:pt x="3899477" y="285748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914899" y="4486274"/>
              <a:ext cx="6448425" cy="1704975"/>
            </a:xfrm>
            <a:custGeom>
              <a:avLst/>
              <a:gdLst/>
              <a:ahLst/>
              <a:cxnLst/>
              <a:rect l="l" t="t" r="r" b="b"/>
              <a:pathLst>
                <a:path w="6448425" h="1704975">
                  <a:moveTo>
                    <a:pt x="6377227" y="1704974"/>
                  </a:moveTo>
                  <a:lnTo>
                    <a:pt x="71196" y="1704974"/>
                  </a:lnTo>
                  <a:lnTo>
                    <a:pt x="66240" y="1704485"/>
                  </a:lnTo>
                  <a:lnTo>
                    <a:pt x="29704" y="1689352"/>
                  </a:lnTo>
                  <a:lnTo>
                    <a:pt x="3885" y="1653312"/>
                  </a:lnTo>
                  <a:lnTo>
                    <a:pt x="0" y="1633778"/>
                  </a:lnTo>
                  <a:lnTo>
                    <a:pt x="0" y="162877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0" y="3885"/>
                  </a:lnTo>
                  <a:lnTo>
                    <a:pt x="71196" y="0"/>
                  </a:lnTo>
                  <a:lnTo>
                    <a:pt x="6377227" y="0"/>
                  </a:lnTo>
                  <a:lnTo>
                    <a:pt x="6418718" y="15621"/>
                  </a:lnTo>
                  <a:lnTo>
                    <a:pt x="6444537" y="51661"/>
                  </a:lnTo>
                  <a:lnTo>
                    <a:pt x="6448423" y="71196"/>
                  </a:lnTo>
                  <a:lnTo>
                    <a:pt x="6448423" y="1633778"/>
                  </a:lnTo>
                  <a:lnTo>
                    <a:pt x="6432802" y="1675268"/>
                  </a:lnTo>
                  <a:lnTo>
                    <a:pt x="6396761" y="1701088"/>
                  </a:lnTo>
                  <a:lnTo>
                    <a:pt x="6382182" y="1704485"/>
                  </a:lnTo>
                  <a:lnTo>
                    <a:pt x="6377227" y="170497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010137" y="4724399"/>
              <a:ext cx="6257925" cy="9525"/>
            </a:xfrm>
            <a:custGeom>
              <a:avLst/>
              <a:gdLst/>
              <a:ahLst/>
              <a:cxnLst/>
              <a:rect l="l" t="t" r="r" b="b"/>
              <a:pathLst>
                <a:path w="6257925" h="9525">
                  <a:moveTo>
                    <a:pt x="6257925" y="0"/>
                  </a:moveTo>
                  <a:lnTo>
                    <a:pt x="4076700" y="0"/>
                  </a:lnTo>
                  <a:lnTo>
                    <a:pt x="218122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2181225" y="9525"/>
                  </a:lnTo>
                  <a:lnTo>
                    <a:pt x="4076700" y="9525"/>
                  </a:lnTo>
                  <a:lnTo>
                    <a:pt x="6257925" y="9525"/>
                  </a:lnTo>
                  <a:lnTo>
                    <a:pt x="6257925" y="0"/>
                  </a:lnTo>
                  <a:close/>
                </a:path>
              </a:pathLst>
            </a:custGeom>
            <a:solidFill>
              <a:srgbClr val="E7E9F5">
                <a:alpha val="2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010137" y="4895849"/>
              <a:ext cx="6257925" cy="704850"/>
            </a:xfrm>
            <a:custGeom>
              <a:avLst/>
              <a:gdLst/>
              <a:ahLst/>
              <a:cxnLst/>
              <a:rect l="l" t="t" r="r" b="b"/>
              <a:pathLst>
                <a:path w="6257925" h="704850">
                  <a:moveTo>
                    <a:pt x="6257925" y="695325"/>
                  </a:moveTo>
                  <a:lnTo>
                    <a:pt x="4076700" y="695325"/>
                  </a:lnTo>
                  <a:lnTo>
                    <a:pt x="2181225" y="695325"/>
                  </a:lnTo>
                  <a:lnTo>
                    <a:pt x="0" y="695325"/>
                  </a:lnTo>
                  <a:lnTo>
                    <a:pt x="0" y="704850"/>
                  </a:lnTo>
                  <a:lnTo>
                    <a:pt x="2181225" y="704850"/>
                  </a:lnTo>
                  <a:lnTo>
                    <a:pt x="4076700" y="704850"/>
                  </a:lnTo>
                  <a:lnTo>
                    <a:pt x="6257925" y="704850"/>
                  </a:lnTo>
                  <a:lnTo>
                    <a:pt x="6257925" y="695325"/>
                  </a:lnTo>
                  <a:close/>
                </a:path>
                <a:path w="6257925" h="704850">
                  <a:moveTo>
                    <a:pt x="6257925" y="523875"/>
                  </a:moveTo>
                  <a:lnTo>
                    <a:pt x="4076700" y="523875"/>
                  </a:lnTo>
                  <a:lnTo>
                    <a:pt x="2181225" y="523875"/>
                  </a:lnTo>
                  <a:lnTo>
                    <a:pt x="0" y="523875"/>
                  </a:lnTo>
                  <a:lnTo>
                    <a:pt x="0" y="533400"/>
                  </a:lnTo>
                  <a:lnTo>
                    <a:pt x="2181225" y="533400"/>
                  </a:lnTo>
                  <a:lnTo>
                    <a:pt x="4076700" y="533400"/>
                  </a:lnTo>
                  <a:lnTo>
                    <a:pt x="6257925" y="533400"/>
                  </a:lnTo>
                  <a:lnTo>
                    <a:pt x="6257925" y="523875"/>
                  </a:lnTo>
                  <a:close/>
                </a:path>
                <a:path w="6257925" h="704850">
                  <a:moveTo>
                    <a:pt x="6257925" y="352425"/>
                  </a:moveTo>
                  <a:lnTo>
                    <a:pt x="4076700" y="352425"/>
                  </a:lnTo>
                  <a:lnTo>
                    <a:pt x="2181225" y="352425"/>
                  </a:lnTo>
                  <a:lnTo>
                    <a:pt x="0" y="352425"/>
                  </a:lnTo>
                  <a:lnTo>
                    <a:pt x="0" y="361950"/>
                  </a:lnTo>
                  <a:lnTo>
                    <a:pt x="2181225" y="361950"/>
                  </a:lnTo>
                  <a:lnTo>
                    <a:pt x="4076700" y="361950"/>
                  </a:lnTo>
                  <a:lnTo>
                    <a:pt x="6257925" y="361950"/>
                  </a:lnTo>
                  <a:lnTo>
                    <a:pt x="6257925" y="352425"/>
                  </a:lnTo>
                  <a:close/>
                </a:path>
                <a:path w="6257925" h="704850">
                  <a:moveTo>
                    <a:pt x="6257925" y="171450"/>
                  </a:moveTo>
                  <a:lnTo>
                    <a:pt x="4076700" y="171450"/>
                  </a:lnTo>
                  <a:lnTo>
                    <a:pt x="2181225" y="171450"/>
                  </a:lnTo>
                  <a:lnTo>
                    <a:pt x="0" y="171450"/>
                  </a:lnTo>
                  <a:lnTo>
                    <a:pt x="0" y="180975"/>
                  </a:lnTo>
                  <a:lnTo>
                    <a:pt x="2181225" y="180975"/>
                  </a:lnTo>
                  <a:lnTo>
                    <a:pt x="4076700" y="180975"/>
                  </a:lnTo>
                  <a:lnTo>
                    <a:pt x="6257925" y="180975"/>
                  </a:lnTo>
                  <a:lnTo>
                    <a:pt x="6257925" y="171450"/>
                  </a:lnTo>
                  <a:close/>
                </a:path>
                <a:path w="6257925" h="704850">
                  <a:moveTo>
                    <a:pt x="6257925" y="0"/>
                  </a:moveTo>
                  <a:lnTo>
                    <a:pt x="4076700" y="0"/>
                  </a:lnTo>
                  <a:lnTo>
                    <a:pt x="218122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2181225" y="9525"/>
                  </a:lnTo>
                  <a:lnTo>
                    <a:pt x="4076700" y="9525"/>
                  </a:lnTo>
                  <a:lnTo>
                    <a:pt x="6257925" y="9525"/>
                  </a:lnTo>
                  <a:lnTo>
                    <a:pt x="6257925" y="0"/>
                  </a:lnTo>
                  <a:close/>
                </a:path>
              </a:pathLst>
            </a:custGeom>
            <a:solidFill>
              <a:srgbClr val="E7E9F5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815975" y="4778375"/>
            <a:ext cx="36741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0" b="1">
                <a:solidFill>
                  <a:srgbClr val="293283"/>
                </a:solidFill>
                <a:latin typeface="Tahoma"/>
                <a:cs typeface="Tahoma"/>
              </a:rPr>
              <a:t>Statistical</a:t>
            </a:r>
            <a:r>
              <a:rPr dirty="0" sz="90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293283"/>
                </a:solidFill>
                <a:latin typeface="Tahoma"/>
                <a:cs typeface="Tahoma"/>
              </a:rPr>
              <a:t>summary</a:t>
            </a:r>
            <a:r>
              <a:rPr dirty="0" sz="9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293283"/>
                </a:solidFill>
                <a:latin typeface="Tahoma"/>
                <a:cs typeface="Tahoma"/>
              </a:rPr>
              <a:t>of</a:t>
            </a:r>
            <a:r>
              <a:rPr dirty="0" sz="90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293283"/>
                </a:solidFill>
                <a:latin typeface="Tahoma"/>
                <a:cs typeface="Tahoma"/>
              </a:rPr>
              <a:t>numeric</a:t>
            </a:r>
            <a:r>
              <a:rPr dirty="0" sz="9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05" b="1">
                <a:solidFill>
                  <a:srgbClr val="293283"/>
                </a:solidFill>
                <a:latin typeface="Tahoma"/>
                <a:cs typeface="Tahoma"/>
              </a:rPr>
              <a:t>columns.</a:t>
            </a:r>
            <a:r>
              <a:rPr dirty="0" sz="90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Count,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mean,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std,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min,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80">
                <a:solidFill>
                  <a:srgbClr val="4A4E6A"/>
                </a:solidFill>
                <a:latin typeface="Trebuchet MS"/>
                <a:cs typeface="Trebuchet MS"/>
              </a:rPr>
              <a:t>max,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quartiles.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010137" y="5943600"/>
            <a:ext cx="6257925" cy="9525"/>
          </a:xfrm>
          <a:custGeom>
            <a:avLst/>
            <a:gdLst/>
            <a:ahLst/>
            <a:cxnLst/>
            <a:rect l="l" t="t" r="r" b="b"/>
            <a:pathLst>
              <a:path w="6257925" h="9525">
                <a:moveTo>
                  <a:pt x="6257925" y="0"/>
                </a:moveTo>
                <a:lnTo>
                  <a:pt x="4076700" y="0"/>
                </a:lnTo>
                <a:lnTo>
                  <a:pt x="2181225" y="0"/>
                </a:lnTo>
                <a:lnTo>
                  <a:pt x="0" y="0"/>
                </a:lnTo>
                <a:lnTo>
                  <a:pt x="0" y="9525"/>
                </a:lnTo>
                <a:lnTo>
                  <a:pt x="2181225" y="9525"/>
                </a:lnTo>
                <a:lnTo>
                  <a:pt x="4076700" y="9525"/>
                </a:lnTo>
                <a:lnTo>
                  <a:pt x="6257925" y="9525"/>
                </a:lnTo>
                <a:lnTo>
                  <a:pt x="6257925" y="0"/>
                </a:lnTo>
                <a:close/>
              </a:path>
            </a:pathLst>
          </a:custGeom>
          <a:solidFill>
            <a:srgbClr val="E7E9F5">
              <a:alpha val="783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8839596" y="4554537"/>
            <a:ext cx="18669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5" b="1">
                <a:solidFill>
                  <a:srgbClr val="FFD580"/>
                </a:solidFill>
                <a:latin typeface="Courier New"/>
                <a:cs typeface="Courier New"/>
              </a:rPr>
              <a:t>age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911581" y="4554537"/>
            <a:ext cx="29400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 b="1">
                <a:solidFill>
                  <a:srgbClr val="FFD580"/>
                </a:solidFill>
                <a:latin typeface="Courier New"/>
                <a:cs typeface="Courier New"/>
              </a:rPr>
              <a:t>marks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073203" y="4725987"/>
            <a:ext cx="29400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FF8B7E"/>
                </a:solidFill>
                <a:latin typeface="Courier New"/>
                <a:cs typeface="Courier New"/>
              </a:rPr>
              <a:t>count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86167" y="4725987"/>
            <a:ext cx="2406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E7E9F5"/>
                </a:solidFill>
                <a:latin typeface="Courier New"/>
                <a:cs typeface="Courier New"/>
              </a:rPr>
              <a:t>28.0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965159" y="4725987"/>
            <a:ext cx="2406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E7E9F5"/>
                </a:solidFill>
                <a:latin typeface="Courier New"/>
                <a:cs typeface="Courier New"/>
              </a:rPr>
              <a:t>28.0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073203" y="4906962"/>
            <a:ext cx="2406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FF8B7E"/>
                </a:solidFill>
                <a:latin typeface="Courier New"/>
                <a:cs typeface="Courier New"/>
              </a:rPr>
              <a:t>mean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786167" y="4906962"/>
            <a:ext cx="2406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E7E9F5"/>
                </a:solidFill>
                <a:latin typeface="Courier New"/>
                <a:cs typeface="Courier New"/>
              </a:rPr>
              <a:t>20.8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965159" y="4906962"/>
            <a:ext cx="2406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E7E9F5"/>
                </a:solidFill>
                <a:latin typeface="Courier New"/>
                <a:cs typeface="Courier New"/>
              </a:rPr>
              <a:t>84.7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073203" y="5078412"/>
            <a:ext cx="18669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FF8B7E"/>
                </a:solidFill>
                <a:latin typeface="Courier New"/>
                <a:cs typeface="Courier New"/>
              </a:rPr>
              <a:t>std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839596" y="5078412"/>
            <a:ext cx="18669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E7E9F5"/>
                </a:solidFill>
                <a:latin typeface="Courier New"/>
                <a:cs typeface="Courier New"/>
              </a:rPr>
              <a:t>1.0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018588" y="5078412"/>
            <a:ext cx="18669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E7E9F5"/>
                </a:solidFill>
                <a:latin typeface="Courier New"/>
                <a:cs typeface="Courier New"/>
              </a:rPr>
              <a:t>6.4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073203" y="5249862"/>
            <a:ext cx="18669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FF8B7E"/>
                </a:solidFill>
                <a:latin typeface="Courier New"/>
                <a:cs typeface="Courier New"/>
              </a:rPr>
              <a:t>min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786167" y="5249862"/>
            <a:ext cx="2406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E7E9F5"/>
                </a:solidFill>
                <a:latin typeface="Courier New"/>
                <a:cs typeface="Courier New"/>
              </a:rPr>
              <a:t>19.0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0965159" y="5249862"/>
            <a:ext cx="2406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E7E9F5"/>
                </a:solidFill>
                <a:latin typeface="Courier New"/>
                <a:cs typeface="Courier New"/>
              </a:rPr>
              <a:t>72.0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073203" y="5421312"/>
            <a:ext cx="18669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FF8B7E"/>
                </a:solidFill>
                <a:latin typeface="Courier New"/>
                <a:cs typeface="Courier New"/>
              </a:rPr>
              <a:t>25%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786167" y="5421312"/>
            <a:ext cx="2406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E7E9F5"/>
                </a:solidFill>
                <a:latin typeface="Courier New"/>
                <a:cs typeface="Courier New"/>
              </a:rPr>
              <a:t>20.0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965159" y="5421312"/>
            <a:ext cx="2406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E7E9F5"/>
                </a:solidFill>
                <a:latin typeface="Courier New"/>
                <a:cs typeface="Courier New"/>
              </a:rPr>
              <a:t>80.0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073203" y="5602287"/>
            <a:ext cx="18669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FF8B7E"/>
                </a:solidFill>
                <a:latin typeface="Courier New"/>
                <a:cs typeface="Courier New"/>
              </a:rPr>
              <a:t>50%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786167" y="5602287"/>
            <a:ext cx="2406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E7E9F5"/>
                </a:solidFill>
                <a:latin typeface="Courier New"/>
                <a:cs typeface="Courier New"/>
              </a:rPr>
              <a:t>21.0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965159" y="5602287"/>
            <a:ext cx="24066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20">
                <a:solidFill>
                  <a:srgbClr val="E7E9F5"/>
                </a:solidFill>
                <a:latin typeface="Courier New"/>
                <a:cs typeface="Courier New"/>
              </a:rPr>
              <a:t>85.0</a:t>
            </a:r>
            <a:endParaRPr sz="700">
              <a:latin typeface="Courier New"/>
              <a:cs typeface="Courier New"/>
            </a:endParaRPr>
          </a:p>
        </p:txBody>
      </p:sp>
      <p:graphicFrame>
        <p:nvGraphicFramePr>
          <p:cNvPr id="68" name="object 68"/>
          <p:cNvGraphicFramePr>
            <a:graphicFrameLocks noGrp="1"/>
          </p:cNvGraphicFramePr>
          <p:nvPr/>
        </p:nvGraphicFramePr>
        <p:xfrm>
          <a:off x="5010149" y="5767386"/>
          <a:ext cx="6334125" cy="307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2950"/>
                <a:gridCol w="2973070"/>
                <a:gridCol w="1272539"/>
              </a:tblGrid>
              <a:tr h="1708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700" spc="-25">
                          <a:solidFill>
                            <a:srgbClr val="FF8B7E"/>
                          </a:solidFill>
                          <a:latin typeface="Courier New"/>
                          <a:cs typeface="Courier New"/>
                        </a:rPr>
                        <a:t>75%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97409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700" spc="-20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21.0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6731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700" spc="-20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90.0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320">
                    <a:lnT w="9525">
                      <a:solidFill>
                        <a:srgbClr val="E7E9F5"/>
                      </a:solidFill>
                      <a:prstDash val="solid"/>
                    </a:lnT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marL="75565">
                        <a:lnSpc>
                          <a:spcPts val="815"/>
                        </a:lnSpc>
                        <a:spcBef>
                          <a:spcPts val="165"/>
                        </a:spcBef>
                      </a:pPr>
                      <a:r>
                        <a:rPr dirty="0" sz="700" spc="-25">
                          <a:solidFill>
                            <a:srgbClr val="FF8B7E"/>
                          </a:solidFill>
                          <a:latin typeface="Courier New"/>
                          <a:cs typeface="Courier New"/>
                        </a:rPr>
                        <a:t>max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algn="r" marR="974090">
                        <a:lnSpc>
                          <a:spcPts val="815"/>
                        </a:lnSpc>
                        <a:spcBef>
                          <a:spcPts val="165"/>
                        </a:spcBef>
                      </a:pPr>
                      <a:r>
                        <a:rPr dirty="0" sz="700" spc="-20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23.0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algn="r" marR="67310">
                        <a:lnSpc>
                          <a:spcPts val="815"/>
                        </a:lnSpc>
                        <a:spcBef>
                          <a:spcPts val="165"/>
                        </a:spcBef>
                      </a:pPr>
                      <a:r>
                        <a:rPr dirty="0" sz="700" spc="-20">
                          <a:solidFill>
                            <a:srgbClr val="E7E9F5"/>
                          </a:solidFill>
                          <a:latin typeface="Courier New"/>
                          <a:cs typeface="Courier New"/>
                        </a:rPr>
                        <a:t>95.0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0955"/>
                </a:tc>
              </a:tr>
            </a:tbl>
          </a:graphicData>
        </a:graphic>
      </p:graphicFrame>
      <p:sp>
        <p:nvSpPr>
          <p:cNvPr id="69" name="object 69"/>
          <p:cNvSpPr/>
          <p:nvPr/>
        </p:nvSpPr>
        <p:spPr>
          <a:xfrm>
            <a:off x="685799" y="5886450"/>
            <a:ext cx="10820400" cy="438150"/>
          </a:xfrm>
          <a:custGeom>
            <a:avLst/>
            <a:gdLst/>
            <a:ahLst/>
            <a:cxnLst/>
            <a:rect l="l" t="t" r="r" b="b"/>
            <a:pathLst>
              <a:path w="10820400" h="438150">
                <a:moveTo>
                  <a:pt x="10608499" y="438149"/>
                </a:moveTo>
                <a:lnTo>
                  <a:pt x="211900" y="438149"/>
                </a:lnTo>
                <a:lnTo>
                  <a:pt x="204742" y="437797"/>
                </a:lnTo>
                <a:lnTo>
                  <a:pt x="162346" y="430798"/>
                </a:lnTo>
                <a:lnTo>
                  <a:pt x="122131" y="415663"/>
                </a:lnTo>
                <a:lnTo>
                  <a:pt x="85641" y="392973"/>
                </a:lnTo>
                <a:lnTo>
                  <a:pt x="54279" y="363600"/>
                </a:lnTo>
                <a:lnTo>
                  <a:pt x="29250" y="328672"/>
                </a:lnTo>
                <a:lnTo>
                  <a:pt x="11516" y="289534"/>
                </a:lnTo>
                <a:lnTo>
                  <a:pt x="1758" y="247687"/>
                </a:lnTo>
                <a:lnTo>
                  <a:pt x="0" y="226249"/>
                </a:lnTo>
                <a:lnTo>
                  <a:pt x="0" y="219074"/>
                </a:lnTo>
                <a:lnTo>
                  <a:pt x="0" y="211899"/>
                </a:lnTo>
                <a:lnTo>
                  <a:pt x="5609" y="169297"/>
                </a:lnTo>
                <a:lnTo>
                  <a:pt x="19421" y="128608"/>
                </a:lnTo>
                <a:lnTo>
                  <a:pt x="40906" y="91396"/>
                </a:lnTo>
                <a:lnTo>
                  <a:pt x="69238" y="59091"/>
                </a:lnTo>
                <a:lnTo>
                  <a:pt x="103329" y="32933"/>
                </a:lnTo>
                <a:lnTo>
                  <a:pt x="141867" y="13929"/>
                </a:lnTo>
                <a:lnTo>
                  <a:pt x="183372" y="2809"/>
                </a:lnTo>
                <a:lnTo>
                  <a:pt x="211900" y="0"/>
                </a:lnTo>
                <a:lnTo>
                  <a:pt x="10608499" y="0"/>
                </a:lnTo>
                <a:lnTo>
                  <a:pt x="10651101" y="5608"/>
                </a:lnTo>
                <a:lnTo>
                  <a:pt x="10691788" y="19420"/>
                </a:lnTo>
                <a:lnTo>
                  <a:pt x="10729000" y="40905"/>
                </a:lnTo>
                <a:lnTo>
                  <a:pt x="10761306" y="69237"/>
                </a:lnTo>
                <a:lnTo>
                  <a:pt x="10787465" y="103327"/>
                </a:lnTo>
                <a:lnTo>
                  <a:pt x="10806467" y="141866"/>
                </a:lnTo>
                <a:lnTo>
                  <a:pt x="10817590" y="183371"/>
                </a:lnTo>
                <a:lnTo>
                  <a:pt x="10820399" y="211899"/>
                </a:lnTo>
                <a:lnTo>
                  <a:pt x="10820399" y="226249"/>
                </a:lnTo>
                <a:lnTo>
                  <a:pt x="10814789" y="268851"/>
                </a:lnTo>
                <a:lnTo>
                  <a:pt x="10800977" y="309539"/>
                </a:lnTo>
                <a:lnTo>
                  <a:pt x="10779492" y="346751"/>
                </a:lnTo>
                <a:lnTo>
                  <a:pt x="10751160" y="379057"/>
                </a:lnTo>
                <a:lnTo>
                  <a:pt x="10717068" y="405214"/>
                </a:lnTo>
                <a:lnTo>
                  <a:pt x="10678531" y="424218"/>
                </a:lnTo>
                <a:lnTo>
                  <a:pt x="10637026" y="435339"/>
                </a:lnTo>
                <a:lnTo>
                  <a:pt x="10615658" y="437797"/>
                </a:lnTo>
                <a:lnTo>
                  <a:pt x="10608499" y="438149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0" name="object 70"/>
          <p:cNvGrpSpPr/>
          <p:nvPr/>
        </p:nvGrpSpPr>
        <p:grpSpPr>
          <a:xfrm>
            <a:off x="857249" y="5972174"/>
            <a:ext cx="5381625" cy="266700"/>
            <a:chOff x="857249" y="5972174"/>
            <a:chExt cx="5381625" cy="266700"/>
          </a:xfrm>
        </p:grpSpPr>
        <p:sp>
          <p:nvSpPr>
            <p:cNvPr id="71" name="object 71"/>
            <p:cNvSpPr/>
            <p:nvPr/>
          </p:nvSpPr>
          <p:spPr>
            <a:xfrm>
              <a:off x="857249" y="5972174"/>
              <a:ext cx="600075" cy="266700"/>
            </a:xfrm>
            <a:custGeom>
              <a:avLst/>
              <a:gdLst/>
              <a:ahLst/>
              <a:cxnLst/>
              <a:rect l="l" t="t" r="r" b="b"/>
              <a:pathLst>
                <a:path w="600075" h="266700">
                  <a:moveTo>
                    <a:pt x="466724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2" y="258908"/>
                  </a:lnTo>
                  <a:lnTo>
                    <a:pt x="53906" y="240452"/>
                  </a:lnTo>
                  <a:lnTo>
                    <a:pt x="26246" y="212792"/>
                  </a:lnTo>
                  <a:lnTo>
                    <a:pt x="7791" y="178266"/>
                  </a:lnTo>
                  <a:lnTo>
                    <a:pt x="160" y="139901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5"/>
                  </a:lnTo>
                  <a:lnTo>
                    <a:pt x="53906" y="26245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466724" y="0"/>
                  </a:lnTo>
                  <a:lnTo>
                    <a:pt x="505434" y="5740"/>
                  </a:lnTo>
                  <a:lnTo>
                    <a:pt x="540810" y="22472"/>
                  </a:lnTo>
                  <a:lnTo>
                    <a:pt x="569806" y="48752"/>
                  </a:lnTo>
                  <a:lnTo>
                    <a:pt x="589924" y="82318"/>
                  </a:lnTo>
                  <a:lnTo>
                    <a:pt x="599434" y="120279"/>
                  </a:lnTo>
                  <a:lnTo>
                    <a:pt x="600074" y="133349"/>
                  </a:lnTo>
                  <a:lnTo>
                    <a:pt x="599914" y="139901"/>
                  </a:lnTo>
                  <a:lnTo>
                    <a:pt x="592283" y="178266"/>
                  </a:lnTo>
                  <a:lnTo>
                    <a:pt x="573828" y="212792"/>
                  </a:lnTo>
                  <a:lnTo>
                    <a:pt x="546168" y="240452"/>
                  </a:lnTo>
                  <a:lnTo>
                    <a:pt x="511641" y="258908"/>
                  </a:lnTo>
                  <a:lnTo>
                    <a:pt x="473276" y="266539"/>
                  </a:lnTo>
                  <a:lnTo>
                    <a:pt x="466724" y="2666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571612" y="6038850"/>
              <a:ext cx="4667250" cy="133350"/>
            </a:xfrm>
            <a:custGeom>
              <a:avLst/>
              <a:gdLst/>
              <a:ahLst/>
              <a:cxnLst/>
              <a:rect l="l" t="t" r="r" b="b"/>
              <a:pathLst>
                <a:path w="4667250" h="133350">
                  <a:moveTo>
                    <a:pt x="590550" y="33058"/>
                  </a:moveTo>
                  <a:lnTo>
                    <a:pt x="562368" y="977"/>
                  </a:lnTo>
                  <a:lnTo>
                    <a:pt x="557504" y="0"/>
                  </a:lnTo>
                  <a:lnTo>
                    <a:pt x="33058" y="0"/>
                  </a:lnTo>
                  <a:lnTo>
                    <a:pt x="977" y="28194"/>
                  </a:lnTo>
                  <a:lnTo>
                    <a:pt x="0" y="33058"/>
                  </a:lnTo>
                  <a:lnTo>
                    <a:pt x="0" y="95250"/>
                  </a:lnTo>
                  <a:lnTo>
                    <a:pt x="0" y="100304"/>
                  </a:lnTo>
                  <a:lnTo>
                    <a:pt x="28194" y="132384"/>
                  </a:lnTo>
                  <a:lnTo>
                    <a:pt x="33058" y="133350"/>
                  </a:lnTo>
                  <a:lnTo>
                    <a:pt x="557504" y="133350"/>
                  </a:lnTo>
                  <a:lnTo>
                    <a:pt x="589584" y="105168"/>
                  </a:lnTo>
                  <a:lnTo>
                    <a:pt x="590550" y="100304"/>
                  </a:lnTo>
                  <a:lnTo>
                    <a:pt x="590550" y="33058"/>
                  </a:lnTo>
                  <a:close/>
                </a:path>
                <a:path w="4667250" h="133350">
                  <a:moveTo>
                    <a:pt x="2733675" y="33058"/>
                  </a:moveTo>
                  <a:lnTo>
                    <a:pt x="2705493" y="977"/>
                  </a:lnTo>
                  <a:lnTo>
                    <a:pt x="2700629" y="0"/>
                  </a:lnTo>
                  <a:lnTo>
                    <a:pt x="2052358" y="0"/>
                  </a:lnTo>
                  <a:lnTo>
                    <a:pt x="2020277" y="28194"/>
                  </a:lnTo>
                  <a:lnTo>
                    <a:pt x="2019300" y="33058"/>
                  </a:lnTo>
                  <a:lnTo>
                    <a:pt x="2019300" y="95250"/>
                  </a:lnTo>
                  <a:lnTo>
                    <a:pt x="2019300" y="100304"/>
                  </a:lnTo>
                  <a:lnTo>
                    <a:pt x="2047494" y="132384"/>
                  </a:lnTo>
                  <a:lnTo>
                    <a:pt x="2052358" y="133350"/>
                  </a:lnTo>
                  <a:lnTo>
                    <a:pt x="2700629" y="133350"/>
                  </a:lnTo>
                  <a:lnTo>
                    <a:pt x="2732709" y="105168"/>
                  </a:lnTo>
                  <a:lnTo>
                    <a:pt x="2733675" y="100304"/>
                  </a:lnTo>
                  <a:lnTo>
                    <a:pt x="2733675" y="33058"/>
                  </a:lnTo>
                  <a:close/>
                </a:path>
                <a:path w="4667250" h="133350">
                  <a:moveTo>
                    <a:pt x="4667250" y="33058"/>
                  </a:moveTo>
                  <a:lnTo>
                    <a:pt x="4639068" y="977"/>
                  </a:lnTo>
                  <a:lnTo>
                    <a:pt x="4634204" y="0"/>
                  </a:lnTo>
                  <a:lnTo>
                    <a:pt x="4052608" y="0"/>
                  </a:lnTo>
                  <a:lnTo>
                    <a:pt x="4020528" y="28194"/>
                  </a:lnTo>
                  <a:lnTo>
                    <a:pt x="4019550" y="33058"/>
                  </a:lnTo>
                  <a:lnTo>
                    <a:pt x="4019550" y="95250"/>
                  </a:lnTo>
                  <a:lnTo>
                    <a:pt x="4019550" y="100304"/>
                  </a:lnTo>
                  <a:lnTo>
                    <a:pt x="4047744" y="132384"/>
                  </a:lnTo>
                  <a:lnTo>
                    <a:pt x="4052608" y="133350"/>
                  </a:lnTo>
                  <a:lnTo>
                    <a:pt x="4634204" y="133350"/>
                  </a:lnTo>
                  <a:lnTo>
                    <a:pt x="4666285" y="105168"/>
                  </a:lnTo>
                  <a:lnTo>
                    <a:pt x="4667250" y="100304"/>
                  </a:lnTo>
                  <a:lnTo>
                    <a:pt x="4667250" y="33058"/>
                  </a:lnTo>
                  <a:close/>
                </a:path>
              </a:pathLst>
            </a:custGeom>
            <a:solidFill>
              <a:srgbClr val="FF6A5B">
                <a:alpha val="1803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911225" y="5816163"/>
            <a:ext cx="7611745" cy="36322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df.describe()</a:t>
            </a:r>
            <a:endParaRPr sz="850">
              <a:latin typeface="Courier New"/>
              <a:cs typeface="Courier New"/>
            </a:endParaRPr>
          </a:p>
          <a:p>
            <a:pPr marL="59690">
              <a:lnSpc>
                <a:spcPct val="100000"/>
              </a:lnSpc>
              <a:spcBef>
                <a:spcPts val="280"/>
              </a:spcBef>
              <a:tabLst>
                <a:tab pos="704215" algn="l"/>
              </a:tabLst>
            </a:pPr>
            <a:r>
              <a:rPr dirty="0" sz="900" spc="-10" b="1">
                <a:solidFill>
                  <a:srgbClr val="FF6A5B"/>
                </a:solidFill>
                <a:latin typeface="Tahoma"/>
                <a:cs typeface="Tahoma"/>
              </a:rPr>
              <a:t>BONUS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	</a:t>
            </a:r>
            <a:r>
              <a:rPr dirty="0" baseline="3472" sz="1200">
                <a:solidFill>
                  <a:srgbClr val="FF6A5B"/>
                </a:solidFill>
                <a:latin typeface="Courier New"/>
                <a:cs typeface="Courier New"/>
              </a:rPr>
              <a:t>df.shape</a:t>
            </a:r>
            <a:r>
              <a:rPr dirty="0" baseline="3472" sz="1200" spc="195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baseline="3086" sz="1350" spc="-75">
                <a:solidFill>
                  <a:srgbClr val="1B1F3A"/>
                </a:solidFill>
                <a:latin typeface="Trebuchet MS"/>
                <a:cs typeface="Trebuchet MS"/>
              </a:rPr>
              <a:t>returns</a:t>
            </a:r>
            <a:r>
              <a:rPr dirty="0" baseline="3086" sz="1350" spc="-97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086" sz="1350" spc="-172" b="1">
                <a:solidFill>
                  <a:srgbClr val="FF6A5B"/>
                </a:solidFill>
                <a:latin typeface="Tahoma"/>
                <a:cs typeface="Tahoma"/>
              </a:rPr>
              <a:t>(rows,</a:t>
            </a:r>
            <a:r>
              <a:rPr dirty="0" baseline="3086" sz="1350" spc="-8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086" sz="1350" spc="-165" b="1">
                <a:solidFill>
                  <a:srgbClr val="FF6A5B"/>
                </a:solidFill>
                <a:latin typeface="Tahoma"/>
                <a:cs typeface="Tahoma"/>
              </a:rPr>
              <a:t>cols)</a:t>
            </a:r>
            <a:r>
              <a:rPr dirty="0" baseline="3086" sz="1350" spc="-82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baseline="3086" sz="1350" spc="-60">
                <a:solidFill>
                  <a:srgbClr val="1B1F3A"/>
                </a:solidFill>
                <a:latin typeface="Trebuchet MS"/>
                <a:cs typeface="Trebuchet MS"/>
              </a:rPr>
              <a:t>as</a:t>
            </a:r>
            <a:r>
              <a:rPr dirty="0" baseline="3086" sz="1350" spc="-104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086" sz="1350" spc="-82">
                <a:solidFill>
                  <a:srgbClr val="1B1F3A"/>
                </a:solidFill>
                <a:latin typeface="Trebuchet MS"/>
                <a:cs typeface="Trebuchet MS"/>
              </a:rPr>
              <a:t>a</a:t>
            </a:r>
            <a:r>
              <a:rPr dirty="0" baseline="3086" sz="1350" spc="-104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086" sz="1350" spc="-52">
                <a:solidFill>
                  <a:srgbClr val="1B1F3A"/>
                </a:solidFill>
                <a:latin typeface="Trebuchet MS"/>
                <a:cs typeface="Trebuchet MS"/>
              </a:rPr>
              <a:t>tuple.</a:t>
            </a:r>
            <a:r>
              <a:rPr dirty="0" baseline="3086" sz="1350" spc="517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472" sz="1200">
                <a:solidFill>
                  <a:srgbClr val="FF6A5B"/>
                </a:solidFill>
                <a:latin typeface="Courier New"/>
                <a:cs typeface="Courier New"/>
              </a:rPr>
              <a:t>df.columns</a:t>
            </a:r>
            <a:r>
              <a:rPr dirty="0" baseline="3472" sz="1200" spc="195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baseline="3086" sz="1350" spc="-75">
                <a:solidFill>
                  <a:srgbClr val="1B1F3A"/>
                </a:solidFill>
                <a:latin typeface="Trebuchet MS"/>
                <a:cs typeface="Trebuchet MS"/>
              </a:rPr>
              <a:t>returns</a:t>
            </a:r>
            <a:r>
              <a:rPr dirty="0" baseline="3086" sz="1350" spc="-104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086" sz="1350" spc="-82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baseline="3086" sz="1350" spc="-97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086" sz="1350" spc="-82">
                <a:solidFill>
                  <a:srgbClr val="1B1F3A"/>
                </a:solidFill>
                <a:latin typeface="Trebuchet MS"/>
                <a:cs typeface="Trebuchet MS"/>
              </a:rPr>
              <a:t>column</a:t>
            </a:r>
            <a:r>
              <a:rPr dirty="0" baseline="3086" sz="1350" spc="-104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086" sz="1350" spc="-37">
                <a:solidFill>
                  <a:srgbClr val="1B1F3A"/>
                </a:solidFill>
                <a:latin typeface="Trebuchet MS"/>
                <a:cs typeface="Trebuchet MS"/>
              </a:rPr>
              <a:t>names.</a:t>
            </a:r>
            <a:r>
              <a:rPr dirty="0" baseline="3086" sz="1350" spc="509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472" sz="1200">
                <a:solidFill>
                  <a:srgbClr val="FF6A5B"/>
                </a:solidFill>
                <a:latin typeface="Courier New"/>
                <a:cs typeface="Courier New"/>
              </a:rPr>
              <a:t>df.dtypes</a:t>
            </a:r>
            <a:r>
              <a:rPr dirty="0" baseline="3472" sz="1200" spc="202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baseline="3086" sz="1350" spc="-75">
                <a:solidFill>
                  <a:srgbClr val="1B1F3A"/>
                </a:solidFill>
                <a:latin typeface="Trebuchet MS"/>
                <a:cs typeface="Trebuchet MS"/>
              </a:rPr>
              <a:t>returns</a:t>
            </a:r>
            <a:r>
              <a:rPr dirty="0" baseline="3086" sz="1350" spc="-104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086" sz="1350" spc="-82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baseline="3086" sz="1350" spc="-104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086" sz="1350" spc="-89">
                <a:solidFill>
                  <a:srgbClr val="1B1F3A"/>
                </a:solidFill>
                <a:latin typeface="Trebuchet MS"/>
                <a:cs typeface="Trebuchet MS"/>
              </a:rPr>
              <a:t>dtype</a:t>
            </a:r>
            <a:r>
              <a:rPr dirty="0" baseline="3086" sz="1350" spc="-97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086" sz="1350" spc="-75">
                <a:solidFill>
                  <a:srgbClr val="1B1F3A"/>
                </a:solidFill>
                <a:latin typeface="Trebuchet MS"/>
                <a:cs typeface="Trebuchet MS"/>
              </a:rPr>
              <a:t>of</a:t>
            </a:r>
            <a:r>
              <a:rPr dirty="0" baseline="3086" sz="1350" spc="-104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086" sz="1350" spc="-89">
                <a:solidFill>
                  <a:srgbClr val="1B1F3A"/>
                </a:solidFill>
                <a:latin typeface="Trebuchet MS"/>
                <a:cs typeface="Trebuchet MS"/>
              </a:rPr>
              <a:t>each</a:t>
            </a:r>
            <a:r>
              <a:rPr dirty="0" baseline="3086" sz="1350" spc="-104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086" sz="1350" spc="-97">
                <a:solidFill>
                  <a:srgbClr val="1B1F3A"/>
                </a:solidFill>
                <a:latin typeface="Trebuchet MS"/>
                <a:cs typeface="Trebuchet MS"/>
              </a:rPr>
              <a:t>column.</a:t>
            </a:r>
            <a:r>
              <a:rPr dirty="0" baseline="3086" sz="1350" spc="-104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086" sz="1350" spc="-60">
                <a:solidFill>
                  <a:srgbClr val="1B1F3A"/>
                </a:solidFill>
                <a:latin typeface="Trebuchet MS"/>
                <a:cs typeface="Trebuchet MS"/>
              </a:rPr>
              <a:t>Run</a:t>
            </a:r>
            <a:r>
              <a:rPr dirty="0" baseline="3086" sz="1350" spc="-104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086" sz="1350" spc="-75">
                <a:solidFill>
                  <a:srgbClr val="1B1F3A"/>
                </a:solidFill>
                <a:latin typeface="Trebuchet MS"/>
                <a:cs typeface="Trebuchet MS"/>
              </a:rPr>
              <a:t>these</a:t>
            </a:r>
            <a:r>
              <a:rPr dirty="0" baseline="3086" sz="1350" spc="-97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baseline="3086" sz="1350" spc="-30">
                <a:solidFill>
                  <a:srgbClr val="1B1F3A"/>
                </a:solidFill>
                <a:latin typeface="Trebuchet MS"/>
                <a:cs typeface="Trebuchet MS"/>
              </a:rPr>
              <a:t>too.</a:t>
            </a:r>
            <a:endParaRPr baseline="3086" sz="1350">
              <a:latin typeface="Trebuchet MS"/>
              <a:cs typeface="Trebuchet MS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75" name="object 7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0</a:t>
            </a:r>
            <a:r>
              <a:rPr dirty="0" spc="-110"/>
              <a:t> </a:t>
            </a:r>
            <a:fld id="{81D60167-4931-47E6-BA6A-407CBD079E47}" type="slidenum">
              <a:rPr dirty="0"/>
              <a:t>7</a:t>
            </a:fld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14020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5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Tahoma"/>
                <a:cs typeface="Tahoma"/>
              </a:rPr>
              <a:t>LT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99947" y="530225"/>
            <a:ext cx="19989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6</a:t>
            </a:r>
            <a:r>
              <a:rPr dirty="0" sz="900" spc="14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2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797E94"/>
                </a:solidFill>
                <a:latin typeface="Tahoma"/>
                <a:cs typeface="Tahoma"/>
              </a:rPr>
              <a:t>K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G</a:t>
            </a:r>
            <a:r>
              <a:rPr dirty="0" sz="9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900" spc="2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ATA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777875"/>
            <a:ext cx="640397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>
                <a:solidFill>
                  <a:srgbClr val="293283"/>
                </a:solidFill>
              </a:rPr>
              <a:t>Filtering</a:t>
            </a:r>
            <a:r>
              <a:rPr dirty="0" spc="-180">
                <a:solidFill>
                  <a:srgbClr val="293283"/>
                </a:solidFill>
              </a:rPr>
              <a:t> </a:t>
            </a:r>
            <a:r>
              <a:rPr dirty="0" spc="-670">
                <a:solidFill>
                  <a:srgbClr val="293283"/>
                </a:solidFill>
              </a:rPr>
              <a:t>=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245">
                <a:solidFill>
                  <a:srgbClr val="293283"/>
                </a:solidFill>
              </a:rPr>
              <a:t>create</a:t>
            </a:r>
            <a:r>
              <a:rPr dirty="0" spc="-180">
                <a:solidFill>
                  <a:srgbClr val="293283"/>
                </a:solidFill>
              </a:rPr>
              <a:t> </a:t>
            </a:r>
            <a:r>
              <a:rPr dirty="0" spc="-235">
                <a:solidFill>
                  <a:srgbClr val="293283"/>
                </a:solidFill>
              </a:rPr>
              <a:t>a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229"/>
              <a:t>boolean</a:t>
            </a:r>
            <a:r>
              <a:rPr dirty="0" spc="-180"/>
              <a:t> </a:t>
            </a:r>
            <a:r>
              <a:rPr dirty="0" spc="-265"/>
              <a:t>mask</a:t>
            </a:r>
            <a:r>
              <a:rPr dirty="0" spc="-265">
                <a:solidFill>
                  <a:srgbClr val="293283"/>
                </a:solidFill>
              </a:rPr>
              <a:t>,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235">
                <a:solidFill>
                  <a:srgbClr val="293283"/>
                </a:solidFill>
              </a:rPr>
              <a:t>then</a:t>
            </a:r>
            <a:r>
              <a:rPr dirty="0" spc="-180">
                <a:solidFill>
                  <a:srgbClr val="293283"/>
                </a:solidFill>
              </a:rPr>
              <a:t> </a:t>
            </a:r>
            <a:r>
              <a:rPr dirty="0" spc="-254">
                <a:solidFill>
                  <a:srgbClr val="293283"/>
                </a:solidFill>
              </a:rPr>
              <a:t>use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165">
                <a:solidFill>
                  <a:srgbClr val="293283"/>
                </a:solidFill>
              </a:rPr>
              <a:t>it</a:t>
            </a:r>
            <a:r>
              <a:rPr dirty="0" spc="-180">
                <a:solidFill>
                  <a:srgbClr val="293283"/>
                </a:solidFill>
              </a:rPr>
              <a:t> </a:t>
            </a:r>
            <a:r>
              <a:rPr dirty="0" spc="-200">
                <a:solidFill>
                  <a:srgbClr val="293283"/>
                </a:solidFill>
              </a:rPr>
              <a:t>to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229">
                <a:solidFill>
                  <a:srgbClr val="293283"/>
                </a:solidFill>
              </a:rPr>
              <a:t>select</a:t>
            </a:r>
            <a:r>
              <a:rPr dirty="0" spc="-180">
                <a:solidFill>
                  <a:srgbClr val="293283"/>
                </a:solidFill>
              </a:rPr>
              <a:t> </a:t>
            </a:r>
            <a:r>
              <a:rPr dirty="0" spc="-135">
                <a:solidFill>
                  <a:srgbClr val="293283"/>
                </a:solidFill>
              </a:rPr>
              <a:t>rows.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3099" y="1177925"/>
            <a:ext cx="540004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5">
                <a:solidFill>
                  <a:srgbClr val="4A4E6A"/>
                </a:solidFill>
                <a:latin typeface="Trebuchet MS"/>
                <a:cs typeface="Trebuchet MS"/>
              </a:rPr>
              <a:t>This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is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 the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single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most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important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pandas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pattern.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Once </a:t>
            </a:r>
            <a:r>
              <a:rPr dirty="0" sz="950" spc="-30">
                <a:solidFill>
                  <a:srgbClr val="4A4E6A"/>
                </a:solidFill>
                <a:latin typeface="Trebuchet MS"/>
                <a:cs typeface="Trebuchet MS"/>
              </a:rPr>
              <a:t>you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get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boolean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masks,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 every 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filter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 becomes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rebuchet MS"/>
                <a:cs typeface="Trebuchet MS"/>
              </a:rPr>
              <a:t>obvious.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799" y="1485900"/>
            <a:ext cx="5276850" cy="4448175"/>
            <a:chOff x="685799" y="1485900"/>
            <a:chExt cx="5276850" cy="44481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5324" y="1523999"/>
              <a:ext cx="5257799" cy="44005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00425" y="1485900"/>
              <a:ext cx="5247640" cy="81280"/>
            </a:xfrm>
            <a:custGeom>
              <a:avLst/>
              <a:gdLst/>
              <a:ahLst/>
              <a:cxnLst/>
              <a:rect l="l" t="t" r="r" b="b"/>
              <a:pathLst>
                <a:path w="5247640" h="81280">
                  <a:moveTo>
                    <a:pt x="5606" y="80929"/>
                  </a:moveTo>
                  <a:lnTo>
                    <a:pt x="0" y="58503"/>
                  </a:lnTo>
                  <a:lnTo>
                    <a:pt x="4533" y="50929"/>
                  </a:lnTo>
                  <a:lnTo>
                    <a:pt x="4619" y="50786"/>
                  </a:lnTo>
                  <a:lnTo>
                    <a:pt x="36160" y="19244"/>
                  </a:lnTo>
                  <a:lnTo>
                    <a:pt x="77371" y="2175"/>
                  </a:lnTo>
                  <a:lnTo>
                    <a:pt x="99674" y="0"/>
                  </a:lnTo>
                  <a:lnTo>
                    <a:pt x="5147923" y="0"/>
                  </a:lnTo>
                  <a:lnTo>
                    <a:pt x="5191664" y="8700"/>
                  </a:lnTo>
                  <a:lnTo>
                    <a:pt x="5228745" y="33477"/>
                  </a:lnTo>
                  <a:lnTo>
                    <a:pt x="5232942" y="38099"/>
                  </a:lnTo>
                  <a:lnTo>
                    <a:pt x="99674" y="38099"/>
                  </a:lnTo>
                  <a:lnTo>
                    <a:pt x="89352" y="38462"/>
                  </a:lnTo>
                  <a:lnTo>
                    <a:pt x="50233" y="47107"/>
                  </a:lnTo>
                  <a:lnTo>
                    <a:pt x="12540" y="71957"/>
                  </a:lnTo>
                  <a:lnTo>
                    <a:pt x="7284" y="78342"/>
                  </a:lnTo>
                  <a:lnTo>
                    <a:pt x="5606" y="80929"/>
                  </a:lnTo>
                  <a:close/>
                </a:path>
                <a:path w="5247640" h="81280">
                  <a:moveTo>
                    <a:pt x="5241991" y="80929"/>
                  </a:moveTo>
                  <a:lnTo>
                    <a:pt x="5206144" y="50929"/>
                  </a:lnTo>
                  <a:lnTo>
                    <a:pt x="5168368" y="39550"/>
                  </a:lnTo>
                  <a:lnTo>
                    <a:pt x="5147923" y="38099"/>
                  </a:lnTo>
                  <a:lnTo>
                    <a:pt x="5232942" y="38099"/>
                  </a:lnTo>
                  <a:lnTo>
                    <a:pt x="5236323" y="41823"/>
                  </a:lnTo>
                  <a:lnTo>
                    <a:pt x="5242978" y="50786"/>
                  </a:lnTo>
                  <a:lnTo>
                    <a:pt x="5247597" y="58503"/>
                  </a:lnTo>
                  <a:lnTo>
                    <a:pt x="5241991" y="80929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787" y="1544129"/>
              <a:ext cx="5276850" cy="4390390"/>
            </a:xfrm>
            <a:custGeom>
              <a:avLst/>
              <a:gdLst/>
              <a:ahLst/>
              <a:cxnLst/>
              <a:rect l="l" t="t" r="r" b="b"/>
              <a:pathLst>
                <a:path w="5276850" h="4390390">
                  <a:moveTo>
                    <a:pt x="5276850" y="56070"/>
                  </a:moveTo>
                  <a:lnTo>
                    <a:pt x="5268150" y="12331"/>
                  </a:lnTo>
                  <a:lnTo>
                    <a:pt x="5262067" y="0"/>
                  </a:lnTo>
                  <a:lnTo>
                    <a:pt x="5256454" y="22440"/>
                  </a:lnTo>
                  <a:lnTo>
                    <a:pt x="5259349" y="26911"/>
                  </a:lnTo>
                  <a:lnTo>
                    <a:pt x="5262842" y="33985"/>
                  </a:lnTo>
                  <a:lnTo>
                    <a:pt x="5265331" y="41211"/>
                  </a:lnTo>
                  <a:lnTo>
                    <a:pt x="5266829" y="48564"/>
                  </a:lnTo>
                  <a:lnTo>
                    <a:pt x="5267325" y="56070"/>
                  </a:lnTo>
                  <a:lnTo>
                    <a:pt x="5267325" y="4275645"/>
                  </a:lnTo>
                  <a:lnTo>
                    <a:pt x="5259349" y="4315752"/>
                  </a:lnTo>
                  <a:lnTo>
                    <a:pt x="5236184" y="4350156"/>
                  </a:lnTo>
                  <a:lnTo>
                    <a:pt x="5202656" y="4372445"/>
                  </a:lnTo>
                  <a:lnTo>
                    <a:pt x="5162550" y="4380420"/>
                  </a:lnTo>
                  <a:lnTo>
                    <a:pt x="114300" y="4380420"/>
                  </a:lnTo>
                  <a:lnTo>
                    <a:pt x="74206" y="4372445"/>
                  </a:lnTo>
                  <a:lnTo>
                    <a:pt x="40716" y="4350194"/>
                  </a:lnTo>
                  <a:lnTo>
                    <a:pt x="17500" y="4315752"/>
                  </a:lnTo>
                  <a:lnTo>
                    <a:pt x="9525" y="4275645"/>
                  </a:lnTo>
                  <a:lnTo>
                    <a:pt x="9525" y="56070"/>
                  </a:lnTo>
                  <a:lnTo>
                    <a:pt x="20408" y="22440"/>
                  </a:lnTo>
                  <a:lnTo>
                    <a:pt x="14795" y="0"/>
                  </a:lnTo>
                  <a:lnTo>
                    <a:pt x="546" y="44818"/>
                  </a:lnTo>
                  <a:lnTo>
                    <a:pt x="0" y="56070"/>
                  </a:lnTo>
                  <a:lnTo>
                    <a:pt x="0" y="4275645"/>
                  </a:lnTo>
                  <a:lnTo>
                    <a:pt x="8712" y="4319397"/>
                  </a:lnTo>
                  <a:lnTo>
                    <a:pt x="33528" y="4356430"/>
                  </a:lnTo>
                  <a:lnTo>
                    <a:pt x="33934" y="4356887"/>
                  </a:lnTo>
                  <a:lnTo>
                    <a:pt x="41833" y="4364050"/>
                  </a:lnTo>
                  <a:lnTo>
                    <a:pt x="81178" y="4385056"/>
                  </a:lnTo>
                  <a:lnTo>
                    <a:pt x="114300" y="4389945"/>
                  </a:lnTo>
                  <a:lnTo>
                    <a:pt x="5162550" y="4389945"/>
                  </a:lnTo>
                  <a:lnTo>
                    <a:pt x="5206301" y="4381246"/>
                  </a:lnTo>
                  <a:lnTo>
                    <a:pt x="5208041" y="4380420"/>
                  </a:lnTo>
                  <a:lnTo>
                    <a:pt x="5216487" y="4376445"/>
                  </a:lnTo>
                  <a:lnTo>
                    <a:pt x="5226075" y="4370705"/>
                  </a:lnTo>
                  <a:lnTo>
                    <a:pt x="5235029" y="4364050"/>
                  </a:lnTo>
                  <a:lnTo>
                    <a:pt x="5242865" y="4356925"/>
                  </a:lnTo>
                  <a:lnTo>
                    <a:pt x="5243373" y="4356468"/>
                  </a:lnTo>
                  <a:lnTo>
                    <a:pt x="5268150" y="4319397"/>
                  </a:lnTo>
                  <a:lnTo>
                    <a:pt x="5276850" y="4275645"/>
                  </a:lnTo>
                  <a:lnTo>
                    <a:pt x="5276850" y="56070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52487" y="1900237"/>
              <a:ext cx="4943475" cy="666750"/>
            </a:xfrm>
            <a:custGeom>
              <a:avLst/>
              <a:gdLst/>
              <a:ahLst/>
              <a:cxnLst/>
              <a:rect l="l" t="t" r="r" b="b"/>
              <a:pathLst>
                <a:path w="4943475" h="666750">
                  <a:moveTo>
                    <a:pt x="4876727" y="666749"/>
                  </a:moveTo>
                  <a:lnTo>
                    <a:pt x="66746" y="666749"/>
                  </a:lnTo>
                  <a:lnTo>
                    <a:pt x="62101" y="666292"/>
                  </a:lnTo>
                  <a:lnTo>
                    <a:pt x="24240" y="649142"/>
                  </a:lnTo>
                  <a:lnTo>
                    <a:pt x="2287" y="613849"/>
                  </a:lnTo>
                  <a:lnTo>
                    <a:pt x="0" y="600002"/>
                  </a:lnTo>
                  <a:lnTo>
                    <a:pt x="0" y="5953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876727" y="0"/>
                  </a:lnTo>
                  <a:lnTo>
                    <a:pt x="4915624" y="14644"/>
                  </a:lnTo>
                  <a:lnTo>
                    <a:pt x="4939831" y="48432"/>
                  </a:lnTo>
                  <a:lnTo>
                    <a:pt x="4943474" y="66746"/>
                  </a:lnTo>
                  <a:lnTo>
                    <a:pt x="4943474" y="600002"/>
                  </a:lnTo>
                  <a:lnTo>
                    <a:pt x="4928827" y="638900"/>
                  </a:lnTo>
                  <a:lnTo>
                    <a:pt x="4895039" y="663106"/>
                  </a:lnTo>
                  <a:lnTo>
                    <a:pt x="4881372" y="666292"/>
                  </a:lnTo>
                  <a:lnTo>
                    <a:pt x="4876727" y="666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52487" y="1900237"/>
              <a:ext cx="4943475" cy="666750"/>
            </a:xfrm>
            <a:custGeom>
              <a:avLst/>
              <a:gdLst/>
              <a:ahLst/>
              <a:cxnLst/>
              <a:rect l="l" t="t" r="r" b="b"/>
              <a:pathLst>
                <a:path w="4943475" h="666750">
                  <a:moveTo>
                    <a:pt x="0" y="5953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71437" y="0"/>
                  </a:lnTo>
                  <a:lnTo>
                    <a:pt x="4872037" y="0"/>
                  </a:lnTo>
                  <a:lnTo>
                    <a:pt x="4911724" y="12039"/>
                  </a:lnTo>
                  <a:lnTo>
                    <a:pt x="4922550" y="20923"/>
                  </a:lnTo>
                  <a:lnTo>
                    <a:pt x="4925867" y="24240"/>
                  </a:lnTo>
                  <a:lnTo>
                    <a:pt x="4928827" y="27848"/>
                  </a:lnTo>
                  <a:lnTo>
                    <a:pt x="4931434" y="31748"/>
                  </a:lnTo>
                  <a:lnTo>
                    <a:pt x="4934040" y="35648"/>
                  </a:lnTo>
                  <a:lnTo>
                    <a:pt x="4936241" y="39765"/>
                  </a:lnTo>
                  <a:lnTo>
                    <a:pt x="4938036" y="44099"/>
                  </a:lnTo>
                  <a:lnTo>
                    <a:pt x="4939831" y="48432"/>
                  </a:lnTo>
                  <a:lnTo>
                    <a:pt x="4941186" y="52899"/>
                  </a:lnTo>
                  <a:lnTo>
                    <a:pt x="4942101" y="57500"/>
                  </a:lnTo>
                  <a:lnTo>
                    <a:pt x="4943017" y="62101"/>
                  </a:lnTo>
                  <a:lnTo>
                    <a:pt x="4943474" y="66746"/>
                  </a:lnTo>
                  <a:lnTo>
                    <a:pt x="4943474" y="71437"/>
                  </a:lnTo>
                  <a:lnTo>
                    <a:pt x="4943474" y="595312"/>
                  </a:lnTo>
                  <a:lnTo>
                    <a:pt x="4943474" y="600003"/>
                  </a:lnTo>
                  <a:lnTo>
                    <a:pt x="4943017" y="604648"/>
                  </a:lnTo>
                  <a:lnTo>
                    <a:pt x="4942101" y="609249"/>
                  </a:lnTo>
                  <a:lnTo>
                    <a:pt x="4941186" y="613849"/>
                  </a:lnTo>
                  <a:lnTo>
                    <a:pt x="4939831" y="618316"/>
                  </a:lnTo>
                  <a:lnTo>
                    <a:pt x="4938036" y="622650"/>
                  </a:lnTo>
                  <a:lnTo>
                    <a:pt x="4936241" y="626983"/>
                  </a:lnTo>
                  <a:lnTo>
                    <a:pt x="4907823" y="657315"/>
                  </a:lnTo>
                  <a:lnTo>
                    <a:pt x="4885972" y="665377"/>
                  </a:lnTo>
                  <a:lnTo>
                    <a:pt x="4881372" y="666292"/>
                  </a:lnTo>
                  <a:lnTo>
                    <a:pt x="4876727" y="666749"/>
                  </a:lnTo>
                  <a:lnTo>
                    <a:pt x="4872037" y="666749"/>
                  </a:lnTo>
                  <a:lnTo>
                    <a:pt x="71437" y="666749"/>
                  </a:lnTo>
                  <a:lnTo>
                    <a:pt x="66746" y="666749"/>
                  </a:lnTo>
                  <a:lnTo>
                    <a:pt x="62101" y="666292"/>
                  </a:lnTo>
                  <a:lnTo>
                    <a:pt x="57500" y="665377"/>
                  </a:lnTo>
                  <a:lnTo>
                    <a:pt x="52900" y="664462"/>
                  </a:lnTo>
                  <a:lnTo>
                    <a:pt x="31748" y="654709"/>
                  </a:lnTo>
                  <a:lnTo>
                    <a:pt x="27848" y="652104"/>
                  </a:lnTo>
                  <a:lnTo>
                    <a:pt x="3642" y="618316"/>
                  </a:lnTo>
                  <a:lnTo>
                    <a:pt x="1372" y="609249"/>
                  </a:lnTo>
                  <a:lnTo>
                    <a:pt x="457" y="604648"/>
                  </a:lnTo>
                  <a:lnTo>
                    <a:pt x="0" y="600003"/>
                  </a:lnTo>
                  <a:lnTo>
                    <a:pt x="0" y="5953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52487" y="2881312"/>
              <a:ext cx="4943475" cy="666750"/>
            </a:xfrm>
            <a:custGeom>
              <a:avLst/>
              <a:gdLst/>
              <a:ahLst/>
              <a:cxnLst/>
              <a:rect l="l" t="t" r="r" b="b"/>
              <a:pathLst>
                <a:path w="4943475" h="666750">
                  <a:moveTo>
                    <a:pt x="4876727" y="666749"/>
                  </a:moveTo>
                  <a:lnTo>
                    <a:pt x="66746" y="666749"/>
                  </a:lnTo>
                  <a:lnTo>
                    <a:pt x="62101" y="666292"/>
                  </a:lnTo>
                  <a:lnTo>
                    <a:pt x="24240" y="649142"/>
                  </a:lnTo>
                  <a:lnTo>
                    <a:pt x="2287" y="613849"/>
                  </a:lnTo>
                  <a:lnTo>
                    <a:pt x="0" y="600002"/>
                  </a:lnTo>
                  <a:lnTo>
                    <a:pt x="0" y="5953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876727" y="0"/>
                  </a:lnTo>
                  <a:lnTo>
                    <a:pt x="4915624" y="14645"/>
                  </a:lnTo>
                  <a:lnTo>
                    <a:pt x="4939831" y="48432"/>
                  </a:lnTo>
                  <a:lnTo>
                    <a:pt x="4943474" y="66746"/>
                  </a:lnTo>
                  <a:lnTo>
                    <a:pt x="4943474" y="600002"/>
                  </a:lnTo>
                  <a:lnTo>
                    <a:pt x="4928827" y="638900"/>
                  </a:lnTo>
                  <a:lnTo>
                    <a:pt x="4895039" y="663106"/>
                  </a:lnTo>
                  <a:lnTo>
                    <a:pt x="4881372" y="666292"/>
                  </a:lnTo>
                  <a:lnTo>
                    <a:pt x="4876727" y="666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52487" y="2881312"/>
              <a:ext cx="4943475" cy="666750"/>
            </a:xfrm>
            <a:custGeom>
              <a:avLst/>
              <a:gdLst/>
              <a:ahLst/>
              <a:cxnLst/>
              <a:rect l="l" t="t" r="r" b="b"/>
              <a:pathLst>
                <a:path w="4943475" h="666750">
                  <a:moveTo>
                    <a:pt x="0" y="5953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872037" y="0"/>
                  </a:lnTo>
                  <a:lnTo>
                    <a:pt x="4876727" y="0"/>
                  </a:lnTo>
                  <a:lnTo>
                    <a:pt x="4881372" y="457"/>
                  </a:lnTo>
                  <a:lnTo>
                    <a:pt x="4919233" y="17606"/>
                  </a:lnTo>
                  <a:lnTo>
                    <a:pt x="4922550" y="20923"/>
                  </a:lnTo>
                  <a:lnTo>
                    <a:pt x="4925867" y="24239"/>
                  </a:lnTo>
                  <a:lnTo>
                    <a:pt x="4938036" y="44099"/>
                  </a:lnTo>
                  <a:lnTo>
                    <a:pt x="4939831" y="48432"/>
                  </a:lnTo>
                  <a:lnTo>
                    <a:pt x="4941186" y="52899"/>
                  </a:lnTo>
                  <a:lnTo>
                    <a:pt x="4942101" y="57500"/>
                  </a:lnTo>
                  <a:lnTo>
                    <a:pt x="4943017" y="62100"/>
                  </a:lnTo>
                  <a:lnTo>
                    <a:pt x="4943474" y="66746"/>
                  </a:lnTo>
                  <a:lnTo>
                    <a:pt x="4943474" y="71437"/>
                  </a:lnTo>
                  <a:lnTo>
                    <a:pt x="4943474" y="595312"/>
                  </a:lnTo>
                  <a:lnTo>
                    <a:pt x="4943474" y="600002"/>
                  </a:lnTo>
                  <a:lnTo>
                    <a:pt x="4943017" y="604648"/>
                  </a:lnTo>
                  <a:lnTo>
                    <a:pt x="4942101" y="609248"/>
                  </a:lnTo>
                  <a:lnTo>
                    <a:pt x="4941186" y="613849"/>
                  </a:lnTo>
                  <a:lnTo>
                    <a:pt x="4939831" y="618316"/>
                  </a:lnTo>
                  <a:lnTo>
                    <a:pt x="4938036" y="622650"/>
                  </a:lnTo>
                  <a:lnTo>
                    <a:pt x="4936241" y="626983"/>
                  </a:lnTo>
                  <a:lnTo>
                    <a:pt x="4934040" y="631100"/>
                  </a:lnTo>
                  <a:lnTo>
                    <a:pt x="4931434" y="635000"/>
                  </a:lnTo>
                  <a:lnTo>
                    <a:pt x="4928827" y="638900"/>
                  </a:lnTo>
                  <a:lnTo>
                    <a:pt x="4895039" y="663106"/>
                  </a:lnTo>
                  <a:lnTo>
                    <a:pt x="4885972" y="665377"/>
                  </a:lnTo>
                  <a:lnTo>
                    <a:pt x="4881372" y="666292"/>
                  </a:lnTo>
                  <a:lnTo>
                    <a:pt x="4876727" y="666749"/>
                  </a:lnTo>
                  <a:lnTo>
                    <a:pt x="4872037" y="666749"/>
                  </a:lnTo>
                  <a:lnTo>
                    <a:pt x="71437" y="666749"/>
                  </a:lnTo>
                  <a:lnTo>
                    <a:pt x="66746" y="666749"/>
                  </a:lnTo>
                  <a:lnTo>
                    <a:pt x="62101" y="666292"/>
                  </a:lnTo>
                  <a:lnTo>
                    <a:pt x="31748" y="654709"/>
                  </a:lnTo>
                  <a:lnTo>
                    <a:pt x="27848" y="652104"/>
                  </a:lnTo>
                  <a:lnTo>
                    <a:pt x="3642" y="618316"/>
                  </a:lnTo>
                  <a:lnTo>
                    <a:pt x="1372" y="609248"/>
                  </a:lnTo>
                  <a:lnTo>
                    <a:pt x="457" y="604648"/>
                  </a:lnTo>
                  <a:lnTo>
                    <a:pt x="0" y="600002"/>
                  </a:lnTo>
                  <a:lnTo>
                    <a:pt x="0" y="5953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47725" y="1649412"/>
            <a:ext cx="3143250" cy="17945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T </a:t>
            </a:r>
            <a:r>
              <a:rPr dirty="0" sz="750" spc="-90" b="1">
                <a:solidFill>
                  <a:srgbClr val="293283"/>
                </a:solidFill>
                <a:latin typeface="Tahoma"/>
                <a:cs typeface="Tahoma"/>
              </a:rPr>
              <a:t>H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50" spc="1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293283"/>
                </a:solidFill>
                <a:latin typeface="Tahoma"/>
                <a:cs typeface="Tahoma"/>
              </a:rPr>
              <a:t>M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6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25" b="1">
                <a:solidFill>
                  <a:srgbClr val="293283"/>
                </a:solidFill>
                <a:latin typeface="Tahoma"/>
                <a:cs typeface="Tahoma"/>
              </a:rPr>
              <a:t>TA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293283"/>
                </a:solidFill>
                <a:latin typeface="Tahoma"/>
                <a:cs typeface="Tahoma"/>
              </a:rPr>
              <a:t>L</a:t>
            </a:r>
            <a:r>
              <a:rPr dirty="0" sz="750" spc="22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293283"/>
                </a:solidFill>
                <a:latin typeface="Tahoma"/>
                <a:cs typeface="Tahoma"/>
              </a:rPr>
              <a:t>M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55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75" b="1">
                <a:solidFill>
                  <a:srgbClr val="293283"/>
                </a:solidFill>
                <a:latin typeface="Tahoma"/>
                <a:cs typeface="Tahoma"/>
              </a:rPr>
              <a:t>D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293283"/>
                </a:solidFill>
                <a:latin typeface="Tahoma"/>
                <a:cs typeface="Tahoma"/>
              </a:rPr>
              <a:t>L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75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</a:pPr>
            <a:r>
              <a:rPr dirty="0" sz="650" spc="-10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650" spc="-9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650" spc="-75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6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650" spc="-8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6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650" spc="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FF6A5B"/>
                </a:solidFill>
                <a:latin typeface="Tahoma"/>
                <a:cs typeface="Tahoma"/>
              </a:rPr>
              <a:t>1</a:t>
            </a:r>
            <a:r>
              <a:rPr dirty="0" sz="65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650" spc="-90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9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8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6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35" b="1">
                <a:solidFill>
                  <a:srgbClr val="797E94"/>
                </a:solidFill>
                <a:latin typeface="Tahoma"/>
                <a:cs typeface="Tahoma"/>
              </a:rPr>
              <a:t>AT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650" spc="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650" spc="14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4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10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K</a:t>
            </a:r>
            <a:r>
              <a:rPr dirty="0" sz="650" spc="14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90" b="1">
                <a:solidFill>
                  <a:srgbClr val="797E94"/>
                </a:solidFill>
                <a:latin typeface="Tahoma"/>
                <a:cs typeface="Tahoma"/>
              </a:rPr>
              <a:t>(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10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8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9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14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8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6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650" spc="14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4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F</a:t>
            </a:r>
            <a:r>
              <a:rPr dirty="0" sz="650" spc="14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75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9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65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45" b="1">
                <a:solidFill>
                  <a:srgbClr val="797E94"/>
                </a:solidFill>
                <a:latin typeface="Tahoma"/>
                <a:cs typeface="Tahoma"/>
              </a:rPr>
              <a:t>U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8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95" b="1">
                <a:solidFill>
                  <a:srgbClr val="797E94"/>
                </a:solidFill>
                <a:latin typeface="Tahoma"/>
                <a:cs typeface="Tahoma"/>
              </a:rPr>
              <a:t>/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30" b="1">
                <a:solidFill>
                  <a:srgbClr val="797E94"/>
                </a:solidFill>
                <a:latin typeface="Tahoma"/>
                <a:cs typeface="Tahoma"/>
              </a:rPr>
              <a:t>FA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90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10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8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,</a:t>
            </a:r>
            <a:r>
              <a:rPr dirty="0" sz="650" spc="14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4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60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650" spc="14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75" b="1">
                <a:solidFill>
                  <a:srgbClr val="797E94"/>
                </a:solidFill>
                <a:latin typeface="Tahoma"/>
                <a:cs typeface="Tahoma"/>
              </a:rPr>
              <a:t>P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8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650" spc="14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9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6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4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6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6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50" b="1">
                <a:solidFill>
                  <a:srgbClr val="797E94"/>
                </a:solidFill>
                <a:latin typeface="Tahoma"/>
                <a:cs typeface="Tahoma"/>
              </a:rPr>
              <a:t>)</a:t>
            </a:r>
            <a:endParaRPr sz="65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  <a:spcBef>
                <a:spcPts val="395"/>
              </a:spcBef>
            </a:pPr>
            <a:r>
              <a:rPr dirty="0" sz="900" b="1">
                <a:solidFill>
                  <a:srgbClr val="293283"/>
                </a:solidFill>
                <a:latin typeface="Courier New"/>
                <a:cs typeface="Courier New"/>
              </a:rPr>
              <a:t>df[</a:t>
            </a:r>
            <a:r>
              <a:rPr dirty="0" sz="900" b="1">
                <a:solidFill>
                  <a:srgbClr val="FF6A5B"/>
                </a:solidFill>
                <a:latin typeface="Courier New"/>
                <a:cs typeface="Courier New"/>
              </a:rPr>
              <a:t>"age"</a:t>
            </a:r>
            <a:r>
              <a:rPr dirty="0" sz="900" b="1">
                <a:solidFill>
                  <a:srgbClr val="293283"/>
                </a:solidFill>
                <a:latin typeface="Courier New"/>
                <a:cs typeface="Courier New"/>
              </a:rPr>
              <a:t>]</a:t>
            </a:r>
            <a:r>
              <a:rPr dirty="0" sz="900" spc="-5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293283"/>
                </a:solidFill>
                <a:latin typeface="Courier New"/>
                <a:cs typeface="Courier New"/>
              </a:rPr>
              <a:t>&gt;</a:t>
            </a:r>
            <a:r>
              <a:rPr dirty="0" sz="900" spc="-5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25" b="1">
                <a:solidFill>
                  <a:srgbClr val="293283"/>
                </a:solidFill>
                <a:latin typeface="Courier New"/>
                <a:cs typeface="Courier New"/>
              </a:rPr>
              <a:t>20</a:t>
            </a:r>
            <a:endParaRPr sz="900">
              <a:latin typeface="Courier New"/>
              <a:cs typeface="Courier New"/>
            </a:endParaRPr>
          </a:p>
          <a:p>
            <a:pPr marL="123189">
              <a:lnSpc>
                <a:spcPct val="100000"/>
              </a:lnSpc>
              <a:spcBef>
                <a:spcPts val="370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→</a:t>
            </a:r>
            <a:r>
              <a:rPr dirty="0" sz="800" spc="5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Courier New"/>
                <a:cs typeface="Courier New"/>
              </a:rPr>
              <a:t>[False,</a:t>
            </a:r>
            <a:r>
              <a:rPr dirty="0" sz="800" spc="55">
                <a:solidFill>
                  <a:srgbClr val="4A4E6A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Courier New"/>
                <a:cs typeface="Courier New"/>
              </a:rPr>
              <a:t>True,</a:t>
            </a:r>
            <a:r>
              <a:rPr dirty="0" sz="800" spc="55">
                <a:solidFill>
                  <a:srgbClr val="4A4E6A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Courier New"/>
                <a:cs typeface="Courier New"/>
              </a:rPr>
              <a:t>True,</a:t>
            </a:r>
            <a:r>
              <a:rPr dirty="0" sz="800" spc="50">
                <a:solidFill>
                  <a:srgbClr val="4A4E6A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Courier New"/>
                <a:cs typeface="Courier New"/>
              </a:rPr>
              <a:t>True,</a:t>
            </a:r>
            <a:r>
              <a:rPr dirty="0" sz="800" spc="55">
                <a:solidFill>
                  <a:srgbClr val="4A4E6A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Courier New"/>
                <a:cs typeface="Courier New"/>
              </a:rPr>
              <a:t>False,</a:t>
            </a:r>
            <a:r>
              <a:rPr dirty="0" sz="800" spc="55">
                <a:solidFill>
                  <a:srgbClr val="4A4E6A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Courier New"/>
                <a:cs typeface="Courier New"/>
              </a:rPr>
              <a:t>...]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800">
              <a:latin typeface="Courier New"/>
              <a:cs typeface="Courier New"/>
            </a:endParaRPr>
          </a:p>
          <a:p>
            <a:pPr algn="r" marR="589280">
              <a:lnSpc>
                <a:spcPct val="100000"/>
              </a:lnSpc>
            </a:pPr>
            <a:r>
              <a:rPr dirty="0" sz="1200" spc="434" b="1">
                <a:solidFill>
                  <a:srgbClr val="FF6A5B"/>
                </a:solidFill>
                <a:latin typeface="Tahoma"/>
                <a:cs typeface="Tahoma"/>
              </a:rPr>
              <a:t>↓</a:t>
            </a:r>
            <a:endParaRPr sz="120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  <a:spcBef>
                <a:spcPts val="1360"/>
              </a:spcBef>
            </a:pPr>
            <a:r>
              <a:rPr dirty="0" sz="650" spc="-10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650" spc="-9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650" spc="-75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6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650" spc="-8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6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650" spc="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FF6A5B"/>
                </a:solidFill>
                <a:latin typeface="Tahoma"/>
                <a:cs typeface="Tahoma"/>
              </a:rPr>
              <a:t>2</a:t>
            </a:r>
            <a:r>
              <a:rPr dirty="0" sz="650" spc="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650" spc="-45" b="1">
                <a:solidFill>
                  <a:srgbClr val="797E94"/>
                </a:solidFill>
                <a:latin typeface="Tahoma"/>
                <a:cs typeface="Tahoma"/>
              </a:rPr>
              <a:t>U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10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650" spc="14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75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75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650" spc="14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45" b="1">
                <a:solidFill>
                  <a:srgbClr val="797E94"/>
                </a:solidFill>
                <a:latin typeface="Tahoma"/>
                <a:cs typeface="Tahoma"/>
              </a:rPr>
              <a:t>A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10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K</a:t>
            </a:r>
            <a:r>
              <a:rPr dirty="0" sz="650" spc="13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75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65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650" spc="14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10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8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90" b="1">
                <a:solidFill>
                  <a:srgbClr val="797E94"/>
                </a:solidFill>
                <a:latin typeface="Tahoma"/>
                <a:cs typeface="Tahoma"/>
              </a:rPr>
              <a:t>L</a:t>
            </a:r>
            <a:r>
              <a:rPr dirty="0" sz="650" spc="-8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8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6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90" b="1">
                <a:solidFill>
                  <a:srgbClr val="797E94"/>
                </a:solidFill>
                <a:latin typeface="Tahoma"/>
                <a:cs typeface="Tahoma"/>
              </a:rPr>
              <a:t>C</a:t>
            </a:r>
            <a:r>
              <a:rPr dirty="0" sz="650" spc="-8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650" spc="14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9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6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45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6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6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6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650" spc="-5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endParaRPr sz="650">
              <a:latin typeface="Tahoma"/>
              <a:cs typeface="Tahoma"/>
            </a:endParaRPr>
          </a:p>
          <a:p>
            <a:pPr marL="123189">
              <a:lnSpc>
                <a:spcPct val="100000"/>
              </a:lnSpc>
              <a:spcBef>
                <a:spcPts val="395"/>
              </a:spcBef>
            </a:pPr>
            <a:r>
              <a:rPr dirty="0" sz="900" spc="-10" b="1">
                <a:solidFill>
                  <a:srgbClr val="293283"/>
                </a:solidFill>
                <a:latin typeface="Courier New"/>
                <a:cs typeface="Courier New"/>
              </a:rPr>
              <a:t>df[mask]</a:t>
            </a:r>
            <a:endParaRPr sz="900">
              <a:latin typeface="Courier New"/>
              <a:cs typeface="Courier New"/>
            </a:endParaRPr>
          </a:p>
          <a:p>
            <a:pPr marL="123189">
              <a:lnSpc>
                <a:spcPct val="100000"/>
              </a:lnSpc>
              <a:spcBef>
                <a:spcPts val="370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→</a:t>
            </a:r>
            <a:r>
              <a:rPr dirty="0" sz="800" spc="4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Courier New"/>
                <a:cs typeface="Courier New"/>
              </a:rPr>
              <a:t>only</a:t>
            </a:r>
            <a:r>
              <a:rPr dirty="0" sz="800" spc="40">
                <a:solidFill>
                  <a:srgbClr val="4A4E6A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Courier New"/>
                <a:cs typeface="Courier New"/>
              </a:rPr>
              <a:t>rows</a:t>
            </a:r>
            <a:r>
              <a:rPr dirty="0" sz="800" spc="40">
                <a:solidFill>
                  <a:srgbClr val="4A4E6A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Courier New"/>
                <a:cs typeface="Courier New"/>
              </a:rPr>
              <a:t>where</a:t>
            </a:r>
            <a:r>
              <a:rPr dirty="0" sz="800" spc="45">
                <a:solidFill>
                  <a:srgbClr val="4A4E6A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Courier New"/>
                <a:cs typeface="Courier New"/>
              </a:rPr>
              <a:t>True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724" y="3714749"/>
            <a:ext cx="209549" cy="2095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23925" y="3730625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65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3000" y="3692525"/>
            <a:ext cx="343090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85" b="1">
                <a:solidFill>
                  <a:srgbClr val="1B1F3A"/>
                </a:solidFill>
                <a:latin typeface="Tahoma"/>
                <a:cs typeface="Tahoma"/>
              </a:rPr>
              <a:t>The</a:t>
            </a:r>
            <a:r>
              <a:rPr dirty="0" sz="800" spc="-4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100" b="1">
                <a:solidFill>
                  <a:srgbClr val="1B1F3A"/>
                </a:solidFill>
                <a:latin typeface="Tahoma"/>
                <a:cs typeface="Tahoma"/>
              </a:rPr>
              <a:t>mask</a:t>
            </a:r>
            <a:r>
              <a:rPr dirty="0" sz="800" spc="-4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75" b="1">
                <a:solidFill>
                  <a:srgbClr val="1B1F3A"/>
                </a:solidFill>
                <a:latin typeface="Tahoma"/>
                <a:cs typeface="Tahoma"/>
              </a:rPr>
              <a:t>is</a:t>
            </a:r>
            <a:r>
              <a:rPr dirty="0" sz="800" spc="-4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800" spc="-35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85" b="1">
                <a:solidFill>
                  <a:srgbClr val="1B1F3A"/>
                </a:solidFill>
                <a:latin typeface="Tahoma"/>
                <a:cs typeface="Tahoma"/>
              </a:rPr>
              <a:t>Series</a:t>
            </a:r>
            <a:r>
              <a:rPr dirty="0" sz="800" spc="-35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15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Same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length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as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the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DataFrame.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Each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value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is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True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or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False.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724" y="3990974"/>
            <a:ext cx="209549" cy="20954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23925" y="4006850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65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3000" y="3968750"/>
            <a:ext cx="344360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95" b="1">
                <a:solidFill>
                  <a:srgbClr val="1B1F3A"/>
                </a:solidFill>
                <a:latin typeface="Tahoma"/>
                <a:cs typeface="Tahoma"/>
              </a:rPr>
              <a:t>df[mask]</a:t>
            </a:r>
            <a:r>
              <a:rPr dirty="0" sz="800" spc="-3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85" b="1">
                <a:solidFill>
                  <a:srgbClr val="1B1F3A"/>
                </a:solidFill>
                <a:latin typeface="Tahoma"/>
                <a:cs typeface="Tahoma"/>
              </a:rPr>
              <a:t>returns</a:t>
            </a:r>
            <a:r>
              <a:rPr dirty="0" sz="800" spc="-25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1B1F3A"/>
                </a:solidFill>
                <a:latin typeface="Tahoma"/>
                <a:cs typeface="Tahoma"/>
              </a:rPr>
              <a:t>rows</a:t>
            </a:r>
            <a:r>
              <a:rPr dirty="0" sz="800" spc="-25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1B1F3A"/>
                </a:solidFill>
                <a:latin typeface="Tahoma"/>
                <a:cs typeface="Tahoma"/>
              </a:rPr>
              <a:t>where</a:t>
            </a:r>
            <a:r>
              <a:rPr dirty="0" sz="800" spc="-3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1B1F3A"/>
                </a:solidFill>
                <a:latin typeface="Tahoma"/>
                <a:cs typeface="Tahoma"/>
              </a:rPr>
              <a:t>True</a:t>
            </a:r>
            <a:r>
              <a:rPr dirty="0" sz="800" spc="-25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15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filtered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DataFrame.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Original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is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unchanged.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47724" y="4267199"/>
            <a:ext cx="4705350" cy="285750"/>
            <a:chOff x="847724" y="4267199"/>
            <a:chExt cx="4705350" cy="28575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724" y="4267199"/>
              <a:ext cx="209549" cy="20954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142987" y="4267199"/>
              <a:ext cx="4410075" cy="285750"/>
            </a:xfrm>
            <a:custGeom>
              <a:avLst/>
              <a:gdLst/>
              <a:ahLst/>
              <a:cxnLst/>
              <a:rect l="l" t="t" r="r" b="b"/>
              <a:pathLst>
                <a:path w="4410075" h="285750">
                  <a:moveTo>
                    <a:pt x="1647825" y="177190"/>
                  </a:moveTo>
                  <a:lnTo>
                    <a:pt x="1623047" y="152400"/>
                  </a:lnTo>
                  <a:lnTo>
                    <a:pt x="0" y="152400"/>
                  </a:lnTo>
                  <a:lnTo>
                    <a:pt x="0" y="285750"/>
                  </a:lnTo>
                  <a:lnTo>
                    <a:pt x="1623047" y="285750"/>
                  </a:lnTo>
                  <a:lnTo>
                    <a:pt x="1647825" y="260972"/>
                  </a:lnTo>
                  <a:lnTo>
                    <a:pt x="1647825" y="177190"/>
                  </a:lnTo>
                  <a:close/>
                </a:path>
                <a:path w="4410075" h="285750">
                  <a:moveTo>
                    <a:pt x="4410075" y="0"/>
                  </a:moveTo>
                  <a:lnTo>
                    <a:pt x="3139465" y="0"/>
                  </a:lnTo>
                  <a:lnTo>
                    <a:pt x="3135820" y="736"/>
                  </a:lnTo>
                  <a:lnTo>
                    <a:pt x="3114675" y="24790"/>
                  </a:lnTo>
                  <a:lnTo>
                    <a:pt x="3114675" y="108572"/>
                  </a:lnTo>
                  <a:lnTo>
                    <a:pt x="3139465" y="133350"/>
                  </a:lnTo>
                  <a:lnTo>
                    <a:pt x="4410075" y="133350"/>
                  </a:lnTo>
                  <a:lnTo>
                    <a:pt x="4410075" y="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923925" y="4283075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65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43000" y="4218304"/>
            <a:ext cx="44196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25000"/>
              </a:lnSpc>
              <a:spcBef>
                <a:spcPts val="95"/>
              </a:spcBef>
            </a:pPr>
            <a:r>
              <a:rPr dirty="0" sz="800" spc="-85" b="1">
                <a:solidFill>
                  <a:srgbClr val="1B1F3A"/>
                </a:solidFill>
                <a:latin typeface="Tahoma"/>
                <a:cs typeface="Tahoma"/>
              </a:rPr>
              <a:t>Combine</a:t>
            </a:r>
            <a:r>
              <a:rPr dirty="0" sz="800" spc="-5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100" b="1">
                <a:solidFill>
                  <a:srgbClr val="1B1F3A"/>
                </a:solidFill>
                <a:latin typeface="Tahoma"/>
                <a:cs typeface="Tahoma"/>
              </a:rPr>
              <a:t>masks</a:t>
            </a:r>
            <a:r>
              <a:rPr dirty="0" sz="800" spc="-5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1B1F3A"/>
                </a:solidFill>
                <a:latin typeface="Tahoma"/>
                <a:cs typeface="Tahoma"/>
              </a:rPr>
              <a:t>with</a:t>
            </a:r>
            <a:r>
              <a:rPr dirty="0" sz="800" spc="-50" b="1">
                <a:solidFill>
                  <a:srgbClr val="1B1F3A"/>
                </a:solidFill>
                <a:latin typeface="Tahoma"/>
                <a:cs typeface="Tahoma"/>
              </a:rPr>
              <a:t> &amp; </a:t>
            </a:r>
            <a:r>
              <a:rPr dirty="0" sz="800" spc="-90" b="1">
                <a:solidFill>
                  <a:srgbClr val="1B1F3A"/>
                </a:solidFill>
                <a:latin typeface="Tahoma"/>
                <a:cs typeface="Tahoma"/>
              </a:rPr>
              <a:t>(and),</a:t>
            </a:r>
            <a:r>
              <a:rPr dirty="0" sz="800" spc="-5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1B1F3A"/>
                </a:solidFill>
                <a:latin typeface="Tahoma"/>
                <a:cs typeface="Tahoma"/>
              </a:rPr>
              <a:t>|</a:t>
            </a:r>
            <a:r>
              <a:rPr dirty="0" sz="800" spc="-5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1B1F3A"/>
                </a:solidFill>
                <a:latin typeface="Tahoma"/>
                <a:cs typeface="Tahoma"/>
              </a:rPr>
              <a:t>(or),</a:t>
            </a:r>
            <a:r>
              <a:rPr dirty="0" sz="800" spc="-5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250" b="1">
                <a:solidFill>
                  <a:srgbClr val="1B1F3A"/>
                </a:solidFill>
                <a:latin typeface="Tahoma"/>
                <a:cs typeface="Tahoma"/>
              </a:rPr>
              <a:t>~</a:t>
            </a:r>
            <a:r>
              <a:rPr dirty="0" sz="800" spc="-5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1B1F3A"/>
                </a:solidFill>
                <a:latin typeface="Tahoma"/>
                <a:cs typeface="Tahoma"/>
              </a:rPr>
              <a:t>(not)</a:t>
            </a:r>
            <a:r>
              <a:rPr dirty="0" sz="800" spc="-45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00" spc="15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Wrap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each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in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parentheses:</a:t>
            </a:r>
            <a:r>
              <a:rPr dirty="0" sz="800" spc="3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df[(df["age"]</a:t>
            </a:r>
            <a:r>
              <a:rPr dirty="0" sz="750" spc="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&gt;</a:t>
            </a:r>
            <a:r>
              <a:rPr dirty="0" sz="750" spc="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20)</a:t>
            </a:r>
            <a:r>
              <a:rPr dirty="0" sz="750" spc="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 spc="-50">
                <a:solidFill>
                  <a:srgbClr val="293283"/>
                </a:solidFill>
                <a:latin typeface="Courier New"/>
                <a:cs typeface="Courier New"/>
              </a:rPr>
              <a:t>&amp;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(df["city"]</a:t>
            </a:r>
            <a:r>
              <a:rPr dirty="0" sz="750" spc="12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==</a:t>
            </a:r>
            <a:r>
              <a:rPr dirty="0" sz="750" spc="12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"Amritsar")]</a:t>
            </a:r>
            <a:r>
              <a:rPr dirty="0" sz="750" spc="1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095998" y="1485899"/>
            <a:ext cx="5410200" cy="4448175"/>
            <a:chOff x="6095998" y="1485899"/>
            <a:chExt cx="5410200" cy="4448175"/>
          </a:xfrm>
        </p:grpSpPr>
        <p:sp>
          <p:nvSpPr>
            <p:cNvPr id="27" name="object 27"/>
            <p:cNvSpPr/>
            <p:nvPr/>
          </p:nvSpPr>
          <p:spPr>
            <a:xfrm>
              <a:off x="6100761" y="1490662"/>
              <a:ext cx="5400675" cy="4438650"/>
            </a:xfrm>
            <a:custGeom>
              <a:avLst/>
              <a:gdLst/>
              <a:ahLst/>
              <a:cxnLst/>
              <a:rect l="l" t="t" r="r" b="b"/>
              <a:pathLst>
                <a:path w="5400675" h="4438650">
                  <a:moveTo>
                    <a:pt x="5298329" y="4438649"/>
                  </a:moveTo>
                  <a:lnTo>
                    <a:pt x="102345" y="4438649"/>
                  </a:lnTo>
                  <a:lnTo>
                    <a:pt x="95222" y="4437947"/>
                  </a:lnTo>
                  <a:lnTo>
                    <a:pt x="54661" y="4424184"/>
                  </a:lnTo>
                  <a:lnTo>
                    <a:pt x="22456" y="4395947"/>
                  </a:lnTo>
                  <a:lnTo>
                    <a:pt x="3507" y="4357534"/>
                  </a:lnTo>
                  <a:lnTo>
                    <a:pt x="0" y="4336304"/>
                  </a:lnTo>
                  <a:lnTo>
                    <a:pt x="0" y="4329112"/>
                  </a:lnTo>
                  <a:lnTo>
                    <a:pt x="0" y="102344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5298329" y="0"/>
                  </a:lnTo>
                  <a:lnTo>
                    <a:pt x="5339699" y="11090"/>
                  </a:lnTo>
                  <a:lnTo>
                    <a:pt x="5373677" y="37168"/>
                  </a:lnTo>
                  <a:lnTo>
                    <a:pt x="5395088" y="74263"/>
                  </a:lnTo>
                  <a:lnTo>
                    <a:pt x="5400673" y="102344"/>
                  </a:lnTo>
                  <a:lnTo>
                    <a:pt x="5400673" y="4336304"/>
                  </a:lnTo>
                  <a:lnTo>
                    <a:pt x="5389583" y="4377674"/>
                  </a:lnTo>
                  <a:lnTo>
                    <a:pt x="5363506" y="4411651"/>
                  </a:lnTo>
                  <a:lnTo>
                    <a:pt x="5326409" y="4433063"/>
                  </a:lnTo>
                  <a:lnTo>
                    <a:pt x="5305453" y="4437947"/>
                  </a:lnTo>
                  <a:lnTo>
                    <a:pt x="5298329" y="443864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100761" y="1490662"/>
              <a:ext cx="5400675" cy="4438650"/>
            </a:xfrm>
            <a:custGeom>
              <a:avLst/>
              <a:gdLst/>
              <a:ahLst/>
              <a:cxnLst/>
              <a:rect l="l" t="t" r="r" b="b"/>
              <a:pathLst>
                <a:path w="5400675" h="4438650">
                  <a:moveTo>
                    <a:pt x="0" y="43291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5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0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8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5291137" y="0"/>
                  </a:lnTo>
                  <a:lnTo>
                    <a:pt x="5298329" y="0"/>
                  </a:lnTo>
                  <a:lnTo>
                    <a:pt x="5305453" y="701"/>
                  </a:lnTo>
                  <a:lnTo>
                    <a:pt x="5312507" y="2104"/>
                  </a:lnTo>
                  <a:lnTo>
                    <a:pt x="5319561" y="3507"/>
                  </a:lnTo>
                  <a:lnTo>
                    <a:pt x="5351993" y="18460"/>
                  </a:lnTo>
                  <a:lnTo>
                    <a:pt x="5357973" y="22456"/>
                  </a:lnTo>
                  <a:lnTo>
                    <a:pt x="5363506" y="26996"/>
                  </a:lnTo>
                  <a:lnTo>
                    <a:pt x="5368592" y="32082"/>
                  </a:lnTo>
                  <a:lnTo>
                    <a:pt x="5373677" y="37168"/>
                  </a:lnTo>
                  <a:lnTo>
                    <a:pt x="5395088" y="74263"/>
                  </a:lnTo>
                  <a:lnTo>
                    <a:pt x="5398569" y="88167"/>
                  </a:lnTo>
                  <a:lnTo>
                    <a:pt x="5399972" y="95221"/>
                  </a:lnTo>
                  <a:lnTo>
                    <a:pt x="5400673" y="102345"/>
                  </a:lnTo>
                  <a:lnTo>
                    <a:pt x="5400675" y="109537"/>
                  </a:lnTo>
                  <a:lnTo>
                    <a:pt x="5400675" y="4329112"/>
                  </a:lnTo>
                  <a:lnTo>
                    <a:pt x="5400673" y="4336304"/>
                  </a:lnTo>
                  <a:lnTo>
                    <a:pt x="5399972" y="4343427"/>
                  </a:lnTo>
                  <a:lnTo>
                    <a:pt x="5398569" y="4350481"/>
                  </a:lnTo>
                  <a:lnTo>
                    <a:pt x="5397166" y="4357534"/>
                  </a:lnTo>
                  <a:lnTo>
                    <a:pt x="5378218" y="4395947"/>
                  </a:lnTo>
                  <a:lnTo>
                    <a:pt x="5368592" y="4406566"/>
                  </a:lnTo>
                  <a:lnTo>
                    <a:pt x="5363506" y="4411651"/>
                  </a:lnTo>
                  <a:lnTo>
                    <a:pt x="5333054" y="4430310"/>
                  </a:lnTo>
                  <a:lnTo>
                    <a:pt x="5326409" y="4433063"/>
                  </a:lnTo>
                  <a:lnTo>
                    <a:pt x="5319561" y="4435141"/>
                  </a:lnTo>
                  <a:lnTo>
                    <a:pt x="5312507" y="4436544"/>
                  </a:lnTo>
                  <a:lnTo>
                    <a:pt x="5305453" y="4437947"/>
                  </a:lnTo>
                  <a:lnTo>
                    <a:pt x="5298329" y="4438649"/>
                  </a:lnTo>
                  <a:lnTo>
                    <a:pt x="5291137" y="4438649"/>
                  </a:lnTo>
                  <a:lnTo>
                    <a:pt x="109538" y="4438649"/>
                  </a:lnTo>
                  <a:lnTo>
                    <a:pt x="102345" y="4438649"/>
                  </a:lnTo>
                  <a:lnTo>
                    <a:pt x="95222" y="4437947"/>
                  </a:lnTo>
                  <a:lnTo>
                    <a:pt x="88167" y="4436544"/>
                  </a:lnTo>
                  <a:lnTo>
                    <a:pt x="81113" y="4435141"/>
                  </a:lnTo>
                  <a:lnTo>
                    <a:pt x="74263" y="4433063"/>
                  </a:lnTo>
                  <a:lnTo>
                    <a:pt x="67619" y="4430310"/>
                  </a:lnTo>
                  <a:lnTo>
                    <a:pt x="60974" y="4427557"/>
                  </a:lnTo>
                  <a:lnTo>
                    <a:pt x="32082" y="4406566"/>
                  </a:lnTo>
                  <a:lnTo>
                    <a:pt x="26997" y="4401480"/>
                  </a:lnTo>
                  <a:lnTo>
                    <a:pt x="5585" y="4364384"/>
                  </a:lnTo>
                  <a:lnTo>
                    <a:pt x="2105" y="4350481"/>
                  </a:lnTo>
                  <a:lnTo>
                    <a:pt x="701" y="4343427"/>
                  </a:lnTo>
                  <a:lnTo>
                    <a:pt x="0" y="4336304"/>
                  </a:lnTo>
                  <a:lnTo>
                    <a:pt x="0" y="432911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105524" y="1495424"/>
              <a:ext cx="5391150" cy="276225"/>
            </a:xfrm>
            <a:custGeom>
              <a:avLst/>
              <a:gdLst/>
              <a:ahLst/>
              <a:cxnLst/>
              <a:rect l="l" t="t" r="r" b="b"/>
              <a:pathLst>
                <a:path w="5391150" h="276225">
                  <a:moveTo>
                    <a:pt x="5391149" y="276224"/>
                  </a:moveTo>
                  <a:lnTo>
                    <a:pt x="0" y="276224"/>
                  </a:lnTo>
                  <a:lnTo>
                    <a:pt x="0" y="104775"/>
                  </a:lnTo>
                  <a:lnTo>
                    <a:pt x="7975" y="64679"/>
                  </a:lnTo>
                  <a:lnTo>
                    <a:pt x="30687" y="30687"/>
                  </a:lnTo>
                  <a:lnTo>
                    <a:pt x="64678" y="7975"/>
                  </a:lnTo>
                  <a:lnTo>
                    <a:pt x="104775" y="0"/>
                  </a:lnTo>
                  <a:lnTo>
                    <a:pt x="5286375" y="0"/>
                  </a:lnTo>
                  <a:lnTo>
                    <a:pt x="5326469" y="7975"/>
                  </a:lnTo>
                  <a:lnTo>
                    <a:pt x="5360460" y="30687"/>
                  </a:lnTo>
                  <a:lnTo>
                    <a:pt x="5383172" y="64679"/>
                  </a:lnTo>
                  <a:lnTo>
                    <a:pt x="5391149" y="104775"/>
                  </a:lnTo>
                  <a:lnTo>
                    <a:pt x="5391149" y="276224"/>
                  </a:lnTo>
                  <a:close/>
                </a:path>
              </a:pathLst>
            </a:custGeom>
            <a:solidFill>
              <a:srgbClr val="1317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105524" y="1762124"/>
              <a:ext cx="5391150" cy="9525"/>
            </a:xfrm>
            <a:custGeom>
              <a:avLst/>
              <a:gdLst/>
              <a:ahLst/>
              <a:cxnLst/>
              <a:rect l="l" t="t" r="r" b="b"/>
              <a:pathLst>
                <a:path w="5391150" h="9525">
                  <a:moveTo>
                    <a:pt x="53911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391149" y="0"/>
                  </a:lnTo>
                  <a:lnTo>
                    <a:pt x="5391149" y="9524"/>
                  </a:lnTo>
                  <a:close/>
                </a:path>
              </a:pathLst>
            </a:custGeom>
            <a:solidFill>
              <a:srgbClr val="292E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38873" y="1581149"/>
              <a:ext cx="85725" cy="857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1748" y="1581149"/>
              <a:ext cx="85725" cy="857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24623" y="1581149"/>
              <a:ext cx="85725" cy="85724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6692900" y="1539875"/>
            <a:ext cx="10693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 b="1">
                <a:solidFill>
                  <a:srgbClr val="E7E9F5"/>
                </a:solidFill>
                <a:latin typeface="Courier New"/>
                <a:cs typeface="Courier New"/>
              </a:rPr>
              <a:t>filtering_demo.py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979000" y="1539875"/>
            <a:ext cx="39243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6A6F99"/>
                </a:solidFill>
                <a:latin typeface="Courier New"/>
                <a:cs typeface="Courier New"/>
              </a:rPr>
              <a:t>PYTHON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45224" y="1783714"/>
            <a:ext cx="2328545" cy="44450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95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950" spc="-7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E7E9F5"/>
                </a:solidFill>
                <a:latin typeface="Courier New"/>
                <a:cs typeface="Courier New"/>
              </a:rPr>
              <a:t>pandas</a:t>
            </a:r>
            <a:r>
              <a:rPr dirty="0" sz="950" spc="-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950" spc="-7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50" spc="-25">
                <a:solidFill>
                  <a:srgbClr val="E7E9F5"/>
                </a:solidFill>
                <a:latin typeface="Courier New"/>
                <a:cs typeface="Courier New"/>
              </a:rPr>
              <a:t>pd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95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950" spc="-3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50" spc="-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pd.</a:t>
            </a:r>
            <a:r>
              <a:rPr dirty="0" sz="950" spc="-10">
                <a:solidFill>
                  <a:srgbClr val="FFD580"/>
                </a:solidFill>
                <a:latin typeface="Courier New"/>
                <a:cs typeface="Courier New"/>
              </a:rPr>
              <a:t>read_csv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50" spc="-10">
                <a:solidFill>
                  <a:srgbClr val="B8E886"/>
                </a:solidFill>
                <a:latin typeface="Courier New"/>
                <a:cs typeface="Courier New"/>
              </a:rPr>
              <a:t>"students.csv"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45224" y="2402839"/>
            <a:ext cx="3478529" cy="88265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Step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1: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Create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mask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mask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is</a:t>
            </a:r>
            <a:r>
              <a:rPr dirty="0" sz="9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Series</a:t>
            </a:r>
            <a:r>
              <a:rPr dirty="0" sz="9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of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spc="-10" i="1">
                <a:solidFill>
                  <a:srgbClr val="8B8FB4"/>
                </a:solidFill>
                <a:latin typeface="Courier New"/>
                <a:cs typeface="Courier New"/>
              </a:rPr>
              <a:t>True/False,</a:t>
            </a:r>
            <a:r>
              <a:rPr dirty="0" sz="9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one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per</a:t>
            </a:r>
            <a:r>
              <a:rPr dirty="0" sz="95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spc="-20" i="1">
                <a:solidFill>
                  <a:srgbClr val="8B8FB4"/>
                </a:solidFill>
                <a:latin typeface="Courier New"/>
                <a:cs typeface="Courier New"/>
              </a:rPr>
              <a:t>row.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950">
                <a:solidFill>
                  <a:srgbClr val="87D4FF"/>
                </a:solidFill>
                <a:latin typeface="Courier New"/>
                <a:cs typeface="Courier New"/>
              </a:rPr>
              <a:t>mask</a:t>
            </a:r>
            <a:r>
              <a:rPr dirty="0" sz="950" spc="-6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50" spc="-6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95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95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sz="95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950" spc="-6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E7E9F5"/>
                </a:solidFill>
                <a:latin typeface="Courier New"/>
                <a:cs typeface="Courier New"/>
              </a:rPr>
              <a:t>&gt;</a:t>
            </a:r>
            <a:r>
              <a:rPr dirty="0" sz="950" spc="-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50" spc="-25">
                <a:solidFill>
                  <a:srgbClr val="FF8B7E"/>
                </a:solidFill>
                <a:latin typeface="Courier New"/>
                <a:cs typeface="Courier New"/>
              </a:rPr>
              <a:t>20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9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[False,</a:t>
            </a:r>
            <a:r>
              <a:rPr dirty="0" sz="9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True,</a:t>
            </a:r>
            <a:r>
              <a:rPr dirty="0" sz="9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True,</a:t>
            </a:r>
            <a:r>
              <a:rPr dirty="0" sz="9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True,</a:t>
            </a:r>
            <a:r>
              <a:rPr dirty="0" sz="9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False,</a:t>
            </a:r>
            <a:r>
              <a:rPr dirty="0" sz="9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spc="-20" i="1">
                <a:solidFill>
                  <a:srgbClr val="8B8FB4"/>
                </a:solidFill>
                <a:latin typeface="Courier New"/>
                <a:cs typeface="Courier New"/>
              </a:rPr>
              <a:t>...]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45224" y="3469639"/>
            <a:ext cx="3262629" cy="65405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5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Step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2: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Use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mask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to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select</a:t>
            </a:r>
            <a:r>
              <a:rPr dirty="0" sz="95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rows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950">
                <a:solidFill>
                  <a:srgbClr val="87D4FF"/>
                </a:solidFill>
                <a:latin typeface="Courier New"/>
                <a:cs typeface="Courier New"/>
              </a:rPr>
              <a:t>older</a:t>
            </a:r>
            <a:r>
              <a:rPr dirty="0" sz="950" spc="-5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50" spc="-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950" spc="-10">
                <a:solidFill>
                  <a:srgbClr val="87D4FF"/>
                </a:solidFill>
                <a:latin typeface="Courier New"/>
                <a:cs typeface="Courier New"/>
              </a:rPr>
              <a:t>mask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only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rows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where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mask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is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spc="-20" i="1">
                <a:solidFill>
                  <a:srgbClr val="8B8FB4"/>
                </a:solidFill>
                <a:latin typeface="Courier New"/>
                <a:cs typeface="Courier New"/>
              </a:rPr>
              <a:t>True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45224" y="4307839"/>
            <a:ext cx="3046730" cy="44450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Or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as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spc="-20" i="1">
                <a:solidFill>
                  <a:srgbClr val="8B8FB4"/>
                </a:solidFill>
                <a:latin typeface="Courier New"/>
                <a:cs typeface="Courier New"/>
              </a:rPr>
              <a:t>one-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liner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(common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in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real</a:t>
            </a:r>
            <a:r>
              <a:rPr dirty="0" sz="9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spc="-10" i="1">
                <a:solidFill>
                  <a:srgbClr val="8B8FB4"/>
                </a:solidFill>
                <a:latin typeface="Courier New"/>
                <a:cs typeface="Courier New"/>
              </a:rPr>
              <a:t>code):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950">
                <a:solidFill>
                  <a:srgbClr val="87D4FF"/>
                </a:solidFill>
                <a:latin typeface="Courier New"/>
                <a:cs typeface="Courier New"/>
              </a:rPr>
              <a:t>older</a:t>
            </a:r>
            <a:r>
              <a:rPr dirty="0" sz="950" spc="-45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50" spc="-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95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950" spc="-1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sz="950" spc="-1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950" spc="-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E7E9F5"/>
                </a:solidFill>
                <a:latin typeface="Courier New"/>
                <a:cs typeface="Courier New"/>
              </a:rPr>
              <a:t>&gt;</a:t>
            </a:r>
            <a:r>
              <a:rPr dirty="0" sz="950" spc="-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50" spc="-25">
                <a:solidFill>
                  <a:srgbClr val="FF8B7E"/>
                </a:solidFill>
                <a:latin typeface="Courier New"/>
                <a:cs typeface="Courier New"/>
              </a:rPr>
              <a:t>20</a:t>
            </a:r>
            <a:r>
              <a:rPr dirty="0" sz="950" spc="-25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45224" y="4946014"/>
            <a:ext cx="3190875" cy="65405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5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original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df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is</a:t>
            </a:r>
            <a:r>
              <a:rPr dirty="0" sz="9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spc="-10" i="1">
                <a:solidFill>
                  <a:srgbClr val="8B8FB4"/>
                </a:solidFill>
                <a:latin typeface="Courier New"/>
                <a:cs typeface="Courier New"/>
              </a:rPr>
              <a:t>UNCHANGED.</a:t>
            </a:r>
            <a:endParaRPr sz="950">
              <a:latin typeface="Courier New"/>
              <a:cs typeface="Courier New"/>
            </a:endParaRPr>
          </a:p>
          <a:p>
            <a:pPr marL="12700" marR="5080">
              <a:lnSpc>
                <a:spcPct val="144700"/>
              </a:lnSpc>
            </a:pP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5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df[mask]</a:t>
            </a:r>
            <a:r>
              <a:rPr dirty="0" sz="9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returns</a:t>
            </a:r>
            <a:r>
              <a:rPr dirty="0" sz="9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95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new</a:t>
            </a:r>
            <a:r>
              <a:rPr dirty="0" sz="9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filtered</a:t>
            </a:r>
            <a:r>
              <a:rPr dirty="0" sz="9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spc="-10" i="1">
                <a:solidFill>
                  <a:srgbClr val="8B8FB4"/>
                </a:solidFill>
                <a:latin typeface="Courier New"/>
                <a:cs typeface="Courier New"/>
              </a:rPr>
              <a:t>DataFrame.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5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Next</a:t>
            </a:r>
            <a:r>
              <a:rPr dirty="0" sz="95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slide:</a:t>
            </a:r>
            <a:r>
              <a:rPr dirty="0" sz="95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combining</a:t>
            </a:r>
            <a:r>
              <a:rPr dirty="0" sz="95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i="1">
                <a:solidFill>
                  <a:srgbClr val="8B8FB4"/>
                </a:solidFill>
                <a:latin typeface="Courier New"/>
                <a:cs typeface="Courier New"/>
              </a:rPr>
              <a:t>multiple</a:t>
            </a:r>
            <a:r>
              <a:rPr dirty="0" sz="95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50" spc="-10" i="1">
                <a:solidFill>
                  <a:srgbClr val="8B8FB4"/>
                </a:solidFill>
                <a:latin typeface="Courier New"/>
                <a:cs typeface="Courier New"/>
              </a:rPr>
              <a:t>conditions.</a:t>
            </a:r>
            <a:endParaRPr sz="950">
              <a:latin typeface="Courier New"/>
              <a:cs typeface="Courier New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85799" y="6010274"/>
            <a:ext cx="10820400" cy="314325"/>
            <a:chOff x="685799" y="6010274"/>
            <a:chExt cx="10820400" cy="314325"/>
          </a:xfrm>
        </p:grpSpPr>
        <p:sp>
          <p:nvSpPr>
            <p:cNvPr id="42" name="object 42"/>
            <p:cNvSpPr/>
            <p:nvPr/>
          </p:nvSpPr>
          <p:spPr>
            <a:xfrm>
              <a:off x="690562" y="6015037"/>
              <a:ext cx="10810875" cy="304800"/>
            </a:xfrm>
            <a:custGeom>
              <a:avLst/>
              <a:gdLst/>
              <a:ahLst/>
              <a:cxnLst/>
              <a:rect l="l" t="t" r="r" b="b"/>
              <a:pathLst>
                <a:path w="10810875" h="304800">
                  <a:moveTo>
                    <a:pt x="10726327" y="304799"/>
                  </a:moveTo>
                  <a:lnTo>
                    <a:pt x="84545" y="304799"/>
                  </a:lnTo>
                  <a:lnTo>
                    <a:pt x="78661" y="304219"/>
                  </a:lnTo>
                  <a:lnTo>
                    <a:pt x="35275" y="286247"/>
                  </a:lnTo>
                  <a:lnTo>
                    <a:pt x="9161" y="254428"/>
                  </a:lnTo>
                  <a:lnTo>
                    <a:pt x="0" y="220253"/>
                  </a:lnTo>
                  <a:lnTo>
                    <a:pt x="0" y="21431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8"/>
                  </a:lnTo>
                  <a:lnTo>
                    <a:pt x="10798924" y="45154"/>
                  </a:lnTo>
                  <a:lnTo>
                    <a:pt x="10810872" y="84545"/>
                  </a:lnTo>
                  <a:lnTo>
                    <a:pt x="10810872" y="220253"/>
                  </a:lnTo>
                  <a:lnTo>
                    <a:pt x="10798924" y="259643"/>
                  </a:lnTo>
                  <a:lnTo>
                    <a:pt x="10765717" y="292850"/>
                  </a:lnTo>
                  <a:lnTo>
                    <a:pt x="10732211" y="304219"/>
                  </a:lnTo>
                  <a:lnTo>
                    <a:pt x="10726327" y="3047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90562" y="6015037"/>
              <a:ext cx="10810875" cy="304800"/>
            </a:xfrm>
            <a:custGeom>
              <a:avLst/>
              <a:gdLst/>
              <a:ahLst/>
              <a:cxnLst/>
              <a:rect l="l" t="t" r="r" b="b"/>
              <a:pathLst>
                <a:path w="10810875" h="304800">
                  <a:moveTo>
                    <a:pt x="0" y="2143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0"/>
                  </a:lnTo>
                  <a:lnTo>
                    <a:pt x="1738" y="72833"/>
                  </a:lnTo>
                  <a:lnTo>
                    <a:pt x="2897" y="67005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72834" y="173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26327" y="0"/>
                  </a:lnTo>
                  <a:lnTo>
                    <a:pt x="10732211" y="579"/>
                  </a:lnTo>
                  <a:lnTo>
                    <a:pt x="10770657" y="15249"/>
                  </a:lnTo>
                  <a:lnTo>
                    <a:pt x="10795623" y="40215"/>
                  </a:lnTo>
                  <a:lnTo>
                    <a:pt x="10798924" y="45154"/>
                  </a:lnTo>
                  <a:lnTo>
                    <a:pt x="10801711" y="50369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07975" y="67005"/>
                  </a:lnTo>
                  <a:lnTo>
                    <a:pt x="10809134" y="72833"/>
                  </a:lnTo>
                  <a:lnTo>
                    <a:pt x="10810293" y="78660"/>
                  </a:lnTo>
                  <a:lnTo>
                    <a:pt x="10810872" y="84545"/>
                  </a:lnTo>
                  <a:lnTo>
                    <a:pt x="10810874" y="90487"/>
                  </a:lnTo>
                  <a:lnTo>
                    <a:pt x="10810874" y="214312"/>
                  </a:lnTo>
                  <a:lnTo>
                    <a:pt x="10810872" y="220253"/>
                  </a:lnTo>
                  <a:lnTo>
                    <a:pt x="10810293" y="226137"/>
                  </a:lnTo>
                  <a:lnTo>
                    <a:pt x="10809134" y="231965"/>
                  </a:lnTo>
                  <a:lnTo>
                    <a:pt x="10807975" y="237792"/>
                  </a:lnTo>
                  <a:lnTo>
                    <a:pt x="10788572" y="274094"/>
                  </a:lnTo>
                  <a:lnTo>
                    <a:pt x="10755013" y="297911"/>
                  </a:lnTo>
                  <a:lnTo>
                    <a:pt x="10749524" y="300185"/>
                  </a:lnTo>
                  <a:lnTo>
                    <a:pt x="10720386" y="304799"/>
                  </a:lnTo>
                  <a:lnTo>
                    <a:pt x="90487" y="304799"/>
                  </a:lnTo>
                  <a:lnTo>
                    <a:pt x="55859" y="297911"/>
                  </a:lnTo>
                  <a:lnTo>
                    <a:pt x="50370" y="295637"/>
                  </a:lnTo>
                  <a:lnTo>
                    <a:pt x="18550" y="269523"/>
                  </a:lnTo>
                  <a:lnTo>
                    <a:pt x="1738" y="231965"/>
                  </a:lnTo>
                  <a:lnTo>
                    <a:pt x="0" y="220253"/>
                  </a:lnTo>
                  <a:lnTo>
                    <a:pt x="0" y="214312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815975" y="6088062"/>
            <a:ext cx="49974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K</a:t>
            </a:r>
            <a:r>
              <a:rPr dirty="0" sz="75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75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sz="750" spc="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65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75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75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75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75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057773" y="6095999"/>
            <a:ext cx="571500" cy="133350"/>
          </a:xfrm>
          <a:custGeom>
            <a:avLst/>
            <a:gdLst/>
            <a:ahLst/>
            <a:cxnLst/>
            <a:rect l="l" t="t" r="r" b="b"/>
            <a:pathLst>
              <a:path w="571500" h="133350">
                <a:moveTo>
                  <a:pt x="546714" y="133349"/>
                </a:moveTo>
                <a:lnTo>
                  <a:pt x="24785" y="133349"/>
                </a:lnTo>
                <a:lnTo>
                  <a:pt x="21140" y="132624"/>
                </a:lnTo>
                <a:lnTo>
                  <a:pt x="0" y="108563"/>
                </a:lnTo>
                <a:lnTo>
                  <a:pt x="0" y="104774"/>
                </a:lnTo>
                <a:lnTo>
                  <a:pt x="0" y="24785"/>
                </a:lnTo>
                <a:lnTo>
                  <a:pt x="24785" y="0"/>
                </a:lnTo>
                <a:lnTo>
                  <a:pt x="546714" y="0"/>
                </a:lnTo>
                <a:lnTo>
                  <a:pt x="571499" y="24785"/>
                </a:lnTo>
                <a:lnTo>
                  <a:pt x="571499" y="108563"/>
                </a:lnTo>
                <a:lnTo>
                  <a:pt x="550359" y="132624"/>
                </a:lnTo>
                <a:lnTo>
                  <a:pt x="546714" y="133349"/>
                </a:lnTo>
                <a:close/>
              </a:path>
            </a:pathLst>
          </a:custGeom>
          <a:solidFill>
            <a:srgbClr val="FF6A5B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418282" y="6073774"/>
            <a:ext cx="833628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Every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filter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is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two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steps: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85" b="1">
                <a:solidFill>
                  <a:srgbClr val="FF6A5B"/>
                </a:solidFill>
                <a:latin typeface="Tahoma"/>
                <a:cs typeface="Tahoma"/>
              </a:rPr>
              <a:t>create</a:t>
            </a:r>
            <a:r>
              <a:rPr dirty="0" sz="800" spc="-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80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00" b="1">
                <a:solidFill>
                  <a:srgbClr val="FF6A5B"/>
                </a:solidFill>
                <a:latin typeface="Tahoma"/>
                <a:cs typeface="Tahoma"/>
              </a:rPr>
              <a:t>mask</a:t>
            </a:r>
            <a:r>
              <a:rPr dirty="0" sz="80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(a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65">
                <a:solidFill>
                  <a:srgbClr val="4A4E6A"/>
                </a:solidFill>
                <a:latin typeface="Trebuchet MS"/>
                <a:cs typeface="Trebuchet MS"/>
              </a:rPr>
              <a:t>True/False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Series),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then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90" b="1">
                <a:solidFill>
                  <a:srgbClr val="FF6A5B"/>
                </a:solidFill>
                <a:latin typeface="Tahoma"/>
                <a:cs typeface="Tahoma"/>
              </a:rPr>
              <a:t>use</a:t>
            </a:r>
            <a:r>
              <a:rPr dirty="0" sz="80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FF6A5B"/>
                </a:solidFill>
                <a:latin typeface="Tahoma"/>
                <a:cs typeface="Tahoma"/>
              </a:rPr>
              <a:t>it</a:t>
            </a:r>
            <a:r>
              <a:rPr dirty="0" sz="800" spc="-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70" b="1">
                <a:solidFill>
                  <a:srgbClr val="FF6A5B"/>
                </a:solidFill>
                <a:latin typeface="Tahoma"/>
                <a:cs typeface="Tahoma"/>
              </a:rPr>
              <a:t>to</a:t>
            </a:r>
            <a:r>
              <a:rPr dirty="0" sz="80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FF6A5B"/>
                </a:solidFill>
                <a:latin typeface="Tahoma"/>
                <a:cs typeface="Tahoma"/>
              </a:rPr>
              <a:t>select</a:t>
            </a:r>
            <a:r>
              <a:rPr dirty="0" sz="800" spc="-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FF6A5B"/>
                </a:solidFill>
                <a:latin typeface="Tahoma"/>
                <a:cs typeface="Tahoma"/>
              </a:rPr>
              <a:t>rows</a:t>
            </a:r>
            <a:r>
              <a:rPr dirty="0" sz="800" spc="-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(</a:t>
            </a:r>
            <a:r>
              <a:rPr dirty="0" sz="800" spc="1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df[mask]</a:t>
            </a:r>
            <a:r>
              <a:rPr dirty="0" sz="750" spc="-1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85">
                <a:solidFill>
                  <a:srgbClr val="4A4E6A"/>
                </a:solidFill>
                <a:latin typeface="Trebuchet MS"/>
                <a:cs typeface="Trebuchet MS"/>
              </a:rPr>
              <a:t>).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Master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this 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pattern,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every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filter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becomes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obvious.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Next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slide: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combining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multiple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conditions.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0</a:t>
            </a:r>
            <a:r>
              <a:rPr dirty="0" spc="-110"/>
              <a:t> </a:t>
            </a:r>
            <a:fld id="{81D60167-4931-47E6-BA6A-407CBD079E47}" type="slidenum">
              <a:rPr dirty="0"/>
              <a:t>7</a:t>
            </a:fld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1948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FF6A5B"/>
                </a:solidFill>
                <a:latin typeface="Tahoma"/>
                <a:cs typeface="Tahoma"/>
              </a:rPr>
              <a:t>LT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,</a:t>
            </a:r>
            <a:r>
              <a:rPr dirty="0" sz="900" spc="2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45" b="1">
                <a:solidFill>
                  <a:srgbClr val="FF6A5B"/>
                </a:solidFill>
                <a:latin typeface="Tahoma"/>
                <a:cs typeface="Tahoma"/>
              </a:rPr>
              <a:t>PA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2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99947" y="530225"/>
            <a:ext cx="19989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6</a:t>
            </a:r>
            <a:r>
              <a:rPr dirty="0" sz="900" spc="14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2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797E94"/>
                </a:solidFill>
                <a:latin typeface="Tahoma"/>
                <a:cs typeface="Tahoma"/>
              </a:rPr>
              <a:t>K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G</a:t>
            </a:r>
            <a:r>
              <a:rPr dirty="0" sz="9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900" spc="2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ATA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270">
                <a:solidFill>
                  <a:srgbClr val="293283"/>
                </a:solidFill>
              </a:rPr>
              <a:t>Combining</a:t>
            </a:r>
            <a:r>
              <a:rPr dirty="0" sz="2250" spc="-185">
                <a:solidFill>
                  <a:srgbClr val="293283"/>
                </a:solidFill>
              </a:rPr>
              <a:t> </a:t>
            </a:r>
            <a:r>
              <a:rPr dirty="0" sz="2250" spc="-240">
                <a:solidFill>
                  <a:srgbClr val="293283"/>
                </a:solidFill>
              </a:rPr>
              <a:t>conditions:</a:t>
            </a:r>
            <a:r>
              <a:rPr dirty="0" sz="2250" spc="-180">
                <a:solidFill>
                  <a:srgbClr val="293283"/>
                </a:solidFill>
              </a:rPr>
              <a:t> </a:t>
            </a:r>
            <a:r>
              <a:rPr dirty="0" sz="2250" spc="-254"/>
              <a:t>AND,</a:t>
            </a:r>
            <a:r>
              <a:rPr dirty="0" sz="2250" spc="-185"/>
              <a:t> </a:t>
            </a:r>
            <a:r>
              <a:rPr dirty="0" sz="2250" spc="-270"/>
              <a:t>OR,</a:t>
            </a:r>
            <a:r>
              <a:rPr dirty="0" sz="2250" spc="-180"/>
              <a:t> </a:t>
            </a:r>
            <a:r>
              <a:rPr dirty="0" sz="2250" spc="-250"/>
              <a:t>contains,</a:t>
            </a:r>
            <a:r>
              <a:rPr dirty="0" sz="2250" spc="-185"/>
              <a:t> </a:t>
            </a:r>
            <a:r>
              <a:rPr dirty="0" sz="2250" spc="-140"/>
              <a:t>isin</a:t>
            </a:r>
            <a:r>
              <a:rPr dirty="0" sz="2250" spc="-140">
                <a:solidFill>
                  <a:srgbClr val="293283"/>
                </a:solidFill>
              </a:rPr>
              <a:t>.</a:t>
            </a:r>
            <a:endParaRPr sz="2250"/>
          </a:p>
        </p:txBody>
      </p:sp>
      <p:sp>
        <p:nvSpPr>
          <p:cNvPr id="5" name="object 5"/>
          <p:cNvSpPr txBox="1"/>
          <p:nvPr/>
        </p:nvSpPr>
        <p:spPr>
          <a:xfrm>
            <a:off x="673099" y="1206500"/>
            <a:ext cx="655637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One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condition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is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5">
                <a:solidFill>
                  <a:srgbClr val="4A4E6A"/>
                </a:solidFill>
                <a:latin typeface="Trebuchet MS"/>
                <a:cs typeface="Trebuchet MS"/>
              </a:rPr>
              <a:t>rarely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enough.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5">
                <a:solidFill>
                  <a:srgbClr val="4A4E6A"/>
                </a:solidFill>
                <a:latin typeface="Trebuchet MS"/>
                <a:cs typeface="Trebuchet MS"/>
              </a:rPr>
              <a:t>Real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5">
                <a:solidFill>
                  <a:srgbClr val="4A4E6A"/>
                </a:solidFill>
                <a:latin typeface="Trebuchet MS"/>
                <a:cs typeface="Trebuchet MS"/>
              </a:rPr>
              <a:t>filters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5">
                <a:solidFill>
                  <a:srgbClr val="4A4E6A"/>
                </a:solidFill>
                <a:latin typeface="Trebuchet MS"/>
                <a:cs typeface="Trebuchet MS"/>
              </a:rPr>
              <a:t>combine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4A4E6A"/>
                </a:solidFill>
                <a:latin typeface="Trebuchet MS"/>
                <a:cs typeface="Trebuchet MS"/>
              </a:rPr>
              <a:t>multiple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0">
                <a:solidFill>
                  <a:srgbClr val="4A4E6A"/>
                </a:solidFill>
                <a:latin typeface="Trebuchet MS"/>
                <a:cs typeface="Trebuchet MS"/>
              </a:rPr>
              <a:t>conditions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170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and pandas </a:t>
            </a:r>
            <a:r>
              <a:rPr dirty="0" sz="1050" spc="-45">
                <a:solidFill>
                  <a:srgbClr val="4A4E6A"/>
                </a:solidFill>
                <a:latin typeface="Trebuchet MS"/>
                <a:cs typeface="Trebuchet MS"/>
              </a:rPr>
              <a:t>has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5">
                <a:solidFill>
                  <a:srgbClr val="4A4E6A"/>
                </a:solidFill>
                <a:latin typeface="Trebuchet MS"/>
                <a:cs typeface="Trebuchet MS"/>
              </a:rPr>
              <a:t>specific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4A4E6A"/>
                </a:solidFill>
                <a:latin typeface="Trebuchet MS"/>
                <a:cs typeface="Trebuchet MS"/>
              </a:rPr>
              <a:t>syntax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65">
                <a:solidFill>
                  <a:srgbClr val="4A4E6A"/>
                </a:solidFill>
                <a:latin typeface="Trebuchet MS"/>
                <a:cs typeface="Trebuchet MS"/>
              </a:rPr>
              <a:t>for</a:t>
            </a:r>
            <a:r>
              <a:rPr dirty="0" sz="10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4A4E6A"/>
                </a:solidFill>
                <a:latin typeface="Trebuchet MS"/>
                <a:cs typeface="Trebuchet MS"/>
              </a:rPr>
              <a:t>each</a:t>
            </a:r>
            <a:r>
              <a:rPr dirty="0" sz="10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050" spc="-10">
                <a:solidFill>
                  <a:srgbClr val="4A4E6A"/>
                </a:solidFill>
                <a:latin typeface="Trebuchet MS"/>
                <a:cs typeface="Trebuchet MS"/>
              </a:rPr>
              <a:t>pattern.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799" y="1523999"/>
            <a:ext cx="6105525" cy="4181475"/>
            <a:chOff x="685799" y="1523999"/>
            <a:chExt cx="6105525" cy="4181475"/>
          </a:xfrm>
        </p:grpSpPr>
        <p:sp>
          <p:nvSpPr>
            <p:cNvPr id="7" name="object 7"/>
            <p:cNvSpPr/>
            <p:nvPr/>
          </p:nvSpPr>
          <p:spPr>
            <a:xfrm>
              <a:off x="690562" y="1528762"/>
              <a:ext cx="6096000" cy="4171950"/>
            </a:xfrm>
            <a:custGeom>
              <a:avLst/>
              <a:gdLst/>
              <a:ahLst/>
              <a:cxnLst/>
              <a:rect l="l" t="t" r="r" b="b"/>
              <a:pathLst>
                <a:path w="6096000" h="4171950">
                  <a:moveTo>
                    <a:pt x="5993654" y="4171949"/>
                  </a:moveTo>
                  <a:lnTo>
                    <a:pt x="102345" y="4171949"/>
                  </a:lnTo>
                  <a:lnTo>
                    <a:pt x="95221" y="4171247"/>
                  </a:lnTo>
                  <a:lnTo>
                    <a:pt x="54661" y="4157483"/>
                  </a:lnTo>
                  <a:lnTo>
                    <a:pt x="22456" y="4129247"/>
                  </a:lnTo>
                  <a:lnTo>
                    <a:pt x="3507" y="4090834"/>
                  </a:lnTo>
                  <a:lnTo>
                    <a:pt x="0" y="4069604"/>
                  </a:lnTo>
                  <a:lnTo>
                    <a:pt x="0" y="40624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5993654" y="0"/>
                  </a:lnTo>
                  <a:lnTo>
                    <a:pt x="6035024" y="11090"/>
                  </a:lnTo>
                  <a:lnTo>
                    <a:pt x="6069002" y="37168"/>
                  </a:lnTo>
                  <a:lnTo>
                    <a:pt x="6090413" y="74264"/>
                  </a:lnTo>
                  <a:lnTo>
                    <a:pt x="6095998" y="102345"/>
                  </a:lnTo>
                  <a:lnTo>
                    <a:pt x="6095998" y="4069604"/>
                  </a:lnTo>
                  <a:lnTo>
                    <a:pt x="6084908" y="4110974"/>
                  </a:lnTo>
                  <a:lnTo>
                    <a:pt x="6058830" y="4144951"/>
                  </a:lnTo>
                  <a:lnTo>
                    <a:pt x="6021734" y="4166363"/>
                  </a:lnTo>
                  <a:lnTo>
                    <a:pt x="6000776" y="4171247"/>
                  </a:lnTo>
                  <a:lnTo>
                    <a:pt x="5993654" y="417194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90562" y="1528762"/>
              <a:ext cx="6096000" cy="4171950"/>
            </a:xfrm>
            <a:custGeom>
              <a:avLst/>
              <a:gdLst/>
              <a:ahLst/>
              <a:cxnLst/>
              <a:rect l="l" t="t" r="r" b="b"/>
              <a:pathLst>
                <a:path w="6096000" h="4171950">
                  <a:moveTo>
                    <a:pt x="0" y="40624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4"/>
                  </a:lnTo>
                  <a:lnTo>
                    <a:pt x="8338" y="67619"/>
                  </a:lnTo>
                  <a:lnTo>
                    <a:pt x="11090" y="60974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5986462" y="0"/>
                  </a:lnTo>
                  <a:lnTo>
                    <a:pt x="5993654" y="0"/>
                  </a:lnTo>
                  <a:lnTo>
                    <a:pt x="6000776" y="701"/>
                  </a:lnTo>
                  <a:lnTo>
                    <a:pt x="6007831" y="2104"/>
                  </a:lnTo>
                  <a:lnTo>
                    <a:pt x="6014885" y="3507"/>
                  </a:lnTo>
                  <a:lnTo>
                    <a:pt x="6021734" y="5585"/>
                  </a:lnTo>
                  <a:lnTo>
                    <a:pt x="6028379" y="8337"/>
                  </a:lnTo>
                  <a:lnTo>
                    <a:pt x="6035024" y="11090"/>
                  </a:lnTo>
                  <a:lnTo>
                    <a:pt x="6041337" y="14464"/>
                  </a:lnTo>
                  <a:lnTo>
                    <a:pt x="6047317" y="18460"/>
                  </a:lnTo>
                  <a:lnTo>
                    <a:pt x="6053298" y="22456"/>
                  </a:lnTo>
                  <a:lnTo>
                    <a:pt x="6058830" y="26996"/>
                  </a:lnTo>
                  <a:lnTo>
                    <a:pt x="6063916" y="32082"/>
                  </a:lnTo>
                  <a:lnTo>
                    <a:pt x="6069002" y="37168"/>
                  </a:lnTo>
                  <a:lnTo>
                    <a:pt x="6087661" y="67619"/>
                  </a:lnTo>
                  <a:lnTo>
                    <a:pt x="6090413" y="74264"/>
                  </a:lnTo>
                  <a:lnTo>
                    <a:pt x="6092490" y="81113"/>
                  </a:lnTo>
                  <a:lnTo>
                    <a:pt x="6093893" y="88167"/>
                  </a:lnTo>
                  <a:lnTo>
                    <a:pt x="6095297" y="95221"/>
                  </a:lnTo>
                  <a:lnTo>
                    <a:pt x="6095998" y="102345"/>
                  </a:lnTo>
                  <a:lnTo>
                    <a:pt x="6095999" y="109537"/>
                  </a:lnTo>
                  <a:lnTo>
                    <a:pt x="6095999" y="4062412"/>
                  </a:lnTo>
                  <a:lnTo>
                    <a:pt x="6095998" y="4069604"/>
                  </a:lnTo>
                  <a:lnTo>
                    <a:pt x="6095297" y="4076727"/>
                  </a:lnTo>
                  <a:lnTo>
                    <a:pt x="6093893" y="4083781"/>
                  </a:lnTo>
                  <a:lnTo>
                    <a:pt x="6092490" y="4090834"/>
                  </a:lnTo>
                  <a:lnTo>
                    <a:pt x="6090413" y="4097684"/>
                  </a:lnTo>
                  <a:lnTo>
                    <a:pt x="6087661" y="4104329"/>
                  </a:lnTo>
                  <a:lnTo>
                    <a:pt x="6084908" y="4110974"/>
                  </a:lnTo>
                  <a:lnTo>
                    <a:pt x="6081534" y="4117286"/>
                  </a:lnTo>
                  <a:lnTo>
                    <a:pt x="6077538" y="4123266"/>
                  </a:lnTo>
                  <a:lnTo>
                    <a:pt x="6073542" y="4129247"/>
                  </a:lnTo>
                  <a:lnTo>
                    <a:pt x="6041337" y="4157483"/>
                  </a:lnTo>
                  <a:lnTo>
                    <a:pt x="6028379" y="4163610"/>
                  </a:lnTo>
                  <a:lnTo>
                    <a:pt x="6021734" y="4166363"/>
                  </a:lnTo>
                  <a:lnTo>
                    <a:pt x="6014885" y="4168441"/>
                  </a:lnTo>
                  <a:lnTo>
                    <a:pt x="6007831" y="4169844"/>
                  </a:lnTo>
                  <a:lnTo>
                    <a:pt x="6000776" y="4171247"/>
                  </a:lnTo>
                  <a:lnTo>
                    <a:pt x="5993654" y="4171949"/>
                  </a:lnTo>
                  <a:lnTo>
                    <a:pt x="5986462" y="4171949"/>
                  </a:lnTo>
                  <a:lnTo>
                    <a:pt x="109537" y="4171949"/>
                  </a:lnTo>
                  <a:lnTo>
                    <a:pt x="102345" y="4171949"/>
                  </a:lnTo>
                  <a:lnTo>
                    <a:pt x="95221" y="4171247"/>
                  </a:lnTo>
                  <a:lnTo>
                    <a:pt x="88167" y="4169844"/>
                  </a:lnTo>
                  <a:lnTo>
                    <a:pt x="81113" y="4168441"/>
                  </a:lnTo>
                  <a:lnTo>
                    <a:pt x="74264" y="4166363"/>
                  </a:lnTo>
                  <a:lnTo>
                    <a:pt x="67619" y="4163610"/>
                  </a:lnTo>
                  <a:lnTo>
                    <a:pt x="60974" y="4160857"/>
                  </a:lnTo>
                  <a:lnTo>
                    <a:pt x="26997" y="4134780"/>
                  </a:lnTo>
                  <a:lnTo>
                    <a:pt x="8338" y="4104329"/>
                  </a:lnTo>
                  <a:lnTo>
                    <a:pt x="5585" y="4097684"/>
                  </a:lnTo>
                  <a:lnTo>
                    <a:pt x="3507" y="4090834"/>
                  </a:lnTo>
                  <a:lnTo>
                    <a:pt x="2104" y="4083781"/>
                  </a:lnTo>
                  <a:lnTo>
                    <a:pt x="701" y="4076727"/>
                  </a:lnTo>
                  <a:lnTo>
                    <a:pt x="0" y="4069604"/>
                  </a:lnTo>
                  <a:lnTo>
                    <a:pt x="0" y="406241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95324" y="1533524"/>
              <a:ext cx="6086475" cy="295275"/>
            </a:xfrm>
            <a:custGeom>
              <a:avLst/>
              <a:gdLst/>
              <a:ahLst/>
              <a:cxnLst/>
              <a:rect l="l" t="t" r="r" b="b"/>
              <a:pathLst>
                <a:path w="6086475" h="295275">
                  <a:moveTo>
                    <a:pt x="6086474" y="295274"/>
                  </a:moveTo>
                  <a:lnTo>
                    <a:pt x="0" y="295274"/>
                  </a:lnTo>
                  <a:lnTo>
                    <a:pt x="0" y="104775"/>
                  </a:lnTo>
                  <a:lnTo>
                    <a:pt x="7975" y="64679"/>
                  </a:lnTo>
                  <a:lnTo>
                    <a:pt x="30687" y="30687"/>
                  </a:lnTo>
                  <a:lnTo>
                    <a:pt x="64679" y="7975"/>
                  </a:lnTo>
                  <a:lnTo>
                    <a:pt x="104775" y="0"/>
                  </a:lnTo>
                  <a:lnTo>
                    <a:pt x="5981699" y="0"/>
                  </a:lnTo>
                  <a:lnTo>
                    <a:pt x="6021794" y="7975"/>
                  </a:lnTo>
                  <a:lnTo>
                    <a:pt x="6055786" y="30687"/>
                  </a:lnTo>
                  <a:lnTo>
                    <a:pt x="6078498" y="64679"/>
                  </a:lnTo>
                  <a:lnTo>
                    <a:pt x="6086474" y="104775"/>
                  </a:lnTo>
                  <a:lnTo>
                    <a:pt x="6086474" y="295274"/>
                  </a:lnTo>
                  <a:close/>
                </a:path>
              </a:pathLst>
            </a:custGeom>
            <a:solidFill>
              <a:srgbClr val="1317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95324" y="1819274"/>
              <a:ext cx="6086475" cy="9525"/>
            </a:xfrm>
            <a:custGeom>
              <a:avLst/>
              <a:gdLst/>
              <a:ahLst/>
              <a:cxnLst/>
              <a:rect l="l" t="t" r="r" b="b"/>
              <a:pathLst>
                <a:path w="6086475" h="9525">
                  <a:moveTo>
                    <a:pt x="60864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086474" y="0"/>
                  </a:lnTo>
                  <a:lnTo>
                    <a:pt x="6086474" y="9524"/>
                  </a:lnTo>
                  <a:close/>
                </a:path>
              </a:pathLst>
            </a:custGeom>
            <a:solidFill>
              <a:srgbClr val="292E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674" y="1628774"/>
              <a:ext cx="85725" cy="85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49" y="1628774"/>
              <a:ext cx="85725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4424" y="1628774"/>
              <a:ext cx="85725" cy="8572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282699" y="1587500"/>
            <a:ext cx="13144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 b="1">
                <a:solidFill>
                  <a:srgbClr val="E7E9F5"/>
                </a:solidFill>
                <a:latin typeface="Courier New"/>
                <a:cs typeface="Courier New"/>
              </a:rPr>
              <a:t>filtering_advanced.py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62935" y="1587500"/>
            <a:ext cx="39243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6A6F99"/>
                </a:solidFill>
                <a:latin typeface="Courier New"/>
                <a:cs typeface="Courier New"/>
              </a:rPr>
              <a:t>PYTHON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4075" y="1878012"/>
            <a:ext cx="2237105" cy="42545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9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pandas</a:t>
            </a:r>
            <a:r>
              <a:rPr dirty="0" sz="900" spc="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900" spc="1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pd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900">
                <a:solidFill>
                  <a:srgbClr val="87D4FF"/>
                </a:solidFill>
                <a:latin typeface="Courier New"/>
                <a:cs typeface="Courier New"/>
              </a:rPr>
              <a:t>df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= 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pd.</a:t>
            </a:r>
            <a:r>
              <a:rPr dirty="0" sz="900" spc="-10">
                <a:solidFill>
                  <a:srgbClr val="FFD580"/>
                </a:solidFill>
                <a:latin typeface="Courier New"/>
                <a:cs typeface="Courier New"/>
              </a:rPr>
              <a:t>read_csv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"students.csv"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4075" y="2468562"/>
            <a:ext cx="2858135" cy="140652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1.</a:t>
            </a:r>
            <a:r>
              <a:rPr dirty="0" sz="900" spc="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Multiple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conditions</a:t>
            </a:r>
            <a:r>
              <a:rPr dirty="0" sz="900" spc="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(AND)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900">
              <a:latin typeface="Courier New"/>
              <a:cs typeface="Courier New"/>
            </a:endParaRPr>
          </a:p>
          <a:p>
            <a:pPr marL="12700" marR="5080">
              <a:lnSpc>
                <a:spcPct val="138900"/>
              </a:lnSpc>
              <a:spcBef>
                <a:spcPts val="7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Both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must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be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True.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Use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&amp;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(bitwise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and).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WRAP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EACH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CONDITION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IN</a:t>
            </a:r>
            <a:r>
              <a:rPr dirty="0" sz="900" spc="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10" i="1">
                <a:solidFill>
                  <a:srgbClr val="8B8FB4"/>
                </a:solidFill>
                <a:latin typeface="Courier New"/>
                <a:cs typeface="Courier New"/>
              </a:rPr>
              <a:t>PARENTHESES.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900">
                <a:solidFill>
                  <a:srgbClr val="87D4FF"/>
                </a:solidFill>
                <a:latin typeface="Courier New"/>
                <a:cs typeface="Courier New"/>
              </a:rPr>
              <a:t>amritsar_bca</a:t>
            </a:r>
            <a:r>
              <a:rPr dirty="0" sz="900" spc="1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00" spc="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endParaRPr sz="900">
              <a:latin typeface="Courier New"/>
              <a:cs typeface="Courier New"/>
            </a:endParaRPr>
          </a:p>
          <a:p>
            <a:pPr marL="288290">
              <a:lnSpc>
                <a:spcPct val="100000"/>
              </a:lnSpc>
              <a:spcBef>
                <a:spcPts val="420"/>
              </a:spcBef>
            </a:pP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"city"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900" spc="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==</a:t>
            </a:r>
            <a:r>
              <a:rPr dirty="0" sz="900" spc="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"Amritsar"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r>
              <a:rPr dirty="0" sz="900" spc="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E7E9F5"/>
                </a:solidFill>
                <a:latin typeface="Courier New"/>
                <a:cs typeface="Courier New"/>
              </a:rPr>
              <a:t>&amp;</a:t>
            </a:r>
            <a:endParaRPr sz="900">
              <a:latin typeface="Courier New"/>
              <a:cs typeface="Courier New"/>
            </a:endParaRPr>
          </a:p>
          <a:p>
            <a:pPr marL="288290">
              <a:lnSpc>
                <a:spcPct val="100000"/>
              </a:lnSpc>
              <a:spcBef>
                <a:spcPts val="495"/>
              </a:spcBef>
            </a:pP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"branch"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900" spc="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==</a:t>
            </a:r>
            <a:r>
              <a:rPr dirty="0" sz="900" spc="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8E886"/>
                </a:solidFill>
                <a:latin typeface="Courier New"/>
                <a:cs typeface="Courier New"/>
              </a:rPr>
              <a:t>"BCA"</a:t>
            </a:r>
            <a:r>
              <a:rPr dirty="0" sz="9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900" spc="-5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4075" y="4040187"/>
            <a:ext cx="2858135" cy="120650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2.</a:t>
            </a:r>
            <a:r>
              <a:rPr dirty="0" sz="900" spc="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Multiple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conditions</a:t>
            </a:r>
            <a:r>
              <a:rPr dirty="0" sz="900" spc="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(OR)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Either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can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be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True.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Use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|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(bitwise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0" i="1">
                <a:solidFill>
                  <a:srgbClr val="8B8FB4"/>
                </a:solidFill>
                <a:latin typeface="Courier New"/>
                <a:cs typeface="Courier New"/>
              </a:rPr>
              <a:t>or).</a:t>
            </a:r>
            <a:endParaRPr sz="900">
              <a:latin typeface="Courier New"/>
              <a:cs typeface="Courier New"/>
            </a:endParaRPr>
          </a:p>
          <a:p>
            <a:pPr marL="288290" marR="1315720" indent="-276225">
              <a:lnSpc>
                <a:spcPts val="1580"/>
              </a:lnSpc>
              <a:spcBef>
                <a:spcPts val="55"/>
              </a:spcBef>
            </a:pPr>
            <a:r>
              <a:rPr dirty="0" sz="900">
                <a:solidFill>
                  <a:srgbClr val="87D4FF"/>
                </a:solidFill>
                <a:latin typeface="Courier New"/>
                <a:cs typeface="Courier New"/>
              </a:rPr>
              <a:t>young_or_old</a:t>
            </a:r>
            <a:r>
              <a:rPr dirty="0" sz="900" spc="1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900" spc="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[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900" spc="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&lt;</a:t>
            </a:r>
            <a:r>
              <a:rPr dirty="0" sz="900" spc="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FF8B7E"/>
                </a:solidFill>
                <a:latin typeface="Courier New"/>
                <a:cs typeface="Courier New"/>
              </a:rPr>
              <a:t>20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r>
              <a:rPr dirty="0" sz="900" spc="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E7E9F5"/>
                </a:solidFill>
                <a:latin typeface="Courier New"/>
                <a:cs typeface="Courier New"/>
              </a:rPr>
              <a:t>|</a:t>
            </a:r>
            <a:endParaRPr sz="900">
              <a:latin typeface="Courier New"/>
              <a:cs typeface="Courier New"/>
            </a:endParaRPr>
          </a:p>
          <a:p>
            <a:pPr marL="288290">
              <a:lnSpc>
                <a:spcPct val="100000"/>
              </a:lnSpc>
              <a:spcBef>
                <a:spcPts val="280"/>
              </a:spcBef>
            </a:pP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90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90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900" spc="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E7E9F5"/>
                </a:solidFill>
                <a:latin typeface="Courier New"/>
                <a:cs typeface="Courier New"/>
              </a:rPr>
              <a:t>&gt;</a:t>
            </a:r>
            <a:r>
              <a:rPr dirty="0" sz="900" spc="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FF8B7E"/>
                </a:solidFill>
                <a:latin typeface="Courier New"/>
                <a:cs typeface="Courier New"/>
              </a:rPr>
              <a:t>22</a:t>
            </a:r>
            <a:r>
              <a:rPr dirty="0" sz="900" spc="-25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900" spc="-5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962774" y="1524000"/>
            <a:ext cx="4543425" cy="4181475"/>
            <a:chOff x="6962774" y="1524000"/>
            <a:chExt cx="4543425" cy="4181475"/>
          </a:xfrm>
        </p:grpSpPr>
        <p:sp>
          <p:nvSpPr>
            <p:cNvPr id="20" name="object 20"/>
            <p:cNvSpPr/>
            <p:nvPr/>
          </p:nvSpPr>
          <p:spPr>
            <a:xfrm>
              <a:off x="6981823" y="1528762"/>
              <a:ext cx="4519930" cy="4171950"/>
            </a:xfrm>
            <a:custGeom>
              <a:avLst/>
              <a:gdLst/>
              <a:ahLst/>
              <a:cxnLst/>
              <a:rect l="l" t="t" r="r" b="b"/>
              <a:pathLst>
                <a:path w="4519930" h="4171950">
                  <a:moveTo>
                    <a:pt x="4417266" y="4171949"/>
                  </a:moveTo>
                  <a:lnTo>
                    <a:pt x="88996" y="4171949"/>
                  </a:lnTo>
                  <a:lnTo>
                    <a:pt x="82801" y="4171247"/>
                  </a:lnTo>
                  <a:lnTo>
                    <a:pt x="37132" y="4149492"/>
                  </a:lnTo>
                  <a:lnTo>
                    <a:pt x="12577" y="4117286"/>
                  </a:lnTo>
                  <a:lnTo>
                    <a:pt x="609" y="4076727"/>
                  </a:lnTo>
                  <a:lnTo>
                    <a:pt x="0" y="4069604"/>
                  </a:lnTo>
                  <a:lnTo>
                    <a:pt x="0" y="4062412"/>
                  </a:lnTo>
                  <a:lnTo>
                    <a:pt x="0" y="102345"/>
                  </a:lnTo>
                  <a:lnTo>
                    <a:pt x="9644" y="60974"/>
                  </a:lnTo>
                  <a:lnTo>
                    <a:pt x="32320" y="26996"/>
                  </a:lnTo>
                  <a:lnTo>
                    <a:pt x="64577" y="5585"/>
                  </a:lnTo>
                  <a:lnTo>
                    <a:pt x="88996" y="0"/>
                  </a:lnTo>
                  <a:lnTo>
                    <a:pt x="4417266" y="0"/>
                  </a:lnTo>
                  <a:lnTo>
                    <a:pt x="4458637" y="11090"/>
                  </a:lnTo>
                  <a:lnTo>
                    <a:pt x="4492615" y="37168"/>
                  </a:lnTo>
                  <a:lnTo>
                    <a:pt x="4514025" y="74264"/>
                  </a:lnTo>
                  <a:lnTo>
                    <a:pt x="4519611" y="102345"/>
                  </a:lnTo>
                  <a:lnTo>
                    <a:pt x="4519611" y="4069604"/>
                  </a:lnTo>
                  <a:lnTo>
                    <a:pt x="4508521" y="4110974"/>
                  </a:lnTo>
                  <a:lnTo>
                    <a:pt x="4482444" y="4144951"/>
                  </a:lnTo>
                  <a:lnTo>
                    <a:pt x="4445347" y="4166363"/>
                  </a:lnTo>
                  <a:lnTo>
                    <a:pt x="4424390" y="4171247"/>
                  </a:lnTo>
                  <a:lnTo>
                    <a:pt x="4417266" y="41719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020992" y="1523999"/>
              <a:ext cx="4485640" cy="4181475"/>
            </a:xfrm>
            <a:custGeom>
              <a:avLst/>
              <a:gdLst/>
              <a:ahLst/>
              <a:cxnLst/>
              <a:rect l="l" t="t" r="r" b="b"/>
              <a:pathLst>
                <a:path w="4485640" h="4181475">
                  <a:moveTo>
                    <a:pt x="4485195" y="114300"/>
                  </a:moveTo>
                  <a:lnTo>
                    <a:pt x="4476496" y="70561"/>
                  </a:lnTo>
                  <a:lnTo>
                    <a:pt x="4452163" y="33997"/>
                  </a:lnTo>
                  <a:lnTo>
                    <a:pt x="4416387" y="9525"/>
                  </a:lnTo>
                  <a:lnTo>
                    <a:pt x="4370895" y="0"/>
                  </a:lnTo>
                  <a:lnTo>
                    <a:pt x="56070" y="0"/>
                  </a:lnTo>
                  <a:lnTo>
                    <a:pt x="12331" y="8712"/>
                  </a:lnTo>
                  <a:lnTo>
                    <a:pt x="0" y="14795"/>
                  </a:lnTo>
                  <a:lnTo>
                    <a:pt x="22440" y="20408"/>
                  </a:lnTo>
                  <a:lnTo>
                    <a:pt x="26911" y="17500"/>
                  </a:lnTo>
                  <a:lnTo>
                    <a:pt x="33985" y="14020"/>
                  </a:lnTo>
                  <a:lnTo>
                    <a:pt x="41211" y="11518"/>
                  </a:lnTo>
                  <a:lnTo>
                    <a:pt x="48564" y="10033"/>
                  </a:lnTo>
                  <a:lnTo>
                    <a:pt x="56070" y="9525"/>
                  </a:lnTo>
                  <a:lnTo>
                    <a:pt x="4370895" y="9525"/>
                  </a:lnTo>
                  <a:lnTo>
                    <a:pt x="4411002" y="17500"/>
                  </a:lnTo>
                  <a:lnTo>
                    <a:pt x="4444987" y="40220"/>
                  </a:lnTo>
                  <a:lnTo>
                    <a:pt x="4467695" y="74206"/>
                  </a:lnTo>
                  <a:lnTo>
                    <a:pt x="4475670" y="114300"/>
                  </a:lnTo>
                  <a:lnTo>
                    <a:pt x="4475670" y="4067175"/>
                  </a:lnTo>
                  <a:lnTo>
                    <a:pt x="4467695" y="4107281"/>
                  </a:lnTo>
                  <a:lnTo>
                    <a:pt x="4445444" y="4140771"/>
                  </a:lnTo>
                  <a:lnTo>
                    <a:pt x="4411002" y="4163974"/>
                  </a:lnTo>
                  <a:lnTo>
                    <a:pt x="4370895" y="4171950"/>
                  </a:lnTo>
                  <a:lnTo>
                    <a:pt x="56070" y="4171950"/>
                  </a:lnTo>
                  <a:lnTo>
                    <a:pt x="22440" y="4161078"/>
                  </a:lnTo>
                  <a:lnTo>
                    <a:pt x="0" y="4166692"/>
                  </a:lnTo>
                  <a:lnTo>
                    <a:pt x="44818" y="4180941"/>
                  </a:lnTo>
                  <a:lnTo>
                    <a:pt x="56070" y="4181475"/>
                  </a:lnTo>
                  <a:lnTo>
                    <a:pt x="4370895" y="4181475"/>
                  </a:lnTo>
                  <a:lnTo>
                    <a:pt x="4414634" y="4172775"/>
                  </a:lnTo>
                  <a:lnTo>
                    <a:pt x="4451718" y="4147997"/>
                  </a:lnTo>
                  <a:lnTo>
                    <a:pt x="4476496" y="4110926"/>
                  </a:lnTo>
                  <a:lnTo>
                    <a:pt x="4485195" y="4067175"/>
                  </a:lnTo>
                  <a:lnTo>
                    <a:pt x="4485195" y="11430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962774" y="1538625"/>
              <a:ext cx="81280" cy="4152265"/>
            </a:xfrm>
            <a:custGeom>
              <a:avLst/>
              <a:gdLst/>
              <a:ahLst/>
              <a:cxnLst/>
              <a:rect l="l" t="t" r="r" b="b"/>
              <a:pathLst>
                <a:path w="81279" h="4152265">
                  <a:moveTo>
                    <a:pt x="58504" y="4152223"/>
                  </a:moveTo>
                  <a:lnTo>
                    <a:pt x="25899" y="4125024"/>
                  </a:lnTo>
                  <a:lnTo>
                    <a:pt x="4893" y="4085678"/>
                  </a:lnTo>
                  <a:lnTo>
                    <a:pt x="0" y="4052549"/>
                  </a:lnTo>
                  <a:lnTo>
                    <a:pt x="0" y="99674"/>
                  </a:lnTo>
                  <a:lnTo>
                    <a:pt x="8699" y="55933"/>
                  </a:lnTo>
                  <a:lnTo>
                    <a:pt x="33477" y="18851"/>
                  </a:lnTo>
                  <a:lnTo>
                    <a:pt x="58502" y="0"/>
                  </a:lnTo>
                  <a:lnTo>
                    <a:pt x="80929" y="5606"/>
                  </a:lnTo>
                  <a:lnTo>
                    <a:pt x="78342" y="7285"/>
                  </a:lnTo>
                  <a:lnTo>
                    <a:pt x="71957" y="12540"/>
                  </a:lnTo>
                  <a:lnTo>
                    <a:pt x="47106" y="50233"/>
                  </a:lnTo>
                  <a:lnTo>
                    <a:pt x="38462" y="89352"/>
                  </a:lnTo>
                  <a:lnTo>
                    <a:pt x="38100" y="99674"/>
                  </a:lnTo>
                  <a:lnTo>
                    <a:pt x="38100" y="4052549"/>
                  </a:lnTo>
                  <a:lnTo>
                    <a:pt x="43900" y="4092643"/>
                  </a:lnTo>
                  <a:lnTo>
                    <a:pt x="65982" y="4133581"/>
                  </a:lnTo>
                  <a:lnTo>
                    <a:pt x="80929" y="4146616"/>
                  </a:lnTo>
                  <a:lnTo>
                    <a:pt x="58504" y="4152223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171134" y="1673225"/>
            <a:ext cx="9207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F</a:t>
            </a:r>
            <a:r>
              <a:rPr dirty="0" sz="8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293283"/>
                </a:solidFill>
                <a:latin typeface="Tahoma"/>
                <a:cs typeface="Tahoma"/>
              </a:rPr>
              <a:t>U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sz="800" spc="1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35" b="1">
                <a:solidFill>
                  <a:srgbClr val="293283"/>
                </a:solidFill>
                <a:latin typeface="Tahoma"/>
                <a:cs typeface="Tahoma"/>
              </a:rPr>
              <a:t>PAT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2324" y="1971674"/>
            <a:ext cx="247650" cy="24764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251650" y="2006600"/>
            <a:ext cx="10033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spc="-50" b="1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515225" y="2000249"/>
            <a:ext cx="3724275" cy="314325"/>
            <a:chOff x="7515225" y="2000249"/>
            <a:chExt cx="3724275" cy="314325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96224" y="2000249"/>
              <a:ext cx="161924" cy="13334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515212" y="2000249"/>
              <a:ext cx="3724275" cy="314325"/>
            </a:xfrm>
            <a:custGeom>
              <a:avLst/>
              <a:gdLst/>
              <a:ahLst/>
              <a:cxnLst/>
              <a:rect l="l" t="t" r="r" b="b"/>
              <a:pathLst>
                <a:path w="3724275" h="314325">
                  <a:moveTo>
                    <a:pt x="1352550" y="205765"/>
                  </a:moveTo>
                  <a:lnTo>
                    <a:pt x="1327772" y="180975"/>
                  </a:lnTo>
                  <a:lnTo>
                    <a:pt x="0" y="180975"/>
                  </a:lnTo>
                  <a:lnTo>
                    <a:pt x="0" y="314325"/>
                  </a:lnTo>
                  <a:lnTo>
                    <a:pt x="1327772" y="314325"/>
                  </a:lnTo>
                  <a:lnTo>
                    <a:pt x="1352550" y="289547"/>
                  </a:lnTo>
                  <a:lnTo>
                    <a:pt x="1352550" y="205765"/>
                  </a:lnTo>
                  <a:close/>
                </a:path>
                <a:path w="3724275" h="314325">
                  <a:moveTo>
                    <a:pt x="3724275" y="0"/>
                  </a:moveTo>
                  <a:lnTo>
                    <a:pt x="3206140" y="0"/>
                  </a:lnTo>
                  <a:lnTo>
                    <a:pt x="3202495" y="736"/>
                  </a:lnTo>
                  <a:lnTo>
                    <a:pt x="3181350" y="24790"/>
                  </a:lnTo>
                  <a:lnTo>
                    <a:pt x="3181350" y="108572"/>
                  </a:lnTo>
                  <a:lnTo>
                    <a:pt x="3206140" y="133350"/>
                  </a:lnTo>
                  <a:lnTo>
                    <a:pt x="3724275" y="133350"/>
                  </a:lnTo>
                  <a:lnTo>
                    <a:pt x="3724275" y="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7514034" y="1925637"/>
            <a:ext cx="3740150" cy="38735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r>
              <a:rPr dirty="0" sz="900" spc="-90" b="1">
                <a:solidFill>
                  <a:srgbClr val="293283"/>
                </a:solidFill>
                <a:latin typeface="Tahoma"/>
                <a:cs typeface="Tahoma"/>
              </a:rPr>
              <a:t>AND</a:t>
            </a:r>
            <a:r>
              <a:rPr dirty="0" sz="900" spc="-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293283"/>
                </a:solidFill>
                <a:latin typeface="Tahoma"/>
                <a:cs typeface="Tahoma"/>
              </a:rPr>
              <a:t>—</a:t>
            </a:r>
            <a:r>
              <a:rPr dirty="0" sz="900" spc="3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&amp;</a:t>
            </a:r>
            <a:r>
              <a:rPr dirty="0" sz="800" spc="120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18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Both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conditions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must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be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True.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Wrap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each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in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parens:</a:t>
            </a:r>
            <a:r>
              <a:rPr dirty="0" sz="900" spc="3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293283"/>
                </a:solidFill>
                <a:latin typeface="Courier New"/>
                <a:cs typeface="Courier New"/>
              </a:rPr>
              <a:t>(df["x"]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&gt;</a:t>
            </a:r>
            <a:r>
              <a:rPr dirty="0" sz="800" spc="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5)</a:t>
            </a:r>
            <a:r>
              <a:rPr dirty="0" sz="800" spc="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&amp;</a:t>
            </a:r>
            <a:r>
              <a:rPr dirty="0" sz="800" spc="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(df["y"]</a:t>
            </a:r>
            <a:r>
              <a:rPr dirty="0" sz="800" spc="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&lt;</a:t>
            </a:r>
            <a:r>
              <a:rPr dirty="0" sz="800" spc="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10)</a:t>
            </a:r>
            <a:r>
              <a:rPr dirty="0" sz="800" spc="-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2324" y="2428874"/>
            <a:ext cx="247650" cy="247649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7265937" y="2454275"/>
            <a:ext cx="7175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spc="-85" b="1">
                <a:solidFill>
                  <a:srgbClr val="FFFFFF"/>
                </a:solidFill>
                <a:latin typeface="Tahoma"/>
                <a:cs typeface="Tahoma"/>
              </a:rPr>
              <a:t>|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515225" y="2457449"/>
            <a:ext cx="3705225" cy="314325"/>
            <a:chOff x="7515225" y="2457449"/>
            <a:chExt cx="3705225" cy="314325"/>
          </a:xfrm>
        </p:grpSpPr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20024" y="2457449"/>
              <a:ext cx="152399" cy="13334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515212" y="2457449"/>
              <a:ext cx="3705225" cy="314325"/>
            </a:xfrm>
            <a:custGeom>
              <a:avLst/>
              <a:gdLst/>
              <a:ahLst/>
              <a:cxnLst/>
              <a:rect l="l" t="t" r="r" b="b"/>
              <a:pathLst>
                <a:path w="3705225" h="314325">
                  <a:moveTo>
                    <a:pt x="1038225" y="205765"/>
                  </a:moveTo>
                  <a:lnTo>
                    <a:pt x="1013447" y="180975"/>
                  </a:lnTo>
                  <a:lnTo>
                    <a:pt x="0" y="180975"/>
                  </a:lnTo>
                  <a:lnTo>
                    <a:pt x="0" y="314325"/>
                  </a:lnTo>
                  <a:lnTo>
                    <a:pt x="1013447" y="314325"/>
                  </a:lnTo>
                  <a:lnTo>
                    <a:pt x="1038225" y="289547"/>
                  </a:lnTo>
                  <a:lnTo>
                    <a:pt x="1038225" y="205765"/>
                  </a:lnTo>
                  <a:close/>
                </a:path>
                <a:path w="3705225" h="314325">
                  <a:moveTo>
                    <a:pt x="3705225" y="0"/>
                  </a:moveTo>
                  <a:lnTo>
                    <a:pt x="2872765" y="0"/>
                  </a:lnTo>
                  <a:lnTo>
                    <a:pt x="2869120" y="736"/>
                  </a:lnTo>
                  <a:lnTo>
                    <a:pt x="2847975" y="24790"/>
                  </a:lnTo>
                  <a:lnTo>
                    <a:pt x="2847975" y="108572"/>
                  </a:lnTo>
                  <a:lnTo>
                    <a:pt x="2872765" y="133350"/>
                  </a:lnTo>
                  <a:lnTo>
                    <a:pt x="3705225" y="133350"/>
                  </a:lnTo>
                  <a:lnTo>
                    <a:pt x="3705225" y="0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7514034" y="2382837"/>
            <a:ext cx="3717925" cy="38735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r>
              <a:rPr dirty="0" sz="900" spc="-100" b="1">
                <a:solidFill>
                  <a:srgbClr val="293283"/>
                </a:solidFill>
                <a:latin typeface="Tahoma"/>
                <a:cs typeface="Tahoma"/>
              </a:rPr>
              <a:t>OR</a:t>
            </a:r>
            <a:r>
              <a:rPr dirty="0" sz="90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293283"/>
                </a:solidFill>
                <a:latin typeface="Tahoma"/>
                <a:cs typeface="Tahoma"/>
              </a:rPr>
              <a:t>—</a:t>
            </a:r>
            <a:r>
              <a:rPr dirty="0" sz="900" spc="3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|</a:t>
            </a:r>
            <a:r>
              <a:rPr dirty="0" sz="800" spc="12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18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Either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condition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can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be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True.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Same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paren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rule:</a:t>
            </a:r>
            <a:r>
              <a:rPr dirty="0" sz="900" spc="3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(df["x"]</a:t>
            </a:r>
            <a:r>
              <a:rPr dirty="0" sz="800" spc="2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&gt;</a:t>
            </a:r>
            <a:r>
              <a:rPr dirty="0" sz="800" spc="3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293283"/>
                </a:solidFill>
                <a:latin typeface="Courier New"/>
                <a:cs typeface="Courier New"/>
              </a:rPr>
              <a:t>5)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|</a:t>
            </a:r>
            <a:r>
              <a:rPr dirty="0" sz="800" spc="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(df["y"]</a:t>
            </a:r>
            <a:r>
              <a:rPr dirty="0" sz="800" spc="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&lt;</a:t>
            </a:r>
            <a:r>
              <a:rPr dirty="0" sz="800" spc="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10)</a:t>
            </a:r>
            <a:r>
              <a:rPr dirty="0" sz="800" spc="-8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2324" y="2886074"/>
            <a:ext cx="247650" cy="247649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264449" y="2911475"/>
            <a:ext cx="6223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spc="-345" b="1">
                <a:solidFill>
                  <a:srgbClr val="FFFFFF"/>
                </a:solidFill>
                <a:latin typeface="Tahoma"/>
                <a:cs typeface="Tahoma"/>
              </a:rPr>
              <a:t>~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172324" y="2914649"/>
            <a:ext cx="2876550" cy="666750"/>
            <a:chOff x="7172324" y="2914649"/>
            <a:chExt cx="2876550" cy="666750"/>
          </a:xfrm>
        </p:grpSpPr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86699" y="2914649"/>
              <a:ext cx="152399" cy="13334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896349" y="2914649"/>
              <a:ext cx="1152525" cy="133350"/>
            </a:xfrm>
            <a:custGeom>
              <a:avLst/>
              <a:gdLst/>
              <a:ahLst/>
              <a:cxnLst/>
              <a:rect l="l" t="t" r="r" b="b"/>
              <a:pathLst>
                <a:path w="1152525" h="133350">
                  <a:moveTo>
                    <a:pt x="1127739" y="133349"/>
                  </a:moveTo>
                  <a:lnTo>
                    <a:pt x="24785" y="133349"/>
                  </a:lnTo>
                  <a:lnTo>
                    <a:pt x="21140" y="132624"/>
                  </a:lnTo>
                  <a:lnTo>
                    <a:pt x="0" y="108564"/>
                  </a:lnTo>
                  <a:lnTo>
                    <a:pt x="0" y="1047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1127739" y="0"/>
                  </a:lnTo>
                  <a:lnTo>
                    <a:pt x="1152524" y="24785"/>
                  </a:lnTo>
                  <a:lnTo>
                    <a:pt x="1152524" y="108564"/>
                  </a:lnTo>
                  <a:lnTo>
                    <a:pt x="1131383" y="132624"/>
                  </a:lnTo>
                  <a:lnTo>
                    <a:pt x="1127739" y="1333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72324" y="3333750"/>
              <a:ext cx="247650" cy="247649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7227689" y="3359150"/>
            <a:ext cx="13589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spc="-105" b="1">
                <a:solidFill>
                  <a:srgbClr val="FFFFFF"/>
                </a:solidFill>
                <a:latin typeface="Tahoma"/>
                <a:cs typeface="Tahoma"/>
              </a:rPr>
              <a:t>Aa</a:t>
            </a:r>
            <a:endParaRPr sz="95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391512" y="3362325"/>
            <a:ext cx="1276350" cy="314325"/>
          </a:xfrm>
          <a:custGeom>
            <a:avLst/>
            <a:gdLst/>
            <a:ahLst/>
            <a:cxnLst/>
            <a:rect l="l" t="t" r="r" b="b"/>
            <a:pathLst>
              <a:path w="1276350" h="314325">
                <a:moveTo>
                  <a:pt x="1028700" y="24790"/>
                </a:moveTo>
                <a:lnTo>
                  <a:pt x="1003922" y="0"/>
                </a:lnTo>
                <a:lnTo>
                  <a:pt x="24790" y="0"/>
                </a:lnTo>
                <a:lnTo>
                  <a:pt x="0" y="24790"/>
                </a:lnTo>
                <a:lnTo>
                  <a:pt x="0" y="104775"/>
                </a:lnTo>
                <a:lnTo>
                  <a:pt x="0" y="108572"/>
                </a:lnTo>
                <a:lnTo>
                  <a:pt x="24790" y="133350"/>
                </a:lnTo>
                <a:lnTo>
                  <a:pt x="1003922" y="133350"/>
                </a:lnTo>
                <a:lnTo>
                  <a:pt x="1028700" y="108572"/>
                </a:lnTo>
                <a:lnTo>
                  <a:pt x="1028700" y="24790"/>
                </a:lnTo>
                <a:close/>
              </a:path>
              <a:path w="1276350" h="314325">
                <a:moveTo>
                  <a:pt x="1276350" y="205765"/>
                </a:moveTo>
                <a:lnTo>
                  <a:pt x="1251572" y="180975"/>
                </a:lnTo>
                <a:lnTo>
                  <a:pt x="586765" y="180975"/>
                </a:lnTo>
                <a:lnTo>
                  <a:pt x="561975" y="205765"/>
                </a:lnTo>
                <a:lnTo>
                  <a:pt x="561975" y="285750"/>
                </a:lnTo>
                <a:lnTo>
                  <a:pt x="561975" y="289547"/>
                </a:lnTo>
                <a:lnTo>
                  <a:pt x="586765" y="314325"/>
                </a:lnTo>
                <a:lnTo>
                  <a:pt x="1251572" y="314325"/>
                </a:lnTo>
                <a:lnTo>
                  <a:pt x="1276350" y="289547"/>
                </a:lnTo>
                <a:lnTo>
                  <a:pt x="1276350" y="205765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7514034" y="2840037"/>
            <a:ext cx="3700145" cy="835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32384">
              <a:lnSpc>
                <a:spcPct val="131900"/>
              </a:lnSpc>
              <a:spcBef>
                <a:spcPts val="90"/>
              </a:spcBef>
            </a:pPr>
            <a:r>
              <a:rPr dirty="0" sz="900" spc="-95" b="1">
                <a:solidFill>
                  <a:srgbClr val="293283"/>
                </a:solidFill>
                <a:latin typeface="Tahoma"/>
                <a:cs typeface="Tahoma"/>
              </a:rPr>
              <a:t>NOT</a:t>
            </a:r>
            <a:r>
              <a:rPr dirty="0" sz="900" spc="-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293283"/>
                </a:solidFill>
                <a:latin typeface="Tahoma"/>
                <a:cs typeface="Tahoma"/>
              </a:rPr>
              <a:t>—</a:t>
            </a:r>
            <a:r>
              <a:rPr dirty="0" sz="900" spc="3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~</a:t>
            </a:r>
            <a:r>
              <a:rPr dirty="0" sz="800" spc="12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18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Invert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mask.</a:t>
            </a:r>
            <a:r>
              <a:rPr dirty="0" sz="900" spc="3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~(df["age"]</a:t>
            </a:r>
            <a:r>
              <a:rPr dirty="0" sz="800" spc="2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&gt;</a:t>
            </a:r>
            <a:r>
              <a:rPr dirty="0" sz="800" spc="2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20)</a:t>
            </a:r>
            <a:r>
              <a:rPr dirty="0" sz="800" spc="114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gives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rows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where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age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≤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20.</a:t>
            </a:r>
            <a:endParaRPr sz="900">
              <a:latin typeface="Trebuchet MS"/>
              <a:cs typeface="Trebuchet MS"/>
            </a:endParaRPr>
          </a:p>
          <a:p>
            <a:pPr marR="5080">
              <a:lnSpc>
                <a:spcPct val="131900"/>
              </a:lnSpc>
              <a:spcBef>
                <a:spcPts val="675"/>
              </a:spcBef>
            </a:pPr>
            <a:r>
              <a:rPr dirty="0" sz="900" spc="-95" b="1">
                <a:solidFill>
                  <a:srgbClr val="293283"/>
                </a:solidFill>
                <a:latin typeface="Tahoma"/>
                <a:cs typeface="Tahoma"/>
              </a:rPr>
              <a:t>String</a:t>
            </a:r>
            <a:r>
              <a:rPr dirty="0" sz="900" spc="-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293283"/>
                </a:solidFill>
                <a:latin typeface="Tahoma"/>
                <a:cs typeface="Tahoma"/>
              </a:rPr>
              <a:t>contains</a:t>
            </a:r>
            <a:r>
              <a:rPr dirty="0" sz="900" spc="-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293283"/>
                </a:solidFill>
                <a:latin typeface="Tahoma"/>
                <a:cs typeface="Tahoma"/>
              </a:rPr>
              <a:t>—</a:t>
            </a:r>
            <a:r>
              <a:rPr dirty="0" sz="900" spc="4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.str.contains()</a:t>
            </a:r>
            <a:r>
              <a:rPr dirty="0" sz="800" spc="18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18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Substring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match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on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text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column.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Case-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sensitive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default;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add</a:t>
            </a:r>
            <a:r>
              <a:rPr dirty="0" sz="900" spc="3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case=False</a:t>
            </a:r>
            <a:r>
              <a:rPr dirty="0" sz="800" spc="16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to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ignore.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45" name="object 4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2324" y="3790949"/>
            <a:ext cx="247650" cy="247649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7242869" y="3819373"/>
            <a:ext cx="12128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50" spc="35">
                <a:solidFill>
                  <a:srgbClr val="FFFFFF"/>
                </a:solidFill>
                <a:latin typeface="Lucida Sans Unicode"/>
                <a:cs typeface="Lucida Sans Unicode"/>
              </a:rPr>
              <a:t>∈</a:t>
            </a:r>
            <a:endParaRPr sz="950">
              <a:latin typeface="Lucida Sans Unicode"/>
              <a:cs typeface="Lucida Sans Unicode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934323" y="3819524"/>
            <a:ext cx="714375" cy="314325"/>
            <a:chOff x="7934323" y="3819524"/>
            <a:chExt cx="714375" cy="314325"/>
          </a:xfrm>
        </p:grpSpPr>
        <p:sp>
          <p:nvSpPr>
            <p:cNvPr id="48" name="object 48"/>
            <p:cNvSpPr/>
            <p:nvPr/>
          </p:nvSpPr>
          <p:spPr>
            <a:xfrm>
              <a:off x="8124823" y="3819524"/>
              <a:ext cx="523875" cy="133350"/>
            </a:xfrm>
            <a:custGeom>
              <a:avLst/>
              <a:gdLst/>
              <a:ahLst/>
              <a:cxnLst/>
              <a:rect l="l" t="t" r="r" b="b"/>
              <a:pathLst>
                <a:path w="523875" h="133350">
                  <a:moveTo>
                    <a:pt x="499089" y="133349"/>
                  </a:moveTo>
                  <a:lnTo>
                    <a:pt x="24785" y="133349"/>
                  </a:lnTo>
                  <a:lnTo>
                    <a:pt x="21140" y="132624"/>
                  </a:lnTo>
                  <a:lnTo>
                    <a:pt x="0" y="108564"/>
                  </a:lnTo>
                  <a:lnTo>
                    <a:pt x="0" y="1047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499089" y="0"/>
                  </a:lnTo>
                  <a:lnTo>
                    <a:pt x="523874" y="24785"/>
                  </a:lnTo>
                  <a:lnTo>
                    <a:pt x="523874" y="108564"/>
                  </a:lnTo>
                  <a:lnTo>
                    <a:pt x="502734" y="132624"/>
                  </a:lnTo>
                  <a:lnTo>
                    <a:pt x="499089" y="1333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34323" y="4000499"/>
              <a:ext cx="219074" cy="13334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0098" y="4000499"/>
              <a:ext cx="152399" cy="133349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7514034" y="3744912"/>
            <a:ext cx="3809365" cy="387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31900"/>
              </a:lnSpc>
              <a:spcBef>
                <a:spcPts val="90"/>
              </a:spcBef>
            </a:pPr>
            <a:r>
              <a:rPr dirty="0" sz="900" spc="-155" b="1">
                <a:solidFill>
                  <a:srgbClr val="293283"/>
                </a:solidFill>
                <a:latin typeface="Tahoma"/>
                <a:cs typeface="Tahoma"/>
              </a:rPr>
              <a:t>Is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293283"/>
                </a:solidFill>
                <a:latin typeface="Tahoma"/>
                <a:cs typeface="Tahoma"/>
              </a:rPr>
              <a:t>in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80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293283"/>
                </a:solidFill>
                <a:latin typeface="Tahoma"/>
                <a:cs typeface="Tahoma"/>
              </a:rPr>
              <a:t>list</a:t>
            </a:r>
            <a:r>
              <a:rPr dirty="0" sz="900" spc="-4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293283"/>
                </a:solidFill>
                <a:latin typeface="Tahoma"/>
                <a:cs typeface="Tahoma"/>
              </a:rPr>
              <a:t>—</a:t>
            </a:r>
            <a:r>
              <a:rPr dirty="0" sz="900" spc="36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Courier New"/>
                <a:cs typeface="Courier New"/>
              </a:rPr>
              <a:t>.isin()</a:t>
            </a:r>
            <a:r>
              <a:rPr dirty="0" sz="800" spc="155" b="1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18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Filter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set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of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allowed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values.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Faster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than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chaining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multiple</a:t>
            </a:r>
            <a:r>
              <a:rPr dirty="0" sz="900" spc="20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==</a:t>
            </a:r>
            <a:r>
              <a:rPr dirty="0" sz="800" spc="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900" spc="2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|</a:t>
            </a:r>
            <a:r>
              <a:rPr dirty="0" sz="800" spc="-12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85799" y="5781674"/>
            <a:ext cx="10820400" cy="542925"/>
            <a:chOff x="685799" y="5781674"/>
            <a:chExt cx="10820400" cy="542925"/>
          </a:xfrm>
        </p:grpSpPr>
        <p:sp>
          <p:nvSpPr>
            <p:cNvPr id="53" name="object 53"/>
            <p:cNvSpPr/>
            <p:nvPr/>
          </p:nvSpPr>
          <p:spPr>
            <a:xfrm>
              <a:off x="690562" y="5786437"/>
              <a:ext cx="10810875" cy="533400"/>
            </a:xfrm>
            <a:custGeom>
              <a:avLst/>
              <a:gdLst/>
              <a:ahLst/>
              <a:cxnLst/>
              <a:rect l="l" t="t" r="r" b="b"/>
              <a:pathLst>
                <a:path w="10810875" h="533400">
                  <a:moveTo>
                    <a:pt x="10726327" y="533398"/>
                  </a:moveTo>
                  <a:lnTo>
                    <a:pt x="84545" y="533398"/>
                  </a:lnTo>
                  <a:lnTo>
                    <a:pt x="78661" y="532819"/>
                  </a:lnTo>
                  <a:lnTo>
                    <a:pt x="35275" y="514847"/>
                  </a:lnTo>
                  <a:lnTo>
                    <a:pt x="9161" y="483028"/>
                  </a:lnTo>
                  <a:lnTo>
                    <a:pt x="0" y="448852"/>
                  </a:lnTo>
                  <a:lnTo>
                    <a:pt x="0" y="442911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8"/>
                  </a:lnTo>
                  <a:lnTo>
                    <a:pt x="10798924" y="45154"/>
                  </a:lnTo>
                  <a:lnTo>
                    <a:pt x="10810872" y="84545"/>
                  </a:lnTo>
                  <a:lnTo>
                    <a:pt x="10810872" y="448852"/>
                  </a:lnTo>
                  <a:lnTo>
                    <a:pt x="10798924" y="488242"/>
                  </a:lnTo>
                  <a:lnTo>
                    <a:pt x="10765717" y="521449"/>
                  </a:lnTo>
                  <a:lnTo>
                    <a:pt x="10732211" y="532819"/>
                  </a:lnTo>
                  <a:lnTo>
                    <a:pt x="10726327" y="533398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90562" y="5786437"/>
              <a:ext cx="10810875" cy="533400"/>
            </a:xfrm>
            <a:custGeom>
              <a:avLst/>
              <a:gdLst/>
              <a:ahLst/>
              <a:cxnLst/>
              <a:rect l="l" t="t" r="r" b="b"/>
              <a:pathLst>
                <a:path w="10810875" h="533400">
                  <a:moveTo>
                    <a:pt x="0" y="4429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35275" y="18550"/>
                  </a:lnTo>
                  <a:lnTo>
                    <a:pt x="72834" y="1738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60502" y="9161"/>
                  </a:lnTo>
                  <a:lnTo>
                    <a:pt x="10792322" y="35275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07975" y="67006"/>
                  </a:lnTo>
                  <a:lnTo>
                    <a:pt x="10809134" y="72833"/>
                  </a:lnTo>
                  <a:lnTo>
                    <a:pt x="10810293" y="78661"/>
                  </a:lnTo>
                  <a:lnTo>
                    <a:pt x="10810872" y="84545"/>
                  </a:lnTo>
                  <a:lnTo>
                    <a:pt x="10810874" y="90487"/>
                  </a:lnTo>
                  <a:lnTo>
                    <a:pt x="10810874" y="442912"/>
                  </a:lnTo>
                  <a:lnTo>
                    <a:pt x="10810872" y="448853"/>
                  </a:lnTo>
                  <a:lnTo>
                    <a:pt x="10810293" y="454737"/>
                  </a:lnTo>
                  <a:lnTo>
                    <a:pt x="10809134" y="460565"/>
                  </a:lnTo>
                  <a:lnTo>
                    <a:pt x="10807975" y="466392"/>
                  </a:lnTo>
                  <a:lnTo>
                    <a:pt x="10788572" y="502694"/>
                  </a:lnTo>
                  <a:lnTo>
                    <a:pt x="10755013" y="526511"/>
                  </a:lnTo>
                  <a:lnTo>
                    <a:pt x="10749524" y="528785"/>
                  </a:lnTo>
                  <a:lnTo>
                    <a:pt x="10720386" y="533399"/>
                  </a:lnTo>
                  <a:lnTo>
                    <a:pt x="90487" y="533399"/>
                  </a:lnTo>
                  <a:lnTo>
                    <a:pt x="55859" y="526511"/>
                  </a:lnTo>
                  <a:lnTo>
                    <a:pt x="50370" y="524237"/>
                  </a:lnTo>
                  <a:lnTo>
                    <a:pt x="18550" y="498123"/>
                  </a:lnTo>
                  <a:lnTo>
                    <a:pt x="1738" y="460565"/>
                  </a:lnTo>
                  <a:lnTo>
                    <a:pt x="0" y="448853"/>
                  </a:lnTo>
                  <a:lnTo>
                    <a:pt x="0" y="442912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19599" y="5905499"/>
              <a:ext cx="161924" cy="13334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33924" y="5905499"/>
              <a:ext cx="152399" cy="13334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943474" y="5905499"/>
              <a:ext cx="2886075" cy="133350"/>
            </a:xfrm>
            <a:custGeom>
              <a:avLst/>
              <a:gdLst/>
              <a:ahLst/>
              <a:cxnLst/>
              <a:rect l="l" t="t" r="r" b="b"/>
              <a:pathLst>
                <a:path w="2886075" h="133350">
                  <a:moveTo>
                    <a:pt x="2861289" y="133349"/>
                  </a:moveTo>
                  <a:lnTo>
                    <a:pt x="24785" y="133349"/>
                  </a:lnTo>
                  <a:lnTo>
                    <a:pt x="21140" y="132623"/>
                  </a:lnTo>
                  <a:lnTo>
                    <a:pt x="0" y="108563"/>
                  </a:lnTo>
                  <a:lnTo>
                    <a:pt x="0" y="1047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2861289" y="0"/>
                  </a:lnTo>
                  <a:lnTo>
                    <a:pt x="2886074" y="24785"/>
                  </a:lnTo>
                  <a:lnTo>
                    <a:pt x="2886074" y="108563"/>
                  </a:lnTo>
                  <a:lnTo>
                    <a:pt x="2864934" y="132623"/>
                  </a:lnTo>
                  <a:lnTo>
                    <a:pt x="2861289" y="133349"/>
                  </a:lnTo>
                  <a:close/>
                </a:path>
              </a:pathLst>
            </a:custGeom>
            <a:solidFill>
              <a:srgbClr val="FF6A5B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835025" y="5468937"/>
            <a:ext cx="10454005" cy="5676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35"/>
              </a:spcBef>
            </a:pP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3.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String</a:t>
            </a:r>
            <a:r>
              <a:rPr dirty="0" sz="900" spc="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i="1">
                <a:solidFill>
                  <a:srgbClr val="8B8FB4"/>
                </a:solidFill>
                <a:latin typeface="Courier New"/>
                <a:cs typeface="Courier New"/>
              </a:rPr>
              <a:t>contains</a:t>
            </a:r>
            <a:r>
              <a:rPr dirty="0" sz="900" spc="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90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584835" algn="l"/>
              </a:tabLst>
            </a:pPr>
            <a:r>
              <a:rPr dirty="0" sz="800" spc="-85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r>
              <a:rPr dirty="0" sz="8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25" b="1">
                <a:solidFill>
                  <a:srgbClr val="FF6A5B"/>
                </a:solidFill>
                <a:latin typeface="Tahoma"/>
                <a:cs typeface="Tahoma"/>
              </a:rPr>
              <a:t>OTC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H</a:t>
            </a:r>
            <a:r>
              <a:rPr dirty="0" sz="8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	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Always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wrap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each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condition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in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parentheses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when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combining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900" spc="3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&amp;</a:t>
            </a:r>
            <a:r>
              <a:rPr dirty="0" sz="800" spc="1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or</a:t>
            </a:r>
            <a:r>
              <a:rPr dirty="0" sz="900" spc="3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|</a:t>
            </a:r>
            <a:r>
              <a:rPr dirty="0" sz="800" spc="-8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r>
              <a:rPr dirty="0" sz="900" spc="3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df[df["age"]</a:t>
            </a:r>
            <a:r>
              <a:rPr dirty="0" sz="800" spc="5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&gt;</a:t>
            </a:r>
            <a:r>
              <a:rPr dirty="0" sz="800" spc="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20</a:t>
            </a:r>
            <a:r>
              <a:rPr dirty="0" sz="800" spc="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&amp;</a:t>
            </a:r>
            <a:r>
              <a:rPr dirty="0" sz="800" spc="5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df["city"]</a:t>
            </a:r>
            <a:r>
              <a:rPr dirty="0" sz="800" spc="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==</a:t>
            </a:r>
            <a:r>
              <a:rPr dirty="0" sz="800" spc="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283"/>
                </a:solidFill>
                <a:latin typeface="Courier New"/>
                <a:cs typeface="Courier New"/>
              </a:rPr>
              <a:t>"Amritsar"]</a:t>
            </a:r>
            <a:r>
              <a:rPr dirty="0" sz="800" spc="1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raises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TypeError</a:t>
            </a:r>
            <a:r>
              <a:rPr dirty="0" sz="900" spc="-105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Pandas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operator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precedence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is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different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from</a:t>
            </a:r>
            <a:r>
              <a:rPr dirty="0" sz="9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Python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9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407417" y="6050669"/>
            <a:ext cx="130048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parens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are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not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optional.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11075887" y="6431213"/>
            <a:ext cx="426720" cy="1536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00" spc="-1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 spc="-11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9</a:t>
            </a:r>
            <a:r>
              <a:rPr dirty="0" sz="800" spc="12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5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11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797E94"/>
                </a:solidFill>
                <a:latin typeface="Trebuchet MS"/>
                <a:cs typeface="Trebuchet MS"/>
              </a:rPr>
              <a:t>8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13125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1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4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99947" y="530225"/>
            <a:ext cx="19989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6</a:t>
            </a:r>
            <a:r>
              <a:rPr dirty="0" sz="900" spc="14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2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797E94"/>
                </a:solidFill>
                <a:latin typeface="Tahoma"/>
                <a:cs typeface="Tahoma"/>
              </a:rPr>
              <a:t>K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G</a:t>
            </a:r>
            <a:r>
              <a:rPr dirty="0" sz="9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900" spc="2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ATA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0"/>
              <a:t>sort_values</a:t>
            </a:r>
            <a:r>
              <a:rPr dirty="0" spc="-180"/>
              <a:t> </a:t>
            </a:r>
            <a:r>
              <a:rPr dirty="0" spc="-25">
                <a:solidFill>
                  <a:srgbClr val="293283"/>
                </a:solidFill>
              </a:rPr>
              <a:t>—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229">
                <a:solidFill>
                  <a:srgbClr val="293283"/>
                </a:solidFill>
              </a:rPr>
              <a:t>reorder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265">
                <a:solidFill>
                  <a:srgbClr val="293283"/>
                </a:solidFill>
              </a:rPr>
              <a:t>rows</a:t>
            </a:r>
            <a:r>
              <a:rPr dirty="0" spc="-180">
                <a:solidFill>
                  <a:srgbClr val="293283"/>
                </a:solidFill>
              </a:rPr>
              <a:t> </a:t>
            </a:r>
            <a:r>
              <a:rPr dirty="0" spc="-240">
                <a:solidFill>
                  <a:srgbClr val="293283"/>
                </a:solidFill>
              </a:rPr>
              <a:t>by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235">
                <a:solidFill>
                  <a:srgbClr val="293283"/>
                </a:solidFill>
              </a:rPr>
              <a:t>one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204">
                <a:solidFill>
                  <a:srgbClr val="293283"/>
                </a:solidFill>
              </a:rPr>
              <a:t>or</a:t>
            </a:r>
            <a:r>
              <a:rPr dirty="0" spc="-180">
                <a:solidFill>
                  <a:srgbClr val="293283"/>
                </a:solidFill>
              </a:rPr>
              <a:t> </a:t>
            </a:r>
            <a:r>
              <a:rPr dirty="0" spc="-254">
                <a:solidFill>
                  <a:srgbClr val="293283"/>
                </a:solidFill>
              </a:rPr>
              <a:t>more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185">
                <a:solidFill>
                  <a:srgbClr val="293283"/>
                </a:solidFill>
              </a:rPr>
              <a:t>columns.</a:t>
            </a:r>
          </a:p>
        </p:txBody>
      </p:sp>
      <p:sp>
        <p:nvSpPr>
          <p:cNvPr id="5" name="object 5"/>
          <p:cNvSpPr/>
          <p:nvPr/>
        </p:nvSpPr>
        <p:spPr>
          <a:xfrm>
            <a:off x="2181224" y="1209674"/>
            <a:ext cx="676275" cy="142875"/>
          </a:xfrm>
          <a:custGeom>
            <a:avLst/>
            <a:gdLst/>
            <a:ahLst/>
            <a:cxnLst/>
            <a:rect l="l" t="t" r="r" b="b"/>
            <a:pathLst>
              <a:path w="676275" h="142875">
                <a:moveTo>
                  <a:pt x="651489" y="142874"/>
                </a:moveTo>
                <a:lnTo>
                  <a:pt x="24785" y="142874"/>
                </a:lnTo>
                <a:lnTo>
                  <a:pt x="21140" y="142149"/>
                </a:lnTo>
                <a:lnTo>
                  <a:pt x="0" y="118089"/>
                </a:lnTo>
                <a:lnTo>
                  <a:pt x="0" y="114299"/>
                </a:lnTo>
                <a:lnTo>
                  <a:pt x="0" y="24785"/>
                </a:lnTo>
                <a:lnTo>
                  <a:pt x="24785" y="0"/>
                </a:lnTo>
                <a:lnTo>
                  <a:pt x="651489" y="0"/>
                </a:lnTo>
                <a:lnTo>
                  <a:pt x="676274" y="24785"/>
                </a:lnTo>
                <a:lnTo>
                  <a:pt x="676274" y="118089"/>
                </a:lnTo>
                <a:lnTo>
                  <a:pt x="655134" y="142149"/>
                </a:lnTo>
                <a:lnTo>
                  <a:pt x="651489" y="1428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48049" y="1209674"/>
            <a:ext cx="352425" cy="142875"/>
          </a:xfrm>
          <a:custGeom>
            <a:avLst/>
            <a:gdLst/>
            <a:ahLst/>
            <a:cxnLst/>
            <a:rect l="l" t="t" r="r" b="b"/>
            <a:pathLst>
              <a:path w="352425" h="142875">
                <a:moveTo>
                  <a:pt x="327639" y="142874"/>
                </a:moveTo>
                <a:lnTo>
                  <a:pt x="24785" y="142874"/>
                </a:lnTo>
                <a:lnTo>
                  <a:pt x="21140" y="142149"/>
                </a:lnTo>
                <a:lnTo>
                  <a:pt x="0" y="118089"/>
                </a:lnTo>
                <a:lnTo>
                  <a:pt x="0" y="114299"/>
                </a:lnTo>
                <a:lnTo>
                  <a:pt x="0" y="24785"/>
                </a:lnTo>
                <a:lnTo>
                  <a:pt x="24785" y="0"/>
                </a:lnTo>
                <a:lnTo>
                  <a:pt x="327639" y="0"/>
                </a:lnTo>
                <a:lnTo>
                  <a:pt x="352424" y="24785"/>
                </a:lnTo>
                <a:lnTo>
                  <a:pt x="352424" y="118089"/>
                </a:lnTo>
                <a:lnTo>
                  <a:pt x="331284" y="142149"/>
                </a:lnTo>
                <a:lnTo>
                  <a:pt x="327639" y="1428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67174" y="1209674"/>
            <a:ext cx="552450" cy="142875"/>
          </a:xfrm>
          <a:custGeom>
            <a:avLst/>
            <a:gdLst/>
            <a:ahLst/>
            <a:cxnLst/>
            <a:rect l="l" t="t" r="r" b="b"/>
            <a:pathLst>
              <a:path w="552450" h="142875">
                <a:moveTo>
                  <a:pt x="527664" y="142874"/>
                </a:moveTo>
                <a:lnTo>
                  <a:pt x="24785" y="142874"/>
                </a:lnTo>
                <a:lnTo>
                  <a:pt x="21140" y="142149"/>
                </a:lnTo>
                <a:lnTo>
                  <a:pt x="0" y="118089"/>
                </a:lnTo>
                <a:lnTo>
                  <a:pt x="0" y="114299"/>
                </a:lnTo>
                <a:lnTo>
                  <a:pt x="0" y="24785"/>
                </a:lnTo>
                <a:lnTo>
                  <a:pt x="24785" y="0"/>
                </a:lnTo>
                <a:lnTo>
                  <a:pt x="527664" y="0"/>
                </a:lnTo>
                <a:lnTo>
                  <a:pt x="552449" y="24785"/>
                </a:lnTo>
                <a:lnTo>
                  <a:pt x="552449" y="118089"/>
                </a:lnTo>
                <a:lnTo>
                  <a:pt x="531309" y="142149"/>
                </a:lnTo>
                <a:lnTo>
                  <a:pt x="527664" y="1428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00648" y="1209674"/>
            <a:ext cx="419100" cy="142875"/>
          </a:xfrm>
          <a:custGeom>
            <a:avLst/>
            <a:gdLst/>
            <a:ahLst/>
            <a:cxnLst/>
            <a:rect l="l" t="t" r="r" b="b"/>
            <a:pathLst>
              <a:path w="419100" h="142875">
                <a:moveTo>
                  <a:pt x="394314" y="142874"/>
                </a:moveTo>
                <a:lnTo>
                  <a:pt x="24785" y="142874"/>
                </a:lnTo>
                <a:lnTo>
                  <a:pt x="21140" y="142149"/>
                </a:lnTo>
                <a:lnTo>
                  <a:pt x="0" y="118089"/>
                </a:lnTo>
                <a:lnTo>
                  <a:pt x="0" y="114299"/>
                </a:lnTo>
                <a:lnTo>
                  <a:pt x="0" y="24785"/>
                </a:lnTo>
                <a:lnTo>
                  <a:pt x="24785" y="0"/>
                </a:lnTo>
                <a:lnTo>
                  <a:pt x="394314" y="0"/>
                </a:lnTo>
                <a:lnTo>
                  <a:pt x="419099" y="24785"/>
                </a:lnTo>
                <a:lnTo>
                  <a:pt x="419099" y="118089"/>
                </a:lnTo>
                <a:lnTo>
                  <a:pt x="397959" y="142149"/>
                </a:lnTo>
                <a:lnTo>
                  <a:pt x="394314" y="1428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73099" y="1177925"/>
            <a:ext cx="8201659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60">
                <a:solidFill>
                  <a:srgbClr val="4A4E6A"/>
                </a:solidFill>
                <a:latin typeface="Trebuchet MS"/>
                <a:cs typeface="Trebuchet MS"/>
              </a:rPr>
              <a:t>Simple,</a:t>
            </a:r>
            <a:r>
              <a:rPr dirty="0" sz="95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but</a:t>
            </a:r>
            <a:r>
              <a:rPr dirty="0" sz="9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95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two</a:t>
            </a:r>
            <a:r>
              <a:rPr dirty="0" sz="9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rebuchet MS"/>
                <a:cs typeface="Trebuchet MS"/>
              </a:rPr>
              <a:t>gotchas:</a:t>
            </a:r>
            <a:r>
              <a:rPr dirty="0" sz="950" spc="30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ascending</a:t>
            </a:r>
            <a:r>
              <a:rPr dirty="0" sz="850" spc="7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defaults</a:t>
            </a:r>
            <a:r>
              <a:rPr dirty="0" sz="9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>
                <a:solidFill>
                  <a:srgbClr val="4A4E6A"/>
                </a:solidFill>
                <a:latin typeface="Trebuchet MS"/>
                <a:cs typeface="Trebuchet MS"/>
              </a:rPr>
              <a:t>to</a:t>
            </a:r>
            <a:r>
              <a:rPr dirty="0" sz="950" spc="30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True</a:t>
            </a:r>
            <a:r>
              <a:rPr dirty="0" sz="850" spc="-1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 spc="-114">
                <a:solidFill>
                  <a:srgbClr val="4A4E6A"/>
                </a:solidFill>
                <a:latin typeface="Trebuchet MS"/>
                <a:cs typeface="Trebuchet MS"/>
              </a:rPr>
              <a:t>,</a:t>
            </a:r>
            <a:r>
              <a:rPr dirty="0" sz="9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r>
              <a:rPr dirty="0" sz="950" spc="30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inplace</a:t>
            </a:r>
            <a:r>
              <a:rPr dirty="0" sz="850" spc="7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defaults</a:t>
            </a:r>
            <a:r>
              <a:rPr dirty="0" sz="9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>
                <a:solidFill>
                  <a:srgbClr val="4A4E6A"/>
                </a:solidFill>
                <a:latin typeface="Trebuchet MS"/>
                <a:cs typeface="Trebuchet MS"/>
              </a:rPr>
              <a:t>to</a:t>
            </a:r>
            <a:r>
              <a:rPr dirty="0" sz="950" spc="30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False</a:t>
            </a:r>
            <a:r>
              <a:rPr dirty="0" sz="850" spc="-1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 spc="-105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r>
              <a:rPr dirty="0" sz="9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Get</a:t>
            </a:r>
            <a:r>
              <a:rPr dirty="0" sz="95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these</a:t>
            </a:r>
            <a:r>
              <a:rPr dirty="0" sz="9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wrong</a:t>
            </a:r>
            <a:r>
              <a:rPr dirty="0" sz="95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r>
              <a:rPr dirty="0" sz="9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rebuchet MS"/>
                <a:cs typeface="Trebuchet MS"/>
              </a:rPr>
              <a:t>you</a:t>
            </a:r>
            <a:r>
              <a:rPr dirty="0" sz="95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60">
                <a:solidFill>
                  <a:srgbClr val="4A4E6A"/>
                </a:solidFill>
                <a:latin typeface="Trebuchet MS"/>
                <a:cs typeface="Trebuchet MS"/>
              </a:rPr>
              <a:t>will</a:t>
            </a:r>
            <a:r>
              <a:rPr dirty="0" sz="9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wonder</a:t>
            </a:r>
            <a:r>
              <a:rPr dirty="0" sz="95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why</a:t>
            </a:r>
            <a:r>
              <a:rPr dirty="0" sz="9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your</a:t>
            </a:r>
            <a:r>
              <a:rPr dirty="0" sz="95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sort</a:t>
            </a:r>
            <a:r>
              <a:rPr dirty="0" sz="9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rebuchet MS"/>
                <a:cs typeface="Trebuchet MS"/>
              </a:rPr>
              <a:t>didn't</a:t>
            </a:r>
            <a:r>
              <a:rPr dirty="0" sz="95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rebuchet MS"/>
                <a:cs typeface="Trebuchet MS"/>
              </a:rPr>
              <a:t>work.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85799" y="1485900"/>
            <a:ext cx="5276850" cy="4448175"/>
            <a:chOff x="685799" y="1485900"/>
            <a:chExt cx="5276850" cy="444817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5324" y="1523999"/>
              <a:ext cx="5257799" cy="44005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00425" y="1485900"/>
              <a:ext cx="5247640" cy="81280"/>
            </a:xfrm>
            <a:custGeom>
              <a:avLst/>
              <a:gdLst/>
              <a:ahLst/>
              <a:cxnLst/>
              <a:rect l="l" t="t" r="r" b="b"/>
              <a:pathLst>
                <a:path w="5247640" h="81280">
                  <a:moveTo>
                    <a:pt x="5606" y="80929"/>
                  </a:moveTo>
                  <a:lnTo>
                    <a:pt x="0" y="58503"/>
                  </a:lnTo>
                  <a:lnTo>
                    <a:pt x="4533" y="50929"/>
                  </a:lnTo>
                  <a:lnTo>
                    <a:pt x="4619" y="50786"/>
                  </a:lnTo>
                  <a:lnTo>
                    <a:pt x="36160" y="19244"/>
                  </a:lnTo>
                  <a:lnTo>
                    <a:pt x="77371" y="2175"/>
                  </a:lnTo>
                  <a:lnTo>
                    <a:pt x="99674" y="0"/>
                  </a:lnTo>
                  <a:lnTo>
                    <a:pt x="5147923" y="0"/>
                  </a:lnTo>
                  <a:lnTo>
                    <a:pt x="5191664" y="8700"/>
                  </a:lnTo>
                  <a:lnTo>
                    <a:pt x="5228745" y="33477"/>
                  </a:lnTo>
                  <a:lnTo>
                    <a:pt x="5232942" y="38099"/>
                  </a:lnTo>
                  <a:lnTo>
                    <a:pt x="99674" y="38099"/>
                  </a:lnTo>
                  <a:lnTo>
                    <a:pt x="89352" y="38462"/>
                  </a:lnTo>
                  <a:lnTo>
                    <a:pt x="50233" y="47107"/>
                  </a:lnTo>
                  <a:lnTo>
                    <a:pt x="12540" y="71957"/>
                  </a:lnTo>
                  <a:lnTo>
                    <a:pt x="7284" y="78342"/>
                  </a:lnTo>
                  <a:lnTo>
                    <a:pt x="5606" y="80929"/>
                  </a:lnTo>
                  <a:close/>
                </a:path>
                <a:path w="5247640" h="81280">
                  <a:moveTo>
                    <a:pt x="5241991" y="80929"/>
                  </a:moveTo>
                  <a:lnTo>
                    <a:pt x="5206144" y="50929"/>
                  </a:lnTo>
                  <a:lnTo>
                    <a:pt x="5168368" y="39550"/>
                  </a:lnTo>
                  <a:lnTo>
                    <a:pt x="5147923" y="38099"/>
                  </a:lnTo>
                  <a:lnTo>
                    <a:pt x="5232942" y="38099"/>
                  </a:lnTo>
                  <a:lnTo>
                    <a:pt x="5236323" y="41823"/>
                  </a:lnTo>
                  <a:lnTo>
                    <a:pt x="5242978" y="50786"/>
                  </a:lnTo>
                  <a:lnTo>
                    <a:pt x="5247597" y="58503"/>
                  </a:lnTo>
                  <a:lnTo>
                    <a:pt x="5241991" y="80929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85787" y="1544129"/>
              <a:ext cx="5276850" cy="4390390"/>
            </a:xfrm>
            <a:custGeom>
              <a:avLst/>
              <a:gdLst/>
              <a:ahLst/>
              <a:cxnLst/>
              <a:rect l="l" t="t" r="r" b="b"/>
              <a:pathLst>
                <a:path w="5276850" h="4390390">
                  <a:moveTo>
                    <a:pt x="5276850" y="56070"/>
                  </a:moveTo>
                  <a:lnTo>
                    <a:pt x="5268150" y="12331"/>
                  </a:lnTo>
                  <a:lnTo>
                    <a:pt x="5262067" y="0"/>
                  </a:lnTo>
                  <a:lnTo>
                    <a:pt x="5256454" y="22440"/>
                  </a:lnTo>
                  <a:lnTo>
                    <a:pt x="5259349" y="26911"/>
                  </a:lnTo>
                  <a:lnTo>
                    <a:pt x="5262842" y="33985"/>
                  </a:lnTo>
                  <a:lnTo>
                    <a:pt x="5265331" y="41211"/>
                  </a:lnTo>
                  <a:lnTo>
                    <a:pt x="5266829" y="48564"/>
                  </a:lnTo>
                  <a:lnTo>
                    <a:pt x="5267325" y="56070"/>
                  </a:lnTo>
                  <a:lnTo>
                    <a:pt x="5267325" y="4275645"/>
                  </a:lnTo>
                  <a:lnTo>
                    <a:pt x="5259349" y="4315752"/>
                  </a:lnTo>
                  <a:lnTo>
                    <a:pt x="5236184" y="4350156"/>
                  </a:lnTo>
                  <a:lnTo>
                    <a:pt x="5202656" y="4372445"/>
                  </a:lnTo>
                  <a:lnTo>
                    <a:pt x="5162550" y="4380420"/>
                  </a:lnTo>
                  <a:lnTo>
                    <a:pt x="114300" y="4380420"/>
                  </a:lnTo>
                  <a:lnTo>
                    <a:pt x="74206" y="4372445"/>
                  </a:lnTo>
                  <a:lnTo>
                    <a:pt x="40716" y="4350194"/>
                  </a:lnTo>
                  <a:lnTo>
                    <a:pt x="17500" y="4315752"/>
                  </a:lnTo>
                  <a:lnTo>
                    <a:pt x="9525" y="4275645"/>
                  </a:lnTo>
                  <a:lnTo>
                    <a:pt x="9525" y="56070"/>
                  </a:lnTo>
                  <a:lnTo>
                    <a:pt x="20408" y="22440"/>
                  </a:lnTo>
                  <a:lnTo>
                    <a:pt x="14795" y="0"/>
                  </a:lnTo>
                  <a:lnTo>
                    <a:pt x="546" y="44818"/>
                  </a:lnTo>
                  <a:lnTo>
                    <a:pt x="0" y="56070"/>
                  </a:lnTo>
                  <a:lnTo>
                    <a:pt x="0" y="4275645"/>
                  </a:lnTo>
                  <a:lnTo>
                    <a:pt x="8712" y="4319397"/>
                  </a:lnTo>
                  <a:lnTo>
                    <a:pt x="33528" y="4356430"/>
                  </a:lnTo>
                  <a:lnTo>
                    <a:pt x="33934" y="4356887"/>
                  </a:lnTo>
                  <a:lnTo>
                    <a:pt x="41833" y="4364050"/>
                  </a:lnTo>
                  <a:lnTo>
                    <a:pt x="81178" y="4385056"/>
                  </a:lnTo>
                  <a:lnTo>
                    <a:pt x="114300" y="4389945"/>
                  </a:lnTo>
                  <a:lnTo>
                    <a:pt x="5162550" y="4389945"/>
                  </a:lnTo>
                  <a:lnTo>
                    <a:pt x="5206301" y="4381246"/>
                  </a:lnTo>
                  <a:lnTo>
                    <a:pt x="5208041" y="4380420"/>
                  </a:lnTo>
                  <a:lnTo>
                    <a:pt x="5216487" y="4376445"/>
                  </a:lnTo>
                  <a:lnTo>
                    <a:pt x="5226075" y="4370705"/>
                  </a:lnTo>
                  <a:lnTo>
                    <a:pt x="5235029" y="4364050"/>
                  </a:lnTo>
                  <a:lnTo>
                    <a:pt x="5242865" y="4356925"/>
                  </a:lnTo>
                  <a:lnTo>
                    <a:pt x="5243373" y="4356468"/>
                  </a:lnTo>
                  <a:lnTo>
                    <a:pt x="5268150" y="4319397"/>
                  </a:lnTo>
                  <a:lnTo>
                    <a:pt x="5276850" y="4275645"/>
                  </a:lnTo>
                  <a:lnTo>
                    <a:pt x="5276850" y="56070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66774" y="1914524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49148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914899" y="0"/>
                  </a:lnTo>
                  <a:lnTo>
                    <a:pt x="4914899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66774" y="2009774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72954" y="361949"/>
                  </a:moveTo>
                  <a:lnTo>
                    <a:pt x="88995" y="361949"/>
                  </a:lnTo>
                  <a:lnTo>
                    <a:pt x="82801" y="361339"/>
                  </a:lnTo>
                  <a:lnTo>
                    <a:pt x="37131" y="342422"/>
                  </a:lnTo>
                  <a:lnTo>
                    <a:pt x="9643" y="308928"/>
                  </a:lnTo>
                  <a:lnTo>
                    <a:pt x="0" y="272954"/>
                  </a:lnTo>
                  <a:lnTo>
                    <a:pt x="0" y="2666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72954" y="0"/>
                  </a:lnTo>
                  <a:lnTo>
                    <a:pt x="314417" y="12577"/>
                  </a:lnTo>
                  <a:lnTo>
                    <a:pt x="349371" y="47531"/>
                  </a:lnTo>
                  <a:lnTo>
                    <a:pt x="361950" y="88995"/>
                  </a:lnTo>
                  <a:lnTo>
                    <a:pt x="361950" y="272954"/>
                  </a:lnTo>
                  <a:lnTo>
                    <a:pt x="349371" y="314417"/>
                  </a:lnTo>
                  <a:lnTo>
                    <a:pt x="314417" y="349371"/>
                  </a:lnTo>
                  <a:lnTo>
                    <a:pt x="279148" y="361339"/>
                  </a:lnTo>
                  <a:lnTo>
                    <a:pt x="272954" y="36194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8374" y="2136774"/>
              <a:ext cx="158750" cy="1079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343024" y="2209799"/>
              <a:ext cx="1457325" cy="133350"/>
            </a:xfrm>
            <a:custGeom>
              <a:avLst/>
              <a:gdLst/>
              <a:ahLst/>
              <a:cxnLst/>
              <a:rect l="l" t="t" r="r" b="b"/>
              <a:pathLst>
                <a:path w="1457325" h="133350">
                  <a:moveTo>
                    <a:pt x="1432539" y="133349"/>
                  </a:moveTo>
                  <a:lnTo>
                    <a:pt x="24785" y="133349"/>
                  </a:lnTo>
                  <a:lnTo>
                    <a:pt x="21140" y="132624"/>
                  </a:lnTo>
                  <a:lnTo>
                    <a:pt x="0" y="108564"/>
                  </a:lnTo>
                  <a:lnTo>
                    <a:pt x="0" y="1047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1432539" y="0"/>
                  </a:lnTo>
                  <a:lnTo>
                    <a:pt x="1457325" y="24785"/>
                  </a:lnTo>
                  <a:lnTo>
                    <a:pt x="1457325" y="108564"/>
                  </a:lnTo>
                  <a:lnTo>
                    <a:pt x="1436183" y="132624"/>
                  </a:lnTo>
                  <a:lnTo>
                    <a:pt x="1432539" y="1333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66774" y="2533649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49148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914899" y="0"/>
                  </a:lnTo>
                  <a:lnTo>
                    <a:pt x="4914899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66774" y="2628899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72954" y="361949"/>
                  </a:moveTo>
                  <a:lnTo>
                    <a:pt x="88995" y="361949"/>
                  </a:lnTo>
                  <a:lnTo>
                    <a:pt x="82801" y="361339"/>
                  </a:lnTo>
                  <a:lnTo>
                    <a:pt x="37131" y="342422"/>
                  </a:lnTo>
                  <a:lnTo>
                    <a:pt x="9643" y="308927"/>
                  </a:lnTo>
                  <a:lnTo>
                    <a:pt x="0" y="272953"/>
                  </a:lnTo>
                  <a:lnTo>
                    <a:pt x="0" y="2666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72954" y="0"/>
                  </a:lnTo>
                  <a:lnTo>
                    <a:pt x="314417" y="12577"/>
                  </a:lnTo>
                  <a:lnTo>
                    <a:pt x="349371" y="47531"/>
                  </a:lnTo>
                  <a:lnTo>
                    <a:pt x="361950" y="88995"/>
                  </a:lnTo>
                  <a:lnTo>
                    <a:pt x="361950" y="272953"/>
                  </a:lnTo>
                  <a:lnTo>
                    <a:pt x="349371" y="314417"/>
                  </a:lnTo>
                  <a:lnTo>
                    <a:pt x="314417" y="349371"/>
                  </a:lnTo>
                  <a:lnTo>
                    <a:pt x="279148" y="361339"/>
                  </a:lnTo>
                  <a:lnTo>
                    <a:pt x="272954" y="36194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8374" y="2755899"/>
              <a:ext cx="158750" cy="1079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343024" y="2828924"/>
              <a:ext cx="2047875" cy="133350"/>
            </a:xfrm>
            <a:custGeom>
              <a:avLst/>
              <a:gdLst/>
              <a:ahLst/>
              <a:cxnLst/>
              <a:rect l="l" t="t" r="r" b="b"/>
              <a:pathLst>
                <a:path w="2047875" h="133350">
                  <a:moveTo>
                    <a:pt x="2023089" y="133349"/>
                  </a:moveTo>
                  <a:lnTo>
                    <a:pt x="24785" y="133349"/>
                  </a:lnTo>
                  <a:lnTo>
                    <a:pt x="21140" y="132624"/>
                  </a:lnTo>
                  <a:lnTo>
                    <a:pt x="0" y="108564"/>
                  </a:lnTo>
                  <a:lnTo>
                    <a:pt x="0" y="1047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2023089" y="0"/>
                  </a:lnTo>
                  <a:lnTo>
                    <a:pt x="2047874" y="24785"/>
                  </a:lnTo>
                  <a:lnTo>
                    <a:pt x="2047874" y="108564"/>
                  </a:lnTo>
                  <a:lnTo>
                    <a:pt x="2026733" y="132624"/>
                  </a:lnTo>
                  <a:lnTo>
                    <a:pt x="2023089" y="1333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66774" y="3152774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49148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914899" y="0"/>
                  </a:lnTo>
                  <a:lnTo>
                    <a:pt x="4914899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66774" y="3248024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72954" y="361949"/>
                  </a:moveTo>
                  <a:lnTo>
                    <a:pt x="88995" y="361949"/>
                  </a:lnTo>
                  <a:lnTo>
                    <a:pt x="82801" y="361339"/>
                  </a:lnTo>
                  <a:lnTo>
                    <a:pt x="37131" y="342422"/>
                  </a:lnTo>
                  <a:lnTo>
                    <a:pt x="9643" y="308928"/>
                  </a:lnTo>
                  <a:lnTo>
                    <a:pt x="0" y="272953"/>
                  </a:lnTo>
                  <a:lnTo>
                    <a:pt x="0" y="2666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8"/>
                  </a:lnTo>
                  <a:lnTo>
                    <a:pt x="88995" y="0"/>
                  </a:lnTo>
                  <a:lnTo>
                    <a:pt x="272954" y="0"/>
                  </a:lnTo>
                  <a:lnTo>
                    <a:pt x="314417" y="12578"/>
                  </a:lnTo>
                  <a:lnTo>
                    <a:pt x="349371" y="47531"/>
                  </a:lnTo>
                  <a:lnTo>
                    <a:pt x="361950" y="88995"/>
                  </a:lnTo>
                  <a:lnTo>
                    <a:pt x="361950" y="272953"/>
                  </a:lnTo>
                  <a:lnTo>
                    <a:pt x="349371" y="314417"/>
                  </a:lnTo>
                  <a:lnTo>
                    <a:pt x="314417" y="349371"/>
                  </a:lnTo>
                  <a:lnTo>
                    <a:pt x="279148" y="361339"/>
                  </a:lnTo>
                  <a:lnTo>
                    <a:pt x="272954" y="36194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4724" y="3355974"/>
              <a:ext cx="146050" cy="14605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552574" y="3448049"/>
              <a:ext cx="990600" cy="133350"/>
            </a:xfrm>
            <a:custGeom>
              <a:avLst/>
              <a:gdLst/>
              <a:ahLst/>
              <a:cxnLst/>
              <a:rect l="l" t="t" r="r" b="b"/>
              <a:pathLst>
                <a:path w="990600" h="133350">
                  <a:moveTo>
                    <a:pt x="965814" y="133349"/>
                  </a:moveTo>
                  <a:lnTo>
                    <a:pt x="24785" y="133349"/>
                  </a:lnTo>
                  <a:lnTo>
                    <a:pt x="21140" y="132624"/>
                  </a:lnTo>
                  <a:lnTo>
                    <a:pt x="0" y="108564"/>
                  </a:lnTo>
                  <a:lnTo>
                    <a:pt x="0" y="1047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965814" y="0"/>
                  </a:lnTo>
                  <a:lnTo>
                    <a:pt x="990599" y="24785"/>
                  </a:lnTo>
                  <a:lnTo>
                    <a:pt x="990599" y="108564"/>
                  </a:lnTo>
                  <a:lnTo>
                    <a:pt x="969459" y="132624"/>
                  </a:lnTo>
                  <a:lnTo>
                    <a:pt x="965814" y="1333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66774" y="3771899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49148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914899" y="0"/>
                  </a:lnTo>
                  <a:lnTo>
                    <a:pt x="4914899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66774" y="3867149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72954" y="361949"/>
                  </a:moveTo>
                  <a:lnTo>
                    <a:pt x="88995" y="361949"/>
                  </a:lnTo>
                  <a:lnTo>
                    <a:pt x="82801" y="361339"/>
                  </a:lnTo>
                  <a:lnTo>
                    <a:pt x="37131" y="342422"/>
                  </a:lnTo>
                  <a:lnTo>
                    <a:pt x="9643" y="308928"/>
                  </a:lnTo>
                  <a:lnTo>
                    <a:pt x="0" y="272953"/>
                  </a:lnTo>
                  <a:lnTo>
                    <a:pt x="0" y="2666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72954" y="0"/>
                  </a:lnTo>
                  <a:lnTo>
                    <a:pt x="314417" y="12577"/>
                  </a:lnTo>
                  <a:lnTo>
                    <a:pt x="349371" y="47531"/>
                  </a:lnTo>
                  <a:lnTo>
                    <a:pt x="361950" y="88995"/>
                  </a:lnTo>
                  <a:lnTo>
                    <a:pt x="361950" y="272953"/>
                  </a:lnTo>
                  <a:lnTo>
                    <a:pt x="349371" y="314417"/>
                  </a:lnTo>
                  <a:lnTo>
                    <a:pt x="314417" y="349371"/>
                  </a:lnTo>
                  <a:lnTo>
                    <a:pt x="279148" y="361339"/>
                  </a:lnTo>
                  <a:lnTo>
                    <a:pt x="272954" y="36194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8849" y="3949699"/>
              <a:ext cx="168275" cy="19685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52874" y="4067174"/>
              <a:ext cx="800100" cy="133350"/>
            </a:xfrm>
            <a:custGeom>
              <a:avLst/>
              <a:gdLst/>
              <a:ahLst/>
              <a:cxnLst/>
              <a:rect l="l" t="t" r="r" b="b"/>
              <a:pathLst>
                <a:path w="800100" h="133350">
                  <a:moveTo>
                    <a:pt x="775314" y="133349"/>
                  </a:moveTo>
                  <a:lnTo>
                    <a:pt x="24785" y="133349"/>
                  </a:lnTo>
                  <a:lnTo>
                    <a:pt x="21140" y="132624"/>
                  </a:lnTo>
                  <a:lnTo>
                    <a:pt x="0" y="108564"/>
                  </a:lnTo>
                  <a:lnTo>
                    <a:pt x="0" y="1047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775314" y="0"/>
                  </a:lnTo>
                  <a:lnTo>
                    <a:pt x="800099" y="24785"/>
                  </a:lnTo>
                  <a:lnTo>
                    <a:pt x="800099" y="108564"/>
                  </a:lnTo>
                  <a:lnTo>
                    <a:pt x="778959" y="132624"/>
                  </a:lnTo>
                  <a:lnTo>
                    <a:pt x="775314" y="1333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726511" y="1649412"/>
            <a:ext cx="5195570" cy="25476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35"/>
              </a:spcBef>
            </a:pP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T </a:t>
            </a:r>
            <a:r>
              <a:rPr dirty="0" sz="750" spc="-90" b="1">
                <a:solidFill>
                  <a:srgbClr val="293283"/>
                </a:solidFill>
                <a:latin typeface="Tahoma"/>
                <a:cs typeface="Tahoma"/>
              </a:rPr>
              <a:t>H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50" spc="1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293283"/>
                </a:solidFill>
                <a:latin typeface="Tahoma"/>
                <a:cs typeface="Tahoma"/>
              </a:rPr>
              <a:t>M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6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25" b="1">
                <a:solidFill>
                  <a:srgbClr val="293283"/>
                </a:solidFill>
                <a:latin typeface="Tahoma"/>
                <a:cs typeface="Tahoma"/>
              </a:rPr>
              <a:t>TA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293283"/>
                </a:solidFill>
                <a:latin typeface="Tahoma"/>
                <a:cs typeface="Tahoma"/>
              </a:rPr>
              <a:t>L</a:t>
            </a:r>
            <a:r>
              <a:rPr dirty="0" sz="750" spc="22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293283"/>
                </a:solidFill>
                <a:latin typeface="Tahoma"/>
                <a:cs typeface="Tahoma"/>
              </a:rPr>
              <a:t>M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55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75" b="1">
                <a:solidFill>
                  <a:srgbClr val="293283"/>
                </a:solidFill>
                <a:latin typeface="Tahoma"/>
                <a:cs typeface="Tahoma"/>
              </a:rPr>
              <a:t>D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293283"/>
                </a:solidFill>
                <a:latin typeface="Tahoma"/>
                <a:cs typeface="Tahoma"/>
              </a:rPr>
              <a:t>L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750">
              <a:latin typeface="Tahoma"/>
              <a:cs typeface="Tahoma"/>
            </a:endParaRPr>
          </a:p>
          <a:p>
            <a:pPr marL="615950">
              <a:lnSpc>
                <a:spcPct val="100000"/>
              </a:lnSpc>
            </a:pPr>
            <a:r>
              <a:rPr dirty="0" sz="950" spc="-110" b="1">
                <a:solidFill>
                  <a:srgbClr val="1B1F3A"/>
                </a:solidFill>
                <a:latin typeface="Tahoma"/>
                <a:cs typeface="Tahoma"/>
              </a:rPr>
              <a:t>Single</a:t>
            </a:r>
            <a:r>
              <a:rPr dirty="0" sz="950" spc="-5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1B1F3A"/>
                </a:solidFill>
                <a:latin typeface="Tahoma"/>
                <a:cs typeface="Tahoma"/>
              </a:rPr>
              <a:t>column</a:t>
            </a:r>
            <a:endParaRPr sz="950">
              <a:latin typeface="Tahoma"/>
              <a:cs typeface="Tahoma"/>
            </a:endParaRPr>
          </a:p>
          <a:p>
            <a:pPr marL="663575">
              <a:lnSpc>
                <a:spcPct val="100000"/>
              </a:lnSpc>
              <a:spcBef>
                <a:spcPts val="385"/>
              </a:spcBef>
            </a:pP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df.sort_values("marks")</a:t>
            </a:r>
            <a:r>
              <a:rPr dirty="0" sz="750" spc="254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150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sort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one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column,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ascending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default.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850">
              <a:latin typeface="Trebuchet MS"/>
              <a:cs typeface="Trebuchet MS"/>
            </a:endParaRPr>
          </a:p>
          <a:p>
            <a:pPr marL="615950">
              <a:lnSpc>
                <a:spcPct val="100000"/>
              </a:lnSpc>
            </a:pPr>
            <a:r>
              <a:rPr dirty="0" sz="950" spc="-75" b="1">
                <a:solidFill>
                  <a:srgbClr val="1B1F3A"/>
                </a:solidFill>
                <a:latin typeface="Tahoma"/>
                <a:cs typeface="Tahoma"/>
              </a:rPr>
              <a:t>Multiple</a:t>
            </a:r>
            <a:r>
              <a:rPr dirty="0" sz="950" spc="-5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1B1F3A"/>
                </a:solidFill>
                <a:latin typeface="Tahoma"/>
                <a:cs typeface="Tahoma"/>
              </a:rPr>
              <a:t>columns</a:t>
            </a:r>
            <a:endParaRPr sz="950">
              <a:latin typeface="Tahoma"/>
              <a:cs typeface="Tahoma"/>
            </a:endParaRPr>
          </a:p>
          <a:p>
            <a:pPr marL="663575">
              <a:lnSpc>
                <a:spcPct val="100000"/>
              </a:lnSpc>
              <a:spcBef>
                <a:spcPts val="385"/>
              </a:spcBef>
            </a:pP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df.sort_values(["city",</a:t>
            </a:r>
            <a:r>
              <a:rPr dirty="0" sz="750" spc="114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"marks"])</a:t>
            </a:r>
            <a:r>
              <a:rPr dirty="0" sz="750" spc="2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150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sort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65">
                <a:solidFill>
                  <a:srgbClr val="4A4E6A"/>
                </a:solidFill>
                <a:latin typeface="Trebuchet MS"/>
                <a:cs typeface="Trebuchet MS"/>
              </a:rPr>
              <a:t>city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65">
                <a:solidFill>
                  <a:srgbClr val="4A4E6A"/>
                </a:solidFill>
                <a:latin typeface="Trebuchet MS"/>
                <a:cs typeface="Trebuchet MS"/>
              </a:rPr>
              <a:t>first,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then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marks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within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each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city.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850">
              <a:latin typeface="Trebuchet MS"/>
              <a:cs typeface="Trebuchet MS"/>
            </a:endParaRPr>
          </a:p>
          <a:p>
            <a:pPr marL="615950">
              <a:lnSpc>
                <a:spcPct val="100000"/>
              </a:lnSpc>
              <a:spcBef>
                <a:spcPts val="5"/>
              </a:spcBef>
            </a:pPr>
            <a:r>
              <a:rPr dirty="0" sz="950" spc="-10" b="1">
                <a:solidFill>
                  <a:srgbClr val="1B1F3A"/>
                </a:solidFill>
                <a:latin typeface="Tahoma"/>
                <a:cs typeface="Tahoma"/>
              </a:rPr>
              <a:t>Descending</a:t>
            </a:r>
            <a:endParaRPr sz="950">
              <a:latin typeface="Tahoma"/>
              <a:cs typeface="Tahoma"/>
            </a:endParaRPr>
          </a:p>
          <a:p>
            <a:pPr marL="615950">
              <a:lnSpc>
                <a:spcPct val="100000"/>
              </a:lnSpc>
              <a:spcBef>
                <a:spcPts val="384"/>
              </a:spcBef>
            </a:pP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Pass</a:t>
            </a:r>
            <a:r>
              <a:rPr dirty="0" sz="850" spc="3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ascending=False</a:t>
            </a:r>
            <a:r>
              <a:rPr dirty="0" sz="750" spc="14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to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flip</a:t>
            </a:r>
            <a:r>
              <a:rPr dirty="0" sz="8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order.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850">
              <a:latin typeface="Trebuchet MS"/>
              <a:cs typeface="Trebuchet MS"/>
            </a:endParaRPr>
          </a:p>
          <a:p>
            <a:pPr marL="615950">
              <a:lnSpc>
                <a:spcPct val="100000"/>
              </a:lnSpc>
            </a:pPr>
            <a:r>
              <a:rPr dirty="0" sz="950" spc="-114" b="1">
                <a:solidFill>
                  <a:srgbClr val="1B1F3A"/>
                </a:solidFill>
                <a:latin typeface="Tahoma"/>
                <a:cs typeface="Tahoma"/>
              </a:rPr>
              <a:t>Returns</a:t>
            </a:r>
            <a:r>
              <a:rPr dirty="0" sz="950" spc="-6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90" b="1">
                <a:solidFill>
                  <a:srgbClr val="1B1F3A"/>
                </a:solidFill>
                <a:latin typeface="Tahoma"/>
                <a:cs typeface="Tahoma"/>
              </a:rPr>
              <a:t>a</a:t>
            </a:r>
            <a:r>
              <a:rPr dirty="0" sz="950" spc="-6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20" b="1">
                <a:solidFill>
                  <a:srgbClr val="1B1F3A"/>
                </a:solidFill>
                <a:latin typeface="Tahoma"/>
                <a:cs typeface="Tahoma"/>
              </a:rPr>
              <a:t>copy</a:t>
            </a:r>
            <a:endParaRPr sz="950">
              <a:latin typeface="Tahoma"/>
              <a:cs typeface="Tahoma"/>
            </a:endParaRPr>
          </a:p>
          <a:p>
            <a:pPr marL="615950">
              <a:lnSpc>
                <a:spcPct val="100000"/>
              </a:lnSpc>
              <a:spcBef>
                <a:spcPts val="385"/>
              </a:spcBef>
            </a:pP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Default: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 returns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new 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DataFrame,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 original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unchanged.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Use</a:t>
            </a:r>
            <a:r>
              <a:rPr dirty="0" sz="850" spc="39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inplace=True</a:t>
            </a:r>
            <a:r>
              <a:rPr dirty="0" sz="750" spc="21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to modify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original.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095998" y="1485899"/>
            <a:ext cx="5410200" cy="4448175"/>
            <a:chOff x="6095998" y="1485899"/>
            <a:chExt cx="5410200" cy="4448175"/>
          </a:xfrm>
        </p:grpSpPr>
        <p:sp>
          <p:nvSpPr>
            <p:cNvPr id="32" name="object 32"/>
            <p:cNvSpPr/>
            <p:nvPr/>
          </p:nvSpPr>
          <p:spPr>
            <a:xfrm>
              <a:off x="6100761" y="1490662"/>
              <a:ext cx="5400675" cy="4438650"/>
            </a:xfrm>
            <a:custGeom>
              <a:avLst/>
              <a:gdLst/>
              <a:ahLst/>
              <a:cxnLst/>
              <a:rect l="l" t="t" r="r" b="b"/>
              <a:pathLst>
                <a:path w="5400675" h="4438650">
                  <a:moveTo>
                    <a:pt x="5298329" y="4438649"/>
                  </a:moveTo>
                  <a:lnTo>
                    <a:pt x="102345" y="4438649"/>
                  </a:lnTo>
                  <a:lnTo>
                    <a:pt x="95222" y="4437947"/>
                  </a:lnTo>
                  <a:lnTo>
                    <a:pt x="54661" y="4424184"/>
                  </a:lnTo>
                  <a:lnTo>
                    <a:pt x="22456" y="4395947"/>
                  </a:lnTo>
                  <a:lnTo>
                    <a:pt x="3507" y="4357534"/>
                  </a:lnTo>
                  <a:lnTo>
                    <a:pt x="0" y="4336304"/>
                  </a:lnTo>
                  <a:lnTo>
                    <a:pt x="0" y="4329112"/>
                  </a:lnTo>
                  <a:lnTo>
                    <a:pt x="0" y="102344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5298329" y="0"/>
                  </a:lnTo>
                  <a:lnTo>
                    <a:pt x="5339699" y="11090"/>
                  </a:lnTo>
                  <a:lnTo>
                    <a:pt x="5373677" y="37168"/>
                  </a:lnTo>
                  <a:lnTo>
                    <a:pt x="5395088" y="74263"/>
                  </a:lnTo>
                  <a:lnTo>
                    <a:pt x="5400673" y="102344"/>
                  </a:lnTo>
                  <a:lnTo>
                    <a:pt x="5400673" y="4336304"/>
                  </a:lnTo>
                  <a:lnTo>
                    <a:pt x="5389583" y="4377674"/>
                  </a:lnTo>
                  <a:lnTo>
                    <a:pt x="5363506" y="4411651"/>
                  </a:lnTo>
                  <a:lnTo>
                    <a:pt x="5326409" y="4433063"/>
                  </a:lnTo>
                  <a:lnTo>
                    <a:pt x="5305453" y="4437947"/>
                  </a:lnTo>
                  <a:lnTo>
                    <a:pt x="5298329" y="443864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100761" y="1490662"/>
              <a:ext cx="5400675" cy="4438650"/>
            </a:xfrm>
            <a:custGeom>
              <a:avLst/>
              <a:gdLst/>
              <a:ahLst/>
              <a:cxnLst/>
              <a:rect l="l" t="t" r="r" b="b"/>
              <a:pathLst>
                <a:path w="5400675" h="4438650">
                  <a:moveTo>
                    <a:pt x="0" y="43291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5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0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8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5291137" y="0"/>
                  </a:lnTo>
                  <a:lnTo>
                    <a:pt x="5298329" y="0"/>
                  </a:lnTo>
                  <a:lnTo>
                    <a:pt x="5305453" y="701"/>
                  </a:lnTo>
                  <a:lnTo>
                    <a:pt x="5312507" y="2104"/>
                  </a:lnTo>
                  <a:lnTo>
                    <a:pt x="5319561" y="3507"/>
                  </a:lnTo>
                  <a:lnTo>
                    <a:pt x="5351993" y="18460"/>
                  </a:lnTo>
                  <a:lnTo>
                    <a:pt x="5357973" y="22456"/>
                  </a:lnTo>
                  <a:lnTo>
                    <a:pt x="5363506" y="26996"/>
                  </a:lnTo>
                  <a:lnTo>
                    <a:pt x="5368592" y="32082"/>
                  </a:lnTo>
                  <a:lnTo>
                    <a:pt x="5373677" y="37168"/>
                  </a:lnTo>
                  <a:lnTo>
                    <a:pt x="5395088" y="74263"/>
                  </a:lnTo>
                  <a:lnTo>
                    <a:pt x="5398569" y="88167"/>
                  </a:lnTo>
                  <a:lnTo>
                    <a:pt x="5399972" y="95221"/>
                  </a:lnTo>
                  <a:lnTo>
                    <a:pt x="5400673" y="102345"/>
                  </a:lnTo>
                  <a:lnTo>
                    <a:pt x="5400675" y="109537"/>
                  </a:lnTo>
                  <a:lnTo>
                    <a:pt x="5400675" y="4329112"/>
                  </a:lnTo>
                  <a:lnTo>
                    <a:pt x="5400673" y="4336304"/>
                  </a:lnTo>
                  <a:lnTo>
                    <a:pt x="5399972" y="4343427"/>
                  </a:lnTo>
                  <a:lnTo>
                    <a:pt x="5398569" y="4350481"/>
                  </a:lnTo>
                  <a:lnTo>
                    <a:pt x="5397166" y="4357534"/>
                  </a:lnTo>
                  <a:lnTo>
                    <a:pt x="5378218" y="4395947"/>
                  </a:lnTo>
                  <a:lnTo>
                    <a:pt x="5368592" y="4406566"/>
                  </a:lnTo>
                  <a:lnTo>
                    <a:pt x="5363506" y="4411651"/>
                  </a:lnTo>
                  <a:lnTo>
                    <a:pt x="5333054" y="4430310"/>
                  </a:lnTo>
                  <a:lnTo>
                    <a:pt x="5326409" y="4433063"/>
                  </a:lnTo>
                  <a:lnTo>
                    <a:pt x="5319561" y="4435141"/>
                  </a:lnTo>
                  <a:lnTo>
                    <a:pt x="5312507" y="4436544"/>
                  </a:lnTo>
                  <a:lnTo>
                    <a:pt x="5305453" y="4437947"/>
                  </a:lnTo>
                  <a:lnTo>
                    <a:pt x="5298329" y="4438649"/>
                  </a:lnTo>
                  <a:lnTo>
                    <a:pt x="5291137" y="4438649"/>
                  </a:lnTo>
                  <a:lnTo>
                    <a:pt x="109538" y="4438649"/>
                  </a:lnTo>
                  <a:lnTo>
                    <a:pt x="102345" y="4438649"/>
                  </a:lnTo>
                  <a:lnTo>
                    <a:pt x="95222" y="4437947"/>
                  </a:lnTo>
                  <a:lnTo>
                    <a:pt x="88167" y="4436544"/>
                  </a:lnTo>
                  <a:lnTo>
                    <a:pt x="81113" y="4435141"/>
                  </a:lnTo>
                  <a:lnTo>
                    <a:pt x="74263" y="4433063"/>
                  </a:lnTo>
                  <a:lnTo>
                    <a:pt x="67619" y="4430310"/>
                  </a:lnTo>
                  <a:lnTo>
                    <a:pt x="60974" y="4427557"/>
                  </a:lnTo>
                  <a:lnTo>
                    <a:pt x="32082" y="4406566"/>
                  </a:lnTo>
                  <a:lnTo>
                    <a:pt x="26997" y="4401480"/>
                  </a:lnTo>
                  <a:lnTo>
                    <a:pt x="5585" y="4364384"/>
                  </a:lnTo>
                  <a:lnTo>
                    <a:pt x="2105" y="4350481"/>
                  </a:lnTo>
                  <a:lnTo>
                    <a:pt x="701" y="4343427"/>
                  </a:lnTo>
                  <a:lnTo>
                    <a:pt x="0" y="4336304"/>
                  </a:lnTo>
                  <a:lnTo>
                    <a:pt x="0" y="432911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105524" y="1495424"/>
              <a:ext cx="5391150" cy="276225"/>
            </a:xfrm>
            <a:custGeom>
              <a:avLst/>
              <a:gdLst/>
              <a:ahLst/>
              <a:cxnLst/>
              <a:rect l="l" t="t" r="r" b="b"/>
              <a:pathLst>
                <a:path w="5391150" h="276225">
                  <a:moveTo>
                    <a:pt x="5391149" y="276224"/>
                  </a:moveTo>
                  <a:lnTo>
                    <a:pt x="0" y="276224"/>
                  </a:lnTo>
                  <a:lnTo>
                    <a:pt x="0" y="104775"/>
                  </a:lnTo>
                  <a:lnTo>
                    <a:pt x="7975" y="64679"/>
                  </a:lnTo>
                  <a:lnTo>
                    <a:pt x="30687" y="30687"/>
                  </a:lnTo>
                  <a:lnTo>
                    <a:pt x="64678" y="7975"/>
                  </a:lnTo>
                  <a:lnTo>
                    <a:pt x="104775" y="0"/>
                  </a:lnTo>
                  <a:lnTo>
                    <a:pt x="5286375" y="0"/>
                  </a:lnTo>
                  <a:lnTo>
                    <a:pt x="5326469" y="7975"/>
                  </a:lnTo>
                  <a:lnTo>
                    <a:pt x="5360460" y="30687"/>
                  </a:lnTo>
                  <a:lnTo>
                    <a:pt x="5383172" y="64679"/>
                  </a:lnTo>
                  <a:lnTo>
                    <a:pt x="5391149" y="104775"/>
                  </a:lnTo>
                  <a:lnTo>
                    <a:pt x="5391149" y="276224"/>
                  </a:lnTo>
                  <a:close/>
                </a:path>
              </a:pathLst>
            </a:custGeom>
            <a:solidFill>
              <a:srgbClr val="1317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105524" y="1762124"/>
              <a:ext cx="5391150" cy="9525"/>
            </a:xfrm>
            <a:custGeom>
              <a:avLst/>
              <a:gdLst/>
              <a:ahLst/>
              <a:cxnLst/>
              <a:rect l="l" t="t" r="r" b="b"/>
              <a:pathLst>
                <a:path w="5391150" h="9525">
                  <a:moveTo>
                    <a:pt x="53911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391149" y="0"/>
                  </a:lnTo>
                  <a:lnTo>
                    <a:pt x="5391149" y="9524"/>
                  </a:lnTo>
                  <a:close/>
                </a:path>
              </a:pathLst>
            </a:custGeom>
            <a:solidFill>
              <a:srgbClr val="292E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38873" y="1581149"/>
              <a:ext cx="85725" cy="857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81748" y="1581149"/>
              <a:ext cx="85725" cy="8572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24623" y="1581149"/>
              <a:ext cx="85725" cy="85724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6692900" y="1539875"/>
            <a:ext cx="9467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 b="1">
                <a:solidFill>
                  <a:srgbClr val="E7E9F5"/>
                </a:solidFill>
                <a:latin typeface="Courier New"/>
                <a:cs typeface="Courier New"/>
              </a:rPr>
              <a:t>sorting_demo.py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979000" y="1539875"/>
            <a:ext cx="39243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6A6F99"/>
                </a:solidFill>
                <a:latin typeface="Courier New"/>
                <a:cs typeface="Courier New"/>
              </a:rPr>
              <a:t>PYTHON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45224" y="1818004"/>
            <a:ext cx="1962785" cy="3492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pandas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7E9F5"/>
                </a:solidFill>
                <a:latin typeface="Courier New"/>
                <a:cs typeface="Courier New"/>
              </a:rPr>
              <a:t>pd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800" spc="-1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-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pd.</a:t>
            </a:r>
            <a:r>
              <a:rPr dirty="0" sz="800" spc="-10">
                <a:solidFill>
                  <a:srgbClr val="FFD580"/>
                </a:solidFill>
                <a:latin typeface="Courier New"/>
                <a:cs typeface="Courier New"/>
              </a:rPr>
              <a:t>read_csv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"students.csv"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45224" y="2303779"/>
            <a:ext cx="2385695" cy="49212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Sort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by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one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column,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ascending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sorted_df</a:t>
            </a:r>
            <a:r>
              <a:rPr dirty="0" sz="800" spc="-1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800" spc="-10">
                <a:solidFill>
                  <a:srgbClr val="FFD580"/>
                </a:solidFill>
                <a:latin typeface="Courier New"/>
                <a:cs typeface="Courier New"/>
              </a:rPr>
              <a:t>sort_values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"marks"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lowest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marks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8B8FB4"/>
                </a:solidFill>
                <a:latin typeface="Courier New"/>
                <a:cs typeface="Courier New"/>
              </a:rPr>
              <a:t>first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245224" y="2932429"/>
            <a:ext cx="3172460" cy="49212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Sort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by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one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column,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descending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top_first</a:t>
            </a:r>
            <a:r>
              <a:rPr dirty="0" sz="800" spc="-2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sort_values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"marks"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ascending=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False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highest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marks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8B8FB4"/>
                </a:solidFill>
                <a:latin typeface="Courier New"/>
                <a:cs typeface="Courier New"/>
              </a:rPr>
              <a:t>first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257924" y="3561079"/>
            <a:ext cx="3810635" cy="80645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Sort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by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multiple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columns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Sort by city 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(A-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Z),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then by marks 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(high-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low)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within each </a:t>
            </a:r>
            <a:r>
              <a:rPr dirty="0" sz="800" spc="-20" i="1">
                <a:solidFill>
                  <a:srgbClr val="8B8FB4"/>
                </a:solidFill>
                <a:latin typeface="Courier New"/>
                <a:cs typeface="Courier New"/>
              </a:rPr>
              <a:t>city</a:t>
            </a:r>
            <a:endParaRPr sz="800">
              <a:latin typeface="Courier New"/>
              <a:cs typeface="Courier New"/>
            </a:endParaRPr>
          </a:p>
          <a:p>
            <a:pPr marL="241300" marR="1804670" indent="-241935">
              <a:lnSpc>
                <a:spcPct val="128899"/>
              </a:lnSpc>
              <a:spcBef>
                <a:spcPts val="35"/>
              </a:spcBef>
            </a:pP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city_then_marks</a:t>
            </a:r>
            <a:r>
              <a:rPr dirty="0" sz="800" spc="-15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800" spc="-10">
                <a:solidFill>
                  <a:srgbClr val="FFD580"/>
                </a:solidFill>
                <a:latin typeface="Courier New"/>
                <a:cs typeface="Courier New"/>
              </a:rPr>
              <a:t>sort_values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(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"city"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"marks"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],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ascending=[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True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False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45224" y="4368800"/>
            <a:ext cx="4562475" cy="1408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800">
              <a:latin typeface="Courier New"/>
              <a:cs typeface="Courier New"/>
            </a:endParaRPr>
          </a:p>
          <a:p>
            <a:pPr marL="12700" marR="1517015">
              <a:lnSpc>
                <a:spcPct val="132800"/>
              </a:lnSpc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Modify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in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place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(rare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prefer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copy)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B8FB4"/>
                </a:solidFill>
                <a:latin typeface="Courier New"/>
                <a:cs typeface="Courier New"/>
              </a:rPr>
              <a:t>===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2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df.sort_values("marks",</a:t>
            </a:r>
            <a:r>
              <a:rPr dirty="0" sz="800" spc="-1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inplace=True)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modifies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df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directly,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returns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8B8FB4"/>
                </a:solidFill>
                <a:latin typeface="Courier New"/>
                <a:cs typeface="Courier New"/>
              </a:rPr>
              <a:t>None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Reset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index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after</a:t>
            </a:r>
            <a:r>
              <a:rPr dirty="0" sz="8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sorting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sorted_df</a:t>
            </a:r>
            <a:r>
              <a:rPr dirty="0" sz="800" spc="-2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800">
                <a:solidFill>
                  <a:srgbClr val="FFD580"/>
                </a:solidFill>
                <a:latin typeface="Courier New"/>
                <a:cs typeface="Courier New"/>
              </a:rPr>
              <a:t>sort_values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"marks"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ascending=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False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).</a:t>
            </a:r>
            <a:r>
              <a:rPr dirty="0" sz="800" spc="-10">
                <a:solidFill>
                  <a:srgbClr val="FFD580"/>
                </a:solidFill>
                <a:latin typeface="Courier New"/>
                <a:cs typeface="Courier New"/>
              </a:rPr>
              <a:t>reset_index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(drop=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True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index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becomes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B8FB4"/>
                </a:solidFill>
                <a:latin typeface="Courier New"/>
                <a:cs typeface="Courier New"/>
              </a:rPr>
              <a:t>0,1,2,3...</a:t>
            </a:r>
            <a:r>
              <a:rPr dirty="0" sz="800" spc="-10" i="1">
                <a:solidFill>
                  <a:srgbClr val="8B8FB4"/>
                </a:solidFill>
                <a:latin typeface="Courier New"/>
                <a:cs typeface="Courier New"/>
              </a:rPr>
              <a:t> again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85799" y="6010274"/>
            <a:ext cx="10820400" cy="314325"/>
            <a:chOff x="685799" y="6010274"/>
            <a:chExt cx="10820400" cy="314325"/>
          </a:xfrm>
        </p:grpSpPr>
        <p:sp>
          <p:nvSpPr>
            <p:cNvPr id="47" name="object 47"/>
            <p:cNvSpPr/>
            <p:nvPr/>
          </p:nvSpPr>
          <p:spPr>
            <a:xfrm>
              <a:off x="690562" y="6015037"/>
              <a:ext cx="10810875" cy="304800"/>
            </a:xfrm>
            <a:custGeom>
              <a:avLst/>
              <a:gdLst/>
              <a:ahLst/>
              <a:cxnLst/>
              <a:rect l="l" t="t" r="r" b="b"/>
              <a:pathLst>
                <a:path w="10810875" h="304800">
                  <a:moveTo>
                    <a:pt x="10726327" y="304799"/>
                  </a:moveTo>
                  <a:lnTo>
                    <a:pt x="84545" y="304799"/>
                  </a:lnTo>
                  <a:lnTo>
                    <a:pt x="78661" y="304219"/>
                  </a:lnTo>
                  <a:lnTo>
                    <a:pt x="35275" y="286247"/>
                  </a:lnTo>
                  <a:lnTo>
                    <a:pt x="9161" y="254428"/>
                  </a:lnTo>
                  <a:lnTo>
                    <a:pt x="0" y="220253"/>
                  </a:lnTo>
                  <a:lnTo>
                    <a:pt x="0" y="21431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8"/>
                  </a:lnTo>
                  <a:lnTo>
                    <a:pt x="10798924" y="45154"/>
                  </a:lnTo>
                  <a:lnTo>
                    <a:pt x="10810872" y="84545"/>
                  </a:lnTo>
                  <a:lnTo>
                    <a:pt x="10810872" y="220253"/>
                  </a:lnTo>
                  <a:lnTo>
                    <a:pt x="10798924" y="259643"/>
                  </a:lnTo>
                  <a:lnTo>
                    <a:pt x="10765717" y="292850"/>
                  </a:lnTo>
                  <a:lnTo>
                    <a:pt x="10732211" y="304219"/>
                  </a:lnTo>
                  <a:lnTo>
                    <a:pt x="10726327" y="3047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90562" y="6015037"/>
              <a:ext cx="10810875" cy="304800"/>
            </a:xfrm>
            <a:custGeom>
              <a:avLst/>
              <a:gdLst/>
              <a:ahLst/>
              <a:cxnLst/>
              <a:rect l="l" t="t" r="r" b="b"/>
              <a:pathLst>
                <a:path w="10810875" h="304800">
                  <a:moveTo>
                    <a:pt x="0" y="2143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0"/>
                  </a:lnTo>
                  <a:lnTo>
                    <a:pt x="1738" y="72833"/>
                  </a:lnTo>
                  <a:lnTo>
                    <a:pt x="2897" y="67005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72834" y="173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26327" y="0"/>
                  </a:lnTo>
                  <a:lnTo>
                    <a:pt x="10732211" y="579"/>
                  </a:lnTo>
                  <a:lnTo>
                    <a:pt x="10770657" y="15249"/>
                  </a:lnTo>
                  <a:lnTo>
                    <a:pt x="10795623" y="40215"/>
                  </a:lnTo>
                  <a:lnTo>
                    <a:pt x="10798924" y="45154"/>
                  </a:lnTo>
                  <a:lnTo>
                    <a:pt x="10801711" y="50369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07975" y="67005"/>
                  </a:lnTo>
                  <a:lnTo>
                    <a:pt x="10809134" y="72833"/>
                  </a:lnTo>
                  <a:lnTo>
                    <a:pt x="10810293" y="78660"/>
                  </a:lnTo>
                  <a:lnTo>
                    <a:pt x="10810872" y="84545"/>
                  </a:lnTo>
                  <a:lnTo>
                    <a:pt x="10810874" y="90487"/>
                  </a:lnTo>
                  <a:lnTo>
                    <a:pt x="10810874" y="214312"/>
                  </a:lnTo>
                  <a:lnTo>
                    <a:pt x="10810872" y="220253"/>
                  </a:lnTo>
                  <a:lnTo>
                    <a:pt x="10810293" y="226137"/>
                  </a:lnTo>
                  <a:lnTo>
                    <a:pt x="10809134" y="231965"/>
                  </a:lnTo>
                  <a:lnTo>
                    <a:pt x="10807975" y="237792"/>
                  </a:lnTo>
                  <a:lnTo>
                    <a:pt x="10788572" y="274094"/>
                  </a:lnTo>
                  <a:lnTo>
                    <a:pt x="10755013" y="297911"/>
                  </a:lnTo>
                  <a:lnTo>
                    <a:pt x="10749524" y="300185"/>
                  </a:lnTo>
                  <a:lnTo>
                    <a:pt x="10720386" y="304799"/>
                  </a:lnTo>
                  <a:lnTo>
                    <a:pt x="90487" y="304799"/>
                  </a:lnTo>
                  <a:lnTo>
                    <a:pt x="55859" y="297911"/>
                  </a:lnTo>
                  <a:lnTo>
                    <a:pt x="50370" y="295637"/>
                  </a:lnTo>
                  <a:lnTo>
                    <a:pt x="18550" y="269523"/>
                  </a:lnTo>
                  <a:lnTo>
                    <a:pt x="1738" y="231965"/>
                  </a:lnTo>
                  <a:lnTo>
                    <a:pt x="0" y="220253"/>
                  </a:lnTo>
                  <a:lnTo>
                    <a:pt x="0" y="214312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057399" y="6095999"/>
              <a:ext cx="3705225" cy="133350"/>
            </a:xfrm>
            <a:custGeom>
              <a:avLst/>
              <a:gdLst/>
              <a:ahLst/>
              <a:cxnLst/>
              <a:rect l="l" t="t" r="r" b="b"/>
              <a:pathLst>
                <a:path w="3705225" h="133350">
                  <a:moveTo>
                    <a:pt x="3680438" y="133349"/>
                  </a:moveTo>
                  <a:lnTo>
                    <a:pt x="24785" y="133349"/>
                  </a:lnTo>
                  <a:lnTo>
                    <a:pt x="21140" y="132624"/>
                  </a:lnTo>
                  <a:lnTo>
                    <a:pt x="0" y="108563"/>
                  </a:lnTo>
                  <a:lnTo>
                    <a:pt x="0" y="1047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3680438" y="0"/>
                  </a:lnTo>
                  <a:lnTo>
                    <a:pt x="3705224" y="24785"/>
                  </a:lnTo>
                  <a:lnTo>
                    <a:pt x="3705224" y="108563"/>
                  </a:lnTo>
                  <a:lnTo>
                    <a:pt x="3684083" y="132624"/>
                  </a:lnTo>
                  <a:lnTo>
                    <a:pt x="3680438" y="133349"/>
                  </a:lnTo>
                  <a:close/>
                </a:path>
              </a:pathLst>
            </a:custGeom>
            <a:solidFill>
              <a:srgbClr val="FF6A5B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1398785" y="6078788"/>
            <a:ext cx="7098665" cy="15557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Almost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always:</a:t>
            </a:r>
            <a:r>
              <a:rPr dirty="0" sz="800" spc="4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df.sort_values("col",</a:t>
            </a:r>
            <a:r>
              <a:rPr dirty="0" sz="750" spc="15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ascending=False).reset_index(drop=True)</a:t>
            </a:r>
            <a:r>
              <a:rPr dirty="0" sz="750" spc="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10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90" b="1">
                <a:solidFill>
                  <a:srgbClr val="FF6A5B"/>
                </a:solidFill>
                <a:latin typeface="Tahoma"/>
                <a:cs typeface="Tahoma"/>
              </a:rPr>
              <a:t>reset_index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keeps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index</a:t>
            </a:r>
            <a:r>
              <a:rPr dirty="0" sz="80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clean</a:t>
            </a:r>
            <a:r>
              <a:rPr dirty="0" sz="80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after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rows</a:t>
            </a:r>
            <a:r>
              <a:rPr dirty="0" sz="80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are</a:t>
            </a:r>
            <a:r>
              <a:rPr dirty="0" sz="80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reordered.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15975" y="6092847"/>
            <a:ext cx="48005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35" b="1">
                <a:solidFill>
                  <a:srgbClr val="FF6A5B"/>
                </a:solidFill>
                <a:latin typeface="Tahoma"/>
                <a:cs typeface="Tahoma"/>
              </a:rPr>
              <a:t>PAT</a:t>
            </a:r>
            <a:r>
              <a:rPr dirty="0" sz="750" spc="-9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8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75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endParaRPr sz="750">
              <a:latin typeface="Tahoma"/>
              <a:cs typeface="Tahoma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11075887" y="6431213"/>
            <a:ext cx="426720" cy="1536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00" spc="-1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11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 spc="12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5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11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797E94"/>
                </a:solidFill>
                <a:latin typeface="Trebuchet MS"/>
                <a:cs typeface="Trebuchet MS"/>
              </a:rPr>
              <a:t>8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15360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1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5" b="1">
                <a:solidFill>
                  <a:srgbClr val="FF6A5B"/>
                </a:solidFill>
                <a:latin typeface="Tahoma"/>
                <a:cs typeface="Tahoma"/>
              </a:rPr>
              <a:t>V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2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99947" y="530225"/>
            <a:ext cx="19989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6</a:t>
            </a:r>
            <a:r>
              <a:rPr dirty="0" sz="900" spc="14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2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797E94"/>
                </a:solidFill>
                <a:latin typeface="Tahoma"/>
                <a:cs typeface="Tahoma"/>
              </a:rPr>
              <a:t>K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G</a:t>
            </a:r>
            <a:r>
              <a:rPr dirty="0" sz="9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900" spc="2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ATA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5"/>
              <a:t>loc</a:t>
            </a:r>
            <a:r>
              <a:rPr dirty="0" spc="-180"/>
              <a:t> </a:t>
            </a:r>
            <a:r>
              <a:rPr dirty="0" spc="-260">
                <a:solidFill>
                  <a:srgbClr val="293283"/>
                </a:solidFill>
              </a:rPr>
              <a:t>uses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215">
                <a:solidFill>
                  <a:srgbClr val="293283"/>
                </a:solidFill>
              </a:rPr>
              <a:t>labels.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204"/>
              <a:t>iloc</a:t>
            </a:r>
            <a:r>
              <a:rPr dirty="0" spc="-175"/>
              <a:t> </a:t>
            </a:r>
            <a:r>
              <a:rPr dirty="0" spc="-260">
                <a:solidFill>
                  <a:srgbClr val="293283"/>
                </a:solidFill>
              </a:rPr>
              <a:t>uses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220">
                <a:solidFill>
                  <a:srgbClr val="293283"/>
                </a:solidFill>
              </a:rPr>
              <a:t>positions.</a:t>
            </a:r>
            <a:r>
              <a:rPr dirty="0" spc="-180">
                <a:solidFill>
                  <a:srgbClr val="293283"/>
                </a:solidFill>
              </a:rPr>
              <a:t> </a:t>
            </a:r>
            <a:r>
              <a:rPr dirty="0" spc="-260">
                <a:solidFill>
                  <a:srgbClr val="293283"/>
                </a:solidFill>
              </a:rPr>
              <a:t>They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240">
                <a:solidFill>
                  <a:srgbClr val="293283"/>
                </a:solidFill>
              </a:rPr>
              <a:t>are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270">
                <a:solidFill>
                  <a:srgbClr val="293283"/>
                </a:solidFill>
              </a:rPr>
              <a:t>NOT</a:t>
            </a:r>
            <a:r>
              <a:rPr dirty="0" spc="-175">
                <a:solidFill>
                  <a:srgbClr val="293283"/>
                </a:solidFill>
              </a:rPr>
              <a:t> </a:t>
            </a:r>
            <a:r>
              <a:rPr dirty="0" spc="-204">
                <a:solidFill>
                  <a:srgbClr val="293283"/>
                </a:solidFill>
              </a:rPr>
              <a:t>interchangeable.</a:t>
            </a:r>
          </a:p>
        </p:txBody>
      </p:sp>
      <p:sp>
        <p:nvSpPr>
          <p:cNvPr id="5" name="object 5"/>
          <p:cNvSpPr/>
          <p:nvPr/>
        </p:nvSpPr>
        <p:spPr>
          <a:xfrm>
            <a:off x="2486024" y="1209674"/>
            <a:ext cx="295275" cy="142875"/>
          </a:xfrm>
          <a:custGeom>
            <a:avLst/>
            <a:gdLst/>
            <a:ahLst/>
            <a:cxnLst/>
            <a:rect l="l" t="t" r="r" b="b"/>
            <a:pathLst>
              <a:path w="295275" h="142875">
                <a:moveTo>
                  <a:pt x="270489" y="142874"/>
                </a:moveTo>
                <a:lnTo>
                  <a:pt x="24785" y="142874"/>
                </a:lnTo>
                <a:lnTo>
                  <a:pt x="21140" y="142149"/>
                </a:lnTo>
                <a:lnTo>
                  <a:pt x="0" y="118089"/>
                </a:lnTo>
                <a:lnTo>
                  <a:pt x="0" y="114299"/>
                </a:lnTo>
                <a:lnTo>
                  <a:pt x="0" y="24785"/>
                </a:lnTo>
                <a:lnTo>
                  <a:pt x="24785" y="0"/>
                </a:lnTo>
                <a:lnTo>
                  <a:pt x="270489" y="0"/>
                </a:lnTo>
                <a:lnTo>
                  <a:pt x="295274" y="24785"/>
                </a:lnTo>
                <a:lnTo>
                  <a:pt x="295274" y="118089"/>
                </a:lnTo>
                <a:lnTo>
                  <a:pt x="274134" y="142149"/>
                </a:lnTo>
                <a:lnTo>
                  <a:pt x="270489" y="1428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29174" y="1209674"/>
            <a:ext cx="352425" cy="142875"/>
          </a:xfrm>
          <a:custGeom>
            <a:avLst/>
            <a:gdLst/>
            <a:ahLst/>
            <a:cxnLst/>
            <a:rect l="l" t="t" r="r" b="b"/>
            <a:pathLst>
              <a:path w="352425" h="142875">
                <a:moveTo>
                  <a:pt x="327638" y="142874"/>
                </a:moveTo>
                <a:lnTo>
                  <a:pt x="24785" y="142874"/>
                </a:lnTo>
                <a:lnTo>
                  <a:pt x="21140" y="142149"/>
                </a:lnTo>
                <a:lnTo>
                  <a:pt x="0" y="118089"/>
                </a:lnTo>
                <a:lnTo>
                  <a:pt x="0" y="114299"/>
                </a:lnTo>
                <a:lnTo>
                  <a:pt x="0" y="24785"/>
                </a:lnTo>
                <a:lnTo>
                  <a:pt x="24785" y="0"/>
                </a:lnTo>
                <a:lnTo>
                  <a:pt x="327638" y="0"/>
                </a:lnTo>
                <a:lnTo>
                  <a:pt x="352424" y="24785"/>
                </a:lnTo>
                <a:lnTo>
                  <a:pt x="352424" y="118089"/>
                </a:lnTo>
                <a:lnTo>
                  <a:pt x="331283" y="142149"/>
                </a:lnTo>
                <a:lnTo>
                  <a:pt x="327638" y="1428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73099" y="1177925"/>
            <a:ext cx="853249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5">
                <a:solidFill>
                  <a:srgbClr val="4A4E6A"/>
                </a:solidFill>
                <a:latin typeface="Trebuchet MS"/>
                <a:cs typeface="Trebuchet MS"/>
              </a:rPr>
              <a:t>This</a:t>
            </a:r>
            <a:r>
              <a:rPr dirty="0" sz="95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trips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rebuchet MS"/>
                <a:cs typeface="Trebuchet MS"/>
              </a:rPr>
              <a:t>up</a:t>
            </a:r>
            <a:r>
              <a:rPr dirty="0" sz="95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every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pandas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beginner.</a:t>
            </a:r>
            <a:r>
              <a:rPr dirty="0" sz="950" spc="3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loc</a:t>
            </a:r>
            <a:r>
              <a:rPr dirty="0" sz="850" spc="10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looks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rebuchet MS"/>
                <a:cs typeface="Trebuchet MS"/>
              </a:rPr>
              <a:t>up</a:t>
            </a:r>
            <a:r>
              <a:rPr dirty="0" sz="95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row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55">
                <a:solidFill>
                  <a:srgbClr val="4A4E6A"/>
                </a:solidFill>
                <a:latin typeface="Trebuchet MS"/>
                <a:cs typeface="Trebuchet MS"/>
              </a:rPr>
              <a:t>label</a:t>
            </a:r>
            <a:r>
              <a:rPr dirty="0" sz="95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column</a:t>
            </a:r>
            <a:r>
              <a:rPr dirty="0" sz="95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rebuchet MS"/>
                <a:cs typeface="Trebuchet MS"/>
              </a:rPr>
              <a:t>name.</a:t>
            </a:r>
            <a:r>
              <a:rPr dirty="0" sz="950" spc="3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iloc</a:t>
            </a:r>
            <a:r>
              <a:rPr dirty="0" sz="850" spc="10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looks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rebuchet MS"/>
                <a:cs typeface="Trebuchet MS"/>
              </a:rPr>
              <a:t>up</a:t>
            </a:r>
            <a:r>
              <a:rPr dirty="0" sz="95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row</a:t>
            </a:r>
            <a:r>
              <a:rPr dirty="0" sz="95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number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column</a:t>
            </a:r>
            <a:r>
              <a:rPr dirty="0" sz="95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number. </a:t>
            </a:r>
            <a:r>
              <a:rPr dirty="0" sz="950" spc="-55">
                <a:solidFill>
                  <a:srgbClr val="4A4E6A"/>
                </a:solidFill>
                <a:latin typeface="Trebuchet MS"/>
                <a:cs typeface="Trebuchet MS"/>
              </a:rPr>
              <a:t>Different</a:t>
            </a:r>
            <a:r>
              <a:rPr dirty="0" sz="95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55">
                <a:solidFill>
                  <a:srgbClr val="4A4E6A"/>
                </a:solidFill>
                <a:latin typeface="Trebuchet MS"/>
                <a:cs typeface="Trebuchet MS"/>
              </a:rPr>
              <a:t>inputs,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60">
                <a:solidFill>
                  <a:srgbClr val="4A4E6A"/>
                </a:solidFill>
                <a:latin typeface="Trebuchet MS"/>
                <a:cs typeface="Trebuchet MS"/>
              </a:rPr>
              <a:t>different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rebuchet MS"/>
                <a:cs typeface="Trebuchet MS"/>
              </a:rPr>
              <a:t>outputs.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5799" y="1485900"/>
            <a:ext cx="5324475" cy="4448175"/>
            <a:chOff x="685799" y="1485900"/>
            <a:chExt cx="5324475" cy="444817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5324" y="1523999"/>
              <a:ext cx="5305424" cy="44005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0425" y="1485900"/>
              <a:ext cx="5295265" cy="81280"/>
            </a:xfrm>
            <a:custGeom>
              <a:avLst/>
              <a:gdLst/>
              <a:ahLst/>
              <a:cxnLst/>
              <a:rect l="l" t="t" r="r" b="b"/>
              <a:pathLst>
                <a:path w="5295265" h="81280">
                  <a:moveTo>
                    <a:pt x="5606" y="80929"/>
                  </a:moveTo>
                  <a:lnTo>
                    <a:pt x="0" y="58503"/>
                  </a:lnTo>
                  <a:lnTo>
                    <a:pt x="4533" y="50929"/>
                  </a:lnTo>
                  <a:lnTo>
                    <a:pt x="4619" y="50786"/>
                  </a:lnTo>
                  <a:lnTo>
                    <a:pt x="36160" y="19244"/>
                  </a:lnTo>
                  <a:lnTo>
                    <a:pt x="77371" y="2175"/>
                  </a:lnTo>
                  <a:lnTo>
                    <a:pt x="99674" y="0"/>
                  </a:lnTo>
                  <a:lnTo>
                    <a:pt x="5195548" y="0"/>
                  </a:lnTo>
                  <a:lnTo>
                    <a:pt x="5239289" y="8700"/>
                  </a:lnTo>
                  <a:lnTo>
                    <a:pt x="5276370" y="33477"/>
                  </a:lnTo>
                  <a:lnTo>
                    <a:pt x="5280567" y="38099"/>
                  </a:lnTo>
                  <a:lnTo>
                    <a:pt x="99674" y="38099"/>
                  </a:lnTo>
                  <a:lnTo>
                    <a:pt x="89352" y="38462"/>
                  </a:lnTo>
                  <a:lnTo>
                    <a:pt x="50233" y="47107"/>
                  </a:lnTo>
                  <a:lnTo>
                    <a:pt x="12540" y="71957"/>
                  </a:lnTo>
                  <a:lnTo>
                    <a:pt x="7284" y="78342"/>
                  </a:lnTo>
                  <a:lnTo>
                    <a:pt x="5606" y="80929"/>
                  </a:lnTo>
                  <a:close/>
                </a:path>
                <a:path w="5295265" h="81280">
                  <a:moveTo>
                    <a:pt x="5289616" y="80929"/>
                  </a:moveTo>
                  <a:lnTo>
                    <a:pt x="5253768" y="50929"/>
                  </a:lnTo>
                  <a:lnTo>
                    <a:pt x="5215992" y="39550"/>
                  </a:lnTo>
                  <a:lnTo>
                    <a:pt x="5195548" y="38099"/>
                  </a:lnTo>
                  <a:lnTo>
                    <a:pt x="5280567" y="38099"/>
                  </a:lnTo>
                  <a:lnTo>
                    <a:pt x="5283948" y="41823"/>
                  </a:lnTo>
                  <a:lnTo>
                    <a:pt x="5290603" y="50786"/>
                  </a:lnTo>
                  <a:lnTo>
                    <a:pt x="5295222" y="58503"/>
                  </a:lnTo>
                  <a:lnTo>
                    <a:pt x="5289616" y="80929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85787" y="1544129"/>
              <a:ext cx="5324475" cy="4390390"/>
            </a:xfrm>
            <a:custGeom>
              <a:avLst/>
              <a:gdLst/>
              <a:ahLst/>
              <a:cxnLst/>
              <a:rect l="l" t="t" r="r" b="b"/>
              <a:pathLst>
                <a:path w="5324475" h="4390390">
                  <a:moveTo>
                    <a:pt x="5324475" y="56070"/>
                  </a:moveTo>
                  <a:lnTo>
                    <a:pt x="5315775" y="12331"/>
                  </a:lnTo>
                  <a:lnTo>
                    <a:pt x="5309692" y="0"/>
                  </a:lnTo>
                  <a:lnTo>
                    <a:pt x="5304079" y="22440"/>
                  </a:lnTo>
                  <a:lnTo>
                    <a:pt x="5306974" y="26911"/>
                  </a:lnTo>
                  <a:lnTo>
                    <a:pt x="5310467" y="33985"/>
                  </a:lnTo>
                  <a:lnTo>
                    <a:pt x="5312956" y="41211"/>
                  </a:lnTo>
                  <a:lnTo>
                    <a:pt x="5314454" y="48564"/>
                  </a:lnTo>
                  <a:lnTo>
                    <a:pt x="5314950" y="56070"/>
                  </a:lnTo>
                  <a:lnTo>
                    <a:pt x="5314950" y="4275645"/>
                  </a:lnTo>
                  <a:lnTo>
                    <a:pt x="5306974" y="4315752"/>
                  </a:lnTo>
                  <a:lnTo>
                    <a:pt x="5283809" y="4350156"/>
                  </a:lnTo>
                  <a:lnTo>
                    <a:pt x="5250281" y="4372445"/>
                  </a:lnTo>
                  <a:lnTo>
                    <a:pt x="5210175" y="4380420"/>
                  </a:lnTo>
                  <a:lnTo>
                    <a:pt x="114300" y="4380420"/>
                  </a:lnTo>
                  <a:lnTo>
                    <a:pt x="74206" y="4372445"/>
                  </a:lnTo>
                  <a:lnTo>
                    <a:pt x="40716" y="4350194"/>
                  </a:lnTo>
                  <a:lnTo>
                    <a:pt x="17500" y="4315752"/>
                  </a:lnTo>
                  <a:lnTo>
                    <a:pt x="9525" y="4275645"/>
                  </a:lnTo>
                  <a:lnTo>
                    <a:pt x="9525" y="56070"/>
                  </a:lnTo>
                  <a:lnTo>
                    <a:pt x="20408" y="22440"/>
                  </a:lnTo>
                  <a:lnTo>
                    <a:pt x="14795" y="0"/>
                  </a:lnTo>
                  <a:lnTo>
                    <a:pt x="546" y="44818"/>
                  </a:lnTo>
                  <a:lnTo>
                    <a:pt x="0" y="56070"/>
                  </a:lnTo>
                  <a:lnTo>
                    <a:pt x="0" y="4275645"/>
                  </a:lnTo>
                  <a:lnTo>
                    <a:pt x="8712" y="4319397"/>
                  </a:lnTo>
                  <a:lnTo>
                    <a:pt x="33528" y="4356430"/>
                  </a:lnTo>
                  <a:lnTo>
                    <a:pt x="33934" y="4356887"/>
                  </a:lnTo>
                  <a:lnTo>
                    <a:pt x="41833" y="4364050"/>
                  </a:lnTo>
                  <a:lnTo>
                    <a:pt x="81178" y="4385056"/>
                  </a:lnTo>
                  <a:lnTo>
                    <a:pt x="114300" y="4389945"/>
                  </a:lnTo>
                  <a:lnTo>
                    <a:pt x="5210175" y="4389945"/>
                  </a:lnTo>
                  <a:lnTo>
                    <a:pt x="5253926" y="4381246"/>
                  </a:lnTo>
                  <a:lnTo>
                    <a:pt x="5255666" y="4380420"/>
                  </a:lnTo>
                  <a:lnTo>
                    <a:pt x="5264112" y="4376445"/>
                  </a:lnTo>
                  <a:lnTo>
                    <a:pt x="5273687" y="4370705"/>
                  </a:lnTo>
                  <a:lnTo>
                    <a:pt x="5282654" y="4364050"/>
                  </a:lnTo>
                  <a:lnTo>
                    <a:pt x="5290490" y="4356925"/>
                  </a:lnTo>
                  <a:lnTo>
                    <a:pt x="5290998" y="4356468"/>
                  </a:lnTo>
                  <a:lnTo>
                    <a:pt x="5315775" y="4319397"/>
                  </a:lnTo>
                  <a:lnTo>
                    <a:pt x="5324475" y="4275645"/>
                  </a:lnTo>
                  <a:lnTo>
                    <a:pt x="5324475" y="5607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71537" y="1862137"/>
              <a:ext cx="4953000" cy="333375"/>
            </a:xfrm>
            <a:custGeom>
              <a:avLst/>
              <a:gdLst/>
              <a:ahLst/>
              <a:cxnLst/>
              <a:rect l="l" t="t" r="r" b="b"/>
              <a:pathLst>
                <a:path w="4953000" h="333375">
                  <a:moveTo>
                    <a:pt x="4895152" y="333374"/>
                  </a:moveTo>
                  <a:lnTo>
                    <a:pt x="57847" y="333374"/>
                  </a:lnTo>
                  <a:lnTo>
                    <a:pt x="53821" y="332978"/>
                  </a:lnTo>
                  <a:lnTo>
                    <a:pt x="15259" y="312366"/>
                  </a:lnTo>
                  <a:lnTo>
                    <a:pt x="0" y="275527"/>
                  </a:lnTo>
                  <a:lnTo>
                    <a:pt x="0" y="271462"/>
                  </a:lnTo>
                  <a:lnTo>
                    <a:pt x="0" y="57847"/>
                  </a:lnTo>
                  <a:lnTo>
                    <a:pt x="15259" y="21008"/>
                  </a:lnTo>
                  <a:lnTo>
                    <a:pt x="53821" y="396"/>
                  </a:lnTo>
                  <a:lnTo>
                    <a:pt x="57847" y="0"/>
                  </a:lnTo>
                  <a:lnTo>
                    <a:pt x="4895152" y="0"/>
                  </a:lnTo>
                  <a:lnTo>
                    <a:pt x="4931990" y="15259"/>
                  </a:lnTo>
                  <a:lnTo>
                    <a:pt x="4952603" y="53821"/>
                  </a:lnTo>
                  <a:lnTo>
                    <a:pt x="4952999" y="57847"/>
                  </a:lnTo>
                  <a:lnTo>
                    <a:pt x="4952999" y="275527"/>
                  </a:lnTo>
                  <a:lnTo>
                    <a:pt x="4937739" y="312366"/>
                  </a:lnTo>
                  <a:lnTo>
                    <a:pt x="4899178" y="332978"/>
                  </a:lnTo>
                  <a:lnTo>
                    <a:pt x="4895152" y="333374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71537" y="1862137"/>
              <a:ext cx="4953000" cy="333375"/>
            </a:xfrm>
            <a:custGeom>
              <a:avLst/>
              <a:gdLst/>
              <a:ahLst/>
              <a:cxnLst/>
              <a:rect l="l" t="t" r="r" b="b"/>
              <a:pathLst>
                <a:path w="4953000" h="333375">
                  <a:moveTo>
                    <a:pt x="0" y="271462"/>
                  </a:moveTo>
                  <a:lnTo>
                    <a:pt x="0" y="61912"/>
                  </a:lnTo>
                  <a:lnTo>
                    <a:pt x="0" y="57847"/>
                  </a:lnTo>
                  <a:lnTo>
                    <a:pt x="396" y="53821"/>
                  </a:lnTo>
                  <a:lnTo>
                    <a:pt x="18133" y="18133"/>
                  </a:lnTo>
                  <a:lnTo>
                    <a:pt x="38219" y="4712"/>
                  </a:lnTo>
                  <a:lnTo>
                    <a:pt x="41975" y="3156"/>
                  </a:lnTo>
                  <a:lnTo>
                    <a:pt x="45846" y="1982"/>
                  </a:lnTo>
                  <a:lnTo>
                    <a:pt x="49833" y="1189"/>
                  </a:lnTo>
                  <a:lnTo>
                    <a:pt x="53821" y="396"/>
                  </a:lnTo>
                  <a:lnTo>
                    <a:pt x="57847" y="0"/>
                  </a:lnTo>
                  <a:lnTo>
                    <a:pt x="61912" y="0"/>
                  </a:lnTo>
                  <a:lnTo>
                    <a:pt x="4891087" y="0"/>
                  </a:lnTo>
                  <a:lnTo>
                    <a:pt x="4895152" y="0"/>
                  </a:lnTo>
                  <a:lnTo>
                    <a:pt x="4899178" y="396"/>
                  </a:lnTo>
                  <a:lnTo>
                    <a:pt x="4903165" y="1189"/>
                  </a:lnTo>
                  <a:lnTo>
                    <a:pt x="4907151" y="1982"/>
                  </a:lnTo>
                  <a:lnTo>
                    <a:pt x="4911023" y="3157"/>
                  </a:lnTo>
                  <a:lnTo>
                    <a:pt x="4914778" y="4712"/>
                  </a:lnTo>
                  <a:lnTo>
                    <a:pt x="4918534" y="6268"/>
                  </a:lnTo>
                  <a:lnTo>
                    <a:pt x="4946730" y="34463"/>
                  </a:lnTo>
                  <a:lnTo>
                    <a:pt x="4948285" y="38219"/>
                  </a:lnTo>
                  <a:lnTo>
                    <a:pt x="4949842" y="41975"/>
                  </a:lnTo>
                  <a:lnTo>
                    <a:pt x="4951016" y="45846"/>
                  </a:lnTo>
                  <a:lnTo>
                    <a:pt x="4951809" y="49833"/>
                  </a:lnTo>
                  <a:lnTo>
                    <a:pt x="4952603" y="53821"/>
                  </a:lnTo>
                  <a:lnTo>
                    <a:pt x="4952999" y="57847"/>
                  </a:lnTo>
                  <a:lnTo>
                    <a:pt x="4952999" y="61912"/>
                  </a:lnTo>
                  <a:lnTo>
                    <a:pt x="4952999" y="271462"/>
                  </a:lnTo>
                  <a:lnTo>
                    <a:pt x="4952999" y="275527"/>
                  </a:lnTo>
                  <a:lnTo>
                    <a:pt x="4952603" y="279553"/>
                  </a:lnTo>
                  <a:lnTo>
                    <a:pt x="4951809" y="283540"/>
                  </a:lnTo>
                  <a:lnTo>
                    <a:pt x="4951016" y="287528"/>
                  </a:lnTo>
                  <a:lnTo>
                    <a:pt x="4949842" y="291399"/>
                  </a:lnTo>
                  <a:lnTo>
                    <a:pt x="4948285" y="295155"/>
                  </a:lnTo>
                  <a:lnTo>
                    <a:pt x="4946730" y="298910"/>
                  </a:lnTo>
                  <a:lnTo>
                    <a:pt x="4918534" y="327106"/>
                  </a:lnTo>
                  <a:lnTo>
                    <a:pt x="4914778" y="328661"/>
                  </a:lnTo>
                  <a:lnTo>
                    <a:pt x="4911023" y="330217"/>
                  </a:lnTo>
                  <a:lnTo>
                    <a:pt x="4891087" y="333374"/>
                  </a:lnTo>
                  <a:lnTo>
                    <a:pt x="61912" y="333374"/>
                  </a:lnTo>
                  <a:lnTo>
                    <a:pt x="24135" y="320681"/>
                  </a:lnTo>
                  <a:lnTo>
                    <a:pt x="4712" y="295155"/>
                  </a:lnTo>
                  <a:lnTo>
                    <a:pt x="3157" y="291399"/>
                  </a:lnTo>
                  <a:lnTo>
                    <a:pt x="1982" y="287527"/>
                  </a:lnTo>
                  <a:lnTo>
                    <a:pt x="1189" y="283540"/>
                  </a:lnTo>
                  <a:lnTo>
                    <a:pt x="396" y="279553"/>
                  </a:lnTo>
                  <a:lnTo>
                    <a:pt x="0" y="275527"/>
                  </a:lnTo>
                  <a:lnTo>
                    <a:pt x="0" y="271462"/>
                  </a:lnTo>
                  <a:close/>
                </a:path>
              </a:pathLst>
            </a:custGeom>
            <a:ln w="9524">
              <a:solidFill>
                <a:srgbClr val="C7CCE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66762" y="2409824"/>
              <a:ext cx="47625" cy="295275"/>
            </a:xfrm>
            <a:custGeom>
              <a:avLst/>
              <a:gdLst/>
              <a:ahLst/>
              <a:cxnLst/>
              <a:rect l="l" t="t" r="r" b="b"/>
              <a:pathLst>
                <a:path w="47625" h="295275">
                  <a:moveTo>
                    <a:pt x="47625" y="268312"/>
                  </a:moveTo>
                  <a:lnTo>
                    <a:pt x="26974" y="247650"/>
                  </a:lnTo>
                  <a:lnTo>
                    <a:pt x="20662" y="247650"/>
                  </a:lnTo>
                  <a:lnTo>
                    <a:pt x="0" y="268312"/>
                  </a:lnTo>
                  <a:lnTo>
                    <a:pt x="0" y="274624"/>
                  </a:lnTo>
                  <a:lnTo>
                    <a:pt x="20662" y="295275"/>
                  </a:lnTo>
                  <a:lnTo>
                    <a:pt x="26974" y="295275"/>
                  </a:lnTo>
                  <a:lnTo>
                    <a:pt x="47625" y="274624"/>
                  </a:lnTo>
                  <a:lnTo>
                    <a:pt x="47625" y="271462"/>
                  </a:lnTo>
                  <a:lnTo>
                    <a:pt x="47625" y="268312"/>
                  </a:lnTo>
                  <a:close/>
                </a:path>
                <a:path w="47625" h="29527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028824" y="2609849"/>
              <a:ext cx="733425" cy="133350"/>
            </a:xfrm>
            <a:custGeom>
              <a:avLst/>
              <a:gdLst/>
              <a:ahLst/>
              <a:cxnLst/>
              <a:rect l="l" t="t" r="r" b="b"/>
              <a:pathLst>
                <a:path w="733425" h="133350">
                  <a:moveTo>
                    <a:pt x="708639" y="133349"/>
                  </a:moveTo>
                  <a:lnTo>
                    <a:pt x="24785" y="133349"/>
                  </a:lnTo>
                  <a:lnTo>
                    <a:pt x="21140" y="132624"/>
                  </a:lnTo>
                  <a:lnTo>
                    <a:pt x="0" y="108564"/>
                  </a:lnTo>
                  <a:lnTo>
                    <a:pt x="0" y="1047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708639" y="0"/>
                  </a:lnTo>
                  <a:lnTo>
                    <a:pt x="733424" y="24785"/>
                  </a:lnTo>
                  <a:lnTo>
                    <a:pt x="733424" y="108564"/>
                  </a:lnTo>
                  <a:lnTo>
                    <a:pt x="712284" y="132624"/>
                  </a:lnTo>
                  <a:lnTo>
                    <a:pt x="708639" y="1333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71537" y="2843212"/>
              <a:ext cx="4953000" cy="2924175"/>
            </a:xfrm>
            <a:custGeom>
              <a:avLst/>
              <a:gdLst/>
              <a:ahLst/>
              <a:cxnLst/>
              <a:rect l="l" t="t" r="r" b="b"/>
              <a:pathLst>
                <a:path w="4953000" h="2924175">
                  <a:moveTo>
                    <a:pt x="4877352" y="2924174"/>
                  </a:moveTo>
                  <a:lnTo>
                    <a:pt x="75646" y="2924174"/>
                  </a:lnTo>
                  <a:lnTo>
                    <a:pt x="70381" y="2923655"/>
                  </a:lnTo>
                  <a:lnTo>
                    <a:pt x="31561" y="2907575"/>
                  </a:lnTo>
                  <a:lnTo>
                    <a:pt x="4128" y="2869282"/>
                  </a:lnTo>
                  <a:lnTo>
                    <a:pt x="0" y="2848528"/>
                  </a:lnTo>
                  <a:lnTo>
                    <a:pt x="0" y="2843212"/>
                  </a:lnTo>
                  <a:lnTo>
                    <a:pt x="0" y="75646"/>
                  </a:lnTo>
                  <a:lnTo>
                    <a:pt x="16597" y="31561"/>
                  </a:lnTo>
                  <a:lnTo>
                    <a:pt x="54890" y="4128"/>
                  </a:lnTo>
                  <a:lnTo>
                    <a:pt x="75646" y="0"/>
                  </a:lnTo>
                  <a:lnTo>
                    <a:pt x="4877352" y="0"/>
                  </a:lnTo>
                  <a:lnTo>
                    <a:pt x="4921436" y="16597"/>
                  </a:lnTo>
                  <a:lnTo>
                    <a:pt x="4948870" y="54890"/>
                  </a:lnTo>
                  <a:lnTo>
                    <a:pt x="4952999" y="75646"/>
                  </a:lnTo>
                  <a:lnTo>
                    <a:pt x="4952999" y="2848528"/>
                  </a:lnTo>
                  <a:lnTo>
                    <a:pt x="4936400" y="2892611"/>
                  </a:lnTo>
                  <a:lnTo>
                    <a:pt x="4898107" y="2920045"/>
                  </a:lnTo>
                  <a:lnTo>
                    <a:pt x="4882617" y="2923655"/>
                  </a:lnTo>
                  <a:lnTo>
                    <a:pt x="4877352" y="292417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71537" y="2843212"/>
              <a:ext cx="4953000" cy="2924175"/>
            </a:xfrm>
            <a:custGeom>
              <a:avLst/>
              <a:gdLst/>
              <a:ahLst/>
              <a:cxnLst/>
              <a:rect l="l" t="t" r="r" b="b"/>
              <a:pathLst>
                <a:path w="4953000" h="2924175">
                  <a:moveTo>
                    <a:pt x="0" y="2843212"/>
                  </a:moveTo>
                  <a:lnTo>
                    <a:pt x="0" y="80962"/>
                  </a:lnTo>
                  <a:lnTo>
                    <a:pt x="0" y="75646"/>
                  </a:lnTo>
                  <a:lnTo>
                    <a:pt x="518" y="70381"/>
                  </a:lnTo>
                  <a:lnTo>
                    <a:pt x="1555" y="65167"/>
                  </a:lnTo>
                  <a:lnTo>
                    <a:pt x="2592" y="59953"/>
                  </a:lnTo>
                  <a:lnTo>
                    <a:pt x="4128" y="54890"/>
                  </a:lnTo>
                  <a:lnTo>
                    <a:pt x="6162" y="49979"/>
                  </a:lnTo>
                  <a:lnTo>
                    <a:pt x="8197" y="45067"/>
                  </a:lnTo>
                  <a:lnTo>
                    <a:pt x="10691" y="40401"/>
                  </a:lnTo>
                  <a:lnTo>
                    <a:pt x="13644" y="35981"/>
                  </a:lnTo>
                  <a:lnTo>
                    <a:pt x="16597" y="31561"/>
                  </a:lnTo>
                  <a:lnTo>
                    <a:pt x="19954" y="27472"/>
                  </a:lnTo>
                  <a:lnTo>
                    <a:pt x="23713" y="23713"/>
                  </a:lnTo>
                  <a:lnTo>
                    <a:pt x="27472" y="19954"/>
                  </a:lnTo>
                  <a:lnTo>
                    <a:pt x="31561" y="16597"/>
                  </a:lnTo>
                  <a:lnTo>
                    <a:pt x="35982" y="13644"/>
                  </a:lnTo>
                  <a:lnTo>
                    <a:pt x="40402" y="10690"/>
                  </a:lnTo>
                  <a:lnTo>
                    <a:pt x="45067" y="8196"/>
                  </a:lnTo>
                  <a:lnTo>
                    <a:pt x="49979" y="6162"/>
                  </a:lnTo>
                  <a:lnTo>
                    <a:pt x="54890" y="4128"/>
                  </a:lnTo>
                  <a:lnTo>
                    <a:pt x="59953" y="2592"/>
                  </a:lnTo>
                  <a:lnTo>
                    <a:pt x="65167" y="1555"/>
                  </a:lnTo>
                  <a:lnTo>
                    <a:pt x="70381" y="518"/>
                  </a:lnTo>
                  <a:lnTo>
                    <a:pt x="75646" y="0"/>
                  </a:lnTo>
                  <a:lnTo>
                    <a:pt x="80962" y="0"/>
                  </a:lnTo>
                  <a:lnTo>
                    <a:pt x="4872037" y="0"/>
                  </a:lnTo>
                  <a:lnTo>
                    <a:pt x="4877352" y="0"/>
                  </a:lnTo>
                  <a:lnTo>
                    <a:pt x="4882617" y="518"/>
                  </a:lnTo>
                  <a:lnTo>
                    <a:pt x="4921436" y="16597"/>
                  </a:lnTo>
                  <a:lnTo>
                    <a:pt x="4946835" y="49979"/>
                  </a:lnTo>
                  <a:lnTo>
                    <a:pt x="4948870" y="54890"/>
                  </a:lnTo>
                  <a:lnTo>
                    <a:pt x="4950406" y="59953"/>
                  </a:lnTo>
                  <a:lnTo>
                    <a:pt x="4951443" y="65167"/>
                  </a:lnTo>
                  <a:lnTo>
                    <a:pt x="4952481" y="70381"/>
                  </a:lnTo>
                  <a:lnTo>
                    <a:pt x="4952999" y="75646"/>
                  </a:lnTo>
                  <a:lnTo>
                    <a:pt x="4952999" y="80962"/>
                  </a:lnTo>
                  <a:lnTo>
                    <a:pt x="4952999" y="2843212"/>
                  </a:lnTo>
                  <a:lnTo>
                    <a:pt x="4952999" y="2848528"/>
                  </a:lnTo>
                  <a:lnTo>
                    <a:pt x="4952481" y="2853793"/>
                  </a:lnTo>
                  <a:lnTo>
                    <a:pt x="4951443" y="2859006"/>
                  </a:lnTo>
                  <a:lnTo>
                    <a:pt x="4950406" y="2864220"/>
                  </a:lnTo>
                  <a:lnTo>
                    <a:pt x="4948870" y="2869282"/>
                  </a:lnTo>
                  <a:lnTo>
                    <a:pt x="4946835" y="2874194"/>
                  </a:lnTo>
                  <a:lnTo>
                    <a:pt x="4944801" y="2879105"/>
                  </a:lnTo>
                  <a:lnTo>
                    <a:pt x="4917016" y="2910529"/>
                  </a:lnTo>
                  <a:lnTo>
                    <a:pt x="4887830" y="2922617"/>
                  </a:lnTo>
                  <a:lnTo>
                    <a:pt x="4882617" y="2923655"/>
                  </a:lnTo>
                  <a:lnTo>
                    <a:pt x="4877352" y="2924174"/>
                  </a:lnTo>
                  <a:lnTo>
                    <a:pt x="4872037" y="2924174"/>
                  </a:lnTo>
                  <a:lnTo>
                    <a:pt x="80962" y="2924174"/>
                  </a:lnTo>
                  <a:lnTo>
                    <a:pt x="75646" y="2924174"/>
                  </a:lnTo>
                  <a:lnTo>
                    <a:pt x="70381" y="2923655"/>
                  </a:lnTo>
                  <a:lnTo>
                    <a:pt x="65167" y="2922617"/>
                  </a:lnTo>
                  <a:lnTo>
                    <a:pt x="59953" y="2921580"/>
                  </a:lnTo>
                  <a:lnTo>
                    <a:pt x="23713" y="2900460"/>
                  </a:lnTo>
                  <a:lnTo>
                    <a:pt x="13644" y="2888191"/>
                  </a:lnTo>
                  <a:lnTo>
                    <a:pt x="10691" y="2883771"/>
                  </a:lnTo>
                  <a:lnTo>
                    <a:pt x="1555" y="2859006"/>
                  </a:lnTo>
                  <a:lnTo>
                    <a:pt x="518" y="2853793"/>
                  </a:lnTo>
                  <a:lnTo>
                    <a:pt x="0" y="2848528"/>
                  </a:lnTo>
                  <a:lnTo>
                    <a:pt x="0" y="284321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 spc="-120"/>
              <a:t>L</a:t>
            </a:r>
            <a:r>
              <a:rPr dirty="0" spc="-100"/>
              <a:t> </a:t>
            </a:r>
            <a:r>
              <a:rPr dirty="0" spc="-75"/>
              <a:t>O</a:t>
            </a:r>
            <a:r>
              <a:rPr dirty="0" spc="-85"/>
              <a:t> </a:t>
            </a:r>
            <a:r>
              <a:rPr dirty="0"/>
              <a:t>C</a:t>
            </a:r>
            <a:r>
              <a:rPr dirty="0" spc="155"/>
              <a:t> </a:t>
            </a:r>
            <a:r>
              <a:rPr dirty="0"/>
              <a:t>·</a:t>
            </a:r>
            <a:r>
              <a:rPr dirty="0" spc="204"/>
              <a:t> </a:t>
            </a:r>
            <a:r>
              <a:rPr dirty="0" spc="-120"/>
              <a:t>L</a:t>
            </a:r>
            <a:r>
              <a:rPr dirty="0" spc="-85"/>
              <a:t> </a:t>
            </a:r>
            <a:r>
              <a:rPr dirty="0" spc="-70"/>
              <a:t>A</a:t>
            </a:r>
            <a:r>
              <a:rPr dirty="0" spc="-85"/>
              <a:t> </a:t>
            </a:r>
            <a:r>
              <a:rPr dirty="0" spc="-100"/>
              <a:t>B</a:t>
            </a:r>
            <a:r>
              <a:rPr dirty="0" spc="-85"/>
              <a:t> </a:t>
            </a:r>
            <a:r>
              <a:rPr dirty="0" spc="-105"/>
              <a:t>E</a:t>
            </a:r>
            <a:r>
              <a:rPr dirty="0" spc="-85"/>
              <a:t> </a:t>
            </a:r>
            <a:r>
              <a:rPr dirty="0" spc="-120"/>
              <a:t>L</a:t>
            </a:r>
            <a:r>
              <a:rPr dirty="0" spc="-135"/>
              <a:t> </a:t>
            </a:r>
            <a:r>
              <a:rPr dirty="0" spc="-105"/>
              <a:t>-</a:t>
            </a:r>
            <a:r>
              <a:rPr dirty="0" spc="-85"/>
              <a:t> </a:t>
            </a:r>
            <a:r>
              <a:rPr dirty="0" spc="-100"/>
              <a:t>B</a:t>
            </a:r>
            <a:r>
              <a:rPr dirty="0" spc="-95"/>
              <a:t> </a:t>
            </a:r>
            <a:r>
              <a:rPr dirty="0" spc="-70"/>
              <a:t>A</a:t>
            </a:r>
            <a:r>
              <a:rPr dirty="0" spc="-85"/>
              <a:t> </a:t>
            </a:r>
            <a:r>
              <a:rPr dirty="0" spc="-130"/>
              <a:t>S</a:t>
            </a:r>
            <a:r>
              <a:rPr dirty="0" spc="-85"/>
              <a:t> </a:t>
            </a:r>
            <a:r>
              <a:rPr dirty="0" spc="-105"/>
              <a:t>E</a:t>
            </a:r>
            <a:r>
              <a:rPr dirty="0" spc="-85"/>
              <a:t> </a:t>
            </a:r>
            <a:r>
              <a:rPr dirty="0" spc="-50"/>
              <a:t>D</a:t>
            </a:r>
          </a:p>
          <a:p>
            <a:pPr>
              <a:lnSpc>
                <a:spcPct val="100000"/>
              </a:lnSpc>
              <a:spcBef>
                <a:spcPts val="114"/>
              </a:spcBef>
            </a:pPr>
          </a:p>
          <a:p>
            <a:pPr marL="254000">
              <a:lnSpc>
                <a:spcPct val="100000"/>
              </a:lnSpc>
              <a:spcBef>
                <a:spcPts val="5"/>
              </a:spcBef>
            </a:pPr>
            <a:r>
              <a:rPr dirty="0" sz="1000" spc="-10">
                <a:latin typeface="Courier New"/>
                <a:cs typeface="Courier New"/>
              </a:rPr>
              <a:t>df.loc[row_label,</a:t>
            </a:r>
            <a:r>
              <a:rPr dirty="0" sz="1000" spc="15">
                <a:latin typeface="Courier New"/>
                <a:cs typeface="Courier New"/>
              </a:rPr>
              <a:t> </a:t>
            </a:r>
            <a:r>
              <a:rPr dirty="0" sz="1000" spc="-10">
                <a:latin typeface="Courier New"/>
                <a:cs typeface="Courier New"/>
              </a:rPr>
              <a:t>col_name]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000">
              <a:latin typeface="Courier New"/>
              <a:cs typeface="Courier New"/>
            </a:endParaRPr>
          </a:p>
          <a:p>
            <a:pPr marL="263525">
              <a:lnSpc>
                <a:spcPct val="100000"/>
              </a:lnSpc>
            </a:pPr>
            <a:r>
              <a:rPr dirty="0" sz="850" spc="-30" b="0">
                <a:solidFill>
                  <a:srgbClr val="4A4E6A"/>
                </a:solidFill>
                <a:latin typeface="Trebuchet MS"/>
                <a:cs typeface="Trebuchet MS"/>
              </a:rPr>
              <a:t>Uses</a:t>
            </a:r>
            <a:r>
              <a:rPr dirty="0" sz="850" spc="-4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 b="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50" spc="-3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35">
                <a:solidFill>
                  <a:srgbClr val="1B1F3A"/>
                </a:solidFill>
              </a:rPr>
              <a:t>INDEX</a:t>
            </a:r>
            <a:r>
              <a:rPr dirty="0" sz="850" spc="-35">
                <a:solidFill>
                  <a:srgbClr val="1B1F3A"/>
                </a:solidFill>
              </a:rPr>
              <a:t> </a:t>
            </a:r>
            <a:r>
              <a:rPr dirty="0" sz="850" spc="-45" b="0">
                <a:solidFill>
                  <a:srgbClr val="4A4E6A"/>
                </a:solidFill>
                <a:latin typeface="Trebuchet MS"/>
                <a:cs typeface="Trebuchet MS"/>
              </a:rPr>
              <a:t>(row</a:t>
            </a:r>
            <a:r>
              <a:rPr dirty="0" sz="850" spc="-3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5" b="0">
                <a:solidFill>
                  <a:srgbClr val="4A4E6A"/>
                </a:solidFill>
                <a:latin typeface="Trebuchet MS"/>
                <a:cs typeface="Trebuchet MS"/>
              </a:rPr>
              <a:t>labels)</a:t>
            </a:r>
            <a:r>
              <a:rPr dirty="0" sz="850" spc="-40" b="0">
                <a:solidFill>
                  <a:srgbClr val="4A4E6A"/>
                </a:solidFill>
                <a:latin typeface="Trebuchet MS"/>
                <a:cs typeface="Trebuchet MS"/>
              </a:rPr>
              <a:t> and</a:t>
            </a:r>
            <a:r>
              <a:rPr dirty="0" sz="850" spc="-3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0">
                <a:solidFill>
                  <a:srgbClr val="1B1F3A"/>
                </a:solidFill>
              </a:rPr>
              <a:t>COLUMN</a:t>
            </a:r>
            <a:r>
              <a:rPr dirty="0" sz="850" spc="-30">
                <a:solidFill>
                  <a:srgbClr val="1B1F3A"/>
                </a:solidFill>
              </a:rPr>
              <a:t> </a:t>
            </a:r>
            <a:r>
              <a:rPr dirty="0" sz="850" spc="-20">
                <a:solidFill>
                  <a:srgbClr val="1B1F3A"/>
                </a:solidFill>
              </a:rPr>
              <a:t>NAMES</a:t>
            </a:r>
            <a:endParaRPr sz="850">
              <a:latin typeface="Trebuchet MS"/>
              <a:cs typeface="Trebuchet MS"/>
            </a:endParaRPr>
          </a:p>
          <a:p>
            <a:pPr marL="263525">
              <a:lnSpc>
                <a:spcPct val="100000"/>
              </a:lnSpc>
              <a:spcBef>
                <a:spcPts val="930"/>
              </a:spcBef>
            </a:pPr>
            <a:r>
              <a:rPr dirty="0" sz="850" spc="-105">
                <a:solidFill>
                  <a:srgbClr val="1B1F3A"/>
                </a:solidFill>
              </a:rPr>
              <a:t>Inclusive</a:t>
            </a:r>
            <a:r>
              <a:rPr dirty="0" sz="850" spc="-55">
                <a:solidFill>
                  <a:srgbClr val="1B1F3A"/>
                </a:solidFill>
              </a:rPr>
              <a:t> </a:t>
            </a:r>
            <a:r>
              <a:rPr dirty="0" sz="850" spc="-10" b="0">
                <a:solidFill>
                  <a:srgbClr val="4A4E6A"/>
                </a:solidFill>
                <a:latin typeface="Trebuchet MS"/>
                <a:cs typeface="Trebuchet MS"/>
              </a:rPr>
              <a:t>on</a:t>
            </a:r>
            <a:r>
              <a:rPr dirty="0" sz="850" spc="-6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35" b="0">
                <a:solidFill>
                  <a:srgbClr val="4A4E6A"/>
                </a:solidFill>
                <a:latin typeface="Trebuchet MS"/>
                <a:cs typeface="Trebuchet MS"/>
              </a:rPr>
              <a:t>both</a:t>
            </a:r>
            <a:r>
              <a:rPr dirty="0" sz="850" spc="-5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 b="0">
                <a:solidFill>
                  <a:srgbClr val="4A4E6A"/>
                </a:solidFill>
                <a:latin typeface="Trebuchet MS"/>
                <a:cs typeface="Trebuchet MS"/>
              </a:rPr>
              <a:t>ends:</a:t>
            </a:r>
            <a:r>
              <a:rPr dirty="0" sz="850" spc="26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b="0">
                <a:latin typeface="Courier New"/>
                <a:cs typeface="Courier New"/>
              </a:rPr>
              <a:t>df.loc[0:3]</a:t>
            </a:r>
            <a:r>
              <a:rPr dirty="0" spc="75" b="0">
                <a:latin typeface="Courier New"/>
                <a:cs typeface="Courier New"/>
              </a:rPr>
              <a:t> </a:t>
            </a:r>
            <a:r>
              <a:rPr dirty="0" sz="850" spc="-45" b="0">
                <a:solidFill>
                  <a:srgbClr val="4A4E6A"/>
                </a:solidFill>
                <a:latin typeface="Trebuchet MS"/>
                <a:cs typeface="Trebuchet MS"/>
              </a:rPr>
              <a:t>returns</a:t>
            </a:r>
            <a:r>
              <a:rPr dirty="0" sz="850" spc="-6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35" b="0">
                <a:solidFill>
                  <a:srgbClr val="4A4E6A"/>
                </a:solidFill>
                <a:latin typeface="Trebuchet MS"/>
                <a:cs typeface="Trebuchet MS"/>
              </a:rPr>
              <a:t>rows</a:t>
            </a:r>
            <a:r>
              <a:rPr dirty="0" sz="850" spc="-6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65" b="0">
                <a:solidFill>
                  <a:srgbClr val="4A4E6A"/>
                </a:solidFill>
                <a:latin typeface="Trebuchet MS"/>
                <a:cs typeface="Trebuchet MS"/>
              </a:rPr>
              <a:t>0,1,2,3</a:t>
            </a:r>
            <a:r>
              <a:rPr dirty="0" sz="850" spc="-5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 b="0">
                <a:solidFill>
                  <a:srgbClr val="4A4E6A"/>
                </a:solidFill>
                <a:latin typeface="Trebuchet MS"/>
                <a:cs typeface="Trebuchet MS"/>
              </a:rPr>
              <a:t>(4</a:t>
            </a:r>
            <a:r>
              <a:rPr dirty="0" sz="850" spc="-6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0" b="0">
                <a:solidFill>
                  <a:srgbClr val="4A4E6A"/>
                </a:solidFill>
                <a:latin typeface="Trebuchet MS"/>
                <a:cs typeface="Trebuchet MS"/>
              </a:rPr>
              <a:t>rows)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850">
              <a:latin typeface="Trebuchet MS"/>
              <a:cs typeface="Trebuchet MS"/>
            </a:endParaRPr>
          </a:p>
          <a:p>
            <a:pPr marL="282575">
              <a:lnSpc>
                <a:spcPct val="100000"/>
              </a:lnSpc>
            </a:pP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pc="6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Row</a:t>
            </a:r>
            <a:r>
              <a:rPr dirty="0" spc="6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with</a:t>
            </a:r>
            <a:r>
              <a:rPr dirty="0" spc="6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index</a:t>
            </a:r>
            <a:r>
              <a:rPr dirty="0" spc="6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label</a:t>
            </a:r>
            <a:r>
              <a:rPr dirty="0" spc="6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pc="-50" b="0" i="1">
                <a:solidFill>
                  <a:srgbClr val="8B8FB4"/>
                </a:solidFill>
                <a:latin typeface="Courier New"/>
                <a:cs typeface="Courier New"/>
              </a:rPr>
              <a:t>2</a:t>
            </a:r>
          </a:p>
          <a:p>
            <a:pPr marL="282575">
              <a:lnSpc>
                <a:spcPct val="100000"/>
              </a:lnSpc>
              <a:spcBef>
                <a:spcPts val="300"/>
              </a:spcBef>
            </a:pPr>
            <a:r>
              <a:rPr dirty="0" spc="-10" b="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pc="-10" b="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pc="-10" b="0">
                <a:solidFill>
                  <a:srgbClr val="FFD580"/>
                </a:solidFill>
                <a:latin typeface="Courier New"/>
                <a:cs typeface="Courier New"/>
              </a:rPr>
              <a:t>loc</a:t>
            </a:r>
            <a:r>
              <a:rPr dirty="0" spc="-10" b="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pc="-10" b="0">
                <a:solidFill>
                  <a:srgbClr val="FFD580"/>
                </a:solidFill>
                <a:latin typeface="Courier New"/>
                <a:cs typeface="Courier New"/>
              </a:rPr>
              <a:t>2</a:t>
            </a:r>
            <a:r>
              <a:rPr dirty="0" spc="-10" b="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</a:p>
          <a:p>
            <a:pPr>
              <a:lnSpc>
                <a:spcPct val="100000"/>
              </a:lnSpc>
              <a:spcBef>
                <a:spcPts val="575"/>
              </a:spcBef>
            </a:pPr>
          </a:p>
          <a:p>
            <a:pPr marL="282575">
              <a:lnSpc>
                <a:spcPct val="100000"/>
              </a:lnSpc>
            </a:pP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pc="5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Rows</a:t>
            </a:r>
            <a:r>
              <a:rPr dirty="0" spc="5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0</a:t>
            </a:r>
            <a:r>
              <a:rPr dirty="0" spc="5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through</a:t>
            </a:r>
            <a:r>
              <a:rPr dirty="0" spc="5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3</a:t>
            </a:r>
            <a:r>
              <a:rPr dirty="0" spc="5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(INCLUSIVE</a:t>
            </a:r>
            <a:r>
              <a:rPr dirty="0" spc="5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pc="5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4</a:t>
            </a:r>
            <a:r>
              <a:rPr dirty="0" spc="6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pc="-10" b="0" i="1">
                <a:solidFill>
                  <a:srgbClr val="8B8FB4"/>
                </a:solidFill>
                <a:latin typeface="Courier New"/>
                <a:cs typeface="Courier New"/>
              </a:rPr>
              <a:t>rows)</a:t>
            </a:r>
          </a:p>
          <a:p>
            <a:pPr marL="282575">
              <a:lnSpc>
                <a:spcPct val="100000"/>
              </a:lnSpc>
              <a:spcBef>
                <a:spcPts val="300"/>
              </a:spcBef>
            </a:pPr>
            <a:r>
              <a:rPr dirty="0" spc="-10" b="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pc="-10" b="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pc="-10" b="0">
                <a:solidFill>
                  <a:srgbClr val="FFD580"/>
                </a:solidFill>
                <a:latin typeface="Courier New"/>
                <a:cs typeface="Courier New"/>
              </a:rPr>
              <a:t>loc</a:t>
            </a:r>
            <a:r>
              <a:rPr dirty="0" spc="-10" b="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pc="-10" b="0">
                <a:solidFill>
                  <a:srgbClr val="FFD580"/>
                </a:solidFill>
                <a:latin typeface="Courier New"/>
                <a:cs typeface="Courier New"/>
              </a:rPr>
              <a:t>0</a:t>
            </a:r>
            <a:r>
              <a:rPr dirty="0" spc="-10" b="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r>
              <a:rPr dirty="0" spc="-10" b="0">
                <a:solidFill>
                  <a:srgbClr val="FFD580"/>
                </a:solidFill>
                <a:latin typeface="Courier New"/>
                <a:cs typeface="Courier New"/>
              </a:rPr>
              <a:t>3</a:t>
            </a:r>
            <a:r>
              <a:rPr dirty="0" spc="-10" b="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</a:p>
          <a:p>
            <a:pPr>
              <a:lnSpc>
                <a:spcPct val="100000"/>
              </a:lnSpc>
              <a:spcBef>
                <a:spcPts val="650"/>
              </a:spcBef>
            </a:pPr>
          </a:p>
          <a:p>
            <a:pPr marL="282575">
              <a:lnSpc>
                <a:spcPct val="100000"/>
              </a:lnSpc>
            </a:pP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pc="7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Specific</a:t>
            </a:r>
            <a:r>
              <a:rPr dirty="0" spc="7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rows</a:t>
            </a:r>
            <a:r>
              <a:rPr dirty="0" spc="7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+</a:t>
            </a:r>
            <a:r>
              <a:rPr dirty="0" spc="7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specific</a:t>
            </a:r>
            <a:r>
              <a:rPr dirty="0" spc="70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pc="-10" b="0" i="1">
                <a:solidFill>
                  <a:srgbClr val="8B8FB4"/>
                </a:solidFill>
                <a:latin typeface="Courier New"/>
                <a:cs typeface="Courier New"/>
              </a:rPr>
              <a:t>columns</a:t>
            </a:r>
          </a:p>
          <a:p>
            <a:pPr marL="282575">
              <a:lnSpc>
                <a:spcPct val="100000"/>
              </a:lnSpc>
              <a:spcBef>
                <a:spcPts val="225"/>
              </a:spcBef>
            </a:pPr>
            <a:r>
              <a:rPr dirty="0" b="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b="0">
                <a:solidFill>
                  <a:srgbClr val="FFD580"/>
                </a:solidFill>
                <a:latin typeface="Courier New"/>
                <a:cs typeface="Courier New"/>
              </a:rPr>
              <a:t>loc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[[</a:t>
            </a:r>
            <a:r>
              <a:rPr dirty="0" b="0">
                <a:solidFill>
                  <a:srgbClr val="FFD580"/>
                </a:solidFill>
                <a:latin typeface="Courier New"/>
                <a:cs typeface="Courier New"/>
              </a:rPr>
              <a:t>0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pc="90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b="0">
                <a:solidFill>
                  <a:srgbClr val="FFD580"/>
                </a:solidFill>
                <a:latin typeface="Courier New"/>
                <a:cs typeface="Courier New"/>
              </a:rPr>
              <a:t>2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pc="90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b="0">
                <a:solidFill>
                  <a:srgbClr val="FFD580"/>
                </a:solidFill>
                <a:latin typeface="Courier New"/>
                <a:cs typeface="Courier New"/>
              </a:rPr>
              <a:t>4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],</a:t>
            </a:r>
            <a:r>
              <a:rPr dirty="0" spc="90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b="0">
                <a:solidFill>
                  <a:srgbClr val="B8E886"/>
                </a:solidFill>
                <a:latin typeface="Courier New"/>
                <a:cs typeface="Courier New"/>
              </a:rPr>
              <a:t>"name"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pc="90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pc="-10" b="0">
                <a:solidFill>
                  <a:srgbClr val="B8E886"/>
                </a:solidFill>
                <a:latin typeface="Courier New"/>
                <a:cs typeface="Courier New"/>
              </a:rPr>
              <a:t>"marks"</a:t>
            </a:r>
            <a:r>
              <a:rPr dirty="0" spc="-10" b="0">
                <a:solidFill>
                  <a:srgbClr val="E7E9F5"/>
                </a:solidFill>
                <a:latin typeface="Courier New"/>
                <a:cs typeface="Courier New"/>
              </a:rPr>
              <a:t>]]</a:t>
            </a:r>
          </a:p>
          <a:p>
            <a:pPr>
              <a:lnSpc>
                <a:spcPct val="100000"/>
              </a:lnSpc>
              <a:spcBef>
                <a:spcPts val="650"/>
              </a:spcBef>
            </a:pPr>
          </a:p>
          <a:p>
            <a:pPr marL="282575">
              <a:lnSpc>
                <a:spcPct val="100000"/>
              </a:lnSpc>
            </a:pP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pc="6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Boolean</a:t>
            </a:r>
            <a:r>
              <a:rPr dirty="0" spc="6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b="0" i="1">
                <a:solidFill>
                  <a:srgbClr val="8B8FB4"/>
                </a:solidFill>
                <a:latin typeface="Courier New"/>
                <a:cs typeface="Courier New"/>
              </a:rPr>
              <a:t>mask</a:t>
            </a:r>
            <a:r>
              <a:rPr dirty="0" spc="65" b="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pc="-10" b="0" i="1">
                <a:solidFill>
                  <a:srgbClr val="8B8FB4"/>
                </a:solidFill>
                <a:latin typeface="Courier New"/>
                <a:cs typeface="Courier New"/>
              </a:rPr>
              <a:t>filtering</a:t>
            </a:r>
          </a:p>
          <a:p>
            <a:pPr marL="282575">
              <a:lnSpc>
                <a:spcPct val="100000"/>
              </a:lnSpc>
              <a:spcBef>
                <a:spcPts val="300"/>
              </a:spcBef>
            </a:pPr>
            <a:r>
              <a:rPr dirty="0" b="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b="0">
                <a:solidFill>
                  <a:srgbClr val="FFD580"/>
                </a:solidFill>
                <a:latin typeface="Courier New"/>
                <a:cs typeface="Courier New"/>
              </a:rPr>
              <a:t>loc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b="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b="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pc="100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&gt;</a:t>
            </a:r>
            <a:r>
              <a:rPr dirty="0" spc="110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b="0">
                <a:solidFill>
                  <a:srgbClr val="FFD580"/>
                </a:solidFill>
                <a:latin typeface="Courier New"/>
                <a:cs typeface="Courier New"/>
              </a:rPr>
              <a:t>20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pc="100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b="0">
                <a:solidFill>
                  <a:srgbClr val="B8E886"/>
                </a:solidFill>
                <a:latin typeface="Courier New"/>
                <a:cs typeface="Courier New"/>
              </a:rPr>
              <a:t>"name"</a:t>
            </a:r>
            <a:r>
              <a:rPr dirty="0" b="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pc="110" b="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pc="-10" b="0">
                <a:solidFill>
                  <a:srgbClr val="B8E886"/>
                </a:solidFill>
                <a:latin typeface="Courier New"/>
                <a:cs typeface="Courier New"/>
              </a:rPr>
              <a:t>"marks"</a:t>
            </a:r>
            <a:r>
              <a:rPr dirty="0" spc="-10" b="0">
                <a:solidFill>
                  <a:srgbClr val="E7E9F5"/>
                </a:solidFill>
                <a:latin typeface="Courier New"/>
                <a:cs typeface="Courier New"/>
              </a:rPr>
              <a:t>]]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6181724" y="1485900"/>
            <a:ext cx="5324475" cy="4448175"/>
            <a:chOff x="6181724" y="1485900"/>
            <a:chExt cx="5324475" cy="444817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49" y="1523999"/>
              <a:ext cx="5305424" cy="440054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196350" y="1485900"/>
              <a:ext cx="5295265" cy="81280"/>
            </a:xfrm>
            <a:custGeom>
              <a:avLst/>
              <a:gdLst/>
              <a:ahLst/>
              <a:cxnLst/>
              <a:rect l="l" t="t" r="r" b="b"/>
              <a:pathLst>
                <a:path w="5295265" h="81280">
                  <a:moveTo>
                    <a:pt x="5606" y="80928"/>
                  </a:moveTo>
                  <a:lnTo>
                    <a:pt x="0" y="58502"/>
                  </a:lnTo>
                  <a:lnTo>
                    <a:pt x="4532" y="50929"/>
                  </a:lnTo>
                  <a:lnTo>
                    <a:pt x="4618" y="50786"/>
                  </a:lnTo>
                  <a:lnTo>
                    <a:pt x="36160" y="19244"/>
                  </a:lnTo>
                  <a:lnTo>
                    <a:pt x="77370" y="2175"/>
                  </a:lnTo>
                  <a:lnTo>
                    <a:pt x="99674" y="0"/>
                  </a:lnTo>
                  <a:lnTo>
                    <a:pt x="5195549" y="0"/>
                  </a:lnTo>
                  <a:lnTo>
                    <a:pt x="5239288" y="8700"/>
                  </a:lnTo>
                  <a:lnTo>
                    <a:pt x="5276371" y="33477"/>
                  </a:lnTo>
                  <a:lnTo>
                    <a:pt x="5280567" y="38099"/>
                  </a:lnTo>
                  <a:lnTo>
                    <a:pt x="99674" y="38099"/>
                  </a:lnTo>
                  <a:lnTo>
                    <a:pt x="89352" y="38462"/>
                  </a:lnTo>
                  <a:lnTo>
                    <a:pt x="50232" y="47107"/>
                  </a:lnTo>
                  <a:lnTo>
                    <a:pt x="12539" y="71957"/>
                  </a:lnTo>
                  <a:lnTo>
                    <a:pt x="7284" y="78342"/>
                  </a:lnTo>
                  <a:lnTo>
                    <a:pt x="5606" y="80928"/>
                  </a:lnTo>
                  <a:close/>
                </a:path>
                <a:path w="5295265" h="81280">
                  <a:moveTo>
                    <a:pt x="5289617" y="80928"/>
                  </a:moveTo>
                  <a:lnTo>
                    <a:pt x="5253768" y="50929"/>
                  </a:lnTo>
                  <a:lnTo>
                    <a:pt x="5215992" y="39550"/>
                  </a:lnTo>
                  <a:lnTo>
                    <a:pt x="5195549" y="38099"/>
                  </a:lnTo>
                  <a:lnTo>
                    <a:pt x="5280567" y="38099"/>
                  </a:lnTo>
                  <a:lnTo>
                    <a:pt x="5283947" y="41823"/>
                  </a:lnTo>
                  <a:lnTo>
                    <a:pt x="5290602" y="50786"/>
                  </a:lnTo>
                  <a:lnTo>
                    <a:pt x="5295221" y="58502"/>
                  </a:lnTo>
                  <a:lnTo>
                    <a:pt x="5289617" y="80928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181712" y="1544129"/>
              <a:ext cx="5324475" cy="4390390"/>
            </a:xfrm>
            <a:custGeom>
              <a:avLst/>
              <a:gdLst/>
              <a:ahLst/>
              <a:cxnLst/>
              <a:rect l="l" t="t" r="r" b="b"/>
              <a:pathLst>
                <a:path w="5324475" h="4390390">
                  <a:moveTo>
                    <a:pt x="5324475" y="56070"/>
                  </a:moveTo>
                  <a:lnTo>
                    <a:pt x="5315775" y="12331"/>
                  </a:lnTo>
                  <a:lnTo>
                    <a:pt x="5309692" y="0"/>
                  </a:lnTo>
                  <a:lnTo>
                    <a:pt x="5304079" y="22440"/>
                  </a:lnTo>
                  <a:lnTo>
                    <a:pt x="5306974" y="26911"/>
                  </a:lnTo>
                  <a:lnTo>
                    <a:pt x="5310467" y="33985"/>
                  </a:lnTo>
                  <a:lnTo>
                    <a:pt x="5312956" y="41211"/>
                  </a:lnTo>
                  <a:lnTo>
                    <a:pt x="5314454" y="48564"/>
                  </a:lnTo>
                  <a:lnTo>
                    <a:pt x="5314950" y="56070"/>
                  </a:lnTo>
                  <a:lnTo>
                    <a:pt x="5314950" y="4275645"/>
                  </a:lnTo>
                  <a:lnTo>
                    <a:pt x="5306974" y="4315752"/>
                  </a:lnTo>
                  <a:lnTo>
                    <a:pt x="5283809" y="4350156"/>
                  </a:lnTo>
                  <a:lnTo>
                    <a:pt x="5250281" y="4372445"/>
                  </a:lnTo>
                  <a:lnTo>
                    <a:pt x="5210175" y="4380420"/>
                  </a:lnTo>
                  <a:lnTo>
                    <a:pt x="114300" y="4380420"/>
                  </a:lnTo>
                  <a:lnTo>
                    <a:pt x="74206" y="4372445"/>
                  </a:lnTo>
                  <a:lnTo>
                    <a:pt x="40716" y="4350194"/>
                  </a:lnTo>
                  <a:lnTo>
                    <a:pt x="17500" y="4315752"/>
                  </a:lnTo>
                  <a:lnTo>
                    <a:pt x="9525" y="4275645"/>
                  </a:lnTo>
                  <a:lnTo>
                    <a:pt x="9525" y="56070"/>
                  </a:lnTo>
                  <a:lnTo>
                    <a:pt x="20408" y="22440"/>
                  </a:lnTo>
                  <a:lnTo>
                    <a:pt x="14795" y="0"/>
                  </a:lnTo>
                  <a:lnTo>
                    <a:pt x="546" y="44818"/>
                  </a:lnTo>
                  <a:lnTo>
                    <a:pt x="0" y="56070"/>
                  </a:lnTo>
                  <a:lnTo>
                    <a:pt x="0" y="4275645"/>
                  </a:lnTo>
                  <a:lnTo>
                    <a:pt x="8712" y="4319397"/>
                  </a:lnTo>
                  <a:lnTo>
                    <a:pt x="33528" y="4356430"/>
                  </a:lnTo>
                  <a:lnTo>
                    <a:pt x="33934" y="4356887"/>
                  </a:lnTo>
                  <a:lnTo>
                    <a:pt x="41833" y="4364050"/>
                  </a:lnTo>
                  <a:lnTo>
                    <a:pt x="81178" y="4385056"/>
                  </a:lnTo>
                  <a:lnTo>
                    <a:pt x="114300" y="4389945"/>
                  </a:lnTo>
                  <a:lnTo>
                    <a:pt x="5210175" y="4389945"/>
                  </a:lnTo>
                  <a:lnTo>
                    <a:pt x="5253914" y="4381246"/>
                  </a:lnTo>
                  <a:lnTo>
                    <a:pt x="5255666" y="4380420"/>
                  </a:lnTo>
                  <a:lnTo>
                    <a:pt x="5264112" y="4376445"/>
                  </a:lnTo>
                  <a:lnTo>
                    <a:pt x="5273687" y="4370705"/>
                  </a:lnTo>
                  <a:lnTo>
                    <a:pt x="5282654" y="4364050"/>
                  </a:lnTo>
                  <a:lnTo>
                    <a:pt x="5290490" y="4356925"/>
                  </a:lnTo>
                  <a:lnTo>
                    <a:pt x="5290998" y="4356468"/>
                  </a:lnTo>
                  <a:lnTo>
                    <a:pt x="5315775" y="4319397"/>
                  </a:lnTo>
                  <a:lnTo>
                    <a:pt x="5324475" y="4275645"/>
                  </a:lnTo>
                  <a:lnTo>
                    <a:pt x="5324475" y="5607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367462" y="1862137"/>
              <a:ext cx="4953000" cy="333375"/>
            </a:xfrm>
            <a:custGeom>
              <a:avLst/>
              <a:gdLst/>
              <a:ahLst/>
              <a:cxnLst/>
              <a:rect l="l" t="t" r="r" b="b"/>
              <a:pathLst>
                <a:path w="4953000" h="333375">
                  <a:moveTo>
                    <a:pt x="4895151" y="333374"/>
                  </a:moveTo>
                  <a:lnTo>
                    <a:pt x="57847" y="333374"/>
                  </a:lnTo>
                  <a:lnTo>
                    <a:pt x="53821" y="332978"/>
                  </a:lnTo>
                  <a:lnTo>
                    <a:pt x="15258" y="312366"/>
                  </a:lnTo>
                  <a:lnTo>
                    <a:pt x="0" y="275527"/>
                  </a:lnTo>
                  <a:lnTo>
                    <a:pt x="0" y="271462"/>
                  </a:lnTo>
                  <a:lnTo>
                    <a:pt x="0" y="57847"/>
                  </a:lnTo>
                  <a:lnTo>
                    <a:pt x="15258" y="21008"/>
                  </a:lnTo>
                  <a:lnTo>
                    <a:pt x="53821" y="396"/>
                  </a:lnTo>
                  <a:lnTo>
                    <a:pt x="57847" y="0"/>
                  </a:lnTo>
                  <a:lnTo>
                    <a:pt x="4895151" y="0"/>
                  </a:lnTo>
                  <a:lnTo>
                    <a:pt x="4931990" y="15259"/>
                  </a:lnTo>
                  <a:lnTo>
                    <a:pt x="4952601" y="53821"/>
                  </a:lnTo>
                  <a:lnTo>
                    <a:pt x="4952998" y="57847"/>
                  </a:lnTo>
                  <a:lnTo>
                    <a:pt x="4952998" y="275527"/>
                  </a:lnTo>
                  <a:lnTo>
                    <a:pt x="4937740" y="312366"/>
                  </a:lnTo>
                  <a:lnTo>
                    <a:pt x="4899177" y="332978"/>
                  </a:lnTo>
                  <a:lnTo>
                    <a:pt x="4895151" y="3333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367462" y="1862137"/>
              <a:ext cx="4953000" cy="333375"/>
            </a:xfrm>
            <a:custGeom>
              <a:avLst/>
              <a:gdLst/>
              <a:ahLst/>
              <a:cxnLst/>
              <a:rect l="l" t="t" r="r" b="b"/>
              <a:pathLst>
                <a:path w="4953000" h="333375">
                  <a:moveTo>
                    <a:pt x="0" y="271462"/>
                  </a:moveTo>
                  <a:lnTo>
                    <a:pt x="0" y="61912"/>
                  </a:lnTo>
                  <a:lnTo>
                    <a:pt x="0" y="57847"/>
                  </a:lnTo>
                  <a:lnTo>
                    <a:pt x="396" y="53821"/>
                  </a:lnTo>
                  <a:lnTo>
                    <a:pt x="18133" y="18133"/>
                  </a:lnTo>
                  <a:lnTo>
                    <a:pt x="49834" y="1189"/>
                  </a:lnTo>
                  <a:lnTo>
                    <a:pt x="53821" y="396"/>
                  </a:lnTo>
                  <a:lnTo>
                    <a:pt x="57847" y="0"/>
                  </a:lnTo>
                  <a:lnTo>
                    <a:pt x="61912" y="0"/>
                  </a:lnTo>
                  <a:lnTo>
                    <a:pt x="4891087" y="0"/>
                  </a:lnTo>
                  <a:lnTo>
                    <a:pt x="4895151" y="0"/>
                  </a:lnTo>
                  <a:lnTo>
                    <a:pt x="4899177" y="396"/>
                  </a:lnTo>
                  <a:lnTo>
                    <a:pt x="4903164" y="1189"/>
                  </a:lnTo>
                  <a:lnTo>
                    <a:pt x="4907151" y="1982"/>
                  </a:lnTo>
                  <a:lnTo>
                    <a:pt x="4911023" y="3157"/>
                  </a:lnTo>
                  <a:lnTo>
                    <a:pt x="4914778" y="4712"/>
                  </a:lnTo>
                  <a:lnTo>
                    <a:pt x="4918535" y="6268"/>
                  </a:lnTo>
                  <a:lnTo>
                    <a:pt x="4946730" y="34463"/>
                  </a:lnTo>
                  <a:lnTo>
                    <a:pt x="4952999" y="61912"/>
                  </a:lnTo>
                  <a:lnTo>
                    <a:pt x="4952999" y="271462"/>
                  </a:lnTo>
                  <a:lnTo>
                    <a:pt x="4952998" y="275527"/>
                  </a:lnTo>
                  <a:lnTo>
                    <a:pt x="4952601" y="279553"/>
                  </a:lnTo>
                  <a:lnTo>
                    <a:pt x="4951808" y="283540"/>
                  </a:lnTo>
                  <a:lnTo>
                    <a:pt x="4951016" y="287528"/>
                  </a:lnTo>
                  <a:lnTo>
                    <a:pt x="4928863" y="320681"/>
                  </a:lnTo>
                  <a:lnTo>
                    <a:pt x="4914778" y="328661"/>
                  </a:lnTo>
                  <a:lnTo>
                    <a:pt x="4911023" y="330217"/>
                  </a:lnTo>
                  <a:lnTo>
                    <a:pt x="4891087" y="333374"/>
                  </a:lnTo>
                  <a:lnTo>
                    <a:pt x="61912" y="333374"/>
                  </a:lnTo>
                  <a:lnTo>
                    <a:pt x="24135" y="320681"/>
                  </a:lnTo>
                  <a:lnTo>
                    <a:pt x="1982" y="287527"/>
                  </a:lnTo>
                  <a:lnTo>
                    <a:pt x="0" y="275527"/>
                  </a:lnTo>
                  <a:lnTo>
                    <a:pt x="0" y="271462"/>
                  </a:lnTo>
                  <a:close/>
                </a:path>
              </a:pathLst>
            </a:custGeom>
            <a:ln w="9524">
              <a:solidFill>
                <a:srgbClr val="FFC2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362687" y="2409824"/>
              <a:ext cx="47625" cy="295275"/>
            </a:xfrm>
            <a:custGeom>
              <a:avLst/>
              <a:gdLst/>
              <a:ahLst/>
              <a:cxnLst/>
              <a:rect l="l" t="t" r="r" b="b"/>
              <a:pathLst>
                <a:path w="47625" h="295275">
                  <a:moveTo>
                    <a:pt x="47625" y="268312"/>
                  </a:moveTo>
                  <a:lnTo>
                    <a:pt x="26974" y="247650"/>
                  </a:lnTo>
                  <a:lnTo>
                    <a:pt x="20662" y="247650"/>
                  </a:lnTo>
                  <a:lnTo>
                    <a:pt x="0" y="268312"/>
                  </a:lnTo>
                  <a:lnTo>
                    <a:pt x="0" y="274624"/>
                  </a:lnTo>
                  <a:lnTo>
                    <a:pt x="20662" y="295275"/>
                  </a:lnTo>
                  <a:lnTo>
                    <a:pt x="26974" y="295275"/>
                  </a:lnTo>
                  <a:lnTo>
                    <a:pt x="47625" y="274624"/>
                  </a:lnTo>
                  <a:lnTo>
                    <a:pt x="47625" y="271462"/>
                  </a:lnTo>
                  <a:lnTo>
                    <a:pt x="47625" y="268312"/>
                  </a:lnTo>
                  <a:close/>
                </a:path>
                <a:path w="47625" h="29527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439023" y="2609849"/>
              <a:ext cx="790575" cy="133350"/>
            </a:xfrm>
            <a:custGeom>
              <a:avLst/>
              <a:gdLst/>
              <a:ahLst/>
              <a:cxnLst/>
              <a:rect l="l" t="t" r="r" b="b"/>
              <a:pathLst>
                <a:path w="790575" h="133350">
                  <a:moveTo>
                    <a:pt x="765789" y="133349"/>
                  </a:moveTo>
                  <a:lnTo>
                    <a:pt x="24786" y="133349"/>
                  </a:lnTo>
                  <a:lnTo>
                    <a:pt x="21141" y="132624"/>
                  </a:lnTo>
                  <a:lnTo>
                    <a:pt x="0" y="108564"/>
                  </a:lnTo>
                  <a:lnTo>
                    <a:pt x="0" y="104774"/>
                  </a:lnTo>
                  <a:lnTo>
                    <a:pt x="0" y="24785"/>
                  </a:lnTo>
                  <a:lnTo>
                    <a:pt x="24786" y="0"/>
                  </a:lnTo>
                  <a:lnTo>
                    <a:pt x="765789" y="0"/>
                  </a:lnTo>
                  <a:lnTo>
                    <a:pt x="790574" y="24785"/>
                  </a:lnTo>
                  <a:lnTo>
                    <a:pt x="790574" y="108564"/>
                  </a:lnTo>
                  <a:lnTo>
                    <a:pt x="769433" y="132624"/>
                  </a:lnTo>
                  <a:lnTo>
                    <a:pt x="765789" y="13334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367462" y="2843212"/>
              <a:ext cx="4953000" cy="2924175"/>
            </a:xfrm>
            <a:custGeom>
              <a:avLst/>
              <a:gdLst/>
              <a:ahLst/>
              <a:cxnLst/>
              <a:rect l="l" t="t" r="r" b="b"/>
              <a:pathLst>
                <a:path w="4953000" h="2924175">
                  <a:moveTo>
                    <a:pt x="4877353" y="2924174"/>
                  </a:moveTo>
                  <a:lnTo>
                    <a:pt x="75646" y="2924174"/>
                  </a:lnTo>
                  <a:lnTo>
                    <a:pt x="70381" y="2923655"/>
                  </a:lnTo>
                  <a:lnTo>
                    <a:pt x="31561" y="2907575"/>
                  </a:lnTo>
                  <a:lnTo>
                    <a:pt x="4128" y="2869282"/>
                  </a:lnTo>
                  <a:lnTo>
                    <a:pt x="0" y="2848528"/>
                  </a:lnTo>
                  <a:lnTo>
                    <a:pt x="0" y="2843212"/>
                  </a:lnTo>
                  <a:lnTo>
                    <a:pt x="0" y="75646"/>
                  </a:lnTo>
                  <a:lnTo>
                    <a:pt x="16597" y="31561"/>
                  </a:lnTo>
                  <a:lnTo>
                    <a:pt x="54890" y="4128"/>
                  </a:lnTo>
                  <a:lnTo>
                    <a:pt x="75646" y="0"/>
                  </a:lnTo>
                  <a:lnTo>
                    <a:pt x="4877353" y="0"/>
                  </a:lnTo>
                  <a:lnTo>
                    <a:pt x="4921436" y="16597"/>
                  </a:lnTo>
                  <a:lnTo>
                    <a:pt x="4948869" y="54890"/>
                  </a:lnTo>
                  <a:lnTo>
                    <a:pt x="4952998" y="75646"/>
                  </a:lnTo>
                  <a:lnTo>
                    <a:pt x="4952998" y="2848528"/>
                  </a:lnTo>
                  <a:lnTo>
                    <a:pt x="4936400" y="2892611"/>
                  </a:lnTo>
                  <a:lnTo>
                    <a:pt x="4898107" y="2920045"/>
                  </a:lnTo>
                  <a:lnTo>
                    <a:pt x="4882617" y="2923655"/>
                  </a:lnTo>
                  <a:lnTo>
                    <a:pt x="4877353" y="292417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367462" y="2843212"/>
              <a:ext cx="4953000" cy="2924175"/>
            </a:xfrm>
            <a:custGeom>
              <a:avLst/>
              <a:gdLst/>
              <a:ahLst/>
              <a:cxnLst/>
              <a:rect l="l" t="t" r="r" b="b"/>
              <a:pathLst>
                <a:path w="4953000" h="2924175">
                  <a:moveTo>
                    <a:pt x="0" y="2843212"/>
                  </a:moveTo>
                  <a:lnTo>
                    <a:pt x="0" y="80962"/>
                  </a:lnTo>
                  <a:lnTo>
                    <a:pt x="0" y="75646"/>
                  </a:lnTo>
                  <a:lnTo>
                    <a:pt x="518" y="70381"/>
                  </a:lnTo>
                  <a:lnTo>
                    <a:pt x="1555" y="65167"/>
                  </a:lnTo>
                  <a:lnTo>
                    <a:pt x="2592" y="59953"/>
                  </a:lnTo>
                  <a:lnTo>
                    <a:pt x="4128" y="54890"/>
                  </a:lnTo>
                  <a:lnTo>
                    <a:pt x="6162" y="49979"/>
                  </a:lnTo>
                  <a:lnTo>
                    <a:pt x="8196" y="45067"/>
                  </a:lnTo>
                  <a:lnTo>
                    <a:pt x="10690" y="40401"/>
                  </a:lnTo>
                  <a:lnTo>
                    <a:pt x="13643" y="35981"/>
                  </a:lnTo>
                  <a:lnTo>
                    <a:pt x="16597" y="31561"/>
                  </a:lnTo>
                  <a:lnTo>
                    <a:pt x="19953" y="27472"/>
                  </a:lnTo>
                  <a:lnTo>
                    <a:pt x="23713" y="23713"/>
                  </a:lnTo>
                  <a:lnTo>
                    <a:pt x="27471" y="19954"/>
                  </a:lnTo>
                  <a:lnTo>
                    <a:pt x="31561" y="16597"/>
                  </a:lnTo>
                  <a:lnTo>
                    <a:pt x="35982" y="13644"/>
                  </a:lnTo>
                  <a:lnTo>
                    <a:pt x="40402" y="10690"/>
                  </a:lnTo>
                  <a:lnTo>
                    <a:pt x="45068" y="8196"/>
                  </a:lnTo>
                  <a:lnTo>
                    <a:pt x="49979" y="6162"/>
                  </a:lnTo>
                  <a:lnTo>
                    <a:pt x="54890" y="4128"/>
                  </a:lnTo>
                  <a:lnTo>
                    <a:pt x="59953" y="2592"/>
                  </a:lnTo>
                  <a:lnTo>
                    <a:pt x="65167" y="1555"/>
                  </a:lnTo>
                  <a:lnTo>
                    <a:pt x="70381" y="518"/>
                  </a:lnTo>
                  <a:lnTo>
                    <a:pt x="75646" y="0"/>
                  </a:lnTo>
                  <a:lnTo>
                    <a:pt x="80962" y="0"/>
                  </a:lnTo>
                  <a:lnTo>
                    <a:pt x="4872037" y="0"/>
                  </a:lnTo>
                  <a:lnTo>
                    <a:pt x="4877353" y="0"/>
                  </a:lnTo>
                  <a:lnTo>
                    <a:pt x="4882617" y="518"/>
                  </a:lnTo>
                  <a:lnTo>
                    <a:pt x="4887831" y="1555"/>
                  </a:lnTo>
                  <a:lnTo>
                    <a:pt x="4893045" y="2592"/>
                  </a:lnTo>
                  <a:lnTo>
                    <a:pt x="4898107" y="4128"/>
                  </a:lnTo>
                  <a:lnTo>
                    <a:pt x="4903018" y="6162"/>
                  </a:lnTo>
                  <a:lnTo>
                    <a:pt x="4907930" y="8196"/>
                  </a:lnTo>
                  <a:lnTo>
                    <a:pt x="4939353" y="35981"/>
                  </a:lnTo>
                  <a:lnTo>
                    <a:pt x="4942308" y="40401"/>
                  </a:lnTo>
                  <a:lnTo>
                    <a:pt x="4952999" y="80962"/>
                  </a:lnTo>
                  <a:lnTo>
                    <a:pt x="4952999" y="2843212"/>
                  </a:lnTo>
                  <a:lnTo>
                    <a:pt x="4942308" y="2883771"/>
                  </a:lnTo>
                  <a:lnTo>
                    <a:pt x="4939353" y="2888191"/>
                  </a:lnTo>
                  <a:lnTo>
                    <a:pt x="4936400" y="2892611"/>
                  </a:lnTo>
                  <a:lnTo>
                    <a:pt x="4903018" y="2918011"/>
                  </a:lnTo>
                  <a:lnTo>
                    <a:pt x="4887831" y="2922617"/>
                  </a:lnTo>
                  <a:lnTo>
                    <a:pt x="4882617" y="2923655"/>
                  </a:lnTo>
                  <a:lnTo>
                    <a:pt x="4877353" y="2924174"/>
                  </a:lnTo>
                  <a:lnTo>
                    <a:pt x="4872037" y="2924174"/>
                  </a:lnTo>
                  <a:lnTo>
                    <a:pt x="80962" y="2924174"/>
                  </a:lnTo>
                  <a:lnTo>
                    <a:pt x="75646" y="2924174"/>
                  </a:lnTo>
                  <a:lnTo>
                    <a:pt x="70381" y="2923655"/>
                  </a:lnTo>
                  <a:lnTo>
                    <a:pt x="65167" y="2922617"/>
                  </a:lnTo>
                  <a:lnTo>
                    <a:pt x="59953" y="2921580"/>
                  </a:lnTo>
                  <a:lnTo>
                    <a:pt x="23713" y="2900460"/>
                  </a:lnTo>
                  <a:lnTo>
                    <a:pt x="19953" y="2896701"/>
                  </a:lnTo>
                  <a:lnTo>
                    <a:pt x="1555" y="2859006"/>
                  </a:lnTo>
                  <a:lnTo>
                    <a:pt x="518" y="2853793"/>
                  </a:lnTo>
                  <a:lnTo>
                    <a:pt x="0" y="2848528"/>
                  </a:lnTo>
                  <a:lnTo>
                    <a:pt x="0" y="284321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222436" y="1673225"/>
            <a:ext cx="5243195" cy="2903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 sz="750" spc="-17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2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75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750" spc="1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75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75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3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7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7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75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95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05" b="1">
                <a:solidFill>
                  <a:srgbClr val="FF6A5B"/>
                </a:solidFill>
                <a:latin typeface="Tahoma"/>
                <a:cs typeface="Tahoma"/>
              </a:rPr>
              <a:t>-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B</a:t>
            </a:r>
            <a:r>
              <a:rPr dirty="0" sz="750" spc="-9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7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3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0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750">
              <a:latin typeface="Tahoma"/>
              <a:cs typeface="Tahoma"/>
            </a:endParaRPr>
          </a:p>
          <a:p>
            <a:pPr marL="254000">
              <a:lnSpc>
                <a:spcPct val="100000"/>
              </a:lnSpc>
              <a:spcBef>
                <a:spcPts val="5"/>
              </a:spcBef>
            </a:pPr>
            <a:r>
              <a:rPr dirty="0" sz="1000" spc="-10" b="1">
                <a:solidFill>
                  <a:srgbClr val="FF6A5B"/>
                </a:solidFill>
                <a:latin typeface="Courier New"/>
                <a:cs typeface="Courier New"/>
              </a:rPr>
              <a:t>df.iloc[row_position,</a:t>
            </a:r>
            <a:r>
              <a:rPr dirty="0" sz="1000" spc="20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1000" spc="-10" b="1">
                <a:solidFill>
                  <a:srgbClr val="FF6A5B"/>
                </a:solidFill>
                <a:latin typeface="Courier New"/>
                <a:cs typeface="Courier New"/>
              </a:rPr>
              <a:t>col_position]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000">
              <a:latin typeface="Courier New"/>
              <a:cs typeface="Courier New"/>
            </a:endParaRPr>
          </a:p>
          <a:p>
            <a:pPr marL="263525">
              <a:lnSpc>
                <a:spcPct val="100000"/>
              </a:lnSpc>
            </a:pP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Uses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35" b="1">
                <a:solidFill>
                  <a:srgbClr val="1B1F3A"/>
                </a:solidFill>
                <a:latin typeface="Tahoma"/>
                <a:cs typeface="Tahoma"/>
              </a:rPr>
              <a:t>POSITIONS</a:t>
            </a:r>
            <a:r>
              <a:rPr dirty="0" sz="850" spc="-2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80">
                <a:solidFill>
                  <a:srgbClr val="4A4E6A"/>
                </a:solidFill>
                <a:latin typeface="Trebuchet MS"/>
                <a:cs typeface="Trebuchet MS"/>
              </a:rPr>
              <a:t>(0,1,2,3...)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like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Python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rebuchet MS"/>
                <a:cs typeface="Trebuchet MS"/>
              </a:rPr>
              <a:t>list</a:t>
            </a:r>
            <a:endParaRPr sz="850">
              <a:latin typeface="Trebuchet MS"/>
              <a:cs typeface="Trebuchet MS"/>
            </a:endParaRPr>
          </a:p>
          <a:p>
            <a:pPr marL="263525">
              <a:lnSpc>
                <a:spcPct val="100000"/>
              </a:lnSpc>
              <a:spcBef>
                <a:spcPts val="930"/>
              </a:spcBef>
            </a:pPr>
            <a:r>
              <a:rPr dirty="0" sz="850" spc="-105" b="1">
                <a:solidFill>
                  <a:srgbClr val="1B1F3A"/>
                </a:solidFill>
                <a:latin typeface="Tahoma"/>
                <a:cs typeface="Tahoma"/>
              </a:rPr>
              <a:t>Exclusive</a:t>
            </a:r>
            <a:r>
              <a:rPr dirty="0" sz="850" spc="-5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on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the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end:</a:t>
            </a:r>
            <a:r>
              <a:rPr dirty="0" sz="850" spc="2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df.iloc[0:3]</a:t>
            </a:r>
            <a:r>
              <a:rPr dirty="0" sz="750" spc="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returns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rows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65">
                <a:solidFill>
                  <a:srgbClr val="4A4E6A"/>
                </a:solidFill>
                <a:latin typeface="Trebuchet MS"/>
                <a:cs typeface="Trebuchet MS"/>
              </a:rPr>
              <a:t>0,1,2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(3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rebuchet MS"/>
                <a:cs typeface="Trebuchet MS"/>
              </a:rPr>
              <a:t>rows)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850">
              <a:latin typeface="Trebuchet MS"/>
              <a:cs typeface="Trebuchet MS"/>
            </a:endParaRPr>
          </a:p>
          <a:p>
            <a:pPr marL="282575">
              <a:lnSpc>
                <a:spcPct val="100000"/>
              </a:lnSpc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Row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at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position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2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(third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0" i="1">
                <a:solidFill>
                  <a:srgbClr val="8B8FB4"/>
                </a:solidFill>
                <a:latin typeface="Courier New"/>
                <a:cs typeface="Courier New"/>
              </a:rPr>
              <a:t>row)</a:t>
            </a:r>
            <a:endParaRPr sz="750">
              <a:latin typeface="Courier New"/>
              <a:cs typeface="Courier New"/>
            </a:endParaRPr>
          </a:p>
          <a:p>
            <a:pPr marL="282575">
              <a:lnSpc>
                <a:spcPct val="100000"/>
              </a:lnSpc>
              <a:spcBef>
                <a:spcPts val="300"/>
              </a:spcBef>
            </a:pPr>
            <a:r>
              <a:rPr dirty="0" sz="75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750" spc="-10">
                <a:solidFill>
                  <a:srgbClr val="FFD580"/>
                </a:solidFill>
                <a:latin typeface="Courier New"/>
                <a:cs typeface="Courier New"/>
              </a:rPr>
              <a:t>iloc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 spc="-10">
                <a:solidFill>
                  <a:srgbClr val="FFD580"/>
                </a:solidFill>
                <a:latin typeface="Courier New"/>
                <a:cs typeface="Courier New"/>
              </a:rPr>
              <a:t>2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750">
              <a:latin typeface="Courier New"/>
              <a:cs typeface="Courier New"/>
            </a:endParaRPr>
          </a:p>
          <a:p>
            <a:pPr marL="282575">
              <a:lnSpc>
                <a:spcPct val="100000"/>
              </a:lnSpc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Rows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0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through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2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(EXCLUSIVE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3</a:t>
            </a:r>
            <a:r>
              <a:rPr dirty="0" sz="750" spc="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rows)</a:t>
            </a:r>
            <a:endParaRPr sz="750">
              <a:latin typeface="Courier New"/>
              <a:cs typeface="Courier New"/>
            </a:endParaRPr>
          </a:p>
          <a:p>
            <a:pPr marL="282575">
              <a:lnSpc>
                <a:spcPct val="100000"/>
              </a:lnSpc>
              <a:spcBef>
                <a:spcPts val="300"/>
              </a:spcBef>
            </a:pPr>
            <a:r>
              <a:rPr dirty="0" sz="75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750" spc="-10">
                <a:solidFill>
                  <a:srgbClr val="FFD580"/>
                </a:solidFill>
                <a:latin typeface="Courier New"/>
                <a:cs typeface="Courier New"/>
              </a:rPr>
              <a:t>iloc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 spc="-10">
                <a:solidFill>
                  <a:srgbClr val="FFD580"/>
                </a:solidFill>
                <a:latin typeface="Courier New"/>
                <a:cs typeface="Courier New"/>
              </a:rPr>
              <a:t>0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r>
              <a:rPr dirty="0" sz="750" spc="-10">
                <a:solidFill>
                  <a:srgbClr val="FFD580"/>
                </a:solidFill>
                <a:latin typeface="Courier New"/>
                <a:cs typeface="Courier New"/>
              </a:rPr>
              <a:t>3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750">
              <a:latin typeface="Courier New"/>
              <a:cs typeface="Courier New"/>
            </a:endParaRPr>
          </a:p>
          <a:p>
            <a:pPr marL="282575">
              <a:lnSpc>
                <a:spcPct val="100000"/>
              </a:lnSpc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First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3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rows,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first</a:t>
            </a:r>
            <a:r>
              <a:rPr dirty="0" sz="750" spc="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2</a:t>
            </a:r>
            <a:r>
              <a:rPr dirty="0" sz="750" spc="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columns</a:t>
            </a:r>
            <a:endParaRPr sz="750">
              <a:latin typeface="Courier New"/>
              <a:cs typeface="Courier New"/>
            </a:endParaRPr>
          </a:p>
          <a:p>
            <a:pPr marL="282575"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750">
                <a:solidFill>
                  <a:srgbClr val="FFD580"/>
                </a:solidFill>
                <a:latin typeface="Courier New"/>
                <a:cs typeface="Courier New"/>
              </a:rPr>
              <a:t>iloc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>
                <a:solidFill>
                  <a:srgbClr val="FFD580"/>
                </a:solidFill>
                <a:latin typeface="Courier New"/>
                <a:cs typeface="Courier New"/>
              </a:rPr>
              <a:t>0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r>
              <a:rPr dirty="0" sz="750">
                <a:solidFill>
                  <a:srgbClr val="FFD580"/>
                </a:solidFill>
                <a:latin typeface="Courier New"/>
                <a:cs typeface="Courier New"/>
              </a:rPr>
              <a:t>3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1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FFD580"/>
                </a:solidFill>
                <a:latin typeface="Courier New"/>
                <a:cs typeface="Courier New"/>
              </a:rPr>
              <a:t>0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r>
              <a:rPr dirty="0" sz="750" spc="-20">
                <a:solidFill>
                  <a:srgbClr val="FFD580"/>
                </a:solidFill>
                <a:latin typeface="Courier New"/>
                <a:cs typeface="Courier New"/>
              </a:rPr>
              <a:t>2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750">
              <a:latin typeface="Courier New"/>
              <a:cs typeface="Courier New"/>
            </a:endParaRPr>
          </a:p>
          <a:p>
            <a:pPr marL="282575">
              <a:lnSpc>
                <a:spcPct val="100000"/>
              </a:lnSpc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Last</a:t>
            </a:r>
            <a:r>
              <a:rPr dirty="0" sz="750" spc="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5" i="1">
                <a:solidFill>
                  <a:srgbClr val="8B8FB4"/>
                </a:solidFill>
                <a:latin typeface="Courier New"/>
                <a:cs typeface="Courier New"/>
              </a:rPr>
              <a:t>row</a:t>
            </a:r>
            <a:endParaRPr sz="750">
              <a:latin typeface="Courier New"/>
              <a:cs typeface="Courier New"/>
            </a:endParaRPr>
          </a:p>
          <a:p>
            <a:pPr marL="282575">
              <a:lnSpc>
                <a:spcPct val="100000"/>
              </a:lnSpc>
              <a:spcBef>
                <a:spcPts val="300"/>
              </a:spcBef>
            </a:pPr>
            <a:r>
              <a:rPr dirty="0" sz="75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750">
                <a:solidFill>
                  <a:srgbClr val="FFD580"/>
                </a:solidFill>
                <a:latin typeface="Courier New"/>
                <a:cs typeface="Courier New"/>
              </a:rPr>
              <a:t>iloc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[-</a:t>
            </a:r>
            <a:r>
              <a:rPr dirty="0" sz="750" spc="-25">
                <a:solidFill>
                  <a:srgbClr val="FFD580"/>
                </a:solidFill>
                <a:latin typeface="Courier New"/>
                <a:cs typeface="Courier New"/>
              </a:rPr>
              <a:t>1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85799" y="6010274"/>
            <a:ext cx="10820400" cy="314325"/>
            <a:chOff x="685799" y="6010274"/>
            <a:chExt cx="10820400" cy="314325"/>
          </a:xfrm>
        </p:grpSpPr>
        <p:sp>
          <p:nvSpPr>
            <p:cNvPr id="31" name="object 31"/>
            <p:cNvSpPr/>
            <p:nvPr/>
          </p:nvSpPr>
          <p:spPr>
            <a:xfrm>
              <a:off x="690562" y="6015037"/>
              <a:ext cx="10810875" cy="304800"/>
            </a:xfrm>
            <a:custGeom>
              <a:avLst/>
              <a:gdLst/>
              <a:ahLst/>
              <a:cxnLst/>
              <a:rect l="l" t="t" r="r" b="b"/>
              <a:pathLst>
                <a:path w="10810875" h="304800">
                  <a:moveTo>
                    <a:pt x="10726327" y="304799"/>
                  </a:moveTo>
                  <a:lnTo>
                    <a:pt x="84545" y="304799"/>
                  </a:lnTo>
                  <a:lnTo>
                    <a:pt x="78661" y="304219"/>
                  </a:lnTo>
                  <a:lnTo>
                    <a:pt x="35275" y="286247"/>
                  </a:lnTo>
                  <a:lnTo>
                    <a:pt x="9161" y="254428"/>
                  </a:lnTo>
                  <a:lnTo>
                    <a:pt x="0" y="220253"/>
                  </a:lnTo>
                  <a:lnTo>
                    <a:pt x="0" y="21431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8"/>
                  </a:lnTo>
                  <a:lnTo>
                    <a:pt x="10798924" y="45154"/>
                  </a:lnTo>
                  <a:lnTo>
                    <a:pt x="10810872" y="84545"/>
                  </a:lnTo>
                  <a:lnTo>
                    <a:pt x="10810872" y="220253"/>
                  </a:lnTo>
                  <a:lnTo>
                    <a:pt x="10798924" y="259643"/>
                  </a:lnTo>
                  <a:lnTo>
                    <a:pt x="10765717" y="292850"/>
                  </a:lnTo>
                  <a:lnTo>
                    <a:pt x="10732211" y="304219"/>
                  </a:lnTo>
                  <a:lnTo>
                    <a:pt x="10726327" y="3047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90562" y="6015037"/>
              <a:ext cx="10810875" cy="304800"/>
            </a:xfrm>
            <a:custGeom>
              <a:avLst/>
              <a:gdLst/>
              <a:ahLst/>
              <a:cxnLst/>
              <a:rect l="l" t="t" r="r" b="b"/>
              <a:pathLst>
                <a:path w="10810875" h="304800">
                  <a:moveTo>
                    <a:pt x="0" y="2143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0"/>
                  </a:lnTo>
                  <a:lnTo>
                    <a:pt x="1738" y="72833"/>
                  </a:lnTo>
                  <a:lnTo>
                    <a:pt x="2897" y="67005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72834" y="173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26327" y="0"/>
                  </a:lnTo>
                  <a:lnTo>
                    <a:pt x="10732211" y="579"/>
                  </a:lnTo>
                  <a:lnTo>
                    <a:pt x="10770657" y="15249"/>
                  </a:lnTo>
                  <a:lnTo>
                    <a:pt x="10795623" y="40215"/>
                  </a:lnTo>
                  <a:lnTo>
                    <a:pt x="10798924" y="45154"/>
                  </a:lnTo>
                  <a:lnTo>
                    <a:pt x="10801711" y="50369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07975" y="67005"/>
                  </a:lnTo>
                  <a:lnTo>
                    <a:pt x="10809134" y="72833"/>
                  </a:lnTo>
                  <a:lnTo>
                    <a:pt x="10810293" y="78660"/>
                  </a:lnTo>
                  <a:lnTo>
                    <a:pt x="10810872" y="84545"/>
                  </a:lnTo>
                  <a:lnTo>
                    <a:pt x="10810874" y="90487"/>
                  </a:lnTo>
                  <a:lnTo>
                    <a:pt x="10810874" y="214312"/>
                  </a:lnTo>
                  <a:lnTo>
                    <a:pt x="10810872" y="220253"/>
                  </a:lnTo>
                  <a:lnTo>
                    <a:pt x="10810293" y="226137"/>
                  </a:lnTo>
                  <a:lnTo>
                    <a:pt x="10809134" y="231965"/>
                  </a:lnTo>
                  <a:lnTo>
                    <a:pt x="10807975" y="237792"/>
                  </a:lnTo>
                  <a:lnTo>
                    <a:pt x="10788572" y="274094"/>
                  </a:lnTo>
                  <a:lnTo>
                    <a:pt x="10755013" y="297911"/>
                  </a:lnTo>
                  <a:lnTo>
                    <a:pt x="10749524" y="300185"/>
                  </a:lnTo>
                  <a:lnTo>
                    <a:pt x="10720386" y="304799"/>
                  </a:lnTo>
                  <a:lnTo>
                    <a:pt x="90487" y="304799"/>
                  </a:lnTo>
                  <a:lnTo>
                    <a:pt x="55859" y="297911"/>
                  </a:lnTo>
                  <a:lnTo>
                    <a:pt x="50370" y="295637"/>
                  </a:lnTo>
                  <a:lnTo>
                    <a:pt x="18550" y="269523"/>
                  </a:lnTo>
                  <a:lnTo>
                    <a:pt x="1738" y="231965"/>
                  </a:lnTo>
                  <a:lnTo>
                    <a:pt x="0" y="220253"/>
                  </a:lnTo>
                  <a:lnTo>
                    <a:pt x="0" y="214312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943212" y="6096000"/>
              <a:ext cx="4838700" cy="133350"/>
            </a:xfrm>
            <a:custGeom>
              <a:avLst/>
              <a:gdLst/>
              <a:ahLst/>
              <a:cxnLst/>
              <a:rect l="l" t="t" r="r" b="b"/>
              <a:pathLst>
                <a:path w="4838700" h="133350">
                  <a:moveTo>
                    <a:pt x="628650" y="24790"/>
                  </a:moveTo>
                  <a:lnTo>
                    <a:pt x="60387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104775"/>
                  </a:lnTo>
                  <a:lnTo>
                    <a:pt x="0" y="108572"/>
                  </a:lnTo>
                  <a:lnTo>
                    <a:pt x="24790" y="133350"/>
                  </a:lnTo>
                  <a:lnTo>
                    <a:pt x="603872" y="133350"/>
                  </a:lnTo>
                  <a:lnTo>
                    <a:pt x="628650" y="108572"/>
                  </a:lnTo>
                  <a:lnTo>
                    <a:pt x="628650" y="24790"/>
                  </a:lnTo>
                  <a:close/>
                </a:path>
                <a:path w="4838700" h="133350">
                  <a:moveTo>
                    <a:pt x="1524000" y="24790"/>
                  </a:moveTo>
                  <a:lnTo>
                    <a:pt x="1499222" y="0"/>
                  </a:lnTo>
                  <a:lnTo>
                    <a:pt x="853465" y="0"/>
                  </a:lnTo>
                  <a:lnTo>
                    <a:pt x="828675" y="24790"/>
                  </a:lnTo>
                  <a:lnTo>
                    <a:pt x="828675" y="104775"/>
                  </a:lnTo>
                  <a:lnTo>
                    <a:pt x="828675" y="108572"/>
                  </a:lnTo>
                  <a:lnTo>
                    <a:pt x="853465" y="133350"/>
                  </a:lnTo>
                  <a:lnTo>
                    <a:pt x="1499222" y="133350"/>
                  </a:lnTo>
                  <a:lnTo>
                    <a:pt x="1524000" y="108572"/>
                  </a:lnTo>
                  <a:lnTo>
                    <a:pt x="1524000" y="24790"/>
                  </a:lnTo>
                  <a:close/>
                </a:path>
                <a:path w="4838700" h="133350">
                  <a:moveTo>
                    <a:pt x="3352800" y="24790"/>
                  </a:moveTo>
                  <a:lnTo>
                    <a:pt x="3328022" y="0"/>
                  </a:lnTo>
                  <a:lnTo>
                    <a:pt x="2634640" y="0"/>
                  </a:lnTo>
                  <a:lnTo>
                    <a:pt x="2609850" y="24790"/>
                  </a:lnTo>
                  <a:lnTo>
                    <a:pt x="2609850" y="104775"/>
                  </a:lnTo>
                  <a:lnTo>
                    <a:pt x="2609850" y="108572"/>
                  </a:lnTo>
                  <a:lnTo>
                    <a:pt x="2634640" y="133350"/>
                  </a:lnTo>
                  <a:lnTo>
                    <a:pt x="3328022" y="133350"/>
                  </a:lnTo>
                  <a:lnTo>
                    <a:pt x="3352800" y="108572"/>
                  </a:lnTo>
                  <a:lnTo>
                    <a:pt x="3352800" y="24790"/>
                  </a:lnTo>
                  <a:close/>
                </a:path>
                <a:path w="4838700" h="133350">
                  <a:moveTo>
                    <a:pt x="4838700" y="24790"/>
                  </a:moveTo>
                  <a:lnTo>
                    <a:pt x="4813922" y="0"/>
                  </a:lnTo>
                  <a:lnTo>
                    <a:pt x="4063390" y="0"/>
                  </a:lnTo>
                  <a:lnTo>
                    <a:pt x="4038600" y="24790"/>
                  </a:lnTo>
                  <a:lnTo>
                    <a:pt x="4038600" y="104775"/>
                  </a:lnTo>
                  <a:lnTo>
                    <a:pt x="4038600" y="108572"/>
                  </a:lnTo>
                  <a:lnTo>
                    <a:pt x="4063390" y="133350"/>
                  </a:lnTo>
                  <a:lnTo>
                    <a:pt x="4813922" y="133350"/>
                  </a:lnTo>
                  <a:lnTo>
                    <a:pt x="4838700" y="108572"/>
                  </a:lnTo>
                  <a:lnTo>
                    <a:pt x="4838700" y="24790"/>
                  </a:lnTo>
                  <a:close/>
                </a:path>
              </a:pathLst>
            </a:custGeom>
            <a:solidFill>
              <a:srgbClr val="FF6A5B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367531" y="6078788"/>
            <a:ext cx="1566545" cy="1536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When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index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is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default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(0,1,2,3...),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78149" y="6078788"/>
            <a:ext cx="788035" cy="15557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df.loc[2]</a:t>
            </a:r>
            <a:r>
              <a:rPr dirty="0" sz="750" spc="21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10099" y="6078788"/>
            <a:ext cx="1733550" cy="15557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df.iloc[2]</a:t>
            </a:r>
            <a:r>
              <a:rPr dirty="0" sz="750" spc="21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return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same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row.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But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87851" y="6078788"/>
            <a:ext cx="1383665" cy="15557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df.loc[0:3]</a:t>
            </a:r>
            <a:r>
              <a:rPr dirty="0" sz="750" spc="21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returns 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4</a:t>
            </a:r>
            <a:r>
              <a:rPr dirty="0" sz="800" spc="-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FF6A5B"/>
                </a:solidFill>
                <a:latin typeface="Tahoma"/>
                <a:cs typeface="Tahoma"/>
              </a:rPr>
              <a:t>rows</a:t>
            </a:r>
            <a:r>
              <a:rPr dirty="0" sz="800" spc="-65">
                <a:solidFill>
                  <a:srgbClr val="4A4E6A"/>
                </a:solidFill>
                <a:latin typeface="Trebuchet MS"/>
                <a:cs typeface="Trebuchet MS"/>
              </a:rPr>
              <a:t>,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015708" y="6078788"/>
            <a:ext cx="3922395" cy="15557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df.iloc[0:3]</a:t>
            </a:r>
            <a:r>
              <a:rPr dirty="0" sz="750" spc="21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returns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3</a:t>
            </a:r>
            <a:r>
              <a:rPr dirty="0" sz="800" spc="-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00" b="1">
                <a:solidFill>
                  <a:srgbClr val="FF6A5B"/>
                </a:solidFill>
                <a:latin typeface="Tahoma"/>
                <a:cs typeface="Tahoma"/>
              </a:rPr>
              <a:t>rows</a:t>
            </a:r>
            <a:r>
              <a:rPr dirty="0" sz="800" spc="-10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slicing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is 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different.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Always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check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which 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one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you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meant.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5975" y="6092847"/>
            <a:ext cx="4489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7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r>
              <a:rPr dirty="0" sz="75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0" b="1">
                <a:solidFill>
                  <a:srgbClr val="FF6A5B"/>
                </a:solidFill>
                <a:latin typeface="Tahoma"/>
                <a:cs typeface="Tahoma"/>
              </a:rPr>
              <a:t>OTC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9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75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1075887" y="6431213"/>
            <a:ext cx="426720" cy="1536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00" spc="-1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11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12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5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11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797E94"/>
                </a:solidFill>
                <a:latin typeface="Trebuchet MS"/>
                <a:cs typeface="Trebuchet MS"/>
              </a:rPr>
              <a:t>8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8568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5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r>
              <a:rPr dirty="0" sz="900" spc="24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95" b="1">
                <a:solidFill>
                  <a:srgbClr val="FF6A5B"/>
                </a:solidFill>
                <a:latin typeface="Tahoma"/>
                <a:cs typeface="Tahoma"/>
              </a:rPr>
              <a:t>+</a:t>
            </a:r>
            <a:r>
              <a:rPr dirty="0" sz="900" spc="24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r>
              <a:rPr dirty="0" sz="900" spc="24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99947" y="530225"/>
            <a:ext cx="19989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6</a:t>
            </a:r>
            <a:r>
              <a:rPr dirty="0" sz="900" spc="14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2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797E94"/>
                </a:solidFill>
                <a:latin typeface="Tahoma"/>
                <a:cs typeface="Tahoma"/>
              </a:rPr>
              <a:t>K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G</a:t>
            </a:r>
            <a:r>
              <a:rPr dirty="0" sz="9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900" spc="2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ATA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5">
                <a:solidFill>
                  <a:srgbClr val="293283"/>
                </a:solidFill>
              </a:rPr>
              <a:t>New</a:t>
            </a:r>
            <a:r>
              <a:rPr dirty="0" spc="-190">
                <a:solidFill>
                  <a:srgbClr val="293283"/>
                </a:solidFill>
              </a:rPr>
              <a:t> </a:t>
            </a:r>
            <a:r>
              <a:rPr dirty="0" spc="-254">
                <a:solidFill>
                  <a:srgbClr val="293283"/>
                </a:solidFill>
              </a:rPr>
              <a:t>columns</a:t>
            </a:r>
            <a:r>
              <a:rPr dirty="0" spc="-190">
                <a:solidFill>
                  <a:srgbClr val="293283"/>
                </a:solidFill>
              </a:rPr>
              <a:t> </a:t>
            </a:r>
            <a:r>
              <a:rPr dirty="0" spc="-670">
                <a:solidFill>
                  <a:srgbClr val="293283"/>
                </a:solidFill>
              </a:rPr>
              <a:t>=</a:t>
            </a:r>
            <a:r>
              <a:rPr dirty="0" spc="-190">
                <a:solidFill>
                  <a:srgbClr val="293283"/>
                </a:solidFill>
              </a:rPr>
              <a:t> </a:t>
            </a:r>
            <a:r>
              <a:rPr dirty="0" spc="-200">
                <a:solidFill>
                  <a:srgbClr val="293283"/>
                </a:solidFill>
              </a:rPr>
              <a:t>old</a:t>
            </a:r>
            <a:r>
              <a:rPr dirty="0" spc="-185">
                <a:solidFill>
                  <a:srgbClr val="293283"/>
                </a:solidFill>
              </a:rPr>
              <a:t> </a:t>
            </a:r>
            <a:r>
              <a:rPr dirty="0" spc="-254">
                <a:solidFill>
                  <a:srgbClr val="293283"/>
                </a:solidFill>
              </a:rPr>
              <a:t>columns</a:t>
            </a:r>
            <a:r>
              <a:rPr dirty="0" spc="-190">
                <a:solidFill>
                  <a:srgbClr val="293283"/>
                </a:solidFill>
              </a:rPr>
              <a:t> </a:t>
            </a:r>
            <a:r>
              <a:rPr dirty="0" spc="-670">
                <a:solidFill>
                  <a:srgbClr val="293283"/>
                </a:solidFill>
              </a:rPr>
              <a:t>+</a:t>
            </a:r>
            <a:r>
              <a:rPr dirty="0" spc="-190">
                <a:solidFill>
                  <a:srgbClr val="293283"/>
                </a:solidFill>
              </a:rPr>
              <a:t> </a:t>
            </a:r>
            <a:r>
              <a:rPr dirty="0" spc="-254">
                <a:solidFill>
                  <a:srgbClr val="293283"/>
                </a:solidFill>
              </a:rPr>
              <a:t>an</a:t>
            </a:r>
            <a:r>
              <a:rPr dirty="0" spc="-185">
                <a:solidFill>
                  <a:srgbClr val="293283"/>
                </a:solidFill>
              </a:rPr>
              <a:t> </a:t>
            </a:r>
            <a:r>
              <a:rPr dirty="0" spc="-225">
                <a:solidFill>
                  <a:srgbClr val="293283"/>
                </a:solidFill>
              </a:rPr>
              <a:t>operation.</a:t>
            </a:r>
            <a:r>
              <a:rPr dirty="0" spc="-190">
                <a:solidFill>
                  <a:srgbClr val="293283"/>
                </a:solidFill>
              </a:rPr>
              <a:t> </a:t>
            </a:r>
            <a:r>
              <a:rPr dirty="0" spc="-295"/>
              <a:t>Same</a:t>
            </a:r>
            <a:r>
              <a:rPr dirty="0" spc="-190"/>
              <a:t> </a:t>
            </a:r>
            <a:r>
              <a:rPr dirty="0" spc="-280"/>
              <a:t>syntax</a:t>
            </a:r>
            <a:r>
              <a:rPr dirty="0" spc="-185"/>
              <a:t> </a:t>
            </a:r>
            <a:r>
              <a:rPr dirty="0" spc="-254"/>
              <a:t>as</a:t>
            </a:r>
            <a:r>
              <a:rPr dirty="0" spc="-190"/>
              <a:t> </a:t>
            </a:r>
            <a:r>
              <a:rPr dirty="0" spc="-170"/>
              <a:t>variables.</a:t>
            </a:r>
          </a:p>
        </p:txBody>
      </p:sp>
      <p:sp>
        <p:nvSpPr>
          <p:cNvPr id="5" name="object 5"/>
          <p:cNvSpPr/>
          <p:nvPr/>
        </p:nvSpPr>
        <p:spPr>
          <a:xfrm>
            <a:off x="2105024" y="1200149"/>
            <a:ext cx="1066800" cy="142875"/>
          </a:xfrm>
          <a:custGeom>
            <a:avLst/>
            <a:gdLst/>
            <a:ahLst/>
            <a:cxnLst/>
            <a:rect l="l" t="t" r="r" b="b"/>
            <a:pathLst>
              <a:path w="1066800" h="142875">
                <a:moveTo>
                  <a:pt x="1042014" y="142874"/>
                </a:moveTo>
                <a:lnTo>
                  <a:pt x="24785" y="142874"/>
                </a:lnTo>
                <a:lnTo>
                  <a:pt x="21140" y="142149"/>
                </a:lnTo>
                <a:lnTo>
                  <a:pt x="0" y="118089"/>
                </a:lnTo>
                <a:lnTo>
                  <a:pt x="0" y="114299"/>
                </a:lnTo>
                <a:lnTo>
                  <a:pt x="0" y="24785"/>
                </a:lnTo>
                <a:lnTo>
                  <a:pt x="24785" y="0"/>
                </a:lnTo>
                <a:lnTo>
                  <a:pt x="1042014" y="0"/>
                </a:lnTo>
                <a:lnTo>
                  <a:pt x="1066799" y="24785"/>
                </a:lnTo>
                <a:lnTo>
                  <a:pt x="1066799" y="118089"/>
                </a:lnTo>
                <a:lnTo>
                  <a:pt x="1045659" y="142149"/>
                </a:lnTo>
                <a:lnTo>
                  <a:pt x="1042014" y="1428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3099" y="1173162"/>
            <a:ext cx="722312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Creating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new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column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is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just</a:t>
            </a:r>
            <a:r>
              <a:rPr dirty="0" sz="900" spc="3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df["new"]</a:t>
            </a:r>
            <a:r>
              <a:rPr dirty="0" sz="850" spc="3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293283"/>
                </a:solidFill>
                <a:latin typeface="Courier New"/>
                <a:cs typeface="Courier New"/>
              </a:rPr>
              <a:t>=</a:t>
            </a:r>
            <a:r>
              <a:rPr dirty="0" sz="850" spc="3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293283"/>
                </a:solidFill>
                <a:latin typeface="Courier New"/>
                <a:cs typeface="Courier New"/>
              </a:rPr>
              <a:t>...</a:t>
            </a:r>
            <a:r>
              <a:rPr dirty="0" sz="850" spc="-114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900" spc="-10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right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side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can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be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constant,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calculation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on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other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columns,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or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function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applied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row-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by-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row.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5799" y="1476375"/>
            <a:ext cx="4733925" cy="4457700"/>
            <a:chOff x="685799" y="1476375"/>
            <a:chExt cx="4733925" cy="44577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5324" y="1514474"/>
              <a:ext cx="4714874" cy="44100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00425" y="1476375"/>
              <a:ext cx="4704715" cy="81280"/>
            </a:xfrm>
            <a:custGeom>
              <a:avLst/>
              <a:gdLst/>
              <a:ahLst/>
              <a:cxnLst/>
              <a:rect l="l" t="t" r="r" b="b"/>
              <a:pathLst>
                <a:path w="4704715" h="81280">
                  <a:moveTo>
                    <a:pt x="5606" y="80929"/>
                  </a:moveTo>
                  <a:lnTo>
                    <a:pt x="0" y="58503"/>
                  </a:lnTo>
                  <a:lnTo>
                    <a:pt x="4533" y="50929"/>
                  </a:lnTo>
                  <a:lnTo>
                    <a:pt x="4619" y="50786"/>
                  </a:lnTo>
                  <a:lnTo>
                    <a:pt x="36160" y="19245"/>
                  </a:lnTo>
                  <a:lnTo>
                    <a:pt x="77371" y="2175"/>
                  </a:lnTo>
                  <a:lnTo>
                    <a:pt x="99674" y="0"/>
                  </a:lnTo>
                  <a:lnTo>
                    <a:pt x="4604998" y="0"/>
                  </a:lnTo>
                  <a:lnTo>
                    <a:pt x="4648739" y="8700"/>
                  </a:lnTo>
                  <a:lnTo>
                    <a:pt x="4685820" y="33477"/>
                  </a:lnTo>
                  <a:lnTo>
                    <a:pt x="4690017" y="38099"/>
                  </a:lnTo>
                  <a:lnTo>
                    <a:pt x="99674" y="38099"/>
                  </a:lnTo>
                  <a:lnTo>
                    <a:pt x="89352" y="38462"/>
                  </a:lnTo>
                  <a:lnTo>
                    <a:pt x="50233" y="47107"/>
                  </a:lnTo>
                  <a:lnTo>
                    <a:pt x="12540" y="71957"/>
                  </a:lnTo>
                  <a:lnTo>
                    <a:pt x="7284" y="78342"/>
                  </a:lnTo>
                  <a:lnTo>
                    <a:pt x="5606" y="80929"/>
                  </a:lnTo>
                  <a:close/>
                </a:path>
                <a:path w="4704715" h="81280">
                  <a:moveTo>
                    <a:pt x="4699066" y="80929"/>
                  </a:moveTo>
                  <a:lnTo>
                    <a:pt x="4663219" y="50929"/>
                  </a:lnTo>
                  <a:lnTo>
                    <a:pt x="4625443" y="39550"/>
                  </a:lnTo>
                  <a:lnTo>
                    <a:pt x="4604998" y="38099"/>
                  </a:lnTo>
                  <a:lnTo>
                    <a:pt x="4690017" y="38099"/>
                  </a:lnTo>
                  <a:lnTo>
                    <a:pt x="4693398" y="41823"/>
                  </a:lnTo>
                  <a:lnTo>
                    <a:pt x="4700053" y="50786"/>
                  </a:lnTo>
                  <a:lnTo>
                    <a:pt x="4704672" y="58503"/>
                  </a:lnTo>
                  <a:lnTo>
                    <a:pt x="4699066" y="80929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5787" y="1534604"/>
              <a:ext cx="4733925" cy="4399915"/>
            </a:xfrm>
            <a:custGeom>
              <a:avLst/>
              <a:gdLst/>
              <a:ahLst/>
              <a:cxnLst/>
              <a:rect l="l" t="t" r="r" b="b"/>
              <a:pathLst>
                <a:path w="4733925" h="4399915">
                  <a:moveTo>
                    <a:pt x="4733925" y="56070"/>
                  </a:moveTo>
                  <a:lnTo>
                    <a:pt x="4725225" y="12331"/>
                  </a:lnTo>
                  <a:lnTo>
                    <a:pt x="4719142" y="0"/>
                  </a:lnTo>
                  <a:lnTo>
                    <a:pt x="4713529" y="22440"/>
                  </a:lnTo>
                  <a:lnTo>
                    <a:pt x="4716424" y="26911"/>
                  </a:lnTo>
                  <a:lnTo>
                    <a:pt x="4719917" y="33985"/>
                  </a:lnTo>
                  <a:lnTo>
                    <a:pt x="4722406" y="41211"/>
                  </a:lnTo>
                  <a:lnTo>
                    <a:pt x="4723904" y="48564"/>
                  </a:lnTo>
                  <a:lnTo>
                    <a:pt x="4724400" y="56070"/>
                  </a:lnTo>
                  <a:lnTo>
                    <a:pt x="4724400" y="4285170"/>
                  </a:lnTo>
                  <a:lnTo>
                    <a:pt x="4716424" y="4325277"/>
                  </a:lnTo>
                  <a:lnTo>
                    <a:pt x="4693259" y="4359681"/>
                  </a:lnTo>
                  <a:lnTo>
                    <a:pt x="4659731" y="4381970"/>
                  </a:lnTo>
                  <a:lnTo>
                    <a:pt x="4619625" y="4389945"/>
                  </a:lnTo>
                  <a:lnTo>
                    <a:pt x="114300" y="4389945"/>
                  </a:lnTo>
                  <a:lnTo>
                    <a:pt x="74206" y="4381970"/>
                  </a:lnTo>
                  <a:lnTo>
                    <a:pt x="40716" y="4359719"/>
                  </a:lnTo>
                  <a:lnTo>
                    <a:pt x="17500" y="4325277"/>
                  </a:lnTo>
                  <a:lnTo>
                    <a:pt x="9525" y="4285170"/>
                  </a:lnTo>
                  <a:lnTo>
                    <a:pt x="9525" y="56070"/>
                  </a:lnTo>
                  <a:lnTo>
                    <a:pt x="20408" y="22440"/>
                  </a:lnTo>
                  <a:lnTo>
                    <a:pt x="14795" y="0"/>
                  </a:lnTo>
                  <a:lnTo>
                    <a:pt x="546" y="44818"/>
                  </a:lnTo>
                  <a:lnTo>
                    <a:pt x="0" y="56070"/>
                  </a:lnTo>
                  <a:lnTo>
                    <a:pt x="0" y="4285170"/>
                  </a:lnTo>
                  <a:lnTo>
                    <a:pt x="8712" y="4328922"/>
                  </a:lnTo>
                  <a:lnTo>
                    <a:pt x="33528" y="4365955"/>
                  </a:lnTo>
                  <a:lnTo>
                    <a:pt x="33934" y="4366412"/>
                  </a:lnTo>
                  <a:lnTo>
                    <a:pt x="41833" y="4373575"/>
                  </a:lnTo>
                  <a:lnTo>
                    <a:pt x="81178" y="4394581"/>
                  </a:lnTo>
                  <a:lnTo>
                    <a:pt x="114300" y="4399470"/>
                  </a:lnTo>
                  <a:lnTo>
                    <a:pt x="4619625" y="4399470"/>
                  </a:lnTo>
                  <a:lnTo>
                    <a:pt x="4663376" y="4390771"/>
                  </a:lnTo>
                  <a:lnTo>
                    <a:pt x="4665116" y="4389945"/>
                  </a:lnTo>
                  <a:lnTo>
                    <a:pt x="4673562" y="4385970"/>
                  </a:lnTo>
                  <a:lnTo>
                    <a:pt x="4683137" y="4380230"/>
                  </a:lnTo>
                  <a:lnTo>
                    <a:pt x="4692104" y="4373575"/>
                  </a:lnTo>
                  <a:lnTo>
                    <a:pt x="4699940" y="4366450"/>
                  </a:lnTo>
                  <a:lnTo>
                    <a:pt x="4700448" y="4365993"/>
                  </a:lnTo>
                  <a:lnTo>
                    <a:pt x="4725225" y="4328922"/>
                  </a:lnTo>
                  <a:lnTo>
                    <a:pt x="4733925" y="4285170"/>
                  </a:lnTo>
                  <a:lnTo>
                    <a:pt x="4733925" y="56070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66775" y="1639887"/>
            <a:ext cx="95376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T </a:t>
            </a:r>
            <a:r>
              <a:rPr dirty="0" sz="750" spc="-90" b="1">
                <a:solidFill>
                  <a:srgbClr val="293283"/>
                </a:solidFill>
                <a:latin typeface="Tahoma"/>
                <a:cs typeface="Tahoma"/>
              </a:rPr>
              <a:t>H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50" spc="22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10" b="1">
                <a:solidFill>
                  <a:srgbClr val="293283"/>
                </a:solidFill>
                <a:latin typeface="Tahoma"/>
                <a:cs typeface="Tahoma"/>
              </a:rPr>
              <a:t>PAT</a:t>
            </a:r>
            <a:r>
              <a:rPr dirty="0" sz="75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T </a:t>
            </a:r>
            <a:r>
              <a:rPr dirty="0" sz="750" spc="-8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6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750" spc="-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75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6774" y="1895474"/>
            <a:ext cx="4371975" cy="390525"/>
            <a:chOff x="866774" y="1895474"/>
            <a:chExt cx="4371975" cy="390525"/>
          </a:xfrm>
        </p:grpSpPr>
        <p:sp>
          <p:nvSpPr>
            <p:cNvPr id="13" name="object 13"/>
            <p:cNvSpPr/>
            <p:nvPr/>
          </p:nvSpPr>
          <p:spPr>
            <a:xfrm>
              <a:off x="866774" y="1895474"/>
              <a:ext cx="4371975" cy="9525"/>
            </a:xfrm>
            <a:custGeom>
              <a:avLst/>
              <a:gdLst/>
              <a:ahLst/>
              <a:cxnLst/>
              <a:rect l="l" t="t" r="r" b="b"/>
              <a:pathLst>
                <a:path w="4371975" h="9525">
                  <a:moveTo>
                    <a:pt x="43719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371974" y="0"/>
                  </a:lnTo>
                  <a:lnTo>
                    <a:pt x="4371974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76299" y="200024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399" y="279599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4"/>
                  </a:lnTo>
                  <a:lnTo>
                    <a:pt x="277401" y="191000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1000" y="277401"/>
                  </a:lnTo>
                  <a:lnTo>
                    <a:pt x="149894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988069" y="2044700"/>
            <a:ext cx="7556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spc="-55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66774" y="2238374"/>
            <a:ext cx="1895475" cy="390525"/>
            <a:chOff x="866774" y="2238374"/>
            <a:chExt cx="1895475" cy="390525"/>
          </a:xfrm>
        </p:grpSpPr>
        <p:sp>
          <p:nvSpPr>
            <p:cNvPr id="17" name="object 17"/>
            <p:cNvSpPr/>
            <p:nvPr/>
          </p:nvSpPr>
          <p:spPr>
            <a:xfrm>
              <a:off x="866774" y="23240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24703" y="304799"/>
                  </a:moveTo>
                  <a:lnTo>
                    <a:pt x="80096" y="304799"/>
                  </a:lnTo>
                  <a:lnTo>
                    <a:pt x="74521" y="304250"/>
                  </a:lnTo>
                  <a:lnTo>
                    <a:pt x="33418" y="287225"/>
                  </a:lnTo>
                  <a:lnTo>
                    <a:pt x="8679" y="257080"/>
                  </a:lnTo>
                  <a:lnTo>
                    <a:pt x="0" y="224703"/>
                  </a:lnTo>
                  <a:lnTo>
                    <a:pt x="0" y="219074"/>
                  </a:lnTo>
                  <a:lnTo>
                    <a:pt x="0" y="80096"/>
                  </a:lnTo>
                  <a:lnTo>
                    <a:pt x="11320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24703" y="0"/>
                  </a:lnTo>
                  <a:lnTo>
                    <a:pt x="262020" y="11319"/>
                  </a:lnTo>
                  <a:lnTo>
                    <a:pt x="293479" y="42778"/>
                  </a:lnTo>
                  <a:lnTo>
                    <a:pt x="304799" y="80096"/>
                  </a:lnTo>
                  <a:lnTo>
                    <a:pt x="304799" y="224703"/>
                  </a:lnTo>
                  <a:lnTo>
                    <a:pt x="293479" y="262020"/>
                  </a:lnTo>
                  <a:lnTo>
                    <a:pt x="262020" y="293479"/>
                  </a:lnTo>
                  <a:lnTo>
                    <a:pt x="230278" y="304250"/>
                  </a:lnTo>
                  <a:lnTo>
                    <a:pt x="224703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1387" y="2393949"/>
              <a:ext cx="155575" cy="1555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66824" y="2238374"/>
              <a:ext cx="1495425" cy="190500"/>
            </a:xfrm>
            <a:custGeom>
              <a:avLst/>
              <a:gdLst/>
              <a:ahLst/>
              <a:cxnLst/>
              <a:rect l="l" t="t" r="r" b="b"/>
              <a:pathLst>
                <a:path w="1495425" h="190500">
                  <a:moveTo>
                    <a:pt x="1462377" y="190499"/>
                  </a:moveTo>
                  <a:lnTo>
                    <a:pt x="33047" y="190499"/>
                  </a:lnTo>
                  <a:lnTo>
                    <a:pt x="28187" y="189533"/>
                  </a:lnTo>
                  <a:lnTo>
                    <a:pt x="966" y="162312"/>
                  </a:lnTo>
                  <a:lnTo>
                    <a:pt x="0" y="157452"/>
                  </a:lnTo>
                  <a:lnTo>
                    <a:pt x="0" y="1523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62377" y="0"/>
                  </a:lnTo>
                  <a:lnTo>
                    <a:pt x="1494457" y="28187"/>
                  </a:lnTo>
                  <a:lnTo>
                    <a:pt x="1495424" y="33047"/>
                  </a:lnTo>
                  <a:lnTo>
                    <a:pt x="1495424" y="157452"/>
                  </a:lnTo>
                  <a:lnTo>
                    <a:pt x="1467237" y="189533"/>
                  </a:lnTo>
                  <a:lnTo>
                    <a:pt x="1462377" y="19049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266824" y="1978025"/>
            <a:ext cx="1442085" cy="6273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spc="-110" b="1">
                <a:solidFill>
                  <a:srgbClr val="1B1F3A"/>
                </a:solidFill>
                <a:latin typeface="Tahoma"/>
                <a:cs typeface="Tahoma"/>
              </a:rPr>
              <a:t>Constant</a:t>
            </a:r>
            <a:r>
              <a:rPr dirty="0" sz="950" spc="-45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1B1F3A"/>
                </a:solidFill>
                <a:latin typeface="Tahoma"/>
                <a:cs typeface="Tahoma"/>
              </a:rPr>
              <a:t>value</a:t>
            </a:r>
            <a:endParaRPr sz="950">
              <a:latin typeface="Tahoma"/>
              <a:cs typeface="Tahoma"/>
            </a:endParaRPr>
          </a:p>
          <a:p>
            <a:pPr marL="66040">
              <a:lnSpc>
                <a:spcPct val="100000"/>
              </a:lnSpc>
              <a:spcBef>
                <a:spcPts val="935"/>
              </a:spcBef>
            </a:pP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df["status"]</a:t>
            </a:r>
            <a:r>
              <a:rPr dirty="0" sz="750" spc="9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=</a:t>
            </a:r>
            <a:r>
              <a:rPr dirty="0" sz="750" spc="9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93283"/>
                </a:solidFill>
                <a:latin typeface="Courier New"/>
                <a:cs typeface="Courier New"/>
              </a:rPr>
              <a:t>"active"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every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row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gets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same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value.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66774" y="2781299"/>
            <a:ext cx="4371975" cy="390525"/>
            <a:chOff x="866774" y="2781299"/>
            <a:chExt cx="4371975" cy="390525"/>
          </a:xfrm>
        </p:grpSpPr>
        <p:sp>
          <p:nvSpPr>
            <p:cNvPr id="22" name="object 22"/>
            <p:cNvSpPr/>
            <p:nvPr/>
          </p:nvSpPr>
          <p:spPr>
            <a:xfrm>
              <a:off x="866774" y="2781299"/>
              <a:ext cx="4371975" cy="9525"/>
            </a:xfrm>
            <a:custGeom>
              <a:avLst/>
              <a:gdLst/>
              <a:ahLst/>
              <a:cxnLst/>
              <a:rect l="l" t="t" r="r" b="b"/>
              <a:pathLst>
                <a:path w="4371975" h="9525">
                  <a:moveTo>
                    <a:pt x="43719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371974" y="0"/>
                  </a:lnTo>
                  <a:lnTo>
                    <a:pt x="4371974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76299" y="288607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399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lnTo>
                    <a:pt x="171" y="135856"/>
                  </a:lnTo>
                  <a:lnTo>
                    <a:pt x="8348" y="94749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6"/>
                  </a:lnTo>
                  <a:lnTo>
                    <a:pt x="285749" y="142874"/>
                  </a:lnTo>
                  <a:lnTo>
                    <a:pt x="285578" y="149893"/>
                  </a:lnTo>
                  <a:lnTo>
                    <a:pt x="277401" y="190999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1000" y="277401"/>
                  </a:lnTo>
                  <a:lnTo>
                    <a:pt x="149894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988069" y="2930525"/>
            <a:ext cx="7556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spc="-55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66774" y="3124199"/>
            <a:ext cx="2838450" cy="390525"/>
            <a:chOff x="866774" y="3124199"/>
            <a:chExt cx="2838450" cy="390525"/>
          </a:xfrm>
        </p:grpSpPr>
        <p:sp>
          <p:nvSpPr>
            <p:cNvPr id="26" name="object 26"/>
            <p:cNvSpPr/>
            <p:nvPr/>
          </p:nvSpPr>
          <p:spPr>
            <a:xfrm>
              <a:off x="866774" y="32099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24703" y="304799"/>
                  </a:moveTo>
                  <a:lnTo>
                    <a:pt x="80096" y="304799"/>
                  </a:lnTo>
                  <a:lnTo>
                    <a:pt x="74521" y="304250"/>
                  </a:lnTo>
                  <a:lnTo>
                    <a:pt x="33418" y="287225"/>
                  </a:lnTo>
                  <a:lnTo>
                    <a:pt x="8679" y="257080"/>
                  </a:lnTo>
                  <a:lnTo>
                    <a:pt x="0" y="224703"/>
                  </a:lnTo>
                  <a:lnTo>
                    <a:pt x="0" y="219074"/>
                  </a:lnTo>
                  <a:lnTo>
                    <a:pt x="0" y="80096"/>
                  </a:lnTo>
                  <a:lnTo>
                    <a:pt x="11320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24703" y="0"/>
                  </a:lnTo>
                  <a:lnTo>
                    <a:pt x="262020" y="11319"/>
                  </a:lnTo>
                  <a:lnTo>
                    <a:pt x="293479" y="42778"/>
                  </a:lnTo>
                  <a:lnTo>
                    <a:pt x="304799" y="80096"/>
                  </a:lnTo>
                  <a:lnTo>
                    <a:pt x="304799" y="224703"/>
                  </a:lnTo>
                  <a:lnTo>
                    <a:pt x="293479" y="262020"/>
                  </a:lnTo>
                  <a:lnTo>
                    <a:pt x="262020" y="293479"/>
                  </a:lnTo>
                  <a:lnTo>
                    <a:pt x="230278" y="304250"/>
                  </a:lnTo>
                  <a:lnTo>
                    <a:pt x="224703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0912" y="3289299"/>
              <a:ext cx="136525" cy="13652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266824" y="3124199"/>
              <a:ext cx="2438400" cy="190500"/>
            </a:xfrm>
            <a:custGeom>
              <a:avLst/>
              <a:gdLst/>
              <a:ahLst/>
              <a:cxnLst/>
              <a:rect l="l" t="t" r="r" b="b"/>
              <a:pathLst>
                <a:path w="2438400" h="190500">
                  <a:moveTo>
                    <a:pt x="2405352" y="190499"/>
                  </a:moveTo>
                  <a:lnTo>
                    <a:pt x="33047" y="190499"/>
                  </a:lnTo>
                  <a:lnTo>
                    <a:pt x="28187" y="189532"/>
                  </a:lnTo>
                  <a:lnTo>
                    <a:pt x="966" y="162311"/>
                  </a:lnTo>
                  <a:lnTo>
                    <a:pt x="0" y="157452"/>
                  </a:lnTo>
                  <a:lnTo>
                    <a:pt x="0" y="1523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405352" y="0"/>
                  </a:lnTo>
                  <a:lnTo>
                    <a:pt x="2437432" y="28187"/>
                  </a:lnTo>
                  <a:lnTo>
                    <a:pt x="2438399" y="33047"/>
                  </a:lnTo>
                  <a:lnTo>
                    <a:pt x="2438399" y="157452"/>
                  </a:lnTo>
                  <a:lnTo>
                    <a:pt x="2410212" y="189532"/>
                  </a:lnTo>
                  <a:lnTo>
                    <a:pt x="2405352" y="19049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266824" y="2863850"/>
            <a:ext cx="2389505" cy="6273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spc="-110" b="1">
                <a:solidFill>
                  <a:srgbClr val="1B1F3A"/>
                </a:solidFill>
                <a:latin typeface="Tahoma"/>
                <a:cs typeface="Tahoma"/>
              </a:rPr>
              <a:t>Column</a:t>
            </a:r>
            <a:r>
              <a:rPr dirty="0" sz="950" spc="-4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1B1F3A"/>
                </a:solidFill>
                <a:latin typeface="Tahoma"/>
                <a:cs typeface="Tahoma"/>
              </a:rPr>
              <a:t>arithmetic</a:t>
            </a:r>
            <a:endParaRPr sz="950">
              <a:latin typeface="Tahoma"/>
              <a:cs typeface="Tahoma"/>
            </a:endParaRPr>
          </a:p>
          <a:p>
            <a:pPr marL="66040">
              <a:lnSpc>
                <a:spcPct val="100000"/>
              </a:lnSpc>
              <a:spcBef>
                <a:spcPts val="935"/>
              </a:spcBef>
            </a:pP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df["total"]</a:t>
            </a:r>
            <a:r>
              <a:rPr dirty="0" sz="750" spc="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=</a:t>
            </a:r>
            <a:r>
              <a:rPr dirty="0" sz="750" spc="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df["marks"]</a:t>
            </a:r>
            <a:r>
              <a:rPr dirty="0" sz="750" spc="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+</a:t>
            </a:r>
            <a:r>
              <a:rPr dirty="0" sz="750" spc="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93283"/>
                </a:solidFill>
                <a:latin typeface="Courier New"/>
                <a:cs typeface="Courier New"/>
              </a:rPr>
              <a:t>df["bonus"]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element-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wise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operation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on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two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columns.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66774" y="3667124"/>
            <a:ext cx="4371975" cy="390525"/>
            <a:chOff x="866774" y="3667124"/>
            <a:chExt cx="4371975" cy="390525"/>
          </a:xfrm>
        </p:grpSpPr>
        <p:sp>
          <p:nvSpPr>
            <p:cNvPr id="31" name="object 31"/>
            <p:cNvSpPr/>
            <p:nvPr/>
          </p:nvSpPr>
          <p:spPr>
            <a:xfrm>
              <a:off x="866774" y="3667124"/>
              <a:ext cx="4371975" cy="9525"/>
            </a:xfrm>
            <a:custGeom>
              <a:avLst/>
              <a:gdLst/>
              <a:ahLst/>
              <a:cxnLst/>
              <a:rect l="l" t="t" r="r" b="b"/>
              <a:pathLst>
                <a:path w="4371975" h="9525">
                  <a:moveTo>
                    <a:pt x="43719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371974" y="0"/>
                  </a:lnTo>
                  <a:lnTo>
                    <a:pt x="4371974" y="9524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76299" y="377189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399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1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3"/>
                  </a:lnTo>
                  <a:lnTo>
                    <a:pt x="277401" y="190999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1000" y="277401"/>
                  </a:lnTo>
                  <a:lnTo>
                    <a:pt x="149894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988069" y="3816350"/>
            <a:ext cx="7556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spc="-55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66774" y="4010024"/>
            <a:ext cx="2962275" cy="390525"/>
            <a:chOff x="866774" y="4010024"/>
            <a:chExt cx="2962275" cy="390525"/>
          </a:xfrm>
        </p:grpSpPr>
        <p:sp>
          <p:nvSpPr>
            <p:cNvPr id="35" name="object 35"/>
            <p:cNvSpPr/>
            <p:nvPr/>
          </p:nvSpPr>
          <p:spPr>
            <a:xfrm>
              <a:off x="866774" y="409574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24703" y="304799"/>
                  </a:moveTo>
                  <a:lnTo>
                    <a:pt x="80096" y="304799"/>
                  </a:lnTo>
                  <a:lnTo>
                    <a:pt x="74521" y="304250"/>
                  </a:lnTo>
                  <a:lnTo>
                    <a:pt x="33418" y="287225"/>
                  </a:lnTo>
                  <a:lnTo>
                    <a:pt x="8679" y="257080"/>
                  </a:lnTo>
                  <a:lnTo>
                    <a:pt x="0" y="224703"/>
                  </a:lnTo>
                  <a:lnTo>
                    <a:pt x="0" y="219074"/>
                  </a:lnTo>
                  <a:lnTo>
                    <a:pt x="0" y="80096"/>
                  </a:lnTo>
                  <a:lnTo>
                    <a:pt x="11320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24703" y="0"/>
                  </a:lnTo>
                  <a:lnTo>
                    <a:pt x="262020" y="11319"/>
                  </a:lnTo>
                  <a:lnTo>
                    <a:pt x="293479" y="42778"/>
                  </a:lnTo>
                  <a:lnTo>
                    <a:pt x="304799" y="80096"/>
                  </a:lnTo>
                  <a:lnTo>
                    <a:pt x="304799" y="224703"/>
                  </a:lnTo>
                  <a:lnTo>
                    <a:pt x="293479" y="262020"/>
                  </a:lnTo>
                  <a:lnTo>
                    <a:pt x="262020" y="293479"/>
                  </a:lnTo>
                  <a:lnTo>
                    <a:pt x="230278" y="304250"/>
                  </a:lnTo>
                  <a:lnTo>
                    <a:pt x="224703" y="304799"/>
                  </a:lnTo>
                  <a:close/>
                </a:path>
              </a:pathLst>
            </a:custGeom>
            <a:solidFill>
              <a:srgbClr val="E7E9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1387" y="4159249"/>
              <a:ext cx="155575" cy="16827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266824" y="4010024"/>
              <a:ext cx="2562225" cy="190500"/>
            </a:xfrm>
            <a:custGeom>
              <a:avLst/>
              <a:gdLst/>
              <a:ahLst/>
              <a:cxnLst/>
              <a:rect l="l" t="t" r="r" b="b"/>
              <a:pathLst>
                <a:path w="2562225" h="190500">
                  <a:moveTo>
                    <a:pt x="2529177" y="190499"/>
                  </a:moveTo>
                  <a:lnTo>
                    <a:pt x="33047" y="190499"/>
                  </a:lnTo>
                  <a:lnTo>
                    <a:pt x="28187" y="189532"/>
                  </a:lnTo>
                  <a:lnTo>
                    <a:pt x="966" y="162312"/>
                  </a:lnTo>
                  <a:lnTo>
                    <a:pt x="0" y="157452"/>
                  </a:lnTo>
                  <a:lnTo>
                    <a:pt x="0" y="1523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529177" y="0"/>
                  </a:lnTo>
                  <a:lnTo>
                    <a:pt x="2561258" y="28187"/>
                  </a:lnTo>
                  <a:lnTo>
                    <a:pt x="2562224" y="33047"/>
                  </a:lnTo>
                  <a:lnTo>
                    <a:pt x="2562224" y="157452"/>
                  </a:lnTo>
                  <a:lnTo>
                    <a:pt x="2534037" y="189532"/>
                  </a:lnTo>
                  <a:lnTo>
                    <a:pt x="2529177" y="19049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266824" y="3749675"/>
            <a:ext cx="2508250" cy="6273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spc="-145" b="1">
                <a:solidFill>
                  <a:srgbClr val="1B1F3A"/>
                </a:solidFill>
                <a:latin typeface="Tahoma"/>
                <a:cs typeface="Tahoma"/>
              </a:rPr>
              <a:t>Row-</a:t>
            </a:r>
            <a:r>
              <a:rPr dirty="0" sz="950" spc="-105" b="1">
                <a:solidFill>
                  <a:srgbClr val="1B1F3A"/>
                </a:solidFill>
                <a:latin typeface="Tahoma"/>
                <a:cs typeface="Tahoma"/>
              </a:rPr>
              <a:t>wise</a:t>
            </a:r>
            <a:r>
              <a:rPr dirty="0" sz="950" spc="-40" b="1">
                <a:solidFill>
                  <a:srgbClr val="1B1F3A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1B1F3A"/>
                </a:solidFill>
                <a:latin typeface="Tahoma"/>
                <a:cs typeface="Tahoma"/>
              </a:rPr>
              <a:t>transform</a:t>
            </a:r>
            <a:endParaRPr sz="950">
              <a:latin typeface="Tahoma"/>
              <a:cs typeface="Tahoma"/>
            </a:endParaRPr>
          </a:p>
          <a:p>
            <a:pPr marL="66040">
              <a:lnSpc>
                <a:spcPct val="100000"/>
              </a:lnSpc>
              <a:spcBef>
                <a:spcPts val="935"/>
              </a:spcBef>
            </a:pP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df["grade"]</a:t>
            </a:r>
            <a:r>
              <a:rPr dirty="0" sz="750" spc="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=</a:t>
            </a:r>
            <a:r>
              <a:rPr dirty="0" sz="750" spc="9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93283"/>
                </a:solidFill>
                <a:latin typeface="Courier New"/>
                <a:cs typeface="Courier New"/>
              </a:rPr>
              <a:t>df["marks"].apply(to_grade)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apply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a function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to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each value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in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a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column.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553073" y="1476374"/>
            <a:ext cx="5953125" cy="4457700"/>
            <a:chOff x="5553073" y="1476374"/>
            <a:chExt cx="5953125" cy="4457700"/>
          </a:xfrm>
        </p:grpSpPr>
        <p:sp>
          <p:nvSpPr>
            <p:cNvPr id="40" name="object 40"/>
            <p:cNvSpPr/>
            <p:nvPr/>
          </p:nvSpPr>
          <p:spPr>
            <a:xfrm>
              <a:off x="5557836" y="1481137"/>
              <a:ext cx="5943600" cy="4448175"/>
            </a:xfrm>
            <a:custGeom>
              <a:avLst/>
              <a:gdLst/>
              <a:ahLst/>
              <a:cxnLst/>
              <a:rect l="l" t="t" r="r" b="b"/>
              <a:pathLst>
                <a:path w="5943600" h="4448175">
                  <a:moveTo>
                    <a:pt x="5841253" y="4448174"/>
                  </a:moveTo>
                  <a:lnTo>
                    <a:pt x="102345" y="4448174"/>
                  </a:lnTo>
                  <a:lnTo>
                    <a:pt x="95222" y="4447472"/>
                  </a:lnTo>
                  <a:lnTo>
                    <a:pt x="54661" y="4433709"/>
                  </a:lnTo>
                  <a:lnTo>
                    <a:pt x="22456" y="4405472"/>
                  </a:lnTo>
                  <a:lnTo>
                    <a:pt x="3507" y="4367059"/>
                  </a:lnTo>
                  <a:lnTo>
                    <a:pt x="0" y="4345829"/>
                  </a:lnTo>
                  <a:lnTo>
                    <a:pt x="0" y="433863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3" y="5585"/>
                  </a:lnTo>
                  <a:lnTo>
                    <a:pt x="102345" y="0"/>
                  </a:lnTo>
                  <a:lnTo>
                    <a:pt x="5841253" y="0"/>
                  </a:lnTo>
                  <a:lnTo>
                    <a:pt x="5882624" y="11090"/>
                  </a:lnTo>
                  <a:lnTo>
                    <a:pt x="5916602" y="37168"/>
                  </a:lnTo>
                  <a:lnTo>
                    <a:pt x="5938013" y="74264"/>
                  </a:lnTo>
                  <a:lnTo>
                    <a:pt x="5943598" y="102345"/>
                  </a:lnTo>
                  <a:lnTo>
                    <a:pt x="5943598" y="4345829"/>
                  </a:lnTo>
                  <a:lnTo>
                    <a:pt x="5932508" y="4387199"/>
                  </a:lnTo>
                  <a:lnTo>
                    <a:pt x="5906431" y="4421176"/>
                  </a:lnTo>
                  <a:lnTo>
                    <a:pt x="5869334" y="4442588"/>
                  </a:lnTo>
                  <a:lnTo>
                    <a:pt x="5848378" y="4447472"/>
                  </a:lnTo>
                  <a:lnTo>
                    <a:pt x="5841253" y="444817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557836" y="1481137"/>
              <a:ext cx="5943600" cy="4448175"/>
            </a:xfrm>
            <a:custGeom>
              <a:avLst/>
              <a:gdLst/>
              <a:ahLst/>
              <a:cxnLst/>
              <a:rect l="l" t="t" r="r" b="b"/>
              <a:pathLst>
                <a:path w="5943600" h="4448175">
                  <a:moveTo>
                    <a:pt x="0" y="433863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5" y="88167"/>
                  </a:lnTo>
                  <a:lnTo>
                    <a:pt x="3507" y="81113"/>
                  </a:lnTo>
                  <a:lnTo>
                    <a:pt x="5585" y="74264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59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67619" y="8338"/>
                  </a:lnTo>
                  <a:lnTo>
                    <a:pt x="74263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5834062" y="0"/>
                  </a:lnTo>
                  <a:lnTo>
                    <a:pt x="5841253" y="0"/>
                  </a:lnTo>
                  <a:lnTo>
                    <a:pt x="5848378" y="701"/>
                  </a:lnTo>
                  <a:lnTo>
                    <a:pt x="5888938" y="14464"/>
                  </a:lnTo>
                  <a:lnTo>
                    <a:pt x="5894918" y="18460"/>
                  </a:lnTo>
                  <a:lnTo>
                    <a:pt x="5900898" y="22456"/>
                  </a:lnTo>
                  <a:lnTo>
                    <a:pt x="5906431" y="26996"/>
                  </a:lnTo>
                  <a:lnTo>
                    <a:pt x="5911517" y="32082"/>
                  </a:lnTo>
                  <a:lnTo>
                    <a:pt x="5916602" y="37168"/>
                  </a:lnTo>
                  <a:lnTo>
                    <a:pt x="5938013" y="74264"/>
                  </a:lnTo>
                  <a:lnTo>
                    <a:pt x="5943600" y="109537"/>
                  </a:lnTo>
                  <a:lnTo>
                    <a:pt x="5943600" y="4338637"/>
                  </a:lnTo>
                  <a:lnTo>
                    <a:pt x="5943598" y="4345829"/>
                  </a:lnTo>
                  <a:lnTo>
                    <a:pt x="5942897" y="4352952"/>
                  </a:lnTo>
                  <a:lnTo>
                    <a:pt x="5941494" y="4360006"/>
                  </a:lnTo>
                  <a:lnTo>
                    <a:pt x="5940090" y="4367059"/>
                  </a:lnTo>
                  <a:lnTo>
                    <a:pt x="5921143" y="4405472"/>
                  </a:lnTo>
                  <a:lnTo>
                    <a:pt x="5911517" y="4416091"/>
                  </a:lnTo>
                  <a:lnTo>
                    <a:pt x="5906431" y="4421176"/>
                  </a:lnTo>
                  <a:lnTo>
                    <a:pt x="5875979" y="4439835"/>
                  </a:lnTo>
                  <a:lnTo>
                    <a:pt x="5869334" y="4442588"/>
                  </a:lnTo>
                  <a:lnTo>
                    <a:pt x="5862486" y="4444666"/>
                  </a:lnTo>
                  <a:lnTo>
                    <a:pt x="5855432" y="4446069"/>
                  </a:lnTo>
                  <a:lnTo>
                    <a:pt x="5848378" y="4447472"/>
                  </a:lnTo>
                  <a:lnTo>
                    <a:pt x="5841253" y="4448174"/>
                  </a:lnTo>
                  <a:lnTo>
                    <a:pt x="5834062" y="4448174"/>
                  </a:lnTo>
                  <a:lnTo>
                    <a:pt x="109538" y="4448174"/>
                  </a:lnTo>
                  <a:lnTo>
                    <a:pt x="102345" y="4448174"/>
                  </a:lnTo>
                  <a:lnTo>
                    <a:pt x="95222" y="4447472"/>
                  </a:lnTo>
                  <a:lnTo>
                    <a:pt x="88167" y="4446069"/>
                  </a:lnTo>
                  <a:lnTo>
                    <a:pt x="81113" y="4444666"/>
                  </a:lnTo>
                  <a:lnTo>
                    <a:pt x="74263" y="4442588"/>
                  </a:lnTo>
                  <a:lnTo>
                    <a:pt x="67619" y="4439835"/>
                  </a:lnTo>
                  <a:lnTo>
                    <a:pt x="60974" y="4437082"/>
                  </a:lnTo>
                  <a:lnTo>
                    <a:pt x="32082" y="4416091"/>
                  </a:lnTo>
                  <a:lnTo>
                    <a:pt x="26997" y="4411005"/>
                  </a:lnTo>
                  <a:lnTo>
                    <a:pt x="8337" y="4380554"/>
                  </a:lnTo>
                  <a:lnTo>
                    <a:pt x="5585" y="4373909"/>
                  </a:lnTo>
                  <a:lnTo>
                    <a:pt x="3507" y="4367059"/>
                  </a:lnTo>
                  <a:lnTo>
                    <a:pt x="2105" y="4360006"/>
                  </a:lnTo>
                  <a:lnTo>
                    <a:pt x="701" y="4352952"/>
                  </a:lnTo>
                  <a:lnTo>
                    <a:pt x="0" y="4345829"/>
                  </a:lnTo>
                  <a:lnTo>
                    <a:pt x="0" y="4338637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562599" y="1485899"/>
              <a:ext cx="5934075" cy="276225"/>
            </a:xfrm>
            <a:custGeom>
              <a:avLst/>
              <a:gdLst/>
              <a:ahLst/>
              <a:cxnLst/>
              <a:rect l="l" t="t" r="r" b="b"/>
              <a:pathLst>
                <a:path w="5934075" h="276225">
                  <a:moveTo>
                    <a:pt x="5934074" y="276224"/>
                  </a:moveTo>
                  <a:lnTo>
                    <a:pt x="0" y="276224"/>
                  </a:lnTo>
                  <a:lnTo>
                    <a:pt x="0" y="104775"/>
                  </a:lnTo>
                  <a:lnTo>
                    <a:pt x="7974" y="64679"/>
                  </a:lnTo>
                  <a:lnTo>
                    <a:pt x="30687" y="30687"/>
                  </a:lnTo>
                  <a:lnTo>
                    <a:pt x="64679" y="7975"/>
                  </a:lnTo>
                  <a:lnTo>
                    <a:pt x="104775" y="0"/>
                  </a:lnTo>
                  <a:lnTo>
                    <a:pt x="5829300" y="0"/>
                  </a:lnTo>
                  <a:lnTo>
                    <a:pt x="5869394" y="7975"/>
                  </a:lnTo>
                  <a:lnTo>
                    <a:pt x="5903385" y="30687"/>
                  </a:lnTo>
                  <a:lnTo>
                    <a:pt x="5926097" y="64679"/>
                  </a:lnTo>
                  <a:lnTo>
                    <a:pt x="5934074" y="104775"/>
                  </a:lnTo>
                  <a:lnTo>
                    <a:pt x="5934074" y="276224"/>
                  </a:lnTo>
                  <a:close/>
                </a:path>
              </a:pathLst>
            </a:custGeom>
            <a:solidFill>
              <a:srgbClr val="1317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562599" y="1752599"/>
              <a:ext cx="5934075" cy="9525"/>
            </a:xfrm>
            <a:custGeom>
              <a:avLst/>
              <a:gdLst/>
              <a:ahLst/>
              <a:cxnLst/>
              <a:rect l="l" t="t" r="r" b="b"/>
              <a:pathLst>
                <a:path w="5934075" h="9525">
                  <a:moveTo>
                    <a:pt x="59340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934074" y="0"/>
                  </a:lnTo>
                  <a:lnTo>
                    <a:pt x="5934074" y="9524"/>
                  </a:lnTo>
                  <a:close/>
                </a:path>
              </a:pathLst>
            </a:custGeom>
            <a:solidFill>
              <a:srgbClr val="292E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5948" y="1581149"/>
              <a:ext cx="85725" cy="8572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38823" y="1581149"/>
              <a:ext cx="85725" cy="8572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81698" y="1581149"/>
              <a:ext cx="85725" cy="85724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6151760" y="1530350"/>
            <a:ext cx="9467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 b="1">
                <a:solidFill>
                  <a:srgbClr val="E7E9F5"/>
                </a:solidFill>
                <a:latin typeface="Courier New"/>
                <a:cs typeface="Courier New"/>
              </a:rPr>
              <a:t>columns_demo.py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978851" y="1539875"/>
            <a:ext cx="39243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6A6F99"/>
                </a:solidFill>
                <a:latin typeface="Courier New"/>
                <a:cs typeface="Courier New"/>
              </a:rPr>
              <a:t>PYTHON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704085" y="1787525"/>
            <a:ext cx="1779905" cy="31115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750" spc="-1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750" spc="-7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pandas</a:t>
            </a:r>
            <a:r>
              <a:rPr dirty="0" sz="750" spc="-7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750" spc="-7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pd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 spc="-5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-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pd.</a:t>
            </a:r>
            <a:r>
              <a:rPr dirty="0" sz="750" spc="-25">
                <a:solidFill>
                  <a:srgbClr val="FFD580"/>
                </a:solidFill>
                <a:latin typeface="Courier New"/>
                <a:cs typeface="Courier New"/>
              </a:rPr>
              <a:t>read_csv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750" spc="-25">
                <a:solidFill>
                  <a:srgbClr val="B8E886"/>
                </a:solidFill>
                <a:latin typeface="Courier New"/>
                <a:cs typeface="Courier New"/>
              </a:rPr>
              <a:t>"students.csv"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704085" y="2216150"/>
            <a:ext cx="2162810" cy="29210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7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1.</a:t>
            </a:r>
            <a:r>
              <a:rPr dirty="0" sz="7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Add</a:t>
            </a:r>
            <a:r>
              <a:rPr dirty="0" sz="7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7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constant</a:t>
            </a:r>
            <a:r>
              <a:rPr dirty="0" sz="7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column</a:t>
            </a:r>
            <a:r>
              <a:rPr dirty="0" sz="7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750" spc="-2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 spc="-20">
                <a:solidFill>
                  <a:srgbClr val="B8E886"/>
                </a:solidFill>
                <a:latin typeface="Courier New"/>
                <a:cs typeface="Courier New"/>
              </a:rPr>
              <a:t>"school"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750" spc="-6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-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"Hindu</a:t>
            </a:r>
            <a:r>
              <a:rPr dirty="0" sz="750" spc="-6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College</a:t>
            </a:r>
            <a:r>
              <a:rPr dirty="0" sz="750" spc="-5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Amritsar"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704085" y="2616200"/>
            <a:ext cx="2327275" cy="44450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75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2.</a:t>
            </a:r>
            <a:r>
              <a:rPr dirty="0" sz="75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Column</a:t>
            </a:r>
            <a:r>
              <a:rPr dirty="0" sz="75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0" i="1">
                <a:solidFill>
                  <a:srgbClr val="8B8FB4"/>
                </a:solidFill>
                <a:latin typeface="Courier New"/>
                <a:cs typeface="Courier New"/>
              </a:rPr>
              <a:t>arithmetic</a:t>
            </a:r>
            <a:r>
              <a:rPr dirty="0" sz="75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Convert</a:t>
            </a:r>
            <a:r>
              <a:rPr dirty="0" sz="75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marks</a:t>
            </a:r>
            <a:r>
              <a:rPr dirty="0" sz="75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(out</a:t>
            </a:r>
            <a:r>
              <a:rPr dirty="0" sz="75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of</a:t>
            </a:r>
            <a:r>
              <a:rPr dirty="0" sz="75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100)</a:t>
            </a:r>
            <a:r>
              <a:rPr dirty="0" sz="75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to</a:t>
            </a:r>
            <a:r>
              <a:rPr dirty="0" sz="7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percentage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750" spc="-2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 spc="-20">
                <a:solidFill>
                  <a:srgbClr val="B8E886"/>
                </a:solidFill>
                <a:latin typeface="Courier New"/>
                <a:cs typeface="Courier New"/>
              </a:rPr>
              <a:t>"percentage"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750" spc="-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-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 spc="-20">
                <a:solidFill>
                  <a:srgbClr val="B8E886"/>
                </a:solidFill>
                <a:latin typeface="Courier New"/>
                <a:cs typeface="Courier New"/>
              </a:rPr>
              <a:t>"marks"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750" spc="-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/</a:t>
            </a:r>
            <a:r>
              <a:rPr dirty="0" sz="750" spc="-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D580"/>
                </a:solidFill>
                <a:latin typeface="Courier New"/>
                <a:cs typeface="Courier New"/>
              </a:rPr>
              <a:t>100</a:t>
            </a:r>
            <a:r>
              <a:rPr dirty="0" sz="750" spc="-40">
                <a:solidFill>
                  <a:srgbClr val="FFD580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*</a:t>
            </a:r>
            <a:r>
              <a:rPr dirty="0" sz="750" spc="-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FFD580"/>
                </a:solidFill>
                <a:latin typeface="Courier New"/>
                <a:cs typeface="Courier New"/>
              </a:rPr>
              <a:t>100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704085" y="3168650"/>
            <a:ext cx="1779905" cy="86360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7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3.</a:t>
            </a:r>
            <a:r>
              <a:rPr dirty="0" sz="7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Apply</a:t>
            </a:r>
            <a:r>
              <a:rPr dirty="0" sz="7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7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function</a:t>
            </a:r>
            <a:r>
              <a:rPr dirty="0" sz="7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750">
              <a:latin typeface="Courier New"/>
              <a:cs typeface="Courier New"/>
            </a:endParaRPr>
          </a:p>
          <a:p>
            <a:pPr marL="231140" marR="5080" indent="-219075">
              <a:lnSpc>
                <a:spcPct val="120800"/>
              </a:lnSpc>
              <a:spcBef>
                <a:spcPts val="35"/>
              </a:spcBef>
            </a:pP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def</a:t>
            </a:r>
            <a:r>
              <a:rPr dirty="0" sz="750" spc="-7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FFD580"/>
                </a:solidFill>
                <a:latin typeface="Courier New"/>
                <a:cs typeface="Courier New"/>
              </a:rPr>
              <a:t>to_grade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(marks:</a:t>
            </a:r>
            <a:r>
              <a:rPr dirty="0" sz="750" spc="-6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int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r>
              <a:rPr dirty="0" sz="750" spc="-6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-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&gt;</a:t>
            </a:r>
            <a:r>
              <a:rPr dirty="0" sz="750" spc="-6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5">
                <a:solidFill>
                  <a:srgbClr val="FF8B7E"/>
                </a:solidFill>
                <a:latin typeface="Courier New"/>
                <a:cs typeface="Courier New"/>
              </a:rPr>
              <a:t>str</a:t>
            </a:r>
            <a:r>
              <a:rPr dirty="0" sz="750" spc="-15">
                <a:solidFill>
                  <a:srgbClr val="E7E9F5"/>
                </a:solidFill>
                <a:latin typeface="Courier New"/>
                <a:cs typeface="Courier New"/>
              </a:rPr>
              <a:t>: </a:t>
            </a: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750" spc="-8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marks</a:t>
            </a:r>
            <a:r>
              <a:rPr dirty="0" sz="750" spc="-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&gt;=</a:t>
            </a:r>
            <a:r>
              <a:rPr dirty="0" sz="750" spc="-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D580"/>
                </a:solidFill>
                <a:latin typeface="Courier New"/>
                <a:cs typeface="Courier New"/>
              </a:rPr>
              <a:t>90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r>
              <a:rPr dirty="0" sz="750" spc="-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r>
              <a:rPr dirty="0" sz="750" spc="-7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B8E886"/>
                </a:solidFill>
                <a:latin typeface="Courier New"/>
                <a:cs typeface="Courier New"/>
              </a:rPr>
              <a:t>"A" </a:t>
            </a: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750" spc="-8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marks</a:t>
            </a:r>
            <a:r>
              <a:rPr dirty="0" sz="750" spc="-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&gt;=</a:t>
            </a:r>
            <a:r>
              <a:rPr dirty="0" sz="750" spc="-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D580"/>
                </a:solidFill>
                <a:latin typeface="Courier New"/>
                <a:cs typeface="Courier New"/>
              </a:rPr>
              <a:t>80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r>
              <a:rPr dirty="0" sz="750" spc="-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r>
              <a:rPr dirty="0" sz="750" spc="-7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B8E886"/>
                </a:solidFill>
                <a:latin typeface="Courier New"/>
                <a:cs typeface="Courier New"/>
              </a:rPr>
              <a:t>"B" </a:t>
            </a: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750" spc="-8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marks</a:t>
            </a:r>
            <a:r>
              <a:rPr dirty="0" sz="750" spc="-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&gt;=</a:t>
            </a:r>
            <a:r>
              <a:rPr dirty="0" sz="750" spc="-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D580"/>
                </a:solidFill>
                <a:latin typeface="Courier New"/>
                <a:cs typeface="Courier New"/>
              </a:rPr>
              <a:t>70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r>
              <a:rPr dirty="0" sz="750" spc="-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r>
              <a:rPr dirty="0" sz="750" spc="-7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B8E886"/>
                </a:solidFill>
                <a:latin typeface="Courier New"/>
                <a:cs typeface="Courier New"/>
              </a:rPr>
              <a:t>"C" </a:t>
            </a:r>
            <a:r>
              <a:rPr dirty="0" sz="750" spc="-1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r>
              <a:rPr dirty="0" sz="750" spc="-8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B8E886"/>
                </a:solidFill>
                <a:latin typeface="Courier New"/>
                <a:cs typeface="Courier New"/>
              </a:rPr>
              <a:t>"F"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704085" y="4168775"/>
            <a:ext cx="227266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 spc="-20">
                <a:solidFill>
                  <a:srgbClr val="B8E886"/>
                </a:solidFill>
                <a:latin typeface="Courier New"/>
                <a:cs typeface="Courier New"/>
              </a:rPr>
              <a:t>"grade"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750" spc="-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-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 spc="-25">
                <a:solidFill>
                  <a:srgbClr val="B8E886"/>
                </a:solidFill>
                <a:latin typeface="Courier New"/>
                <a:cs typeface="Courier New"/>
              </a:rPr>
              <a:t>"marks"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].</a:t>
            </a:r>
            <a:r>
              <a:rPr dirty="0" sz="750" spc="-25">
                <a:solidFill>
                  <a:srgbClr val="FFD580"/>
                </a:solidFill>
                <a:latin typeface="Courier New"/>
                <a:cs typeface="Courier New"/>
              </a:rPr>
              <a:t>apply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(to_grade)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704085" y="4425949"/>
            <a:ext cx="3039110" cy="153987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-8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7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4.</a:t>
            </a:r>
            <a:r>
              <a:rPr dirty="0" sz="7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Modify</a:t>
            </a:r>
            <a:r>
              <a:rPr dirty="0" sz="750" spc="-7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an</a:t>
            </a:r>
            <a:r>
              <a:rPr dirty="0" sz="7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existing</a:t>
            </a:r>
            <a:r>
              <a:rPr dirty="0" sz="7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column</a:t>
            </a:r>
            <a:r>
              <a:rPr dirty="0" sz="7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750" spc="-2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 spc="-20">
                <a:solidFill>
                  <a:srgbClr val="B8E886"/>
                </a:solidFill>
                <a:latin typeface="Courier New"/>
                <a:cs typeface="Courier New"/>
              </a:rPr>
              <a:t>"city"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750" spc="-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-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"city"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].</a:t>
            </a:r>
            <a:r>
              <a:rPr dirty="0" sz="750" spc="-10">
                <a:solidFill>
                  <a:srgbClr val="FFD580"/>
                </a:solidFill>
                <a:latin typeface="Courier New"/>
                <a:cs typeface="Courier New"/>
              </a:rPr>
              <a:t>str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750" spc="-10">
                <a:solidFill>
                  <a:srgbClr val="FFD580"/>
                </a:solidFill>
                <a:latin typeface="Courier New"/>
                <a:cs typeface="Courier New"/>
              </a:rPr>
              <a:t>upper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()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→</a:t>
            </a:r>
            <a:r>
              <a:rPr dirty="0" sz="7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0" i="1">
                <a:solidFill>
                  <a:srgbClr val="8B8FB4"/>
                </a:solidFill>
                <a:latin typeface="Courier New"/>
                <a:cs typeface="Courier New"/>
              </a:rPr>
              <a:t>"amritsar"</a:t>
            </a:r>
            <a:r>
              <a:rPr dirty="0" sz="7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becomes</a:t>
            </a:r>
            <a:r>
              <a:rPr dirty="0" sz="75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"AMRITSAR"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7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5.</a:t>
            </a:r>
            <a:r>
              <a:rPr dirty="0" sz="7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0" i="1">
                <a:solidFill>
                  <a:srgbClr val="8B8FB4"/>
                </a:solidFill>
                <a:latin typeface="Courier New"/>
                <a:cs typeface="Courier New"/>
              </a:rPr>
              <a:t>Conditional</a:t>
            </a:r>
            <a:r>
              <a:rPr dirty="0" sz="7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column</a:t>
            </a:r>
            <a:r>
              <a:rPr dirty="0" sz="7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0" i="1">
                <a:solidFill>
                  <a:srgbClr val="8B8FB4"/>
                </a:solidFill>
                <a:latin typeface="Courier New"/>
                <a:cs typeface="Courier New"/>
              </a:rPr>
              <a:t>(np.where)</a:t>
            </a:r>
            <a:r>
              <a:rPr dirty="0" sz="750" spc="-5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750" spc="-1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750" spc="-8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numpy</a:t>
            </a:r>
            <a:r>
              <a:rPr dirty="0" sz="750" spc="-7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750" spc="-7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np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750" spc="-2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 spc="-20">
                <a:solidFill>
                  <a:srgbClr val="B8E886"/>
                </a:solidFill>
                <a:latin typeface="Courier New"/>
                <a:cs typeface="Courier New"/>
              </a:rPr>
              <a:t>"passed"</a:t>
            </a:r>
            <a:r>
              <a:rPr dirty="0" sz="750" spc="-2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750" spc="-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-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np.</a:t>
            </a:r>
            <a:r>
              <a:rPr dirty="0" sz="750" spc="-25">
                <a:solidFill>
                  <a:srgbClr val="FFD580"/>
                </a:solidFill>
                <a:latin typeface="Courier New"/>
                <a:cs typeface="Courier New"/>
              </a:rPr>
              <a:t>where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750" spc="-25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50" spc="-25">
                <a:solidFill>
                  <a:srgbClr val="B8E886"/>
                </a:solidFill>
                <a:latin typeface="Courier New"/>
                <a:cs typeface="Courier New"/>
              </a:rPr>
              <a:t>"marks"</a:t>
            </a:r>
            <a:r>
              <a:rPr dirty="0" sz="750" spc="-25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750" spc="-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&gt;=</a:t>
            </a:r>
            <a:r>
              <a:rPr dirty="0" sz="750" spc="-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FFD580"/>
                </a:solidFill>
                <a:latin typeface="Courier New"/>
                <a:cs typeface="Courier New"/>
              </a:rPr>
              <a:t>40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-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"Yes"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50" spc="-3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"No"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-8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r>
              <a:rPr dirty="0" sz="7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6.</a:t>
            </a:r>
            <a:r>
              <a:rPr dirty="0" sz="7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Drop</a:t>
            </a:r>
            <a:r>
              <a:rPr dirty="0" sz="750" spc="-7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a</a:t>
            </a:r>
            <a:r>
              <a:rPr dirty="0" sz="7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column</a:t>
            </a:r>
            <a:r>
              <a:rPr dirty="0" sz="750" spc="-6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5" i="1">
                <a:solidFill>
                  <a:srgbClr val="8B8FB4"/>
                </a:solidFill>
                <a:latin typeface="Courier New"/>
                <a:cs typeface="Courier New"/>
              </a:rPr>
              <a:t>===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75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 spc="-60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50" spc="-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750" spc="-10">
                <a:solidFill>
                  <a:srgbClr val="FFD580"/>
                </a:solidFill>
                <a:latin typeface="Courier New"/>
                <a:cs typeface="Courier New"/>
              </a:rPr>
              <a:t>drop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(columns=[</a:t>
            </a:r>
            <a:r>
              <a:rPr dirty="0" sz="750" spc="-10">
                <a:solidFill>
                  <a:srgbClr val="B8E886"/>
                </a:solidFill>
                <a:latin typeface="Courier New"/>
                <a:cs typeface="Courier New"/>
              </a:rPr>
              <a:t>"school"</a:t>
            </a:r>
            <a:r>
              <a:rPr dirty="0" sz="750" spc="-10">
                <a:solidFill>
                  <a:srgbClr val="E7E9F5"/>
                </a:solidFill>
                <a:latin typeface="Courier New"/>
                <a:cs typeface="Courier New"/>
              </a:rPr>
              <a:t>])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5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i="1">
                <a:solidFill>
                  <a:srgbClr val="8B8FB4"/>
                </a:solidFill>
                <a:latin typeface="Courier New"/>
                <a:cs typeface="Courier New"/>
              </a:rPr>
              <a:t>or:</a:t>
            </a:r>
            <a:r>
              <a:rPr dirty="0" sz="75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20" i="1">
                <a:solidFill>
                  <a:srgbClr val="8B8FB4"/>
                </a:solidFill>
                <a:latin typeface="Courier New"/>
                <a:cs typeface="Courier New"/>
              </a:rPr>
              <a:t>df.drop("school",</a:t>
            </a:r>
            <a:r>
              <a:rPr dirty="0" sz="750" spc="-6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axis=1,</a:t>
            </a:r>
            <a:r>
              <a:rPr dirty="0" sz="750" spc="-5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50" spc="-10" i="1">
                <a:solidFill>
                  <a:srgbClr val="8B8FB4"/>
                </a:solidFill>
                <a:latin typeface="Courier New"/>
                <a:cs typeface="Courier New"/>
              </a:rPr>
              <a:t>inplace=True)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85799" y="6010274"/>
            <a:ext cx="10820400" cy="314325"/>
            <a:chOff x="685799" y="6010274"/>
            <a:chExt cx="10820400" cy="314325"/>
          </a:xfrm>
        </p:grpSpPr>
        <p:sp>
          <p:nvSpPr>
            <p:cNvPr id="56" name="object 56"/>
            <p:cNvSpPr/>
            <p:nvPr/>
          </p:nvSpPr>
          <p:spPr>
            <a:xfrm>
              <a:off x="690562" y="6015037"/>
              <a:ext cx="10810875" cy="304800"/>
            </a:xfrm>
            <a:custGeom>
              <a:avLst/>
              <a:gdLst/>
              <a:ahLst/>
              <a:cxnLst/>
              <a:rect l="l" t="t" r="r" b="b"/>
              <a:pathLst>
                <a:path w="10810875" h="304800">
                  <a:moveTo>
                    <a:pt x="10726327" y="304799"/>
                  </a:moveTo>
                  <a:lnTo>
                    <a:pt x="84545" y="304799"/>
                  </a:lnTo>
                  <a:lnTo>
                    <a:pt x="78661" y="304219"/>
                  </a:lnTo>
                  <a:lnTo>
                    <a:pt x="35275" y="286247"/>
                  </a:lnTo>
                  <a:lnTo>
                    <a:pt x="9161" y="254428"/>
                  </a:lnTo>
                  <a:lnTo>
                    <a:pt x="0" y="220253"/>
                  </a:lnTo>
                  <a:lnTo>
                    <a:pt x="0" y="21431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8"/>
                  </a:lnTo>
                  <a:lnTo>
                    <a:pt x="10798924" y="45154"/>
                  </a:lnTo>
                  <a:lnTo>
                    <a:pt x="10810872" y="84545"/>
                  </a:lnTo>
                  <a:lnTo>
                    <a:pt x="10810872" y="220253"/>
                  </a:lnTo>
                  <a:lnTo>
                    <a:pt x="10798924" y="259643"/>
                  </a:lnTo>
                  <a:lnTo>
                    <a:pt x="10765717" y="292850"/>
                  </a:lnTo>
                  <a:lnTo>
                    <a:pt x="10732211" y="304219"/>
                  </a:lnTo>
                  <a:lnTo>
                    <a:pt x="10726327" y="3047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90562" y="6015037"/>
              <a:ext cx="10810875" cy="304800"/>
            </a:xfrm>
            <a:custGeom>
              <a:avLst/>
              <a:gdLst/>
              <a:ahLst/>
              <a:cxnLst/>
              <a:rect l="l" t="t" r="r" b="b"/>
              <a:pathLst>
                <a:path w="10810875" h="304800">
                  <a:moveTo>
                    <a:pt x="0" y="2143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0"/>
                  </a:lnTo>
                  <a:lnTo>
                    <a:pt x="1738" y="72833"/>
                  </a:lnTo>
                  <a:lnTo>
                    <a:pt x="2897" y="67005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72834" y="173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26327" y="0"/>
                  </a:lnTo>
                  <a:lnTo>
                    <a:pt x="10732211" y="579"/>
                  </a:lnTo>
                  <a:lnTo>
                    <a:pt x="10770657" y="15249"/>
                  </a:lnTo>
                  <a:lnTo>
                    <a:pt x="10795623" y="40215"/>
                  </a:lnTo>
                  <a:lnTo>
                    <a:pt x="10798924" y="45154"/>
                  </a:lnTo>
                  <a:lnTo>
                    <a:pt x="10801711" y="50369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07975" y="67005"/>
                  </a:lnTo>
                  <a:lnTo>
                    <a:pt x="10809134" y="72833"/>
                  </a:lnTo>
                  <a:lnTo>
                    <a:pt x="10810293" y="78660"/>
                  </a:lnTo>
                  <a:lnTo>
                    <a:pt x="10810872" y="84545"/>
                  </a:lnTo>
                  <a:lnTo>
                    <a:pt x="10810874" y="90487"/>
                  </a:lnTo>
                  <a:lnTo>
                    <a:pt x="10810874" y="214312"/>
                  </a:lnTo>
                  <a:lnTo>
                    <a:pt x="10810872" y="220253"/>
                  </a:lnTo>
                  <a:lnTo>
                    <a:pt x="10810293" y="226137"/>
                  </a:lnTo>
                  <a:lnTo>
                    <a:pt x="10809134" y="231965"/>
                  </a:lnTo>
                  <a:lnTo>
                    <a:pt x="10807975" y="237792"/>
                  </a:lnTo>
                  <a:lnTo>
                    <a:pt x="10788572" y="274094"/>
                  </a:lnTo>
                  <a:lnTo>
                    <a:pt x="10755013" y="297911"/>
                  </a:lnTo>
                  <a:lnTo>
                    <a:pt x="10749524" y="300185"/>
                  </a:lnTo>
                  <a:lnTo>
                    <a:pt x="10720386" y="304799"/>
                  </a:lnTo>
                  <a:lnTo>
                    <a:pt x="90487" y="304799"/>
                  </a:lnTo>
                  <a:lnTo>
                    <a:pt x="55859" y="297911"/>
                  </a:lnTo>
                  <a:lnTo>
                    <a:pt x="50370" y="295637"/>
                  </a:lnTo>
                  <a:lnTo>
                    <a:pt x="18550" y="269523"/>
                  </a:lnTo>
                  <a:lnTo>
                    <a:pt x="1738" y="231965"/>
                  </a:lnTo>
                  <a:lnTo>
                    <a:pt x="0" y="220253"/>
                  </a:lnTo>
                  <a:lnTo>
                    <a:pt x="0" y="214312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815975" y="6088062"/>
            <a:ext cx="48005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35" b="1">
                <a:solidFill>
                  <a:srgbClr val="FF6A5B"/>
                </a:solidFill>
                <a:latin typeface="Tahoma"/>
                <a:cs typeface="Tahoma"/>
              </a:rPr>
              <a:t>PAT</a:t>
            </a:r>
            <a:r>
              <a:rPr dirty="0" sz="750" spc="-9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8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75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endParaRPr sz="750">
              <a:latin typeface="Tahoma"/>
              <a:cs typeface="Tahom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409687" y="6096000"/>
            <a:ext cx="7972425" cy="133350"/>
          </a:xfrm>
          <a:custGeom>
            <a:avLst/>
            <a:gdLst/>
            <a:ahLst/>
            <a:cxnLst/>
            <a:rect l="l" t="t" r="r" b="b"/>
            <a:pathLst>
              <a:path w="7972425" h="133350">
                <a:moveTo>
                  <a:pt x="1219200" y="24790"/>
                </a:moveTo>
                <a:lnTo>
                  <a:pt x="1194422" y="0"/>
                </a:lnTo>
                <a:lnTo>
                  <a:pt x="24790" y="0"/>
                </a:lnTo>
                <a:lnTo>
                  <a:pt x="0" y="24790"/>
                </a:lnTo>
                <a:lnTo>
                  <a:pt x="0" y="104775"/>
                </a:lnTo>
                <a:lnTo>
                  <a:pt x="0" y="108572"/>
                </a:lnTo>
                <a:lnTo>
                  <a:pt x="24790" y="133350"/>
                </a:lnTo>
                <a:lnTo>
                  <a:pt x="1194422" y="133350"/>
                </a:lnTo>
                <a:lnTo>
                  <a:pt x="1219200" y="108572"/>
                </a:lnTo>
                <a:lnTo>
                  <a:pt x="1219200" y="24790"/>
                </a:lnTo>
                <a:close/>
              </a:path>
              <a:path w="7972425" h="133350">
                <a:moveTo>
                  <a:pt x="7239000" y="24790"/>
                </a:moveTo>
                <a:lnTo>
                  <a:pt x="7214222" y="0"/>
                </a:lnTo>
                <a:lnTo>
                  <a:pt x="6692290" y="0"/>
                </a:lnTo>
                <a:lnTo>
                  <a:pt x="6667500" y="24790"/>
                </a:lnTo>
                <a:lnTo>
                  <a:pt x="6667500" y="104775"/>
                </a:lnTo>
                <a:lnTo>
                  <a:pt x="6667500" y="108572"/>
                </a:lnTo>
                <a:lnTo>
                  <a:pt x="6692290" y="133350"/>
                </a:lnTo>
                <a:lnTo>
                  <a:pt x="7214222" y="133350"/>
                </a:lnTo>
                <a:lnTo>
                  <a:pt x="7239000" y="108572"/>
                </a:lnTo>
                <a:lnTo>
                  <a:pt x="7239000" y="24790"/>
                </a:lnTo>
                <a:close/>
              </a:path>
              <a:path w="7972425" h="133350">
                <a:moveTo>
                  <a:pt x="7972425" y="24790"/>
                </a:moveTo>
                <a:lnTo>
                  <a:pt x="7947647" y="0"/>
                </a:lnTo>
                <a:lnTo>
                  <a:pt x="7311415" y="0"/>
                </a:lnTo>
                <a:lnTo>
                  <a:pt x="7286625" y="24790"/>
                </a:lnTo>
                <a:lnTo>
                  <a:pt x="7286625" y="104775"/>
                </a:lnTo>
                <a:lnTo>
                  <a:pt x="7286625" y="108572"/>
                </a:lnTo>
                <a:lnTo>
                  <a:pt x="7311415" y="133350"/>
                </a:lnTo>
                <a:lnTo>
                  <a:pt x="7947647" y="133350"/>
                </a:lnTo>
                <a:lnTo>
                  <a:pt x="7972425" y="108572"/>
                </a:lnTo>
                <a:lnTo>
                  <a:pt x="7972425" y="24790"/>
                </a:lnTo>
                <a:close/>
              </a:path>
            </a:pathLst>
          </a:custGeom>
          <a:solidFill>
            <a:srgbClr val="FF6A5B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1446410" y="6073774"/>
            <a:ext cx="88074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df["new_col"]</a:t>
            </a:r>
            <a:r>
              <a:rPr dirty="0" sz="750" spc="6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=</a:t>
            </a:r>
            <a:r>
              <a:rPr dirty="0" sz="750" spc="7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...</a:t>
            </a:r>
            <a:r>
              <a:rPr dirty="0" sz="750" spc="17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is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how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you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create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or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overwrite. The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right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side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can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be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anything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that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produces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Series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of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right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 length: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constant,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column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math,</a:t>
            </a:r>
            <a:r>
              <a:rPr dirty="0" sz="800" spc="3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.apply()</a:t>
            </a:r>
            <a:r>
              <a:rPr dirty="0" sz="750" spc="-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,</a:t>
            </a:r>
            <a:r>
              <a:rPr dirty="0" sz="800" spc="3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np.where()</a:t>
            </a:r>
            <a:r>
              <a:rPr dirty="0" sz="750" spc="-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105">
                <a:solidFill>
                  <a:srgbClr val="4A4E6A"/>
                </a:solidFill>
                <a:latin typeface="Trebuchet MS"/>
                <a:cs typeface="Trebuchet MS"/>
              </a:rPr>
              <a:t>,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or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another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column.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11075887" y="6431213"/>
            <a:ext cx="426720" cy="1536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800" spc="-1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11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2</a:t>
            </a:r>
            <a:r>
              <a:rPr dirty="0" sz="800" spc="12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5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11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797E94"/>
                </a:solidFill>
                <a:latin typeface="Trebuchet MS"/>
                <a:cs typeface="Trebuchet MS"/>
              </a:rPr>
              <a:t>8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34283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AT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8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18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1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0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2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FF6A5B"/>
                </a:solidFill>
                <a:latin typeface="Tahoma"/>
                <a:cs typeface="Tahoma"/>
              </a:rPr>
              <a:t>Y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40" b="1">
                <a:solidFill>
                  <a:srgbClr val="FF6A5B"/>
                </a:solidFill>
                <a:latin typeface="Tahoma"/>
                <a:cs typeface="Tahoma"/>
              </a:rPr>
              <a:t>'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2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99947" y="530225"/>
            <a:ext cx="19989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AY</a:t>
            </a:r>
            <a:r>
              <a:rPr dirty="0" sz="900" spc="7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0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6</a:t>
            </a:r>
            <a:r>
              <a:rPr dirty="0" sz="900" spc="14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·</a:t>
            </a:r>
            <a:r>
              <a:rPr dirty="0" sz="900" spc="2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900" spc="-11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797E94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797E94"/>
                </a:solidFill>
                <a:latin typeface="Tahoma"/>
                <a:cs typeface="Tahoma"/>
              </a:rPr>
              <a:t>K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G</a:t>
            </a:r>
            <a:r>
              <a:rPr dirty="0" sz="900" spc="204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797E94"/>
                </a:solidFill>
                <a:latin typeface="Tahoma"/>
                <a:cs typeface="Tahoma"/>
              </a:rPr>
              <a:t>W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797E94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900" spc="21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r>
              <a:rPr dirty="0" sz="900" spc="-12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797E94"/>
                </a:solidFill>
                <a:latin typeface="Tahoma"/>
                <a:cs typeface="Tahoma"/>
              </a:rPr>
              <a:t>ATA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240">
                <a:solidFill>
                  <a:srgbClr val="293283"/>
                </a:solidFill>
              </a:rPr>
              <a:t>Bookmark</a:t>
            </a:r>
            <a:r>
              <a:rPr dirty="0" sz="1950" spc="-170">
                <a:solidFill>
                  <a:srgbClr val="293283"/>
                </a:solidFill>
              </a:rPr>
              <a:t> </a:t>
            </a:r>
            <a:r>
              <a:rPr dirty="0" sz="1950" spc="-204">
                <a:solidFill>
                  <a:srgbClr val="293283"/>
                </a:solidFill>
              </a:rPr>
              <a:t>this</a:t>
            </a:r>
            <a:r>
              <a:rPr dirty="0" sz="1950" spc="-170">
                <a:solidFill>
                  <a:srgbClr val="293283"/>
                </a:solidFill>
              </a:rPr>
              <a:t> </a:t>
            </a:r>
            <a:r>
              <a:rPr dirty="0" sz="1950" spc="-185">
                <a:solidFill>
                  <a:srgbClr val="293283"/>
                </a:solidFill>
              </a:rPr>
              <a:t>slide.</a:t>
            </a:r>
            <a:r>
              <a:rPr dirty="0" sz="1950" spc="-165">
                <a:solidFill>
                  <a:srgbClr val="293283"/>
                </a:solidFill>
              </a:rPr>
              <a:t> </a:t>
            </a:r>
            <a:r>
              <a:rPr dirty="0" sz="1950" spc="-240">
                <a:solidFill>
                  <a:srgbClr val="293283"/>
                </a:solidFill>
              </a:rPr>
              <a:t>These</a:t>
            </a:r>
            <a:r>
              <a:rPr dirty="0" sz="1950" spc="-170">
                <a:solidFill>
                  <a:srgbClr val="293283"/>
                </a:solidFill>
              </a:rPr>
              <a:t> </a:t>
            </a:r>
            <a:r>
              <a:rPr dirty="0" sz="1950" spc="-275">
                <a:solidFill>
                  <a:srgbClr val="293283"/>
                </a:solidFill>
              </a:rPr>
              <a:t>10</a:t>
            </a:r>
            <a:r>
              <a:rPr dirty="0" sz="1950" spc="-165">
                <a:solidFill>
                  <a:srgbClr val="293283"/>
                </a:solidFill>
              </a:rPr>
              <a:t> </a:t>
            </a:r>
            <a:r>
              <a:rPr dirty="0" sz="1950" spc="-254">
                <a:solidFill>
                  <a:srgbClr val="293283"/>
                </a:solidFill>
              </a:rPr>
              <a:t>commands</a:t>
            </a:r>
            <a:r>
              <a:rPr dirty="0" sz="1950" spc="-170">
                <a:solidFill>
                  <a:srgbClr val="293283"/>
                </a:solidFill>
              </a:rPr>
              <a:t> </a:t>
            </a:r>
            <a:r>
              <a:rPr dirty="0" sz="1950" spc="-220">
                <a:solidFill>
                  <a:srgbClr val="293283"/>
                </a:solidFill>
              </a:rPr>
              <a:t>are</a:t>
            </a:r>
            <a:r>
              <a:rPr dirty="0" sz="1950" spc="-165">
                <a:solidFill>
                  <a:srgbClr val="293283"/>
                </a:solidFill>
              </a:rPr>
              <a:t> </a:t>
            </a:r>
            <a:r>
              <a:rPr dirty="0" sz="1950" spc="-505"/>
              <a:t>90%</a:t>
            </a:r>
            <a:r>
              <a:rPr dirty="0" sz="1950" spc="-170"/>
              <a:t> of</a:t>
            </a:r>
            <a:r>
              <a:rPr dirty="0" sz="1950" spc="-165"/>
              <a:t> </a:t>
            </a:r>
            <a:r>
              <a:rPr dirty="0" sz="1950" spc="-170"/>
              <a:t>pandas</a:t>
            </a:r>
            <a:r>
              <a:rPr dirty="0" sz="1950" spc="-170">
                <a:solidFill>
                  <a:srgbClr val="293283"/>
                </a:solidFill>
              </a:rPr>
              <a:t>.</a:t>
            </a:r>
            <a:endParaRPr sz="1950"/>
          </a:p>
        </p:txBody>
      </p:sp>
      <p:sp>
        <p:nvSpPr>
          <p:cNvPr id="5" name="object 5"/>
          <p:cNvSpPr txBox="1"/>
          <p:nvPr/>
        </p:nvSpPr>
        <p:spPr>
          <a:xfrm>
            <a:off x="673099" y="1154112"/>
            <a:ext cx="588327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You've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seen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most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of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these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today.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Here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they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are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in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one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place,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one-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line example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each.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Print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this.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Tape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4A4E6A"/>
                </a:solidFill>
                <a:latin typeface="Trebuchet MS"/>
                <a:cs typeface="Trebuchet MS"/>
              </a:rPr>
              <a:t>it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to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your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laptop.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799" y="1457324"/>
            <a:ext cx="5353050" cy="828675"/>
            <a:chOff x="685799" y="1457324"/>
            <a:chExt cx="5353050" cy="828675"/>
          </a:xfrm>
        </p:grpSpPr>
        <p:sp>
          <p:nvSpPr>
            <p:cNvPr id="7" name="object 7"/>
            <p:cNvSpPr/>
            <p:nvPr/>
          </p:nvSpPr>
          <p:spPr>
            <a:xfrm>
              <a:off x="690562" y="1462087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5258978" y="819149"/>
                  </a:moveTo>
                  <a:lnTo>
                    <a:pt x="84545" y="819149"/>
                  </a:lnTo>
                  <a:lnTo>
                    <a:pt x="78661" y="818570"/>
                  </a:lnTo>
                  <a:lnTo>
                    <a:pt x="35275" y="800598"/>
                  </a:lnTo>
                  <a:lnTo>
                    <a:pt x="9161" y="768779"/>
                  </a:lnTo>
                  <a:lnTo>
                    <a:pt x="0" y="734603"/>
                  </a:lnTo>
                  <a:lnTo>
                    <a:pt x="0" y="728662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258978" y="0"/>
                  </a:lnTo>
                  <a:lnTo>
                    <a:pt x="5298368" y="11948"/>
                  </a:lnTo>
                  <a:lnTo>
                    <a:pt x="5331574" y="45155"/>
                  </a:lnTo>
                  <a:lnTo>
                    <a:pt x="5343524" y="84545"/>
                  </a:lnTo>
                  <a:lnTo>
                    <a:pt x="5343524" y="734603"/>
                  </a:lnTo>
                  <a:lnTo>
                    <a:pt x="5331574" y="773993"/>
                  </a:lnTo>
                  <a:lnTo>
                    <a:pt x="5298368" y="807200"/>
                  </a:lnTo>
                  <a:lnTo>
                    <a:pt x="5264862" y="818570"/>
                  </a:lnTo>
                  <a:lnTo>
                    <a:pt x="5258978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90562" y="1462087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5253037" y="0"/>
                  </a:lnTo>
                  <a:lnTo>
                    <a:pt x="5258978" y="0"/>
                  </a:lnTo>
                  <a:lnTo>
                    <a:pt x="5264862" y="579"/>
                  </a:lnTo>
                  <a:lnTo>
                    <a:pt x="5270689" y="1738"/>
                  </a:lnTo>
                  <a:lnTo>
                    <a:pt x="5276517" y="2897"/>
                  </a:lnTo>
                  <a:lnTo>
                    <a:pt x="5282175" y="4614"/>
                  </a:lnTo>
                  <a:lnTo>
                    <a:pt x="5287664" y="6887"/>
                  </a:lnTo>
                  <a:lnTo>
                    <a:pt x="5293153" y="9161"/>
                  </a:lnTo>
                  <a:lnTo>
                    <a:pt x="5298368" y="11948"/>
                  </a:lnTo>
                  <a:lnTo>
                    <a:pt x="5303308" y="15249"/>
                  </a:lnTo>
                  <a:lnTo>
                    <a:pt x="5308248" y="18550"/>
                  </a:lnTo>
                  <a:lnTo>
                    <a:pt x="5334361" y="50369"/>
                  </a:lnTo>
                  <a:lnTo>
                    <a:pt x="5341785" y="72833"/>
                  </a:lnTo>
                  <a:lnTo>
                    <a:pt x="5342944" y="78661"/>
                  </a:lnTo>
                  <a:lnTo>
                    <a:pt x="5343524" y="84545"/>
                  </a:lnTo>
                  <a:lnTo>
                    <a:pt x="5343524" y="90487"/>
                  </a:lnTo>
                  <a:lnTo>
                    <a:pt x="5343524" y="728662"/>
                  </a:lnTo>
                  <a:lnTo>
                    <a:pt x="5343524" y="734603"/>
                  </a:lnTo>
                  <a:lnTo>
                    <a:pt x="5342944" y="740488"/>
                  </a:lnTo>
                  <a:lnTo>
                    <a:pt x="5341785" y="746315"/>
                  </a:lnTo>
                  <a:lnTo>
                    <a:pt x="5340625" y="752142"/>
                  </a:lnTo>
                  <a:lnTo>
                    <a:pt x="5338909" y="757800"/>
                  </a:lnTo>
                  <a:lnTo>
                    <a:pt x="5336635" y="763290"/>
                  </a:lnTo>
                  <a:lnTo>
                    <a:pt x="5334361" y="768779"/>
                  </a:lnTo>
                  <a:lnTo>
                    <a:pt x="5308248" y="800598"/>
                  </a:lnTo>
                  <a:lnTo>
                    <a:pt x="5287664" y="812261"/>
                  </a:lnTo>
                  <a:lnTo>
                    <a:pt x="5282175" y="814535"/>
                  </a:lnTo>
                  <a:lnTo>
                    <a:pt x="5276517" y="816251"/>
                  </a:lnTo>
                  <a:lnTo>
                    <a:pt x="5270689" y="817411"/>
                  </a:lnTo>
                  <a:lnTo>
                    <a:pt x="5264862" y="818570"/>
                  </a:lnTo>
                  <a:lnTo>
                    <a:pt x="5258978" y="819149"/>
                  </a:lnTo>
                  <a:lnTo>
                    <a:pt x="5253037" y="819149"/>
                  </a:lnTo>
                  <a:lnTo>
                    <a:pt x="90487" y="819149"/>
                  </a:lnTo>
                  <a:lnTo>
                    <a:pt x="84545" y="819149"/>
                  </a:lnTo>
                  <a:lnTo>
                    <a:pt x="78661" y="818570"/>
                  </a:lnTo>
                  <a:lnTo>
                    <a:pt x="72834" y="817411"/>
                  </a:lnTo>
                  <a:lnTo>
                    <a:pt x="67006" y="816251"/>
                  </a:lnTo>
                  <a:lnTo>
                    <a:pt x="61348" y="814535"/>
                  </a:lnTo>
                  <a:lnTo>
                    <a:pt x="55859" y="812261"/>
                  </a:lnTo>
                  <a:lnTo>
                    <a:pt x="50370" y="809987"/>
                  </a:lnTo>
                  <a:lnTo>
                    <a:pt x="18550" y="783874"/>
                  </a:lnTo>
                  <a:lnTo>
                    <a:pt x="15249" y="778934"/>
                  </a:lnTo>
                  <a:lnTo>
                    <a:pt x="11948" y="773994"/>
                  </a:lnTo>
                  <a:lnTo>
                    <a:pt x="9161" y="768779"/>
                  </a:lnTo>
                  <a:lnTo>
                    <a:pt x="6887" y="763290"/>
                  </a:lnTo>
                  <a:lnTo>
                    <a:pt x="4614" y="757800"/>
                  </a:lnTo>
                  <a:lnTo>
                    <a:pt x="2897" y="752142"/>
                  </a:lnTo>
                  <a:lnTo>
                    <a:pt x="1738" y="746315"/>
                  </a:lnTo>
                  <a:lnTo>
                    <a:pt x="579" y="740488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624" y="1752599"/>
              <a:ext cx="228600" cy="2285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56009" y="1778000"/>
            <a:ext cx="1339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0" b="1">
                <a:solidFill>
                  <a:srgbClr val="4A4E6A"/>
                </a:solidFill>
                <a:latin typeface="Tahoma"/>
                <a:cs typeface="Tahoma"/>
              </a:rPr>
              <a:t>01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42999" y="1676399"/>
            <a:ext cx="2667000" cy="381000"/>
            <a:chOff x="1142999" y="1676399"/>
            <a:chExt cx="2667000" cy="381000"/>
          </a:xfrm>
        </p:grpSpPr>
        <p:sp>
          <p:nvSpPr>
            <p:cNvPr id="12" name="object 12"/>
            <p:cNvSpPr/>
            <p:nvPr/>
          </p:nvSpPr>
          <p:spPr>
            <a:xfrm>
              <a:off x="1142999" y="1676399"/>
              <a:ext cx="1133475" cy="161925"/>
            </a:xfrm>
            <a:custGeom>
              <a:avLst/>
              <a:gdLst/>
              <a:ahLst/>
              <a:cxnLst/>
              <a:rect l="l" t="t" r="r" b="b"/>
              <a:pathLst>
                <a:path w="1133475" h="161925">
                  <a:moveTo>
                    <a:pt x="1092165" y="161924"/>
                  </a:moveTo>
                  <a:lnTo>
                    <a:pt x="41309" y="161924"/>
                  </a:lnTo>
                  <a:lnTo>
                    <a:pt x="35234" y="160716"/>
                  </a:lnTo>
                  <a:lnTo>
                    <a:pt x="1208" y="126690"/>
                  </a:lnTo>
                  <a:lnTo>
                    <a:pt x="0" y="120615"/>
                  </a:lnTo>
                  <a:lnTo>
                    <a:pt x="0" y="114299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1092165" y="0"/>
                  </a:lnTo>
                  <a:lnTo>
                    <a:pt x="1127432" y="23564"/>
                  </a:lnTo>
                  <a:lnTo>
                    <a:pt x="1133474" y="41309"/>
                  </a:lnTo>
                  <a:lnTo>
                    <a:pt x="1133474" y="120615"/>
                  </a:lnTo>
                  <a:lnTo>
                    <a:pt x="1109909" y="155882"/>
                  </a:lnTo>
                  <a:lnTo>
                    <a:pt x="1098240" y="160716"/>
                  </a:lnTo>
                  <a:lnTo>
                    <a:pt x="1092165" y="16192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47762" y="1862137"/>
              <a:ext cx="2657475" cy="190500"/>
            </a:xfrm>
            <a:custGeom>
              <a:avLst/>
              <a:gdLst/>
              <a:ahLst/>
              <a:cxnLst/>
              <a:rect l="l" t="t" r="r" b="b"/>
              <a:pathLst>
                <a:path w="2657475" h="190500">
                  <a:moveTo>
                    <a:pt x="2620296" y="190499"/>
                  </a:moveTo>
                  <a:lnTo>
                    <a:pt x="37178" y="190499"/>
                  </a:lnTo>
                  <a:lnTo>
                    <a:pt x="31710" y="189412"/>
                  </a:lnTo>
                  <a:lnTo>
                    <a:pt x="1087" y="158788"/>
                  </a:lnTo>
                  <a:lnTo>
                    <a:pt x="0" y="153321"/>
                  </a:lnTo>
                  <a:lnTo>
                    <a:pt x="0" y="147637"/>
                  </a:lnTo>
                  <a:lnTo>
                    <a:pt x="0" y="37178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2620296" y="0"/>
                  </a:lnTo>
                  <a:lnTo>
                    <a:pt x="2652036" y="21208"/>
                  </a:lnTo>
                  <a:lnTo>
                    <a:pt x="2657474" y="37178"/>
                  </a:lnTo>
                  <a:lnTo>
                    <a:pt x="2657474" y="153321"/>
                  </a:lnTo>
                  <a:lnTo>
                    <a:pt x="2636266" y="185061"/>
                  </a:lnTo>
                  <a:lnTo>
                    <a:pt x="2625763" y="189412"/>
                  </a:lnTo>
                  <a:lnTo>
                    <a:pt x="2620296" y="19049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47762" y="1862137"/>
              <a:ext cx="2657475" cy="190500"/>
            </a:xfrm>
            <a:custGeom>
              <a:avLst/>
              <a:gdLst/>
              <a:ahLst/>
              <a:cxnLst/>
              <a:rect l="l" t="t" r="r" b="b"/>
              <a:pathLst>
                <a:path w="2657475" h="190500">
                  <a:moveTo>
                    <a:pt x="0" y="147637"/>
                  </a:moveTo>
                  <a:lnTo>
                    <a:pt x="0" y="42862"/>
                  </a:lnTo>
                  <a:lnTo>
                    <a:pt x="0" y="37178"/>
                  </a:lnTo>
                  <a:lnTo>
                    <a:pt x="1087" y="31710"/>
                  </a:lnTo>
                  <a:lnTo>
                    <a:pt x="3262" y="26459"/>
                  </a:lnTo>
                  <a:lnTo>
                    <a:pt x="5437" y="21208"/>
                  </a:lnTo>
                  <a:lnTo>
                    <a:pt x="8534" y="16573"/>
                  </a:lnTo>
                  <a:lnTo>
                    <a:pt x="12554" y="12554"/>
                  </a:lnTo>
                  <a:lnTo>
                    <a:pt x="16573" y="8534"/>
                  </a:lnTo>
                  <a:lnTo>
                    <a:pt x="21208" y="5437"/>
                  </a:lnTo>
                  <a:lnTo>
                    <a:pt x="26459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2" y="0"/>
                  </a:lnTo>
                  <a:lnTo>
                    <a:pt x="2614612" y="0"/>
                  </a:lnTo>
                  <a:lnTo>
                    <a:pt x="2620296" y="0"/>
                  </a:lnTo>
                  <a:lnTo>
                    <a:pt x="2625763" y="1087"/>
                  </a:lnTo>
                  <a:lnTo>
                    <a:pt x="2631014" y="3262"/>
                  </a:lnTo>
                  <a:lnTo>
                    <a:pt x="2636266" y="5437"/>
                  </a:lnTo>
                  <a:lnTo>
                    <a:pt x="2640901" y="8534"/>
                  </a:lnTo>
                  <a:lnTo>
                    <a:pt x="2644920" y="12554"/>
                  </a:lnTo>
                  <a:lnTo>
                    <a:pt x="2648939" y="16573"/>
                  </a:lnTo>
                  <a:lnTo>
                    <a:pt x="2652036" y="21208"/>
                  </a:lnTo>
                  <a:lnTo>
                    <a:pt x="2654211" y="26459"/>
                  </a:lnTo>
                  <a:lnTo>
                    <a:pt x="2656386" y="31710"/>
                  </a:lnTo>
                  <a:lnTo>
                    <a:pt x="2657474" y="37178"/>
                  </a:lnTo>
                  <a:lnTo>
                    <a:pt x="2657474" y="42862"/>
                  </a:lnTo>
                  <a:lnTo>
                    <a:pt x="2657474" y="147637"/>
                  </a:lnTo>
                  <a:lnTo>
                    <a:pt x="2657474" y="153321"/>
                  </a:lnTo>
                  <a:lnTo>
                    <a:pt x="2656386" y="158788"/>
                  </a:lnTo>
                  <a:lnTo>
                    <a:pt x="2654211" y="164040"/>
                  </a:lnTo>
                  <a:lnTo>
                    <a:pt x="2652036" y="169291"/>
                  </a:lnTo>
                  <a:lnTo>
                    <a:pt x="2631014" y="187236"/>
                  </a:lnTo>
                  <a:lnTo>
                    <a:pt x="2625763" y="189412"/>
                  </a:lnTo>
                  <a:lnTo>
                    <a:pt x="2620296" y="190499"/>
                  </a:lnTo>
                  <a:lnTo>
                    <a:pt x="2614612" y="190499"/>
                  </a:lnTo>
                  <a:lnTo>
                    <a:pt x="42862" y="190499"/>
                  </a:lnTo>
                  <a:lnTo>
                    <a:pt x="37178" y="190499"/>
                  </a:lnTo>
                  <a:lnTo>
                    <a:pt x="31710" y="189412"/>
                  </a:lnTo>
                  <a:lnTo>
                    <a:pt x="26459" y="187236"/>
                  </a:lnTo>
                  <a:lnTo>
                    <a:pt x="21208" y="185061"/>
                  </a:lnTo>
                  <a:lnTo>
                    <a:pt x="3262" y="164040"/>
                  </a:lnTo>
                  <a:lnTo>
                    <a:pt x="1087" y="158788"/>
                  </a:lnTo>
                  <a:lnTo>
                    <a:pt x="0" y="153321"/>
                  </a:lnTo>
                  <a:lnTo>
                    <a:pt x="0" y="147637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196974" y="1677987"/>
            <a:ext cx="2484120" cy="3244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3703" sz="1125" b="1">
                <a:solidFill>
                  <a:srgbClr val="FF6A5B"/>
                </a:solidFill>
                <a:latin typeface="Courier New"/>
                <a:cs typeface="Courier New"/>
              </a:rPr>
              <a:t>pd.read_csv(path)</a:t>
            </a:r>
            <a:r>
              <a:rPr dirty="0" baseline="3703" sz="1125" spc="300" b="1">
                <a:solidFill>
                  <a:srgbClr val="FF6A5B"/>
                </a:solidFill>
                <a:latin typeface="Courier New"/>
                <a:cs typeface="Courier New"/>
              </a:rPr>
              <a:t>  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Load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5">
                <a:solidFill>
                  <a:srgbClr val="4A4E6A"/>
                </a:solidFill>
                <a:latin typeface="Trebuchet MS"/>
                <a:cs typeface="Trebuchet MS"/>
              </a:rPr>
              <a:t>CSV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50">
                <a:solidFill>
                  <a:srgbClr val="4A4E6A"/>
                </a:solidFill>
                <a:latin typeface="Trebuchet MS"/>
                <a:cs typeface="Trebuchet MS"/>
              </a:rPr>
              <a:t>file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into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0">
                <a:solidFill>
                  <a:srgbClr val="4A4E6A"/>
                </a:solidFill>
                <a:latin typeface="Trebuchet MS"/>
                <a:cs typeface="Trebuchet MS"/>
              </a:rPr>
              <a:t>DataFrame.</a:t>
            </a:r>
            <a:endParaRPr sz="75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  <a:spcBef>
                <a:spcPts val="575"/>
              </a:spcBef>
            </a:pPr>
            <a:r>
              <a:rPr dirty="0" sz="70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00" spc="-15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pd.</a:t>
            </a:r>
            <a:r>
              <a:rPr dirty="0" sz="700" spc="-10">
                <a:solidFill>
                  <a:srgbClr val="FFD580"/>
                </a:solidFill>
                <a:latin typeface="Courier New"/>
                <a:cs typeface="Courier New"/>
              </a:rPr>
              <a:t>read_csv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"students.csv"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53148" y="1457324"/>
            <a:ext cx="5353050" cy="828675"/>
            <a:chOff x="6153148" y="1457324"/>
            <a:chExt cx="5353050" cy="828675"/>
          </a:xfrm>
        </p:grpSpPr>
        <p:sp>
          <p:nvSpPr>
            <p:cNvPr id="17" name="object 17"/>
            <p:cNvSpPr/>
            <p:nvPr/>
          </p:nvSpPr>
          <p:spPr>
            <a:xfrm>
              <a:off x="6157911" y="1462087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5258978" y="819149"/>
                  </a:moveTo>
                  <a:lnTo>
                    <a:pt x="84545" y="819149"/>
                  </a:lnTo>
                  <a:lnTo>
                    <a:pt x="78661" y="818570"/>
                  </a:lnTo>
                  <a:lnTo>
                    <a:pt x="35275" y="800598"/>
                  </a:lnTo>
                  <a:lnTo>
                    <a:pt x="9161" y="768779"/>
                  </a:lnTo>
                  <a:lnTo>
                    <a:pt x="0" y="734603"/>
                  </a:lnTo>
                  <a:lnTo>
                    <a:pt x="0" y="728662"/>
                  </a:lnTo>
                  <a:lnTo>
                    <a:pt x="0" y="84545"/>
                  </a:lnTo>
                  <a:lnTo>
                    <a:pt x="11949" y="45155"/>
                  </a:lnTo>
                  <a:lnTo>
                    <a:pt x="45154" y="11948"/>
                  </a:lnTo>
                  <a:lnTo>
                    <a:pt x="84545" y="0"/>
                  </a:lnTo>
                  <a:lnTo>
                    <a:pt x="5258978" y="0"/>
                  </a:lnTo>
                  <a:lnTo>
                    <a:pt x="5298368" y="11948"/>
                  </a:lnTo>
                  <a:lnTo>
                    <a:pt x="5331575" y="45155"/>
                  </a:lnTo>
                  <a:lnTo>
                    <a:pt x="5343524" y="84545"/>
                  </a:lnTo>
                  <a:lnTo>
                    <a:pt x="5343524" y="734603"/>
                  </a:lnTo>
                  <a:lnTo>
                    <a:pt x="5331575" y="773993"/>
                  </a:lnTo>
                  <a:lnTo>
                    <a:pt x="5298368" y="807200"/>
                  </a:lnTo>
                  <a:lnTo>
                    <a:pt x="5264862" y="818570"/>
                  </a:lnTo>
                  <a:lnTo>
                    <a:pt x="5258978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57911" y="1462087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8" y="67006"/>
                  </a:lnTo>
                  <a:lnTo>
                    <a:pt x="4614" y="61348"/>
                  </a:lnTo>
                  <a:lnTo>
                    <a:pt x="26503" y="26503"/>
                  </a:lnTo>
                  <a:lnTo>
                    <a:pt x="30705" y="22301"/>
                  </a:lnTo>
                  <a:lnTo>
                    <a:pt x="35275" y="18550"/>
                  </a:lnTo>
                  <a:lnTo>
                    <a:pt x="40214" y="15249"/>
                  </a:lnTo>
                  <a:lnTo>
                    <a:pt x="45154" y="11948"/>
                  </a:lnTo>
                  <a:lnTo>
                    <a:pt x="50369" y="9161"/>
                  </a:lnTo>
                  <a:lnTo>
                    <a:pt x="55859" y="6887"/>
                  </a:lnTo>
                  <a:lnTo>
                    <a:pt x="61348" y="4614"/>
                  </a:lnTo>
                  <a:lnTo>
                    <a:pt x="67006" y="2897"/>
                  </a:lnTo>
                  <a:lnTo>
                    <a:pt x="72833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5253037" y="0"/>
                  </a:lnTo>
                  <a:lnTo>
                    <a:pt x="5258978" y="0"/>
                  </a:lnTo>
                  <a:lnTo>
                    <a:pt x="5264862" y="579"/>
                  </a:lnTo>
                  <a:lnTo>
                    <a:pt x="5270690" y="1738"/>
                  </a:lnTo>
                  <a:lnTo>
                    <a:pt x="5276517" y="2897"/>
                  </a:lnTo>
                  <a:lnTo>
                    <a:pt x="5303308" y="15249"/>
                  </a:lnTo>
                  <a:lnTo>
                    <a:pt x="5308249" y="18550"/>
                  </a:lnTo>
                  <a:lnTo>
                    <a:pt x="5334362" y="50369"/>
                  </a:lnTo>
                  <a:lnTo>
                    <a:pt x="5336636" y="55859"/>
                  </a:lnTo>
                  <a:lnTo>
                    <a:pt x="5338909" y="61348"/>
                  </a:lnTo>
                  <a:lnTo>
                    <a:pt x="5340626" y="67006"/>
                  </a:lnTo>
                  <a:lnTo>
                    <a:pt x="5341785" y="72833"/>
                  </a:lnTo>
                  <a:lnTo>
                    <a:pt x="5342944" y="78661"/>
                  </a:lnTo>
                  <a:lnTo>
                    <a:pt x="5343524" y="84545"/>
                  </a:lnTo>
                  <a:lnTo>
                    <a:pt x="5343525" y="90487"/>
                  </a:lnTo>
                  <a:lnTo>
                    <a:pt x="5343525" y="728662"/>
                  </a:lnTo>
                  <a:lnTo>
                    <a:pt x="5343524" y="734603"/>
                  </a:lnTo>
                  <a:lnTo>
                    <a:pt x="5342944" y="740488"/>
                  </a:lnTo>
                  <a:lnTo>
                    <a:pt x="5341785" y="746315"/>
                  </a:lnTo>
                  <a:lnTo>
                    <a:pt x="5340626" y="752142"/>
                  </a:lnTo>
                  <a:lnTo>
                    <a:pt x="5338909" y="757800"/>
                  </a:lnTo>
                  <a:lnTo>
                    <a:pt x="5336636" y="763290"/>
                  </a:lnTo>
                  <a:lnTo>
                    <a:pt x="5334362" y="768779"/>
                  </a:lnTo>
                  <a:lnTo>
                    <a:pt x="5308249" y="800598"/>
                  </a:lnTo>
                  <a:lnTo>
                    <a:pt x="5287664" y="812261"/>
                  </a:lnTo>
                  <a:lnTo>
                    <a:pt x="5282175" y="814535"/>
                  </a:lnTo>
                  <a:lnTo>
                    <a:pt x="5276517" y="816251"/>
                  </a:lnTo>
                  <a:lnTo>
                    <a:pt x="5270690" y="817411"/>
                  </a:lnTo>
                  <a:lnTo>
                    <a:pt x="5264862" y="818570"/>
                  </a:lnTo>
                  <a:lnTo>
                    <a:pt x="5258978" y="819149"/>
                  </a:lnTo>
                  <a:lnTo>
                    <a:pt x="5253037" y="819149"/>
                  </a:lnTo>
                  <a:lnTo>
                    <a:pt x="90488" y="819149"/>
                  </a:lnTo>
                  <a:lnTo>
                    <a:pt x="84545" y="819149"/>
                  </a:lnTo>
                  <a:lnTo>
                    <a:pt x="78661" y="818570"/>
                  </a:lnTo>
                  <a:lnTo>
                    <a:pt x="72833" y="817411"/>
                  </a:lnTo>
                  <a:lnTo>
                    <a:pt x="67006" y="816251"/>
                  </a:lnTo>
                  <a:lnTo>
                    <a:pt x="61348" y="814535"/>
                  </a:lnTo>
                  <a:lnTo>
                    <a:pt x="55859" y="812261"/>
                  </a:lnTo>
                  <a:lnTo>
                    <a:pt x="50369" y="809987"/>
                  </a:lnTo>
                  <a:lnTo>
                    <a:pt x="18550" y="783874"/>
                  </a:lnTo>
                  <a:lnTo>
                    <a:pt x="1738" y="746315"/>
                  </a:lnTo>
                  <a:lnTo>
                    <a:pt x="579" y="740488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6974" y="1752599"/>
              <a:ext cx="228599" cy="22859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323359" y="1778000"/>
            <a:ext cx="1339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0" b="1">
                <a:solidFill>
                  <a:srgbClr val="4A4E6A"/>
                </a:solidFill>
                <a:latin typeface="Tahoma"/>
                <a:cs typeface="Tahoma"/>
              </a:rPr>
              <a:t>02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610349" y="1676399"/>
            <a:ext cx="723900" cy="161925"/>
          </a:xfrm>
          <a:custGeom>
            <a:avLst/>
            <a:gdLst/>
            <a:ahLst/>
            <a:cxnLst/>
            <a:rect l="l" t="t" r="r" b="b"/>
            <a:pathLst>
              <a:path w="723900" h="161925">
                <a:moveTo>
                  <a:pt x="682590" y="161924"/>
                </a:moveTo>
                <a:lnTo>
                  <a:pt x="41309" y="161924"/>
                </a:lnTo>
                <a:lnTo>
                  <a:pt x="35233" y="160716"/>
                </a:lnTo>
                <a:lnTo>
                  <a:pt x="1208" y="126690"/>
                </a:lnTo>
                <a:lnTo>
                  <a:pt x="0" y="120615"/>
                </a:lnTo>
                <a:lnTo>
                  <a:pt x="0" y="114299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682590" y="0"/>
                </a:lnTo>
                <a:lnTo>
                  <a:pt x="717857" y="23564"/>
                </a:lnTo>
                <a:lnTo>
                  <a:pt x="723899" y="41309"/>
                </a:lnTo>
                <a:lnTo>
                  <a:pt x="723899" y="120615"/>
                </a:lnTo>
                <a:lnTo>
                  <a:pt x="700334" y="155882"/>
                </a:lnTo>
                <a:lnTo>
                  <a:pt x="688664" y="160716"/>
                </a:lnTo>
                <a:lnTo>
                  <a:pt x="682590" y="161924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664325" y="1668462"/>
            <a:ext cx="61658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 b="1">
                <a:solidFill>
                  <a:srgbClr val="FF6A5B"/>
                </a:solidFill>
                <a:latin typeface="Courier New"/>
                <a:cs typeface="Courier New"/>
              </a:rPr>
              <a:t>df.head(n)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97452" y="1677987"/>
            <a:ext cx="169735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First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4A4E6A"/>
                </a:solidFill>
                <a:latin typeface="Trebuchet MS"/>
                <a:cs typeface="Trebuchet MS"/>
              </a:rPr>
              <a:t>n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 rows.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Default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45">
                <a:solidFill>
                  <a:srgbClr val="4A4E6A"/>
                </a:solidFill>
                <a:latin typeface="Trebuchet MS"/>
                <a:cs typeface="Trebuchet MS"/>
              </a:rPr>
              <a:t>5.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 Quick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 sanity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4A4E6A"/>
                </a:solidFill>
                <a:latin typeface="Trebuchet MS"/>
                <a:cs typeface="Trebuchet MS"/>
              </a:rPr>
              <a:t>check.</a:t>
            </a:r>
            <a:endParaRPr sz="75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610349" y="1857374"/>
            <a:ext cx="2667000" cy="200025"/>
            <a:chOff x="6610349" y="1857374"/>
            <a:chExt cx="2667000" cy="200025"/>
          </a:xfrm>
        </p:grpSpPr>
        <p:sp>
          <p:nvSpPr>
            <p:cNvPr id="25" name="object 25"/>
            <p:cNvSpPr/>
            <p:nvPr/>
          </p:nvSpPr>
          <p:spPr>
            <a:xfrm>
              <a:off x="6615111" y="1862137"/>
              <a:ext cx="2657475" cy="190500"/>
            </a:xfrm>
            <a:custGeom>
              <a:avLst/>
              <a:gdLst/>
              <a:ahLst/>
              <a:cxnLst/>
              <a:rect l="l" t="t" r="r" b="b"/>
              <a:pathLst>
                <a:path w="2657475" h="190500">
                  <a:moveTo>
                    <a:pt x="2620296" y="190499"/>
                  </a:moveTo>
                  <a:lnTo>
                    <a:pt x="37178" y="190499"/>
                  </a:lnTo>
                  <a:lnTo>
                    <a:pt x="31710" y="189412"/>
                  </a:lnTo>
                  <a:lnTo>
                    <a:pt x="1087" y="158788"/>
                  </a:lnTo>
                  <a:lnTo>
                    <a:pt x="0" y="153321"/>
                  </a:lnTo>
                  <a:lnTo>
                    <a:pt x="0" y="147637"/>
                  </a:lnTo>
                  <a:lnTo>
                    <a:pt x="0" y="37178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2620296" y="0"/>
                  </a:lnTo>
                  <a:lnTo>
                    <a:pt x="2652036" y="21208"/>
                  </a:lnTo>
                  <a:lnTo>
                    <a:pt x="2657474" y="37178"/>
                  </a:lnTo>
                  <a:lnTo>
                    <a:pt x="2657474" y="153321"/>
                  </a:lnTo>
                  <a:lnTo>
                    <a:pt x="2636265" y="185061"/>
                  </a:lnTo>
                  <a:lnTo>
                    <a:pt x="2625763" y="189412"/>
                  </a:lnTo>
                  <a:lnTo>
                    <a:pt x="2620296" y="19049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615111" y="1862137"/>
              <a:ext cx="2657475" cy="190500"/>
            </a:xfrm>
            <a:custGeom>
              <a:avLst/>
              <a:gdLst/>
              <a:ahLst/>
              <a:cxnLst/>
              <a:rect l="l" t="t" r="r" b="b"/>
              <a:pathLst>
                <a:path w="2657475" h="190500">
                  <a:moveTo>
                    <a:pt x="0" y="147637"/>
                  </a:moveTo>
                  <a:lnTo>
                    <a:pt x="0" y="42862"/>
                  </a:lnTo>
                  <a:lnTo>
                    <a:pt x="0" y="37178"/>
                  </a:lnTo>
                  <a:lnTo>
                    <a:pt x="1087" y="31710"/>
                  </a:lnTo>
                  <a:lnTo>
                    <a:pt x="3262" y="26459"/>
                  </a:lnTo>
                  <a:lnTo>
                    <a:pt x="5438" y="21208"/>
                  </a:lnTo>
                  <a:lnTo>
                    <a:pt x="8535" y="16573"/>
                  </a:lnTo>
                  <a:lnTo>
                    <a:pt x="12554" y="12554"/>
                  </a:lnTo>
                  <a:lnTo>
                    <a:pt x="16573" y="8534"/>
                  </a:lnTo>
                  <a:lnTo>
                    <a:pt x="21208" y="5437"/>
                  </a:lnTo>
                  <a:lnTo>
                    <a:pt x="26459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3" y="0"/>
                  </a:lnTo>
                  <a:lnTo>
                    <a:pt x="2614612" y="0"/>
                  </a:lnTo>
                  <a:lnTo>
                    <a:pt x="2620296" y="0"/>
                  </a:lnTo>
                  <a:lnTo>
                    <a:pt x="2625763" y="1087"/>
                  </a:lnTo>
                  <a:lnTo>
                    <a:pt x="2631014" y="3262"/>
                  </a:lnTo>
                  <a:lnTo>
                    <a:pt x="2636265" y="5437"/>
                  </a:lnTo>
                  <a:lnTo>
                    <a:pt x="2654211" y="26459"/>
                  </a:lnTo>
                  <a:lnTo>
                    <a:pt x="2656387" y="31710"/>
                  </a:lnTo>
                  <a:lnTo>
                    <a:pt x="2657474" y="37178"/>
                  </a:lnTo>
                  <a:lnTo>
                    <a:pt x="2657475" y="42862"/>
                  </a:lnTo>
                  <a:lnTo>
                    <a:pt x="2657475" y="147637"/>
                  </a:lnTo>
                  <a:lnTo>
                    <a:pt x="2657474" y="153321"/>
                  </a:lnTo>
                  <a:lnTo>
                    <a:pt x="2656387" y="158788"/>
                  </a:lnTo>
                  <a:lnTo>
                    <a:pt x="2654211" y="164040"/>
                  </a:lnTo>
                  <a:lnTo>
                    <a:pt x="2652036" y="169291"/>
                  </a:lnTo>
                  <a:lnTo>
                    <a:pt x="2631014" y="187236"/>
                  </a:lnTo>
                  <a:lnTo>
                    <a:pt x="2625763" y="189412"/>
                  </a:lnTo>
                  <a:lnTo>
                    <a:pt x="2620296" y="190499"/>
                  </a:lnTo>
                  <a:lnTo>
                    <a:pt x="2614612" y="190499"/>
                  </a:lnTo>
                  <a:lnTo>
                    <a:pt x="42863" y="190499"/>
                  </a:lnTo>
                  <a:lnTo>
                    <a:pt x="37178" y="190499"/>
                  </a:lnTo>
                  <a:lnTo>
                    <a:pt x="31710" y="189412"/>
                  </a:lnTo>
                  <a:lnTo>
                    <a:pt x="26459" y="187236"/>
                  </a:lnTo>
                  <a:lnTo>
                    <a:pt x="21208" y="185061"/>
                  </a:lnTo>
                  <a:lnTo>
                    <a:pt x="0" y="153321"/>
                  </a:lnTo>
                  <a:lnTo>
                    <a:pt x="0" y="147637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683375" y="1868487"/>
            <a:ext cx="61531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700" spc="-10">
                <a:solidFill>
                  <a:srgbClr val="FFD580"/>
                </a:solidFill>
                <a:latin typeface="Courier New"/>
                <a:cs typeface="Courier New"/>
              </a:rPr>
              <a:t>head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solidFill>
                  <a:srgbClr val="FFD580"/>
                </a:solidFill>
                <a:latin typeface="Courier New"/>
                <a:cs typeface="Courier New"/>
              </a:rPr>
              <a:t>10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85799" y="2371724"/>
            <a:ext cx="5353050" cy="819150"/>
            <a:chOff x="685799" y="2371724"/>
            <a:chExt cx="5353050" cy="819150"/>
          </a:xfrm>
        </p:grpSpPr>
        <p:sp>
          <p:nvSpPr>
            <p:cNvPr id="29" name="object 29"/>
            <p:cNvSpPr/>
            <p:nvPr/>
          </p:nvSpPr>
          <p:spPr>
            <a:xfrm>
              <a:off x="690562" y="2376487"/>
              <a:ext cx="5343525" cy="809625"/>
            </a:xfrm>
            <a:custGeom>
              <a:avLst/>
              <a:gdLst/>
              <a:ahLst/>
              <a:cxnLst/>
              <a:rect l="l" t="t" r="r" b="b"/>
              <a:pathLst>
                <a:path w="5343525" h="809625">
                  <a:moveTo>
                    <a:pt x="5258978" y="809624"/>
                  </a:moveTo>
                  <a:lnTo>
                    <a:pt x="84545" y="809624"/>
                  </a:lnTo>
                  <a:lnTo>
                    <a:pt x="78661" y="809045"/>
                  </a:lnTo>
                  <a:lnTo>
                    <a:pt x="35275" y="791073"/>
                  </a:lnTo>
                  <a:lnTo>
                    <a:pt x="9161" y="759254"/>
                  </a:lnTo>
                  <a:lnTo>
                    <a:pt x="0" y="725078"/>
                  </a:lnTo>
                  <a:lnTo>
                    <a:pt x="0" y="719137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258978" y="0"/>
                  </a:lnTo>
                  <a:lnTo>
                    <a:pt x="5298368" y="11948"/>
                  </a:lnTo>
                  <a:lnTo>
                    <a:pt x="5331574" y="45155"/>
                  </a:lnTo>
                  <a:lnTo>
                    <a:pt x="5343524" y="84545"/>
                  </a:lnTo>
                  <a:lnTo>
                    <a:pt x="5343524" y="725078"/>
                  </a:lnTo>
                  <a:lnTo>
                    <a:pt x="5331574" y="764469"/>
                  </a:lnTo>
                  <a:lnTo>
                    <a:pt x="5298368" y="797675"/>
                  </a:lnTo>
                  <a:lnTo>
                    <a:pt x="5264862" y="809045"/>
                  </a:lnTo>
                  <a:lnTo>
                    <a:pt x="5258978" y="8096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90562" y="2376487"/>
              <a:ext cx="5343525" cy="809625"/>
            </a:xfrm>
            <a:custGeom>
              <a:avLst/>
              <a:gdLst/>
              <a:ahLst/>
              <a:cxnLst/>
              <a:rect l="l" t="t" r="r" b="b"/>
              <a:pathLst>
                <a:path w="5343525" h="809625">
                  <a:moveTo>
                    <a:pt x="0" y="7191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49" y="40215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5253037" y="0"/>
                  </a:lnTo>
                  <a:lnTo>
                    <a:pt x="5258978" y="0"/>
                  </a:lnTo>
                  <a:lnTo>
                    <a:pt x="5264862" y="579"/>
                  </a:lnTo>
                  <a:lnTo>
                    <a:pt x="5270689" y="1738"/>
                  </a:lnTo>
                  <a:lnTo>
                    <a:pt x="5276517" y="2897"/>
                  </a:lnTo>
                  <a:lnTo>
                    <a:pt x="5312819" y="22301"/>
                  </a:lnTo>
                  <a:lnTo>
                    <a:pt x="5336635" y="55859"/>
                  </a:lnTo>
                  <a:lnTo>
                    <a:pt x="5341785" y="72834"/>
                  </a:lnTo>
                  <a:lnTo>
                    <a:pt x="5342944" y="78661"/>
                  </a:lnTo>
                  <a:lnTo>
                    <a:pt x="5343524" y="84545"/>
                  </a:lnTo>
                  <a:lnTo>
                    <a:pt x="5343524" y="90487"/>
                  </a:lnTo>
                  <a:lnTo>
                    <a:pt x="5343524" y="719137"/>
                  </a:lnTo>
                  <a:lnTo>
                    <a:pt x="5343524" y="725078"/>
                  </a:lnTo>
                  <a:lnTo>
                    <a:pt x="5342944" y="730963"/>
                  </a:lnTo>
                  <a:lnTo>
                    <a:pt x="5341785" y="736790"/>
                  </a:lnTo>
                  <a:lnTo>
                    <a:pt x="5340625" y="742617"/>
                  </a:lnTo>
                  <a:lnTo>
                    <a:pt x="5338909" y="748276"/>
                  </a:lnTo>
                  <a:lnTo>
                    <a:pt x="5336635" y="753765"/>
                  </a:lnTo>
                  <a:lnTo>
                    <a:pt x="5334361" y="759254"/>
                  </a:lnTo>
                  <a:lnTo>
                    <a:pt x="5308248" y="791073"/>
                  </a:lnTo>
                  <a:lnTo>
                    <a:pt x="5287664" y="802736"/>
                  </a:lnTo>
                  <a:lnTo>
                    <a:pt x="5282175" y="805010"/>
                  </a:lnTo>
                  <a:lnTo>
                    <a:pt x="5253037" y="809624"/>
                  </a:lnTo>
                  <a:lnTo>
                    <a:pt x="90487" y="809624"/>
                  </a:lnTo>
                  <a:lnTo>
                    <a:pt x="55859" y="802736"/>
                  </a:lnTo>
                  <a:lnTo>
                    <a:pt x="50370" y="800462"/>
                  </a:lnTo>
                  <a:lnTo>
                    <a:pt x="18550" y="774349"/>
                  </a:lnTo>
                  <a:lnTo>
                    <a:pt x="15249" y="769409"/>
                  </a:lnTo>
                  <a:lnTo>
                    <a:pt x="11948" y="764469"/>
                  </a:lnTo>
                  <a:lnTo>
                    <a:pt x="9161" y="759254"/>
                  </a:lnTo>
                  <a:lnTo>
                    <a:pt x="6887" y="753765"/>
                  </a:lnTo>
                  <a:lnTo>
                    <a:pt x="4614" y="748276"/>
                  </a:lnTo>
                  <a:lnTo>
                    <a:pt x="2897" y="742617"/>
                  </a:lnTo>
                  <a:lnTo>
                    <a:pt x="1738" y="736790"/>
                  </a:lnTo>
                  <a:lnTo>
                    <a:pt x="579" y="730963"/>
                  </a:lnTo>
                  <a:lnTo>
                    <a:pt x="0" y="725078"/>
                  </a:lnTo>
                  <a:lnTo>
                    <a:pt x="0" y="7191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624" y="2666999"/>
              <a:ext cx="228600" cy="22859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856009" y="2692400"/>
            <a:ext cx="1339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0" b="1">
                <a:solidFill>
                  <a:srgbClr val="4A4E6A"/>
                </a:solidFill>
                <a:latin typeface="Tahoma"/>
                <a:cs typeface="Tahoma"/>
              </a:rPr>
              <a:t>03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42999" y="2590799"/>
            <a:ext cx="666750" cy="161925"/>
          </a:xfrm>
          <a:custGeom>
            <a:avLst/>
            <a:gdLst/>
            <a:ahLst/>
            <a:cxnLst/>
            <a:rect l="l" t="t" r="r" b="b"/>
            <a:pathLst>
              <a:path w="666750" h="161925">
                <a:moveTo>
                  <a:pt x="625440" y="161924"/>
                </a:moveTo>
                <a:lnTo>
                  <a:pt x="41309" y="161924"/>
                </a:lnTo>
                <a:lnTo>
                  <a:pt x="35234" y="160716"/>
                </a:lnTo>
                <a:lnTo>
                  <a:pt x="1208" y="126690"/>
                </a:lnTo>
                <a:lnTo>
                  <a:pt x="0" y="120614"/>
                </a:lnTo>
                <a:lnTo>
                  <a:pt x="0" y="114299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625440" y="0"/>
                </a:lnTo>
                <a:lnTo>
                  <a:pt x="660707" y="23564"/>
                </a:lnTo>
                <a:lnTo>
                  <a:pt x="666749" y="41309"/>
                </a:lnTo>
                <a:lnTo>
                  <a:pt x="666749" y="120614"/>
                </a:lnTo>
                <a:lnTo>
                  <a:pt x="643184" y="155882"/>
                </a:lnTo>
                <a:lnTo>
                  <a:pt x="631515" y="160716"/>
                </a:lnTo>
                <a:lnTo>
                  <a:pt x="625440" y="161924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196974" y="2582862"/>
            <a:ext cx="55816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 b="1">
                <a:solidFill>
                  <a:srgbClr val="FF6A5B"/>
                </a:solidFill>
                <a:latin typeface="Courier New"/>
                <a:cs typeface="Courier New"/>
              </a:rPr>
              <a:t>df.info()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71017" y="2592387"/>
            <a:ext cx="2186305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Structure</a:t>
            </a:r>
            <a:r>
              <a:rPr dirty="0" sz="7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summary.</a:t>
            </a:r>
            <a:r>
              <a:rPr dirty="0" sz="75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Columns,</a:t>
            </a:r>
            <a:r>
              <a:rPr dirty="0" sz="7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dtypes,</a:t>
            </a:r>
            <a:r>
              <a:rPr dirty="0" sz="75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5">
                <a:solidFill>
                  <a:srgbClr val="4A4E6A"/>
                </a:solidFill>
                <a:latin typeface="Trebuchet MS"/>
                <a:cs typeface="Trebuchet MS"/>
              </a:rPr>
              <a:t>non-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null</a:t>
            </a:r>
            <a:r>
              <a:rPr dirty="0" sz="7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4A4E6A"/>
                </a:solidFill>
                <a:latin typeface="Trebuchet MS"/>
                <a:cs typeface="Trebuchet MS"/>
              </a:rPr>
              <a:t>counts.</a:t>
            </a:r>
            <a:endParaRPr sz="75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142999" y="2771774"/>
            <a:ext cx="2667000" cy="200025"/>
            <a:chOff x="1142999" y="2771774"/>
            <a:chExt cx="2667000" cy="200025"/>
          </a:xfrm>
        </p:grpSpPr>
        <p:sp>
          <p:nvSpPr>
            <p:cNvPr id="37" name="object 37"/>
            <p:cNvSpPr/>
            <p:nvPr/>
          </p:nvSpPr>
          <p:spPr>
            <a:xfrm>
              <a:off x="1147762" y="2776537"/>
              <a:ext cx="2657475" cy="190500"/>
            </a:xfrm>
            <a:custGeom>
              <a:avLst/>
              <a:gdLst/>
              <a:ahLst/>
              <a:cxnLst/>
              <a:rect l="l" t="t" r="r" b="b"/>
              <a:pathLst>
                <a:path w="2657475" h="190500">
                  <a:moveTo>
                    <a:pt x="2620296" y="190499"/>
                  </a:moveTo>
                  <a:lnTo>
                    <a:pt x="37178" y="190499"/>
                  </a:lnTo>
                  <a:lnTo>
                    <a:pt x="31710" y="189412"/>
                  </a:lnTo>
                  <a:lnTo>
                    <a:pt x="1087" y="158788"/>
                  </a:lnTo>
                  <a:lnTo>
                    <a:pt x="0" y="153321"/>
                  </a:lnTo>
                  <a:lnTo>
                    <a:pt x="0" y="147637"/>
                  </a:lnTo>
                  <a:lnTo>
                    <a:pt x="0" y="37178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2620296" y="0"/>
                  </a:lnTo>
                  <a:lnTo>
                    <a:pt x="2652036" y="21208"/>
                  </a:lnTo>
                  <a:lnTo>
                    <a:pt x="2657474" y="37178"/>
                  </a:lnTo>
                  <a:lnTo>
                    <a:pt x="2657474" y="153321"/>
                  </a:lnTo>
                  <a:lnTo>
                    <a:pt x="2636266" y="185061"/>
                  </a:lnTo>
                  <a:lnTo>
                    <a:pt x="2625763" y="189412"/>
                  </a:lnTo>
                  <a:lnTo>
                    <a:pt x="2620296" y="19049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147762" y="2776537"/>
              <a:ext cx="2657475" cy="190500"/>
            </a:xfrm>
            <a:custGeom>
              <a:avLst/>
              <a:gdLst/>
              <a:ahLst/>
              <a:cxnLst/>
              <a:rect l="l" t="t" r="r" b="b"/>
              <a:pathLst>
                <a:path w="2657475" h="190500">
                  <a:moveTo>
                    <a:pt x="0" y="147637"/>
                  </a:moveTo>
                  <a:lnTo>
                    <a:pt x="0" y="42862"/>
                  </a:lnTo>
                  <a:lnTo>
                    <a:pt x="0" y="37178"/>
                  </a:lnTo>
                  <a:lnTo>
                    <a:pt x="1087" y="31710"/>
                  </a:lnTo>
                  <a:lnTo>
                    <a:pt x="3262" y="26459"/>
                  </a:lnTo>
                  <a:lnTo>
                    <a:pt x="5437" y="21208"/>
                  </a:lnTo>
                  <a:lnTo>
                    <a:pt x="8534" y="16573"/>
                  </a:lnTo>
                  <a:lnTo>
                    <a:pt x="12554" y="12554"/>
                  </a:lnTo>
                  <a:lnTo>
                    <a:pt x="16573" y="8534"/>
                  </a:lnTo>
                  <a:lnTo>
                    <a:pt x="21208" y="5437"/>
                  </a:lnTo>
                  <a:lnTo>
                    <a:pt x="26459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2" y="0"/>
                  </a:lnTo>
                  <a:lnTo>
                    <a:pt x="2614612" y="0"/>
                  </a:lnTo>
                  <a:lnTo>
                    <a:pt x="2620296" y="0"/>
                  </a:lnTo>
                  <a:lnTo>
                    <a:pt x="2625763" y="1087"/>
                  </a:lnTo>
                  <a:lnTo>
                    <a:pt x="2631014" y="3262"/>
                  </a:lnTo>
                  <a:lnTo>
                    <a:pt x="2636266" y="5437"/>
                  </a:lnTo>
                  <a:lnTo>
                    <a:pt x="2640901" y="8534"/>
                  </a:lnTo>
                  <a:lnTo>
                    <a:pt x="2657474" y="42862"/>
                  </a:lnTo>
                  <a:lnTo>
                    <a:pt x="2657474" y="147637"/>
                  </a:lnTo>
                  <a:lnTo>
                    <a:pt x="2640901" y="181964"/>
                  </a:lnTo>
                  <a:lnTo>
                    <a:pt x="2631014" y="187237"/>
                  </a:lnTo>
                  <a:lnTo>
                    <a:pt x="2625763" y="189412"/>
                  </a:lnTo>
                  <a:lnTo>
                    <a:pt x="2620296" y="190499"/>
                  </a:lnTo>
                  <a:lnTo>
                    <a:pt x="2614612" y="190499"/>
                  </a:lnTo>
                  <a:lnTo>
                    <a:pt x="42862" y="190499"/>
                  </a:lnTo>
                  <a:lnTo>
                    <a:pt x="8534" y="173926"/>
                  </a:lnTo>
                  <a:lnTo>
                    <a:pt x="3262" y="164040"/>
                  </a:lnTo>
                  <a:lnTo>
                    <a:pt x="1087" y="158788"/>
                  </a:lnTo>
                  <a:lnTo>
                    <a:pt x="0" y="153321"/>
                  </a:lnTo>
                  <a:lnTo>
                    <a:pt x="0" y="147637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1216024" y="2782887"/>
            <a:ext cx="50800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700" spc="-10">
                <a:solidFill>
                  <a:srgbClr val="FFD580"/>
                </a:solidFill>
                <a:latin typeface="Courier New"/>
                <a:cs typeface="Courier New"/>
              </a:rPr>
              <a:t>info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()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153148" y="2371724"/>
            <a:ext cx="5353050" cy="819150"/>
            <a:chOff x="6153148" y="2371724"/>
            <a:chExt cx="5353050" cy="819150"/>
          </a:xfrm>
        </p:grpSpPr>
        <p:sp>
          <p:nvSpPr>
            <p:cNvPr id="41" name="object 41"/>
            <p:cNvSpPr/>
            <p:nvPr/>
          </p:nvSpPr>
          <p:spPr>
            <a:xfrm>
              <a:off x="6157911" y="2376487"/>
              <a:ext cx="5343525" cy="809625"/>
            </a:xfrm>
            <a:custGeom>
              <a:avLst/>
              <a:gdLst/>
              <a:ahLst/>
              <a:cxnLst/>
              <a:rect l="l" t="t" r="r" b="b"/>
              <a:pathLst>
                <a:path w="5343525" h="809625">
                  <a:moveTo>
                    <a:pt x="5258978" y="809624"/>
                  </a:moveTo>
                  <a:lnTo>
                    <a:pt x="84545" y="809624"/>
                  </a:lnTo>
                  <a:lnTo>
                    <a:pt x="78661" y="809045"/>
                  </a:lnTo>
                  <a:lnTo>
                    <a:pt x="35275" y="791073"/>
                  </a:lnTo>
                  <a:lnTo>
                    <a:pt x="9161" y="759254"/>
                  </a:lnTo>
                  <a:lnTo>
                    <a:pt x="0" y="725078"/>
                  </a:lnTo>
                  <a:lnTo>
                    <a:pt x="0" y="719137"/>
                  </a:lnTo>
                  <a:lnTo>
                    <a:pt x="0" y="84545"/>
                  </a:lnTo>
                  <a:lnTo>
                    <a:pt x="11949" y="45155"/>
                  </a:lnTo>
                  <a:lnTo>
                    <a:pt x="45154" y="11948"/>
                  </a:lnTo>
                  <a:lnTo>
                    <a:pt x="84545" y="0"/>
                  </a:lnTo>
                  <a:lnTo>
                    <a:pt x="5258978" y="0"/>
                  </a:lnTo>
                  <a:lnTo>
                    <a:pt x="5298368" y="11948"/>
                  </a:lnTo>
                  <a:lnTo>
                    <a:pt x="5331575" y="45155"/>
                  </a:lnTo>
                  <a:lnTo>
                    <a:pt x="5343524" y="84545"/>
                  </a:lnTo>
                  <a:lnTo>
                    <a:pt x="5343524" y="725078"/>
                  </a:lnTo>
                  <a:lnTo>
                    <a:pt x="5331575" y="764469"/>
                  </a:lnTo>
                  <a:lnTo>
                    <a:pt x="5298368" y="797675"/>
                  </a:lnTo>
                  <a:lnTo>
                    <a:pt x="5264862" y="809045"/>
                  </a:lnTo>
                  <a:lnTo>
                    <a:pt x="5258978" y="8096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157911" y="2376487"/>
              <a:ext cx="5343525" cy="809625"/>
            </a:xfrm>
            <a:custGeom>
              <a:avLst/>
              <a:gdLst/>
              <a:ahLst/>
              <a:cxnLst/>
              <a:rect l="l" t="t" r="r" b="b"/>
              <a:pathLst>
                <a:path w="5343525" h="809625">
                  <a:moveTo>
                    <a:pt x="0" y="7191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8" y="67006"/>
                  </a:lnTo>
                  <a:lnTo>
                    <a:pt x="4614" y="61348"/>
                  </a:lnTo>
                  <a:lnTo>
                    <a:pt x="26503" y="26503"/>
                  </a:lnTo>
                  <a:lnTo>
                    <a:pt x="30705" y="22301"/>
                  </a:lnTo>
                  <a:lnTo>
                    <a:pt x="55859" y="6887"/>
                  </a:lnTo>
                  <a:lnTo>
                    <a:pt x="61348" y="4614"/>
                  </a:lnTo>
                  <a:lnTo>
                    <a:pt x="67006" y="2897"/>
                  </a:lnTo>
                  <a:lnTo>
                    <a:pt x="72833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5253037" y="0"/>
                  </a:lnTo>
                  <a:lnTo>
                    <a:pt x="5258978" y="0"/>
                  </a:lnTo>
                  <a:lnTo>
                    <a:pt x="5264862" y="579"/>
                  </a:lnTo>
                  <a:lnTo>
                    <a:pt x="5270690" y="1738"/>
                  </a:lnTo>
                  <a:lnTo>
                    <a:pt x="5276517" y="2897"/>
                  </a:lnTo>
                  <a:lnTo>
                    <a:pt x="5312820" y="22301"/>
                  </a:lnTo>
                  <a:lnTo>
                    <a:pt x="5336636" y="55859"/>
                  </a:lnTo>
                  <a:lnTo>
                    <a:pt x="5341785" y="72834"/>
                  </a:lnTo>
                  <a:lnTo>
                    <a:pt x="5342944" y="78661"/>
                  </a:lnTo>
                  <a:lnTo>
                    <a:pt x="5343524" y="84545"/>
                  </a:lnTo>
                  <a:lnTo>
                    <a:pt x="5343525" y="90487"/>
                  </a:lnTo>
                  <a:lnTo>
                    <a:pt x="5343525" y="719137"/>
                  </a:lnTo>
                  <a:lnTo>
                    <a:pt x="5343524" y="725078"/>
                  </a:lnTo>
                  <a:lnTo>
                    <a:pt x="5342944" y="730963"/>
                  </a:lnTo>
                  <a:lnTo>
                    <a:pt x="5341785" y="736790"/>
                  </a:lnTo>
                  <a:lnTo>
                    <a:pt x="5340626" y="742617"/>
                  </a:lnTo>
                  <a:lnTo>
                    <a:pt x="5338909" y="748276"/>
                  </a:lnTo>
                  <a:lnTo>
                    <a:pt x="5336636" y="753765"/>
                  </a:lnTo>
                  <a:lnTo>
                    <a:pt x="5334362" y="759254"/>
                  </a:lnTo>
                  <a:lnTo>
                    <a:pt x="5308249" y="791073"/>
                  </a:lnTo>
                  <a:lnTo>
                    <a:pt x="5303308" y="794374"/>
                  </a:lnTo>
                  <a:lnTo>
                    <a:pt x="5298368" y="797675"/>
                  </a:lnTo>
                  <a:lnTo>
                    <a:pt x="5293153" y="800462"/>
                  </a:lnTo>
                  <a:lnTo>
                    <a:pt x="5287664" y="802736"/>
                  </a:lnTo>
                  <a:lnTo>
                    <a:pt x="5282175" y="805010"/>
                  </a:lnTo>
                  <a:lnTo>
                    <a:pt x="5253037" y="809624"/>
                  </a:lnTo>
                  <a:lnTo>
                    <a:pt x="90488" y="809624"/>
                  </a:lnTo>
                  <a:lnTo>
                    <a:pt x="55859" y="802736"/>
                  </a:lnTo>
                  <a:lnTo>
                    <a:pt x="50369" y="800462"/>
                  </a:lnTo>
                  <a:lnTo>
                    <a:pt x="26503" y="783121"/>
                  </a:lnTo>
                  <a:lnTo>
                    <a:pt x="22302" y="778920"/>
                  </a:lnTo>
                  <a:lnTo>
                    <a:pt x="6887" y="753765"/>
                  </a:lnTo>
                  <a:lnTo>
                    <a:pt x="4614" y="748276"/>
                  </a:lnTo>
                  <a:lnTo>
                    <a:pt x="2898" y="742617"/>
                  </a:lnTo>
                  <a:lnTo>
                    <a:pt x="1738" y="736790"/>
                  </a:lnTo>
                  <a:lnTo>
                    <a:pt x="579" y="730963"/>
                  </a:lnTo>
                  <a:lnTo>
                    <a:pt x="0" y="725078"/>
                  </a:lnTo>
                  <a:lnTo>
                    <a:pt x="0" y="719137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6974" y="2666999"/>
              <a:ext cx="228599" cy="228599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6323359" y="2692400"/>
            <a:ext cx="1339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0" b="1">
                <a:solidFill>
                  <a:srgbClr val="4A4E6A"/>
                </a:solidFill>
                <a:latin typeface="Tahoma"/>
                <a:cs typeface="Tahoma"/>
              </a:rPr>
              <a:t>04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610349" y="2590799"/>
            <a:ext cx="904875" cy="161925"/>
          </a:xfrm>
          <a:custGeom>
            <a:avLst/>
            <a:gdLst/>
            <a:ahLst/>
            <a:cxnLst/>
            <a:rect l="l" t="t" r="r" b="b"/>
            <a:pathLst>
              <a:path w="904875" h="161925">
                <a:moveTo>
                  <a:pt x="863565" y="161924"/>
                </a:moveTo>
                <a:lnTo>
                  <a:pt x="41309" y="161924"/>
                </a:lnTo>
                <a:lnTo>
                  <a:pt x="35233" y="160716"/>
                </a:lnTo>
                <a:lnTo>
                  <a:pt x="1208" y="126690"/>
                </a:lnTo>
                <a:lnTo>
                  <a:pt x="0" y="120614"/>
                </a:lnTo>
                <a:lnTo>
                  <a:pt x="0" y="114299"/>
                </a:lnTo>
                <a:lnTo>
                  <a:pt x="0" y="41309"/>
                </a:lnTo>
                <a:lnTo>
                  <a:pt x="23564" y="6041"/>
                </a:lnTo>
                <a:lnTo>
                  <a:pt x="41309" y="0"/>
                </a:lnTo>
                <a:lnTo>
                  <a:pt x="863565" y="0"/>
                </a:lnTo>
                <a:lnTo>
                  <a:pt x="898832" y="23564"/>
                </a:lnTo>
                <a:lnTo>
                  <a:pt x="904874" y="41309"/>
                </a:lnTo>
                <a:lnTo>
                  <a:pt x="904874" y="120614"/>
                </a:lnTo>
                <a:lnTo>
                  <a:pt x="881309" y="155882"/>
                </a:lnTo>
                <a:lnTo>
                  <a:pt x="869639" y="160716"/>
                </a:lnTo>
                <a:lnTo>
                  <a:pt x="863565" y="161924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6664325" y="2582862"/>
            <a:ext cx="79375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 b="1">
                <a:solidFill>
                  <a:srgbClr val="FF6A5B"/>
                </a:solidFill>
                <a:latin typeface="Courier New"/>
                <a:cs typeface="Courier New"/>
              </a:rPr>
              <a:t>df.describe()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574557" y="2592387"/>
            <a:ext cx="163830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50">
                <a:solidFill>
                  <a:srgbClr val="4A4E6A"/>
                </a:solidFill>
                <a:latin typeface="Trebuchet MS"/>
                <a:cs typeface="Trebuchet MS"/>
              </a:rPr>
              <a:t>Statistical</a:t>
            </a:r>
            <a:r>
              <a:rPr dirty="0" sz="750" spc="-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5">
                <a:solidFill>
                  <a:srgbClr val="4A4E6A"/>
                </a:solidFill>
                <a:latin typeface="Trebuchet MS"/>
                <a:cs typeface="Trebuchet MS"/>
              </a:rPr>
              <a:t>summary</a:t>
            </a:r>
            <a:r>
              <a:rPr dirty="0" sz="7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5">
                <a:solidFill>
                  <a:srgbClr val="4A4E6A"/>
                </a:solidFill>
                <a:latin typeface="Trebuchet MS"/>
                <a:cs typeface="Trebuchet MS"/>
              </a:rPr>
              <a:t>of</a:t>
            </a:r>
            <a:r>
              <a:rPr dirty="0" sz="7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numeric</a:t>
            </a:r>
            <a:r>
              <a:rPr dirty="0" sz="7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4A4E6A"/>
                </a:solidFill>
                <a:latin typeface="Trebuchet MS"/>
                <a:cs typeface="Trebuchet MS"/>
              </a:rPr>
              <a:t>columns.</a:t>
            </a:r>
            <a:endParaRPr sz="750">
              <a:latin typeface="Trebuchet MS"/>
              <a:cs typeface="Trebuchet MS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610349" y="2771774"/>
            <a:ext cx="2667000" cy="200025"/>
            <a:chOff x="6610349" y="2771774"/>
            <a:chExt cx="2667000" cy="200025"/>
          </a:xfrm>
        </p:grpSpPr>
        <p:sp>
          <p:nvSpPr>
            <p:cNvPr id="49" name="object 49"/>
            <p:cNvSpPr/>
            <p:nvPr/>
          </p:nvSpPr>
          <p:spPr>
            <a:xfrm>
              <a:off x="6615111" y="2776537"/>
              <a:ext cx="2657475" cy="190500"/>
            </a:xfrm>
            <a:custGeom>
              <a:avLst/>
              <a:gdLst/>
              <a:ahLst/>
              <a:cxnLst/>
              <a:rect l="l" t="t" r="r" b="b"/>
              <a:pathLst>
                <a:path w="2657475" h="190500">
                  <a:moveTo>
                    <a:pt x="2620296" y="190499"/>
                  </a:moveTo>
                  <a:lnTo>
                    <a:pt x="37178" y="190499"/>
                  </a:lnTo>
                  <a:lnTo>
                    <a:pt x="31710" y="189412"/>
                  </a:lnTo>
                  <a:lnTo>
                    <a:pt x="1087" y="158788"/>
                  </a:lnTo>
                  <a:lnTo>
                    <a:pt x="0" y="153321"/>
                  </a:lnTo>
                  <a:lnTo>
                    <a:pt x="0" y="147637"/>
                  </a:lnTo>
                  <a:lnTo>
                    <a:pt x="0" y="37178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2620296" y="0"/>
                  </a:lnTo>
                  <a:lnTo>
                    <a:pt x="2652036" y="21208"/>
                  </a:lnTo>
                  <a:lnTo>
                    <a:pt x="2657474" y="37178"/>
                  </a:lnTo>
                  <a:lnTo>
                    <a:pt x="2657474" y="153321"/>
                  </a:lnTo>
                  <a:lnTo>
                    <a:pt x="2636265" y="185061"/>
                  </a:lnTo>
                  <a:lnTo>
                    <a:pt x="2625763" y="189412"/>
                  </a:lnTo>
                  <a:lnTo>
                    <a:pt x="2620296" y="190499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615111" y="2776537"/>
              <a:ext cx="2657475" cy="190500"/>
            </a:xfrm>
            <a:custGeom>
              <a:avLst/>
              <a:gdLst/>
              <a:ahLst/>
              <a:cxnLst/>
              <a:rect l="l" t="t" r="r" b="b"/>
              <a:pathLst>
                <a:path w="2657475" h="190500">
                  <a:moveTo>
                    <a:pt x="0" y="147637"/>
                  </a:moveTo>
                  <a:lnTo>
                    <a:pt x="0" y="42862"/>
                  </a:lnTo>
                  <a:lnTo>
                    <a:pt x="0" y="37178"/>
                  </a:lnTo>
                  <a:lnTo>
                    <a:pt x="1087" y="31710"/>
                  </a:lnTo>
                  <a:lnTo>
                    <a:pt x="3262" y="26459"/>
                  </a:lnTo>
                  <a:lnTo>
                    <a:pt x="5438" y="21208"/>
                  </a:lnTo>
                  <a:lnTo>
                    <a:pt x="8535" y="16573"/>
                  </a:lnTo>
                  <a:lnTo>
                    <a:pt x="12554" y="12554"/>
                  </a:lnTo>
                  <a:lnTo>
                    <a:pt x="16573" y="8534"/>
                  </a:lnTo>
                  <a:lnTo>
                    <a:pt x="21208" y="5437"/>
                  </a:lnTo>
                  <a:lnTo>
                    <a:pt x="26459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3" y="0"/>
                  </a:lnTo>
                  <a:lnTo>
                    <a:pt x="2614612" y="0"/>
                  </a:lnTo>
                  <a:lnTo>
                    <a:pt x="2620296" y="0"/>
                  </a:lnTo>
                  <a:lnTo>
                    <a:pt x="2625763" y="1087"/>
                  </a:lnTo>
                  <a:lnTo>
                    <a:pt x="2631014" y="3262"/>
                  </a:lnTo>
                  <a:lnTo>
                    <a:pt x="2636265" y="5437"/>
                  </a:lnTo>
                  <a:lnTo>
                    <a:pt x="2654211" y="26459"/>
                  </a:lnTo>
                  <a:lnTo>
                    <a:pt x="2656387" y="31710"/>
                  </a:lnTo>
                  <a:lnTo>
                    <a:pt x="2657474" y="37178"/>
                  </a:lnTo>
                  <a:lnTo>
                    <a:pt x="2657475" y="42862"/>
                  </a:lnTo>
                  <a:lnTo>
                    <a:pt x="2657475" y="147637"/>
                  </a:lnTo>
                  <a:lnTo>
                    <a:pt x="2657474" y="153321"/>
                  </a:lnTo>
                  <a:lnTo>
                    <a:pt x="2656387" y="158788"/>
                  </a:lnTo>
                  <a:lnTo>
                    <a:pt x="2654211" y="164040"/>
                  </a:lnTo>
                  <a:lnTo>
                    <a:pt x="2652036" y="169291"/>
                  </a:lnTo>
                  <a:lnTo>
                    <a:pt x="2631014" y="187237"/>
                  </a:lnTo>
                  <a:lnTo>
                    <a:pt x="2625763" y="189412"/>
                  </a:lnTo>
                  <a:lnTo>
                    <a:pt x="2620296" y="190499"/>
                  </a:lnTo>
                  <a:lnTo>
                    <a:pt x="2614612" y="190499"/>
                  </a:lnTo>
                  <a:lnTo>
                    <a:pt x="42863" y="190499"/>
                  </a:lnTo>
                  <a:lnTo>
                    <a:pt x="37178" y="190499"/>
                  </a:lnTo>
                  <a:lnTo>
                    <a:pt x="31710" y="189412"/>
                  </a:lnTo>
                  <a:lnTo>
                    <a:pt x="26459" y="187237"/>
                  </a:lnTo>
                  <a:lnTo>
                    <a:pt x="21208" y="185061"/>
                  </a:lnTo>
                  <a:lnTo>
                    <a:pt x="0" y="153321"/>
                  </a:lnTo>
                  <a:lnTo>
                    <a:pt x="0" y="147637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6683375" y="2782887"/>
            <a:ext cx="72199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700" spc="-10">
                <a:solidFill>
                  <a:srgbClr val="FFD580"/>
                </a:solidFill>
                <a:latin typeface="Courier New"/>
                <a:cs typeface="Courier New"/>
              </a:rPr>
              <a:t>describe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()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85799" y="3276599"/>
            <a:ext cx="5353050" cy="828675"/>
            <a:chOff x="685799" y="3276599"/>
            <a:chExt cx="5353050" cy="828675"/>
          </a:xfrm>
        </p:grpSpPr>
        <p:sp>
          <p:nvSpPr>
            <p:cNvPr id="53" name="object 53"/>
            <p:cNvSpPr/>
            <p:nvPr/>
          </p:nvSpPr>
          <p:spPr>
            <a:xfrm>
              <a:off x="690562" y="3281362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5258978" y="819149"/>
                  </a:moveTo>
                  <a:lnTo>
                    <a:pt x="84545" y="819149"/>
                  </a:lnTo>
                  <a:lnTo>
                    <a:pt x="78661" y="818570"/>
                  </a:lnTo>
                  <a:lnTo>
                    <a:pt x="35275" y="800598"/>
                  </a:lnTo>
                  <a:lnTo>
                    <a:pt x="9161" y="768779"/>
                  </a:lnTo>
                  <a:lnTo>
                    <a:pt x="0" y="734603"/>
                  </a:lnTo>
                  <a:lnTo>
                    <a:pt x="0" y="72866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258978" y="0"/>
                  </a:lnTo>
                  <a:lnTo>
                    <a:pt x="5298368" y="11948"/>
                  </a:lnTo>
                  <a:lnTo>
                    <a:pt x="5331574" y="45154"/>
                  </a:lnTo>
                  <a:lnTo>
                    <a:pt x="5343524" y="84545"/>
                  </a:lnTo>
                  <a:lnTo>
                    <a:pt x="5343524" y="734603"/>
                  </a:lnTo>
                  <a:lnTo>
                    <a:pt x="5331574" y="773994"/>
                  </a:lnTo>
                  <a:lnTo>
                    <a:pt x="5298368" y="807200"/>
                  </a:lnTo>
                  <a:lnTo>
                    <a:pt x="5264862" y="818570"/>
                  </a:lnTo>
                  <a:lnTo>
                    <a:pt x="5258978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90562" y="3281362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49" y="40214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5253037" y="0"/>
                  </a:lnTo>
                  <a:lnTo>
                    <a:pt x="5258978" y="0"/>
                  </a:lnTo>
                  <a:lnTo>
                    <a:pt x="5264862" y="579"/>
                  </a:lnTo>
                  <a:lnTo>
                    <a:pt x="5270689" y="1738"/>
                  </a:lnTo>
                  <a:lnTo>
                    <a:pt x="5276517" y="2897"/>
                  </a:lnTo>
                  <a:lnTo>
                    <a:pt x="5282175" y="4614"/>
                  </a:lnTo>
                  <a:lnTo>
                    <a:pt x="5287664" y="6887"/>
                  </a:lnTo>
                  <a:lnTo>
                    <a:pt x="5293153" y="9161"/>
                  </a:lnTo>
                  <a:lnTo>
                    <a:pt x="5298368" y="11948"/>
                  </a:lnTo>
                  <a:lnTo>
                    <a:pt x="5303308" y="15249"/>
                  </a:lnTo>
                  <a:lnTo>
                    <a:pt x="5308248" y="18550"/>
                  </a:lnTo>
                  <a:lnTo>
                    <a:pt x="5334361" y="50369"/>
                  </a:lnTo>
                  <a:lnTo>
                    <a:pt x="5341785" y="72833"/>
                  </a:lnTo>
                  <a:lnTo>
                    <a:pt x="5342944" y="78661"/>
                  </a:lnTo>
                  <a:lnTo>
                    <a:pt x="5343524" y="84545"/>
                  </a:lnTo>
                  <a:lnTo>
                    <a:pt x="5343524" y="90487"/>
                  </a:lnTo>
                  <a:lnTo>
                    <a:pt x="5343524" y="728662"/>
                  </a:lnTo>
                  <a:lnTo>
                    <a:pt x="5343524" y="734603"/>
                  </a:lnTo>
                  <a:lnTo>
                    <a:pt x="5342944" y="740488"/>
                  </a:lnTo>
                  <a:lnTo>
                    <a:pt x="5341785" y="746315"/>
                  </a:lnTo>
                  <a:lnTo>
                    <a:pt x="5340625" y="752142"/>
                  </a:lnTo>
                  <a:lnTo>
                    <a:pt x="5321221" y="788445"/>
                  </a:lnTo>
                  <a:lnTo>
                    <a:pt x="5287664" y="812261"/>
                  </a:lnTo>
                  <a:lnTo>
                    <a:pt x="5282175" y="814535"/>
                  </a:lnTo>
                  <a:lnTo>
                    <a:pt x="5253037" y="819149"/>
                  </a:lnTo>
                  <a:lnTo>
                    <a:pt x="90487" y="819149"/>
                  </a:lnTo>
                  <a:lnTo>
                    <a:pt x="55859" y="812261"/>
                  </a:lnTo>
                  <a:lnTo>
                    <a:pt x="50370" y="809987"/>
                  </a:lnTo>
                  <a:lnTo>
                    <a:pt x="18550" y="783874"/>
                  </a:lnTo>
                  <a:lnTo>
                    <a:pt x="1738" y="746315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624" y="3571874"/>
              <a:ext cx="228600" cy="228599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856009" y="3606800"/>
            <a:ext cx="1339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0" b="1">
                <a:solidFill>
                  <a:srgbClr val="4A4E6A"/>
                </a:solidFill>
                <a:latin typeface="Tahoma"/>
                <a:cs typeface="Tahoma"/>
              </a:rPr>
              <a:t>05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142999" y="3495674"/>
            <a:ext cx="2667000" cy="381000"/>
            <a:chOff x="1142999" y="3495674"/>
            <a:chExt cx="2667000" cy="381000"/>
          </a:xfrm>
        </p:grpSpPr>
        <p:sp>
          <p:nvSpPr>
            <p:cNvPr id="58" name="object 58"/>
            <p:cNvSpPr/>
            <p:nvPr/>
          </p:nvSpPr>
          <p:spPr>
            <a:xfrm>
              <a:off x="1142999" y="3495674"/>
              <a:ext cx="666750" cy="171450"/>
            </a:xfrm>
            <a:custGeom>
              <a:avLst/>
              <a:gdLst/>
              <a:ahLst/>
              <a:cxnLst/>
              <a:rect l="l" t="t" r="r" b="b"/>
              <a:pathLst>
                <a:path w="666750" h="171450">
                  <a:moveTo>
                    <a:pt x="625440" y="171449"/>
                  </a:moveTo>
                  <a:lnTo>
                    <a:pt x="41309" y="171449"/>
                  </a:lnTo>
                  <a:lnTo>
                    <a:pt x="35234" y="170241"/>
                  </a:lnTo>
                  <a:lnTo>
                    <a:pt x="1208" y="136214"/>
                  </a:lnTo>
                  <a:lnTo>
                    <a:pt x="0" y="130139"/>
                  </a:lnTo>
                  <a:lnTo>
                    <a:pt x="0" y="123824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625440" y="0"/>
                  </a:lnTo>
                  <a:lnTo>
                    <a:pt x="660707" y="23564"/>
                  </a:lnTo>
                  <a:lnTo>
                    <a:pt x="666749" y="41309"/>
                  </a:lnTo>
                  <a:lnTo>
                    <a:pt x="666749" y="130139"/>
                  </a:lnTo>
                  <a:lnTo>
                    <a:pt x="643184" y="165407"/>
                  </a:lnTo>
                  <a:lnTo>
                    <a:pt x="631515" y="170241"/>
                  </a:lnTo>
                  <a:lnTo>
                    <a:pt x="625440" y="1714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147762" y="3690937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2620296" y="180974"/>
                  </a:moveTo>
                  <a:lnTo>
                    <a:pt x="37178" y="180974"/>
                  </a:lnTo>
                  <a:lnTo>
                    <a:pt x="31710" y="179886"/>
                  </a:lnTo>
                  <a:lnTo>
                    <a:pt x="1087" y="149263"/>
                  </a:lnTo>
                  <a:lnTo>
                    <a:pt x="0" y="143796"/>
                  </a:lnTo>
                  <a:lnTo>
                    <a:pt x="0" y="138112"/>
                  </a:lnTo>
                  <a:lnTo>
                    <a:pt x="0" y="37178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2620296" y="0"/>
                  </a:lnTo>
                  <a:lnTo>
                    <a:pt x="2652036" y="21208"/>
                  </a:lnTo>
                  <a:lnTo>
                    <a:pt x="2657474" y="37178"/>
                  </a:lnTo>
                  <a:lnTo>
                    <a:pt x="2657474" y="143796"/>
                  </a:lnTo>
                  <a:lnTo>
                    <a:pt x="2636266" y="175536"/>
                  </a:lnTo>
                  <a:lnTo>
                    <a:pt x="2625763" y="179886"/>
                  </a:lnTo>
                  <a:lnTo>
                    <a:pt x="2620296" y="18097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147762" y="3690937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0" y="138112"/>
                  </a:moveTo>
                  <a:lnTo>
                    <a:pt x="0" y="42862"/>
                  </a:lnTo>
                  <a:lnTo>
                    <a:pt x="0" y="37178"/>
                  </a:lnTo>
                  <a:lnTo>
                    <a:pt x="1087" y="31710"/>
                  </a:lnTo>
                  <a:lnTo>
                    <a:pt x="3262" y="26459"/>
                  </a:lnTo>
                  <a:lnTo>
                    <a:pt x="5437" y="21208"/>
                  </a:lnTo>
                  <a:lnTo>
                    <a:pt x="8534" y="16573"/>
                  </a:lnTo>
                  <a:lnTo>
                    <a:pt x="12554" y="12554"/>
                  </a:lnTo>
                  <a:lnTo>
                    <a:pt x="16573" y="8534"/>
                  </a:lnTo>
                  <a:lnTo>
                    <a:pt x="21208" y="5437"/>
                  </a:lnTo>
                  <a:lnTo>
                    <a:pt x="26459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2" y="0"/>
                  </a:lnTo>
                  <a:lnTo>
                    <a:pt x="2614612" y="0"/>
                  </a:lnTo>
                  <a:lnTo>
                    <a:pt x="2620296" y="0"/>
                  </a:lnTo>
                  <a:lnTo>
                    <a:pt x="2625763" y="1087"/>
                  </a:lnTo>
                  <a:lnTo>
                    <a:pt x="2654211" y="26459"/>
                  </a:lnTo>
                  <a:lnTo>
                    <a:pt x="2657474" y="42862"/>
                  </a:lnTo>
                  <a:lnTo>
                    <a:pt x="2657474" y="138112"/>
                  </a:lnTo>
                  <a:lnTo>
                    <a:pt x="2657474" y="143796"/>
                  </a:lnTo>
                  <a:lnTo>
                    <a:pt x="2656386" y="149263"/>
                  </a:lnTo>
                  <a:lnTo>
                    <a:pt x="2654211" y="154514"/>
                  </a:lnTo>
                  <a:lnTo>
                    <a:pt x="2652036" y="159765"/>
                  </a:lnTo>
                  <a:lnTo>
                    <a:pt x="2620296" y="180974"/>
                  </a:lnTo>
                  <a:lnTo>
                    <a:pt x="2614612" y="180974"/>
                  </a:lnTo>
                  <a:lnTo>
                    <a:pt x="42862" y="180974"/>
                  </a:lnTo>
                  <a:lnTo>
                    <a:pt x="8534" y="164401"/>
                  </a:lnTo>
                  <a:lnTo>
                    <a:pt x="3262" y="154514"/>
                  </a:lnTo>
                  <a:lnTo>
                    <a:pt x="1087" y="149263"/>
                  </a:lnTo>
                  <a:lnTo>
                    <a:pt x="0" y="143796"/>
                  </a:lnTo>
                  <a:lnTo>
                    <a:pt x="0" y="13811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1196974" y="3497262"/>
            <a:ext cx="2141220" cy="334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3703" sz="1125" b="1">
                <a:solidFill>
                  <a:srgbClr val="FF6A5B"/>
                </a:solidFill>
                <a:latin typeface="Courier New"/>
                <a:cs typeface="Courier New"/>
              </a:rPr>
              <a:t>df["col"]</a:t>
            </a:r>
            <a:r>
              <a:rPr dirty="0" baseline="3703" sz="1125" spc="284" b="1">
                <a:solidFill>
                  <a:srgbClr val="FF6A5B"/>
                </a:solidFill>
                <a:latin typeface="Courier New"/>
                <a:cs typeface="Courier New"/>
              </a:rPr>
              <a:t>  </a:t>
            </a:r>
            <a:r>
              <a:rPr dirty="0" sz="750" spc="-45">
                <a:solidFill>
                  <a:srgbClr val="4A4E6A"/>
                </a:solidFill>
                <a:latin typeface="Trebuchet MS"/>
                <a:cs typeface="Trebuchet MS"/>
              </a:rPr>
              <a:t>Select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0">
                <a:solidFill>
                  <a:srgbClr val="4A4E6A"/>
                </a:solidFill>
                <a:latin typeface="Trebuchet MS"/>
                <a:cs typeface="Trebuchet MS"/>
              </a:rPr>
              <a:t>one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 column. 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Returns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4A4E6A"/>
                </a:solidFill>
                <a:latin typeface="Trebuchet MS"/>
                <a:cs typeface="Trebuchet MS"/>
              </a:rPr>
              <a:t>Series.</a:t>
            </a:r>
            <a:endParaRPr sz="75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  <a:spcBef>
                <a:spcPts val="650"/>
              </a:spcBef>
            </a:pPr>
            <a:r>
              <a:rPr dirty="0" sz="700">
                <a:solidFill>
                  <a:srgbClr val="87D4FF"/>
                </a:solidFill>
                <a:latin typeface="Courier New"/>
                <a:cs typeface="Courier New"/>
              </a:rPr>
              <a:t>names</a:t>
            </a:r>
            <a:r>
              <a:rPr dirty="0" sz="700" spc="-25">
                <a:solidFill>
                  <a:srgbClr val="87D4FF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00" spc="-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"name"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153148" y="3276599"/>
            <a:ext cx="5353050" cy="828675"/>
            <a:chOff x="6153148" y="3276599"/>
            <a:chExt cx="5353050" cy="828675"/>
          </a:xfrm>
        </p:grpSpPr>
        <p:sp>
          <p:nvSpPr>
            <p:cNvPr id="63" name="object 63"/>
            <p:cNvSpPr/>
            <p:nvPr/>
          </p:nvSpPr>
          <p:spPr>
            <a:xfrm>
              <a:off x="6157911" y="3281362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5258978" y="819149"/>
                  </a:moveTo>
                  <a:lnTo>
                    <a:pt x="84545" y="819149"/>
                  </a:lnTo>
                  <a:lnTo>
                    <a:pt x="78661" y="818570"/>
                  </a:lnTo>
                  <a:lnTo>
                    <a:pt x="35275" y="800598"/>
                  </a:lnTo>
                  <a:lnTo>
                    <a:pt x="9161" y="768779"/>
                  </a:lnTo>
                  <a:lnTo>
                    <a:pt x="0" y="734603"/>
                  </a:lnTo>
                  <a:lnTo>
                    <a:pt x="0" y="728662"/>
                  </a:lnTo>
                  <a:lnTo>
                    <a:pt x="0" y="84545"/>
                  </a:lnTo>
                  <a:lnTo>
                    <a:pt x="11949" y="45154"/>
                  </a:lnTo>
                  <a:lnTo>
                    <a:pt x="45154" y="11948"/>
                  </a:lnTo>
                  <a:lnTo>
                    <a:pt x="84545" y="0"/>
                  </a:lnTo>
                  <a:lnTo>
                    <a:pt x="5258978" y="0"/>
                  </a:lnTo>
                  <a:lnTo>
                    <a:pt x="5298368" y="11948"/>
                  </a:lnTo>
                  <a:lnTo>
                    <a:pt x="5331575" y="45154"/>
                  </a:lnTo>
                  <a:lnTo>
                    <a:pt x="5343524" y="84545"/>
                  </a:lnTo>
                  <a:lnTo>
                    <a:pt x="5343524" y="734603"/>
                  </a:lnTo>
                  <a:lnTo>
                    <a:pt x="5331575" y="773994"/>
                  </a:lnTo>
                  <a:lnTo>
                    <a:pt x="5298368" y="807200"/>
                  </a:lnTo>
                  <a:lnTo>
                    <a:pt x="5264862" y="818570"/>
                  </a:lnTo>
                  <a:lnTo>
                    <a:pt x="5258978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157911" y="3281362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8" y="67006"/>
                  </a:lnTo>
                  <a:lnTo>
                    <a:pt x="4614" y="61348"/>
                  </a:lnTo>
                  <a:lnTo>
                    <a:pt x="26503" y="26502"/>
                  </a:lnTo>
                  <a:lnTo>
                    <a:pt x="30705" y="22301"/>
                  </a:lnTo>
                  <a:lnTo>
                    <a:pt x="35275" y="18550"/>
                  </a:lnTo>
                  <a:lnTo>
                    <a:pt x="40214" y="15249"/>
                  </a:lnTo>
                  <a:lnTo>
                    <a:pt x="45154" y="11948"/>
                  </a:lnTo>
                  <a:lnTo>
                    <a:pt x="50369" y="9161"/>
                  </a:lnTo>
                  <a:lnTo>
                    <a:pt x="55859" y="6887"/>
                  </a:lnTo>
                  <a:lnTo>
                    <a:pt x="61348" y="4614"/>
                  </a:lnTo>
                  <a:lnTo>
                    <a:pt x="67006" y="2897"/>
                  </a:lnTo>
                  <a:lnTo>
                    <a:pt x="72833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5253037" y="0"/>
                  </a:lnTo>
                  <a:lnTo>
                    <a:pt x="5258978" y="0"/>
                  </a:lnTo>
                  <a:lnTo>
                    <a:pt x="5264862" y="579"/>
                  </a:lnTo>
                  <a:lnTo>
                    <a:pt x="5270690" y="1738"/>
                  </a:lnTo>
                  <a:lnTo>
                    <a:pt x="5276517" y="2897"/>
                  </a:lnTo>
                  <a:lnTo>
                    <a:pt x="5303308" y="15249"/>
                  </a:lnTo>
                  <a:lnTo>
                    <a:pt x="5308249" y="18550"/>
                  </a:lnTo>
                  <a:lnTo>
                    <a:pt x="5334362" y="50369"/>
                  </a:lnTo>
                  <a:lnTo>
                    <a:pt x="5336636" y="55859"/>
                  </a:lnTo>
                  <a:lnTo>
                    <a:pt x="5338909" y="61348"/>
                  </a:lnTo>
                  <a:lnTo>
                    <a:pt x="5340626" y="67006"/>
                  </a:lnTo>
                  <a:lnTo>
                    <a:pt x="5341785" y="72833"/>
                  </a:lnTo>
                  <a:lnTo>
                    <a:pt x="5342944" y="78661"/>
                  </a:lnTo>
                  <a:lnTo>
                    <a:pt x="5343524" y="84545"/>
                  </a:lnTo>
                  <a:lnTo>
                    <a:pt x="5343525" y="90487"/>
                  </a:lnTo>
                  <a:lnTo>
                    <a:pt x="5343525" y="728662"/>
                  </a:lnTo>
                  <a:lnTo>
                    <a:pt x="5343524" y="734603"/>
                  </a:lnTo>
                  <a:lnTo>
                    <a:pt x="5342944" y="740488"/>
                  </a:lnTo>
                  <a:lnTo>
                    <a:pt x="5341785" y="746315"/>
                  </a:lnTo>
                  <a:lnTo>
                    <a:pt x="5340626" y="752142"/>
                  </a:lnTo>
                  <a:lnTo>
                    <a:pt x="5338909" y="757800"/>
                  </a:lnTo>
                  <a:lnTo>
                    <a:pt x="5336636" y="763290"/>
                  </a:lnTo>
                  <a:lnTo>
                    <a:pt x="5334362" y="768779"/>
                  </a:lnTo>
                  <a:lnTo>
                    <a:pt x="5308249" y="800598"/>
                  </a:lnTo>
                  <a:lnTo>
                    <a:pt x="5287664" y="812261"/>
                  </a:lnTo>
                  <a:lnTo>
                    <a:pt x="5282175" y="814535"/>
                  </a:lnTo>
                  <a:lnTo>
                    <a:pt x="5253037" y="819149"/>
                  </a:lnTo>
                  <a:lnTo>
                    <a:pt x="90488" y="819149"/>
                  </a:lnTo>
                  <a:lnTo>
                    <a:pt x="55859" y="812261"/>
                  </a:lnTo>
                  <a:lnTo>
                    <a:pt x="50369" y="809987"/>
                  </a:lnTo>
                  <a:lnTo>
                    <a:pt x="26503" y="792646"/>
                  </a:lnTo>
                  <a:lnTo>
                    <a:pt x="22302" y="788445"/>
                  </a:lnTo>
                  <a:lnTo>
                    <a:pt x="2898" y="752142"/>
                  </a:lnTo>
                  <a:lnTo>
                    <a:pt x="1738" y="746315"/>
                  </a:lnTo>
                  <a:lnTo>
                    <a:pt x="579" y="740488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6974" y="3571874"/>
              <a:ext cx="228599" cy="228599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6323359" y="3606800"/>
            <a:ext cx="1339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0" b="1">
                <a:solidFill>
                  <a:srgbClr val="4A4E6A"/>
                </a:solidFill>
                <a:latin typeface="Tahoma"/>
                <a:cs typeface="Tahoma"/>
              </a:rPr>
              <a:t>06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610349" y="3495674"/>
            <a:ext cx="2667000" cy="381000"/>
            <a:chOff x="6610349" y="3495674"/>
            <a:chExt cx="2667000" cy="381000"/>
          </a:xfrm>
        </p:grpSpPr>
        <p:sp>
          <p:nvSpPr>
            <p:cNvPr id="68" name="object 68"/>
            <p:cNvSpPr/>
            <p:nvPr/>
          </p:nvSpPr>
          <p:spPr>
            <a:xfrm>
              <a:off x="6610349" y="3495674"/>
              <a:ext cx="609600" cy="171450"/>
            </a:xfrm>
            <a:custGeom>
              <a:avLst/>
              <a:gdLst/>
              <a:ahLst/>
              <a:cxnLst/>
              <a:rect l="l" t="t" r="r" b="b"/>
              <a:pathLst>
                <a:path w="609600" h="171450">
                  <a:moveTo>
                    <a:pt x="568290" y="171449"/>
                  </a:moveTo>
                  <a:lnTo>
                    <a:pt x="41309" y="171449"/>
                  </a:lnTo>
                  <a:lnTo>
                    <a:pt x="35233" y="170241"/>
                  </a:lnTo>
                  <a:lnTo>
                    <a:pt x="1208" y="136214"/>
                  </a:lnTo>
                  <a:lnTo>
                    <a:pt x="0" y="130139"/>
                  </a:lnTo>
                  <a:lnTo>
                    <a:pt x="0" y="123824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568290" y="0"/>
                  </a:lnTo>
                  <a:lnTo>
                    <a:pt x="603557" y="23564"/>
                  </a:lnTo>
                  <a:lnTo>
                    <a:pt x="609599" y="41309"/>
                  </a:lnTo>
                  <a:lnTo>
                    <a:pt x="609599" y="130139"/>
                  </a:lnTo>
                  <a:lnTo>
                    <a:pt x="586034" y="165407"/>
                  </a:lnTo>
                  <a:lnTo>
                    <a:pt x="574365" y="170241"/>
                  </a:lnTo>
                  <a:lnTo>
                    <a:pt x="568290" y="1714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615111" y="3690937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2620296" y="180974"/>
                  </a:moveTo>
                  <a:lnTo>
                    <a:pt x="37178" y="180974"/>
                  </a:lnTo>
                  <a:lnTo>
                    <a:pt x="31710" y="179886"/>
                  </a:lnTo>
                  <a:lnTo>
                    <a:pt x="1087" y="149263"/>
                  </a:lnTo>
                  <a:lnTo>
                    <a:pt x="0" y="143796"/>
                  </a:lnTo>
                  <a:lnTo>
                    <a:pt x="0" y="138112"/>
                  </a:lnTo>
                  <a:lnTo>
                    <a:pt x="0" y="37178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2620296" y="0"/>
                  </a:lnTo>
                  <a:lnTo>
                    <a:pt x="2652036" y="21208"/>
                  </a:lnTo>
                  <a:lnTo>
                    <a:pt x="2657474" y="37178"/>
                  </a:lnTo>
                  <a:lnTo>
                    <a:pt x="2657474" y="143796"/>
                  </a:lnTo>
                  <a:lnTo>
                    <a:pt x="2636265" y="175536"/>
                  </a:lnTo>
                  <a:lnTo>
                    <a:pt x="2625763" y="179886"/>
                  </a:lnTo>
                  <a:lnTo>
                    <a:pt x="2620296" y="18097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615111" y="3690937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0" y="138112"/>
                  </a:moveTo>
                  <a:lnTo>
                    <a:pt x="0" y="42862"/>
                  </a:lnTo>
                  <a:lnTo>
                    <a:pt x="0" y="37178"/>
                  </a:lnTo>
                  <a:lnTo>
                    <a:pt x="1087" y="31710"/>
                  </a:lnTo>
                  <a:lnTo>
                    <a:pt x="3262" y="26459"/>
                  </a:lnTo>
                  <a:lnTo>
                    <a:pt x="5438" y="21208"/>
                  </a:lnTo>
                  <a:lnTo>
                    <a:pt x="8535" y="16573"/>
                  </a:lnTo>
                  <a:lnTo>
                    <a:pt x="12554" y="12554"/>
                  </a:lnTo>
                  <a:lnTo>
                    <a:pt x="16573" y="8534"/>
                  </a:lnTo>
                  <a:lnTo>
                    <a:pt x="21208" y="5437"/>
                  </a:lnTo>
                  <a:lnTo>
                    <a:pt x="26459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3" y="0"/>
                  </a:lnTo>
                  <a:lnTo>
                    <a:pt x="2614612" y="0"/>
                  </a:lnTo>
                  <a:lnTo>
                    <a:pt x="2620296" y="0"/>
                  </a:lnTo>
                  <a:lnTo>
                    <a:pt x="2625763" y="1087"/>
                  </a:lnTo>
                  <a:lnTo>
                    <a:pt x="2654211" y="26459"/>
                  </a:lnTo>
                  <a:lnTo>
                    <a:pt x="2656387" y="31710"/>
                  </a:lnTo>
                  <a:lnTo>
                    <a:pt x="2657474" y="37178"/>
                  </a:lnTo>
                  <a:lnTo>
                    <a:pt x="2657475" y="42862"/>
                  </a:lnTo>
                  <a:lnTo>
                    <a:pt x="2657475" y="138112"/>
                  </a:lnTo>
                  <a:lnTo>
                    <a:pt x="2657474" y="143796"/>
                  </a:lnTo>
                  <a:lnTo>
                    <a:pt x="2656387" y="149263"/>
                  </a:lnTo>
                  <a:lnTo>
                    <a:pt x="2654211" y="154514"/>
                  </a:lnTo>
                  <a:lnTo>
                    <a:pt x="2652036" y="159765"/>
                  </a:lnTo>
                  <a:lnTo>
                    <a:pt x="2631014" y="177711"/>
                  </a:lnTo>
                  <a:lnTo>
                    <a:pt x="2625763" y="179886"/>
                  </a:lnTo>
                  <a:lnTo>
                    <a:pt x="2620296" y="180974"/>
                  </a:lnTo>
                  <a:lnTo>
                    <a:pt x="2614612" y="180974"/>
                  </a:lnTo>
                  <a:lnTo>
                    <a:pt x="42863" y="180974"/>
                  </a:lnTo>
                  <a:lnTo>
                    <a:pt x="37178" y="180974"/>
                  </a:lnTo>
                  <a:lnTo>
                    <a:pt x="31710" y="179886"/>
                  </a:lnTo>
                  <a:lnTo>
                    <a:pt x="26459" y="177711"/>
                  </a:lnTo>
                  <a:lnTo>
                    <a:pt x="21208" y="175536"/>
                  </a:lnTo>
                  <a:lnTo>
                    <a:pt x="0" y="143796"/>
                  </a:lnTo>
                  <a:lnTo>
                    <a:pt x="0" y="13811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6664325" y="3497262"/>
            <a:ext cx="1930400" cy="334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3703" sz="1125" b="1">
                <a:solidFill>
                  <a:srgbClr val="FF6A5B"/>
                </a:solidFill>
                <a:latin typeface="Courier New"/>
                <a:cs typeface="Courier New"/>
              </a:rPr>
              <a:t>df[mask]</a:t>
            </a:r>
            <a:r>
              <a:rPr dirty="0" baseline="3703" sz="1125" spc="277" b="1">
                <a:solidFill>
                  <a:srgbClr val="FF6A5B"/>
                </a:solidFill>
                <a:latin typeface="Courier New"/>
                <a:cs typeface="Courier New"/>
              </a:rPr>
              <a:t>  </a:t>
            </a:r>
            <a:r>
              <a:rPr dirty="0" sz="750" spc="-45">
                <a:solidFill>
                  <a:srgbClr val="4A4E6A"/>
                </a:solidFill>
                <a:latin typeface="Trebuchet MS"/>
                <a:cs typeface="Trebuchet MS"/>
              </a:rPr>
              <a:t>Filter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0">
                <a:solidFill>
                  <a:srgbClr val="4A4E6A"/>
                </a:solidFill>
                <a:latin typeface="Trebuchet MS"/>
                <a:cs typeface="Trebuchet MS"/>
              </a:rPr>
              <a:t>rows</a:t>
            </a:r>
            <a:r>
              <a:rPr dirty="0" sz="7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7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5">
                <a:solidFill>
                  <a:srgbClr val="4A4E6A"/>
                </a:solidFill>
                <a:latin typeface="Trebuchet MS"/>
                <a:cs typeface="Trebuchet MS"/>
              </a:rPr>
              <a:t>boolean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0">
                <a:solidFill>
                  <a:srgbClr val="4A4E6A"/>
                </a:solidFill>
                <a:latin typeface="Trebuchet MS"/>
                <a:cs typeface="Trebuchet MS"/>
              </a:rPr>
              <a:t>mask.</a:t>
            </a:r>
            <a:endParaRPr sz="75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  <a:spcBef>
                <a:spcPts val="650"/>
              </a:spcBef>
            </a:pPr>
            <a:r>
              <a:rPr dirty="0" sz="70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0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"age"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700" spc="-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5"/>
                </a:solidFill>
                <a:latin typeface="Courier New"/>
                <a:cs typeface="Courier New"/>
              </a:rPr>
              <a:t>&gt; </a:t>
            </a:r>
            <a:r>
              <a:rPr dirty="0" sz="700" spc="-25">
                <a:solidFill>
                  <a:srgbClr val="FFD580"/>
                </a:solidFill>
                <a:latin typeface="Courier New"/>
                <a:cs typeface="Courier New"/>
              </a:rPr>
              <a:t>20</a:t>
            </a:r>
            <a:r>
              <a:rPr dirty="0" sz="700" spc="-25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685799" y="4190999"/>
            <a:ext cx="5353050" cy="828675"/>
            <a:chOff x="685799" y="4190999"/>
            <a:chExt cx="5353050" cy="828675"/>
          </a:xfrm>
        </p:grpSpPr>
        <p:sp>
          <p:nvSpPr>
            <p:cNvPr id="73" name="object 73"/>
            <p:cNvSpPr/>
            <p:nvPr/>
          </p:nvSpPr>
          <p:spPr>
            <a:xfrm>
              <a:off x="690562" y="4195762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5258978" y="819149"/>
                  </a:moveTo>
                  <a:lnTo>
                    <a:pt x="84545" y="819149"/>
                  </a:lnTo>
                  <a:lnTo>
                    <a:pt x="78661" y="818570"/>
                  </a:lnTo>
                  <a:lnTo>
                    <a:pt x="35275" y="800599"/>
                  </a:lnTo>
                  <a:lnTo>
                    <a:pt x="9161" y="768779"/>
                  </a:lnTo>
                  <a:lnTo>
                    <a:pt x="0" y="734603"/>
                  </a:lnTo>
                  <a:lnTo>
                    <a:pt x="0" y="72866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5258978" y="0"/>
                  </a:lnTo>
                  <a:lnTo>
                    <a:pt x="5298368" y="11948"/>
                  </a:lnTo>
                  <a:lnTo>
                    <a:pt x="5331574" y="45154"/>
                  </a:lnTo>
                  <a:lnTo>
                    <a:pt x="5343524" y="84545"/>
                  </a:lnTo>
                  <a:lnTo>
                    <a:pt x="5343524" y="734603"/>
                  </a:lnTo>
                  <a:lnTo>
                    <a:pt x="5331574" y="773994"/>
                  </a:lnTo>
                  <a:lnTo>
                    <a:pt x="5298368" y="807200"/>
                  </a:lnTo>
                  <a:lnTo>
                    <a:pt x="5264862" y="818570"/>
                  </a:lnTo>
                  <a:lnTo>
                    <a:pt x="5258978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90562" y="4195762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49" y="40214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2"/>
                  </a:lnTo>
                  <a:lnTo>
                    <a:pt x="30704" y="22301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5253037" y="0"/>
                  </a:lnTo>
                  <a:lnTo>
                    <a:pt x="5258978" y="0"/>
                  </a:lnTo>
                  <a:lnTo>
                    <a:pt x="5264862" y="579"/>
                  </a:lnTo>
                  <a:lnTo>
                    <a:pt x="5270689" y="1738"/>
                  </a:lnTo>
                  <a:lnTo>
                    <a:pt x="5276517" y="2897"/>
                  </a:lnTo>
                  <a:lnTo>
                    <a:pt x="5282175" y="4614"/>
                  </a:lnTo>
                  <a:lnTo>
                    <a:pt x="5287664" y="6887"/>
                  </a:lnTo>
                  <a:lnTo>
                    <a:pt x="5293153" y="9161"/>
                  </a:lnTo>
                  <a:lnTo>
                    <a:pt x="5324972" y="35274"/>
                  </a:lnTo>
                  <a:lnTo>
                    <a:pt x="5341785" y="72834"/>
                  </a:lnTo>
                  <a:lnTo>
                    <a:pt x="5342944" y="78661"/>
                  </a:lnTo>
                  <a:lnTo>
                    <a:pt x="5343524" y="84545"/>
                  </a:lnTo>
                  <a:lnTo>
                    <a:pt x="5343524" y="90487"/>
                  </a:lnTo>
                  <a:lnTo>
                    <a:pt x="5343524" y="728662"/>
                  </a:lnTo>
                  <a:lnTo>
                    <a:pt x="5343524" y="734603"/>
                  </a:lnTo>
                  <a:lnTo>
                    <a:pt x="5342944" y="740488"/>
                  </a:lnTo>
                  <a:lnTo>
                    <a:pt x="5341785" y="746315"/>
                  </a:lnTo>
                  <a:lnTo>
                    <a:pt x="5340625" y="752142"/>
                  </a:lnTo>
                  <a:lnTo>
                    <a:pt x="5321221" y="788445"/>
                  </a:lnTo>
                  <a:lnTo>
                    <a:pt x="5287664" y="812262"/>
                  </a:lnTo>
                  <a:lnTo>
                    <a:pt x="5282175" y="814535"/>
                  </a:lnTo>
                  <a:lnTo>
                    <a:pt x="5276517" y="816252"/>
                  </a:lnTo>
                  <a:lnTo>
                    <a:pt x="5270689" y="817411"/>
                  </a:lnTo>
                  <a:lnTo>
                    <a:pt x="5264862" y="818570"/>
                  </a:lnTo>
                  <a:lnTo>
                    <a:pt x="5258978" y="819149"/>
                  </a:lnTo>
                  <a:lnTo>
                    <a:pt x="5253037" y="819149"/>
                  </a:lnTo>
                  <a:lnTo>
                    <a:pt x="90487" y="819149"/>
                  </a:lnTo>
                  <a:lnTo>
                    <a:pt x="84545" y="819149"/>
                  </a:lnTo>
                  <a:lnTo>
                    <a:pt x="78661" y="818570"/>
                  </a:lnTo>
                  <a:lnTo>
                    <a:pt x="40215" y="803900"/>
                  </a:lnTo>
                  <a:lnTo>
                    <a:pt x="11948" y="773994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624" y="4486274"/>
              <a:ext cx="228600" cy="228599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856009" y="4521200"/>
            <a:ext cx="1339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0" b="1">
                <a:solidFill>
                  <a:srgbClr val="4A4E6A"/>
                </a:solidFill>
                <a:latin typeface="Tahoma"/>
                <a:cs typeface="Tahoma"/>
              </a:rPr>
              <a:t>07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1142999" y="4410074"/>
            <a:ext cx="2667000" cy="381000"/>
            <a:chOff x="1142999" y="4410074"/>
            <a:chExt cx="2667000" cy="381000"/>
          </a:xfrm>
        </p:grpSpPr>
        <p:sp>
          <p:nvSpPr>
            <p:cNvPr id="78" name="object 78"/>
            <p:cNvSpPr/>
            <p:nvPr/>
          </p:nvSpPr>
          <p:spPr>
            <a:xfrm>
              <a:off x="1142999" y="4410074"/>
              <a:ext cx="1371600" cy="171450"/>
            </a:xfrm>
            <a:custGeom>
              <a:avLst/>
              <a:gdLst/>
              <a:ahLst/>
              <a:cxnLst/>
              <a:rect l="l" t="t" r="r" b="b"/>
              <a:pathLst>
                <a:path w="1371600" h="171450">
                  <a:moveTo>
                    <a:pt x="1330290" y="171449"/>
                  </a:moveTo>
                  <a:lnTo>
                    <a:pt x="41309" y="171449"/>
                  </a:lnTo>
                  <a:lnTo>
                    <a:pt x="35234" y="170241"/>
                  </a:lnTo>
                  <a:lnTo>
                    <a:pt x="1208" y="136214"/>
                  </a:lnTo>
                  <a:lnTo>
                    <a:pt x="0" y="130139"/>
                  </a:lnTo>
                  <a:lnTo>
                    <a:pt x="0" y="123824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1330290" y="0"/>
                  </a:lnTo>
                  <a:lnTo>
                    <a:pt x="1365557" y="23564"/>
                  </a:lnTo>
                  <a:lnTo>
                    <a:pt x="1371599" y="41309"/>
                  </a:lnTo>
                  <a:lnTo>
                    <a:pt x="1371599" y="130139"/>
                  </a:lnTo>
                  <a:lnTo>
                    <a:pt x="1348034" y="165407"/>
                  </a:lnTo>
                  <a:lnTo>
                    <a:pt x="1336365" y="170241"/>
                  </a:lnTo>
                  <a:lnTo>
                    <a:pt x="1330290" y="1714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147762" y="4605337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2620296" y="180974"/>
                  </a:moveTo>
                  <a:lnTo>
                    <a:pt x="37178" y="180974"/>
                  </a:lnTo>
                  <a:lnTo>
                    <a:pt x="31710" y="179886"/>
                  </a:lnTo>
                  <a:lnTo>
                    <a:pt x="1087" y="149263"/>
                  </a:lnTo>
                  <a:lnTo>
                    <a:pt x="0" y="143796"/>
                  </a:lnTo>
                  <a:lnTo>
                    <a:pt x="0" y="138112"/>
                  </a:lnTo>
                  <a:lnTo>
                    <a:pt x="0" y="37178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2620296" y="0"/>
                  </a:lnTo>
                  <a:lnTo>
                    <a:pt x="2652036" y="21207"/>
                  </a:lnTo>
                  <a:lnTo>
                    <a:pt x="2657474" y="37178"/>
                  </a:lnTo>
                  <a:lnTo>
                    <a:pt x="2657474" y="143796"/>
                  </a:lnTo>
                  <a:lnTo>
                    <a:pt x="2636266" y="175536"/>
                  </a:lnTo>
                  <a:lnTo>
                    <a:pt x="2625763" y="179886"/>
                  </a:lnTo>
                  <a:lnTo>
                    <a:pt x="2620296" y="18097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147762" y="4605337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0" y="138112"/>
                  </a:moveTo>
                  <a:lnTo>
                    <a:pt x="0" y="42862"/>
                  </a:lnTo>
                  <a:lnTo>
                    <a:pt x="0" y="37178"/>
                  </a:lnTo>
                  <a:lnTo>
                    <a:pt x="1087" y="31710"/>
                  </a:lnTo>
                  <a:lnTo>
                    <a:pt x="3262" y="26459"/>
                  </a:lnTo>
                  <a:lnTo>
                    <a:pt x="5437" y="21207"/>
                  </a:lnTo>
                  <a:lnTo>
                    <a:pt x="8534" y="16572"/>
                  </a:lnTo>
                  <a:lnTo>
                    <a:pt x="12554" y="12553"/>
                  </a:lnTo>
                  <a:lnTo>
                    <a:pt x="16573" y="8534"/>
                  </a:lnTo>
                  <a:lnTo>
                    <a:pt x="21208" y="5437"/>
                  </a:lnTo>
                  <a:lnTo>
                    <a:pt x="26459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2" y="0"/>
                  </a:lnTo>
                  <a:lnTo>
                    <a:pt x="2614612" y="0"/>
                  </a:lnTo>
                  <a:lnTo>
                    <a:pt x="2620296" y="0"/>
                  </a:lnTo>
                  <a:lnTo>
                    <a:pt x="2625763" y="1087"/>
                  </a:lnTo>
                  <a:lnTo>
                    <a:pt x="2631014" y="3262"/>
                  </a:lnTo>
                  <a:lnTo>
                    <a:pt x="2636266" y="5437"/>
                  </a:lnTo>
                  <a:lnTo>
                    <a:pt x="2657474" y="37178"/>
                  </a:lnTo>
                  <a:lnTo>
                    <a:pt x="2657474" y="42862"/>
                  </a:lnTo>
                  <a:lnTo>
                    <a:pt x="2657474" y="138112"/>
                  </a:lnTo>
                  <a:lnTo>
                    <a:pt x="2640901" y="172439"/>
                  </a:lnTo>
                  <a:lnTo>
                    <a:pt x="2614612" y="180974"/>
                  </a:lnTo>
                  <a:lnTo>
                    <a:pt x="42862" y="180974"/>
                  </a:lnTo>
                  <a:lnTo>
                    <a:pt x="8534" y="164401"/>
                  </a:lnTo>
                  <a:lnTo>
                    <a:pt x="3262" y="154514"/>
                  </a:lnTo>
                  <a:lnTo>
                    <a:pt x="1087" y="149263"/>
                  </a:lnTo>
                  <a:lnTo>
                    <a:pt x="0" y="143796"/>
                  </a:lnTo>
                  <a:lnTo>
                    <a:pt x="0" y="13811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/>
          <p:nvPr/>
        </p:nvSpPr>
        <p:spPr>
          <a:xfrm>
            <a:off x="1196974" y="4411662"/>
            <a:ext cx="3194050" cy="334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3703" sz="1125" b="1">
                <a:solidFill>
                  <a:srgbClr val="FF6A5B"/>
                </a:solidFill>
                <a:latin typeface="Courier New"/>
                <a:cs typeface="Courier New"/>
              </a:rPr>
              <a:t>df.sort_values("col")</a:t>
            </a:r>
            <a:r>
              <a:rPr dirty="0" baseline="3703" sz="1125" spc="352" b="1">
                <a:solidFill>
                  <a:srgbClr val="FF6A5B"/>
                </a:solidFill>
                <a:latin typeface="Courier New"/>
                <a:cs typeface="Courier New"/>
              </a:rPr>
              <a:t>  </a:t>
            </a:r>
            <a:r>
              <a:rPr dirty="0" sz="750" spc="-25">
                <a:solidFill>
                  <a:srgbClr val="4A4E6A"/>
                </a:solidFill>
                <a:latin typeface="Trebuchet MS"/>
                <a:cs typeface="Trebuchet MS"/>
              </a:rPr>
              <a:t>Sort by 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a 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column.</a:t>
            </a:r>
            <a:r>
              <a:rPr dirty="0" sz="75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ascending=True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5">
                <a:solidFill>
                  <a:srgbClr val="4A4E6A"/>
                </a:solidFill>
                <a:latin typeface="Trebuchet MS"/>
                <a:cs typeface="Trebuchet MS"/>
              </a:rPr>
              <a:t>by </a:t>
            </a:r>
            <a:r>
              <a:rPr dirty="0" sz="750" spc="-10">
                <a:solidFill>
                  <a:srgbClr val="4A4E6A"/>
                </a:solidFill>
                <a:latin typeface="Trebuchet MS"/>
                <a:cs typeface="Trebuchet MS"/>
              </a:rPr>
              <a:t>default.</a:t>
            </a:r>
            <a:endParaRPr sz="75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  <a:spcBef>
                <a:spcPts val="650"/>
              </a:spcBef>
            </a:pPr>
            <a:r>
              <a:rPr dirty="0" sz="70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700" spc="-10">
                <a:solidFill>
                  <a:srgbClr val="FFD580"/>
                </a:solidFill>
                <a:latin typeface="Courier New"/>
                <a:cs typeface="Courier New"/>
              </a:rPr>
              <a:t>sort_values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"marks"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0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ascending=</a:t>
            </a:r>
            <a:r>
              <a:rPr dirty="0" sz="700" spc="-10">
                <a:solidFill>
                  <a:srgbClr val="FF8B7E"/>
                </a:solidFill>
                <a:latin typeface="Courier New"/>
                <a:cs typeface="Courier New"/>
              </a:rPr>
              <a:t>False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6153148" y="4190999"/>
            <a:ext cx="5353050" cy="828675"/>
            <a:chOff x="6153148" y="4190999"/>
            <a:chExt cx="5353050" cy="828675"/>
          </a:xfrm>
        </p:grpSpPr>
        <p:sp>
          <p:nvSpPr>
            <p:cNvPr id="83" name="object 83"/>
            <p:cNvSpPr/>
            <p:nvPr/>
          </p:nvSpPr>
          <p:spPr>
            <a:xfrm>
              <a:off x="6157911" y="4195762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5258978" y="819149"/>
                  </a:moveTo>
                  <a:lnTo>
                    <a:pt x="84545" y="819149"/>
                  </a:lnTo>
                  <a:lnTo>
                    <a:pt x="78661" y="818570"/>
                  </a:lnTo>
                  <a:lnTo>
                    <a:pt x="35275" y="800599"/>
                  </a:lnTo>
                  <a:lnTo>
                    <a:pt x="9161" y="768779"/>
                  </a:lnTo>
                  <a:lnTo>
                    <a:pt x="0" y="734603"/>
                  </a:lnTo>
                  <a:lnTo>
                    <a:pt x="0" y="728662"/>
                  </a:lnTo>
                  <a:lnTo>
                    <a:pt x="0" y="84545"/>
                  </a:lnTo>
                  <a:lnTo>
                    <a:pt x="11949" y="45154"/>
                  </a:lnTo>
                  <a:lnTo>
                    <a:pt x="45154" y="11948"/>
                  </a:lnTo>
                  <a:lnTo>
                    <a:pt x="84545" y="0"/>
                  </a:lnTo>
                  <a:lnTo>
                    <a:pt x="5258978" y="0"/>
                  </a:lnTo>
                  <a:lnTo>
                    <a:pt x="5298368" y="11948"/>
                  </a:lnTo>
                  <a:lnTo>
                    <a:pt x="5331575" y="45154"/>
                  </a:lnTo>
                  <a:lnTo>
                    <a:pt x="5343524" y="84545"/>
                  </a:lnTo>
                  <a:lnTo>
                    <a:pt x="5343524" y="734603"/>
                  </a:lnTo>
                  <a:lnTo>
                    <a:pt x="5331575" y="773994"/>
                  </a:lnTo>
                  <a:lnTo>
                    <a:pt x="5298368" y="807200"/>
                  </a:lnTo>
                  <a:lnTo>
                    <a:pt x="5264862" y="818570"/>
                  </a:lnTo>
                  <a:lnTo>
                    <a:pt x="5258978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157911" y="4195762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8" y="67006"/>
                  </a:lnTo>
                  <a:lnTo>
                    <a:pt x="4614" y="61348"/>
                  </a:lnTo>
                  <a:lnTo>
                    <a:pt x="26503" y="26502"/>
                  </a:lnTo>
                  <a:lnTo>
                    <a:pt x="30705" y="22301"/>
                  </a:lnTo>
                  <a:lnTo>
                    <a:pt x="55859" y="6887"/>
                  </a:lnTo>
                  <a:lnTo>
                    <a:pt x="61348" y="4614"/>
                  </a:lnTo>
                  <a:lnTo>
                    <a:pt x="67006" y="2897"/>
                  </a:lnTo>
                  <a:lnTo>
                    <a:pt x="72833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8" y="0"/>
                  </a:lnTo>
                  <a:lnTo>
                    <a:pt x="5253037" y="0"/>
                  </a:lnTo>
                  <a:lnTo>
                    <a:pt x="5258978" y="0"/>
                  </a:lnTo>
                  <a:lnTo>
                    <a:pt x="5264862" y="579"/>
                  </a:lnTo>
                  <a:lnTo>
                    <a:pt x="5270690" y="1738"/>
                  </a:lnTo>
                  <a:lnTo>
                    <a:pt x="5276517" y="2897"/>
                  </a:lnTo>
                  <a:lnTo>
                    <a:pt x="5312820" y="22301"/>
                  </a:lnTo>
                  <a:lnTo>
                    <a:pt x="5328274" y="40214"/>
                  </a:lnTo>
                  <a:lnTo>
                    <a:pt x="5331575" y="45154"/>
                  </a:lnTo>
                  <a:lnTo>
                    <a:pt x="5334362" y="50369"/>
                  </a:lnTo>
                  <a:lnTo>
                    <a:pt x="5336636" y="55859"/>
                  </a:lnTo>
                  <a:lnTo>
                    <a:pt x="5338909" y="61348"/>
                  </a:lnTo>
                  <a:lnTo>
                    <a:pt x="5340626" y="67006"/>
                  </a:lnTo>
                  <a:lnTo>
                    <a:pt x="5341785" y="72834"/>
                  </a:lnTo>
                  <a:lnTo>
                    <a:pt x="5342944" y="78661"/>
                  </a:lnTo>
                  <a:lnTo>
                    <a:pt x="5343524" y="84545"/>
                  </a:lnTo>
                  <a:lnTo>
                    <a:pt x="5343525" y="90487"/>
                  </a:lnTo>
                  <a:lnTo>
                    <a:pt x="5343525" y="728662"/>
                  </a:lnTo>
                  <a:lnTo>
                    <a:pt x="5343524" y="734603"/>
                  </a:lnTo>
                  <a:lnTo>
                    <a:pt x="5342944" y="740488"/>
                  </a:lnTo>
                  <a:lnTo>
                    <a:pt x="5341785" y="746315"/>
                  </a:lnTo>
                  <a:lnTo>
                    <a:pt x="5340626" y="752142"/>
                  </a:lnTo>
                  <a:lnTo>
                    <a:pt x="5321223" y="788445"/>
                  </a:lnTo>
                  <a:lnTo>
                    <a:pt x="5287664" y="812262"/>
                  </a:lnTo>
                  <a:lnTo>
                    <a:pt x="5258978" y="819149"/>
                  </a:lnTo>
                  <a:lnTo>
                    <a:pt x="5253037" y="819149"/>
                  </a:lnTo>
                  <a:lnTo>
                    <a:pt x="90488" y="819149"/>
                  </a:lnTo>
                  <a:lnTo>
                    <a:pt x="84545" y="819149"/>
                  </a:lnTo>
                  <a:lnTo>
                    <a:pt x="78661" y="818570"/>
                  </a:lnTo>
                  <a:lnTo>
                    <a:pt x="72833" y="817411"/>
                  </a:lnTo>
                  <a:lnTo>
                    <a:pt x="67006" y="816252"/>
                  </a:lnTo>
                  <a:lnTo>
                    <a:pt x="61348" y="814535"/>
                  </a:lnTo>
                  <a:lnTo>
                    <a:pt x="55859" y="812262"/>
                  </a:lnTo>
                  <a:lnTo>
                    <a:pt x="50369" y="809988"/>
                  </a:lnTo>
                  <a:lnTo>
                    <a:pt x="26503" y="792646"/>
                  </a:lnTo>
                  <a:lnTo>
                    <a:pt x="22302" y="788445"/>
                  </a:lnTo>
                  <a:lnTo>
                    <a:pt x="2898" y="752142"/>
                  </a:lnTo>
                  <a:lnTo>
                    <a:pt x="1738" y="746315"/>
                  </a:lnTo>
                  <a:lnTo>
                    <a:pt x="579" y="740488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6974" y="4486274"/>
              <a:ext cx="228599" cy="228599"/>
            </a:xfrm>
            <a:prstGeom prst="rect">
              <a:avLst/>
            </a:prstGeom>
          </p:spPr>
        </p:pic>
      </p:grpSp>
      <p:sp>
        <p:nvSpPr>
          <p:cNvPr id="86" name="object 86"/>
          <p:cNvSpPr txBox="1"/>
          <p:nvPr/>
        </p:nvSpPr>
        <p:spPr>
          <a:xfrm>
            <a:off x="6323359" y="4521200"/>
            <a:ext cx="1339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0" b="1">
                <a:solidFill>
                  <a:srgbClr val="4A4E6A"/>
                </a:solidFill>
                <a:latin typeface="Tahoma"/>
                <a:cs typeface="Tahoma"/>
              </a:rPr>
              <a:t>08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6610349" y="4410074"/>
            <a:ext cx="2667000" cy="381000"/>
            <a:chOff x="6610349" y="4410074"/>
            <a:chExt cx="2667000" cy="381000"/>
          </a:xfrm>
        </p:grpSpPr>
        <p:sp>
          <p:nvSpPr>
            <p:cNvPr id="88" name="object 88"/>
            <p:cNvSpPr/>
            <p:nvPr/>
          </p:nvSpPr>
          <p:spPr>
            <a:xfrm>
              <a:off x="6610349" y="4410074"/>
              <a:ext cx="1076325" cy="171450"/>
            </a:xfrm>
            <a:custGeom>
              <a:avLst/>
              <a:gdLst/>
              <a:ahLst/>
              <a:cxnLst/>
              <a:rect l="l" t="t" r="r" b="b"/>
              <a:pathLst>
                <a:path w="1076325" h="171450">
                  <a:moveTo>
                    <a:pt x="1035015" y="171449"/>
                  </a:moveTo>
                  <a:lnTo>
                    <a:pt x="41309" y="171449"/>
                  </a:lnTo>
                  <a:lnTo>
                    <a:pt x="35233" y="170241"/>
                  </a:lnTo>
                  <a:lnTo>
                    <a:pt x="1208" y="136214"/>
                  </a:lnTo>
                  <a:lnTo>
                    <a:pt x="0" y="130139"/>
                  </a:lnTo>
                  <a:lnTo>
                    <a:pt x="0" y="123824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1035015" y="0"/>
                  </a:lnTo>
                  <a:lnTo>
                    <a:pt x="1070282" y="23564"/>
                  </a:lnTo>
                  <a:lnTo>
                    <a:pt x="1076324" y="41309"/>
                  </a:lnTo>
                  <a:lnTo>
                    <a:pt x="1076324" y="130139"/>
                  </a:lnTo>
                  <a:lnTo>
                    <a:pt x="1052760" y="165407"/>
                  </a:lnTo>
                  <a:lnTo>
                    <a:pt x="1041089" y="170241"/>
                  </a:lnTo>
                  <a:lnTo>
                    <a:pt x="1035015" y="1714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6615111" y="4605337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2620296" y="180974"/>
                  </a:moveTo>
                  <a:lnTo>
                    <a:pt x="37178" y="180974"/>
                  </a:lnTo>
                  <a:lnTo>
                    <a:pt x="31710" y="179886"/>
                  </a:lnTo>
                  <a:lnTo>
                    <a:pt x="1087" y="149263"/>
                  </a:lnTo>
                  <a:lnTo>
                    <a:pt x="0" y="143796"/>
                  </a:lnTo>
                  <a:lnTo>
                    <a:pt x="0" y="138112"/>
                  </a:lnTo>
                  <a:lnTo>
                    <a:pt x="0" y="37178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2620296" y="0"/>
                  </a:lnTo>
                  <a:lnTo>
                    <a:pt x="2652036" y="21207"/>
                  </a:lnTo>
                  <a:lnTo>
                    <a:pt x="2657474" y="37178"/>
                  </a:lnTo>
                  <a:lnTo>
                    <a:pt x="2657474" y="143796"/>
                  </a:lnTo>
                  <a:lnTo>
                    <a:pt x="2636265" y="175536"/>
                  </a:lnTo>
                  <a:lnTo>
                    <a:pt x="2625763" y="179886"/>
                  </a:lnTo>
                  <a:lnTo>
                    <a:pt x="2620296" y="18097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6615111" y="4605337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0" y="138112"/>
                  </a:moveTo>
                  <a:lnTo>
                    <a:pt x="0" y="42862"/>
                  </a:lnTo>
                  <a:lnTo>
                    <a:pt x="0" y="37178"/>
                  </a:lnTo>
                  <a:lnTo>
                    <a:pt x="1087" y="31710"/>
                  </a:lnTo>
                  <a:lnTo>
                    <a:pt x="3262" y="26459"/>
                  </a:lnTo>
                  <a:lnTo>
                    <a:pt x="5438" y="21207"/>
                  </a:lnTo>
                  <a:lnTo>
                    <a:pt x="8535" y="16572"/>
                  </a:lnTo>
                  <a:lnTo>
                    <a:pt x="12554" y="12553"/>
                  </a:lnTo>
                  <a:lnTo>
                    <a:pt x="16573" y="8534"/>
                  </a:lnTo>
                  <a:lnTo>
                    <a:pt x="21208" y="5437"/>
                  </a:lnTo>
                  <a:lnTo>
                    <a:pt x="26459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3" y="0"/>
                  </a:lnTo>
                  <a:lnTo>
                    <a:pt x="2614612" y="0"/>
                  </a:lnTo>
                  <a:lnTo>
                    <a:pt x="2620296" y="0"/>
                  </a:lnTo>
                  <a:lnTo>
                    <a:pt x="2625763" y="1087"/>
                  </a:lnTo>
                  <a:lnTo>
                    <a:pt x="2631014" y="3262"/>
                  </a:lnTo>
                  <a:lnTo>
                    <a:pt x="2636265" y="5437"/>
                  </a:lnTo>
                  <a:lnTo>
                    <a:pt x="2654211" y="26459"/>
                  </a:lnTo>
                  <a:lnTo>
                    <a:pt x="2656387" y="31710"/>
                  </a:lnTo>
                  <a:lnTo>
                    <a:pt x="2657474" y="37178"/>
                  </a:lnTo>
                  <a:lnTo>
                    <a:pt x="2657475" y="42862"/>
                  </a:lnTo>
                  <a:lnTo>
                    <a:pt x="2657475" y="138112"/>
                  </a:lnTo>
                  <a:lnTo>
                    <a:pt x="2657474" y="143796"/>
                  </a:lnTo>
                  <a:lnTo>
                    <a:pt x="2656387" y="149263"/>
                  </a:lnTo>
                  <a:lnTo>
                    <a:pt x="2654211" y="154514"/>
                  </a:lnTo>
                  <a:lnTo>
                    <a:pt x="2652036" y="159765"/>
                  </a:lnTo>
                  <a:lnTo>
                    <a:pt x="2631014" y="177711"/>
                  </a:lnTo>
                  <a:lnTo>
                    <a:pt x="2625763" y="179886"/>
                  </a:lnTo>
                  <a:lnTo>
                    <a:pt x="2620296" y="180974"/>
                  </a:lnTo>
                  <a:lnTo>
                    <a:pt x="2614612" y="180974"/>
                  </a:lnTo>
                  <a:lnTo>
                    <a:pt x="42863" y="180974"/>
                  </a:lnTo>
                  <a:lnTo>
                    <a:pt x="37178" y="180974"/>
                  </a:lnTo>
                  <a:lnTo>
                    <a:pt x="31710" y="179886"/>
                  </a:lnTo>
                  <a:lnTo>
                    <a:pt x="26459" y="177711"/>
                  </a:lnTo>
                  <a:lnTo>
                    <a:pt x="21208" y="175536"/>
                  </a:lnTo>
                  <a:lnTo>
                    <a:pt x="0" y="143796"/>
                  </a:lnTo>
                  <a:lnTo>
                    <a:pt x="0" y="13811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/>
          <p:cNvSpPr txBox="1"/>
          <p:nvPr/>
        </p:nvSpPr>
        <p:spPr>
          <a:xfrm>
            <a:off x="6664325" y="4411662"/>
            <a:ext cx="3048635" cy="334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3703" sz="1125" b="1">
                <a:solidFill>
                  <a:srgbClr val="FF6A5B"/>
                </a:solidFill>
                <a:latin typeface="Courier New"/>
                <a:cs typeface="Courier New"/>
              </a:rPr>
              <a:t>df.loc[row,</a:t>
            </a:r>
            <a:r>
              <a:rPr dirty="0" baseline="3703" sz="1125" spc="127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baseline="3703" sz="1125" b="1">
                <a:solidFill>
                  <a:srgbClr val="FF6A5B"/>
                </a:solidFill>
                <a:latin typeface="Courier New"/>
                <a:cs typeface="Courier New"/>
              </a:rPr>
              <a:t>col]</a:t>
            </a:r>
            <a:r>
              <a:rPr dirty="0" baseline="3703" sz="1125" spc="315" b="1">
                <a:solidFill>
                  <a:srgbClr val="FF6A5B"/>
                </a:solidFill>
                <a:latin typeface="Courier New"/>
                <a:cs typeface="Courier New"/>
              </a:rPr>
              <a:t>  </a:t>
            </a:r>
            <a:r>
              <a:rPr dirty="0" sz="750" spc="-45">
                <a:solidFill>
                  <a:srgbClr val="4A4E6A"/>
                </a:solidFill>
                <a:latin typeface="Trebuchet MS"/>
                <a:cs typeface="Trebuchet MS"/>
              </a:rPr>
              <a:t>Label-</a:t>
            </a:r>
            <a:r>
              <a:rPr dirty="0" sz="750" spc="-25">
                <a:solidFill>
                  <a:srgbClr val="4A4E6A"/>
                </a:solidFill>
                <a:latin typeface="Trebuchet MS"/>
                <a:cs typeface="Trebuchet MS"/>
              </a:rPr>
              <a:t>based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45">
                <a:solidFill>
                  <a:srgbClr val="4A4E6A"/>
                </a:solidFill>
                <a:latin typeface="Trebuchet MS"/>
                <a:cs typeface="Trebuchet MS"/>
              </a:rPr>
              <a:t>selection.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0">
                <a:solidFill>
                  <a:srgbClr val="4A4E6A"/>
                </a:solidFill>
                <a:latin typeface="Trebuchet MS"/>
                <a:cs typeface="Trebuchet MS"/>
              </a:rPr>
              <a:t>Rows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4A4E6A"/>
                </a:solidFill>
                <a:latin typeface="Trebuchet MS"/>
                <a:cs typeface="Trebuchet MS"/>
              </a:rPr>
              <a:t>+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5">
                <a:solidFill>
                  <a:srgbClr val="4A4E6A"/>
                </a:solidFill>
                <a:latin typeface="Trebuchet MS"/>
                <a:cs typeface="Trebuchet MS"/>
              </a:rPr>
              <a:t>columns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0">
                <a:solidFill>
                  <a:srgbClr val="4A4E6A"/>
                </a:solidFill>
                <a:latin typeface="Trebuchet MS"/>
                <a:cs typeface="Trebuchet MS"/>
              </a:rPr>
              <a:t>name.</a:t>
            </a:r>
            <a:endParaRPr sz="75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  <a:spcBef>
                <a:spcPts val="650"/>
              </a:spcBef>
            </a:pPr>
            <a:r>
              <a:rPr dirty="0" sz="70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700" spc="-10">
                <a:solidFill>
                  <a:srgbClr val="FFD580"/>
                </a:solidFill>
                <a:latin typeface="Courier New"/>
                <a:cs typeface="Courier New"/>
              </a:rPr>
              <a:t>loc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00" spc="-10">
                <a:solidFill>
                  <a:srgbClr val="FFD580"/>
                </a:solidFill>
                <a:latin typeface="Courier New"/>
                <a:cs typeface="Courier New"/>
              </a:rPr>
              <a:t>0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r>
              <a:rPr dirty="0" sz="700" spc="-10">
                <a:solidFill>
                  <a:srgbClr val="FFD580"/>
                </a:solidFill>
                <a:latin typeface="Courier New"/>
                <a:cs typeface="Courier New"/>
              </a:rPr>
              <a:t>3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00" spc="-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00">
                <a:solidFill>
                  <a:srgbClr val="B8E886"/>
                </a:solidFill>
                <a:latin typeface="Courier New"/>
                <a:cs typeface="Courier New"/>
              </a:rPr>
              <a:t>"name"</a:t>
            </a:r>
            <a:r>
              <a:rPr dirty="0" sz="7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700" spc="-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"marks"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]]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685799" y="5105399"/>
            <a:ext cx="5353050" cy="828675"/>
            <a:chOff x="685799" y="5105399"/>
            <a:chExt cx="5353050" cy="828675"/>
          </a:xfrm>
        </p:grpSpPr>
        <p:sp>
          <p:nvSpPr>
            <p:cNvPr id="93" name="object 93"/>
            <p:cNvSpPr/>
            <p:nvPr/>
          </p:nvSpPr>
          <p:spPr>
            <a:xfrm>
              <a:off x="690562" y="5110162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5258978" y="819149"/>
                  </a:moveTo>
                  <a:lnTo>
                    <a:pt x="84545" y="819149"/>
                  </a:lnTo>
                  <a:lnTo>
                    <a:pt x="78661" y="818569"/>
                  </a:lnTo>
                  <a:lnTo>
                    <a:pt x="35275" y="800598"/>
                  </a:lnTo>
                  <a:lnTo>
                    <a:pt x="9161" y="768779"/>
                  </a:lnTo>
                  <a:lnTo>
                    <a:pt x="0" y="734603"/>
                  </a:lnTo>
                  <a:lnTo>
                    <a:pt x="0" y="728661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7"/>
                  </a:lnTo>
                  <a:lnTo>
                    <a:pt x="84545" y="0"/>
                  </a:lnTo>
                  <a:lnTo>
                    <a:pt x="5258978" y="0"/>
                  </a:lnTo>
                  <a:lnTo>
                    <a:pt x="5298368" y="11947"/>
                  </a:lnTo>
                  <a:lnTo>
                    <a:pt x="5331574" y="45154"/>
                  </a:lnTo>
                  <a:lnTo>
                    <a:pt x="5343524" y="84545"/>
                  </a:lnTo>
                  <a:lnTo>
                    <a:pt x="5343524" y="734603"/>
                  </a:lnTo>
                  <a:lnTo>
                    <a:pt x="5331574" y="773994"/>
                  </a:lnTo>
                  <a:lnTo>
                    <a:pt x="5298368" y="807199"/>
                  </a:lnTo>
                  <a:lnTo>
                    <a:pt x="5264862" y="818569"/>
                  </a:lnTo>
                  <a:lnTo>
                    <a:pt x="5258978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90562" y="5110162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5253037" y="0"/>
                  </a:lnTo>
                  <a:lnTo>
                    <a:pt x="5287664" y="6887"/>
                  </a:lnTo>
                  <a:lnTo>
                    <a:pt x="5293153" y="9161"/>
                  </a:lnTo>
                  <a:lnTo>
                    <a:pt x="5298368" y="11948"/>
                  </a:lnTo>
                  <a:lnTo>
                    <a:pt x="5303308" y="15249"/>
                  </a:lnTo>
                  <a:lnTo>
                    <a:pt x="5308248" y="18550"/>
                  </a:lnTo>
                  <a:lnTo>
                    <a:pt x="5334361" y="50369"/>
                  </a:lnTo>
                  <a:lnTo>
                    <a:pt x="5341785" y="72833"/>
                  </a:lnTo>
                  <a:lnTo>
                    <a:pt x="5342944" y="78661"/>
                  </a:lnTo>
                  <a:lnTo>
                    <a:pt x="5343524" y="84545"/>
                  </a:lnTo>
                  <a:lnTo>
                    <a:pt x="5343524" y="90487"/>
                  </a:lnTo>
                  <a:lnTo>
                    <a:pt x="5343524" y="728662"/>
                  </a:lnTo>
                  <a:lnTo>
                    <a:pt x="5343524" y="734603"/>
                  </a:lnTo>
                  <a:lnTo>
                    <a:pt x="5342944" y="740487"/>
                  </a:lnTo>
                  <a:lnTo>
                    <a:pt x="5341785" y="746314"/>
                  </a:lnTo>
                  <a:lnTo>
                    <a:pt x="5340625" y="752141"/>
                  </a:lnTo>
                  <a:lnTo>
                    <a:pt x="5321221" y="788445"/>
                  </a:lnTo>
                  <a:lnTo>
                    <a:pt x="5287664" y="812261"/>
                  </a:lnTo>
                  <a:lnTo>
                    <a:pt x="5282175" y="814535"/>
                  </a:lnTo>
                  <a:lnTo>
                    <a:pt x="5276517" y="816251"/>
                  </a:lnTo>
                  <a:lnTo>
                    <a:pt x="5270689" y="817411"/>
                  </a:lnTo>
                  <a:lnTo>
                    <a:pt x="5264862" y="818570"/>
                  </a:lnTo>
                  <a:lnTo>
                    <a:pt x="5258978" y="819149"/>
                  </a:lnTo>
                  <a:lnTo>
                    <a:pt x="5253037" y="819149"/>
                  </a:lnTo>
                  <a:lnTo>
                    <a:pt x="90487" y="819149"/>
                  </a:lnTo>
                  <a:lnTo>
                    <a:pt x="84545" y="819149"/>
                  </a:lnTo>
                  <a:lnTo>
                    <a:pt x="78661" y="818570"/>
                  </a:lnTo>
                  <a:lnTo>
                    <a:pt x="72834" y="817411"/>
                  </a:lnTo>
                  <a:lnTo>
                    <a:pt x="67006" y="816251"/>
                  </a:lnTo>
                  <a:lnTo>
                    <a:pt x="61348" y="814535"/>
                  </a:lnTo>
                  <a:lnTo>
                    <a:pt x="55859" y="812261"/>
                  </a:lnTo>
                  <a:lnTo>
                    <a:pt x="50370" y="809987"/>
                  </a:lnTo>
                  <a:lnTo>
                    <a:pt x="26503" y="792646"/>
                  </a:lnTo>
                  <a:lnTo>
                    <a:pt x="22301" y="788445"/>
                  </a:lnTo>
                  <a:lnTo>
                    <a:pt x="18550" y="783874"/>
                  </a:lnTo>
                  <a:lnTo>
                    <a:pt x="15249" y="778934"/>
                  </a:lnTo>
                  <a:lnTo>
                    <a:pt x="11948" y="773994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624" y="5400674"/>
              <a:ext cx="228600" cy="228599"/>
            </a:xfrm>
            <a:prstGeom prst="rect">
              <a:avLst/>
            </a:prstGeom>
          </p:spPr>
        </p:pic>
      </p:grpSp>
      <p:sp>
        <p:nvSpPr>
          <p:cNvPr id="96" name="object 96"/>
          <p:cNvSpPr txBox="1"/>
          <p:nvPr/>
        </p:nvSpPr>
        <p:spPr>
          <a:xfrm>
            <a:off x="856009" y="5435600"/>
            <a:ext cx="1339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0" b="1">
                <a:solidFill>
                  <a:srgbClr val="4A4E6A"/>
                </a:solidFill>
                <a:latin typeface="Tahoma"/>
                <a:cs typeface="Tahoma"/>
              </a:rPr>
              <a:t>09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142999" y="5324474"/>
            <a:ext cx="2667000" cy="381000"/>
            <a:chOff x="1142999" y="5324474"/>
            <a:chExt cx="2667000" cy="381000"/>
          </a:xfrm>
        </p:grpSpPr>
        <p:sp>
          <p:nvSpPr>
            <p:cNvPr id="98" name="object 98"/>
            <p:cNvSpPr/>
            <p:nvPr/>
          </p:nvSpPr>
          <p:spPr>
            <a:xfrm>
              <a:off x="1142999" y="5324474"/>
              <a:ext cx="1019175" cy="171450"/>
            </a:xfrm>
            <a:custGeom>
              <a:avLst/>
              <a:gdLst/>
              <a:ahLst/>
              <a:cxnLst/>
              <a:rect l="l" t="t" r="r" b="b"/>
              <a:pathLst>
                <a:path w="1019175" h="171450">
                  <a:moveTo>
                    <a:pt x="977865" y="171449"/>
                  </a:moveTo>
                  <a:lnTo>
                    <a:pt x="41309" y="171449"/>
                  </a:lnTo>
                  <a:lnTo>
                    <a:pt x="35234" y="170240"/>
                  </a:lnTo>
                  <a:lnTo>
                    <a:pt x="1208" y="136215"/>
                  </a:lnTo>
                  <a:lnTo>
                    <a:pt x="0" y="130140"/>
                  </a:lnTo>
                  <a:lnTo>
                    <a:pt x="0" y="123824"/>
                  </a:lnTo>
                  <a:lnTo>
                    <a:pt x="0" y="41308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977865" y="0"/>
                  </a:lnTo>
                  <a:lnTo>
                    <a:pt x="1013132" y="23564"/>
                  </a:lnTo>
                  <a:lnTo>
                    <a:pt x="1019174" y="41308"/>
                  </a:lnTo>
                  <a:lnTo>
                    <a:pt x="1019174" y="130140"/>
                  </a:lnTo>
                  <a:lnTo>
                    <a:pt x="995609" y="165407"/>
                  </a:lnTo>
                  <a:lnTo>
                    <a:pt x="983940" y="170240"/>
                  </a:lnTo>
                  <a:lnTo>
                    <a:pt x="977865" y="1714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147762" y="5519737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2620296" y="180974"/>
                  </a:moveTo>
                  <a:lnTo>
                    <a:pt x="37178" y="180974"/>
                  </a:lnTo>
                  <a:lnTo>
                    <a:pt x="31710" y="179886"/>
                  </a:lnTo>
                  <a:lnTo>
                    <a:pt x="1087" y="149262"/>
                  </a:lnTo>
                  <a:lnTo>
                    <a:pt x="0" y="143795"/>
                  </a:lnTo>
                  <a:lnTo>
                    <a:pt x="0" y="138112"/>
                  </a:lnTo>
                  <a:lnTo>
                    <a:pt x="0" y="37177"/>
                  </a:lnTo>
                  <a:lnTo>
                    <a:pt x="21208" y="5436"/>
                  </a:lnTo>
                  <a:lnTo>
                    <a:pt x="37178" y="0"/>
                  </a:lnTo>
                  <a:lnTo>
                    <a:pt x="2620296" y="0"/>
                  </a:lnTo>
                  <a:lnTo>
                    <a:pt x="2652036" y="21207"/>
                  </a:lnTo>
                  <a:lnTo>
                    <a:pt x="2657474" y="37177"/>
                  </a:lnTo>
                  <a:lnTo>
                    <a:pt x="2657474" y="143795"/>
                  </a:lnTo>
                  <a:lnTo>
                    <a:pt x="2636266" y="175536"/>
                  </a:lnTo>
                  <a:lnTo>
                    <a:pt x="2625763" y="179886"/>
                  </a:lnTo>
                  <a:lnTo>
                    <a:pt x="2620296" y="18097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147762" y="5519737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0" y="138112"/>
                  </a:moveTo>
                  <a:lnTo>
                    <a:pt x="0" y="42862"/>
                  </a:lnTo>
                  <a:lnTo>
                    <a:pt x="0" y="37177"/>
                  </a:lnTo>
                  <a:lnTo>
                    <a:pt x="1087" y="31710"/>
                  </a:lnTo>
                  <a:lnTo>
                    <a:pt x="3262" y="26458"/>
                  </a:lnTo>
                  <a:lnTo>
                    <a:pt x="5437" y="21207"/>
                  </a:lnTo>
                  <a:lnTo>
                    <a:pt x="8534" y="16572"/>
                  </a:lnTo>
                  <a:lnTo>
                    <a:pt x="12554" y="12553"/>
                  </a:lnTo>
                  <a:lnTo>
                    <a:pt x="16573" y="8534"/>
                  </a:lnTo>
                  <a:lnTo>
                    <a:pt x="21208" y="5436"/>
                  </a:lnTo>
                  <a:lnTo>
                    <a:pt x="26459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2" y="0"/>
                  </a:lnTo>
                  <a:lnTo>
                    <a:pt x="2614612" y="0"/>
                  </a:lnTo>
                  <a:lnTo>
                    <a:pt x="2620296" y="0"/>
                  </a:lnTo>
                  <a:lnTo>
                    <a:pt x="2625763" y="1087"/>
                  </a:lnTo>
                  <a:lnTo>
                    <a:pt x="2631014" y="3262"/>
                  </a:lnTo>
                  <a:lnTo>
                    <a:pt x="2636266" y="5436"/>
                  </a:lnTo>
                  <a:lnTo>
                    <a:pt x="2640901" y="8534"/>
                  </a:lnTo>
                  <a:lnTo>
                    <a:pt x="2644920" y="12553"/>
                  </a:lnTo>
                  <a:lnTo>
                    <a:pt x="2648939" y="16572"/>
                  </a:lnTo>
                  <a:lnTo>
                    <a:pt x="2657474" y="42862"/>
                  </a:lnTo>
                  <a:lnTo>
                    <a:pt x="2657474" y="138112"/>
                  </a:lnTo>
                  <a:lnTo>
                    <a:pt x="2657474" y="143795"/>
                  </a:lnTo>
                  <a:lnTo>
                    <a:pt x="2656386" y="149262"/>
                  </a:lnTo>
                  <a:lnTo>
                    <a:pt x="2654211" y="154514"/>
                  </a:lnTo>
                  <a:lnTo>
                    <a:pt x="2652036" y="159765"/>
                  </a:lnTo>
                  <a:lnTo>
                    <a:pt x="2631014" y="177711"/>
                  </a:lnTo>
                  <a:lnTo>
                    <a:pt x="2625763" y="179886"/>
                  </a:lnTo>
                  <a:lnTo>
                    <a:pt x="2620296" y="180974"/>
                  </a:lnTo>
                  <a:lnTo>
                    <a:pt x="2614612" y="180974"/>
                  </a:lnTo>
                  <a:lnTo>
                    <a:pt x="42862" y="180974"/>
                  </a:lnTo>
                  <a:lnTo>
                    <a:pt x="37178" y="180974"/>
                  </a:lnTo>
                  <a:lnTo>
                    <a:pt x="31710" y="179886"/>
                  </a:lnTo>
                  <a:lnTo>
                    <a:pt x="26459" y="177711"/>
                  </a:lnTo>
                  <a:lnTo>
                    <a:pt x="21208" y="175536"/>
                  </a:lnTo>
                  <a:lnTo>
                    <a:pt x="16573" y="172439"/>
                  </a:lnTo>
                  <a:lnTo>
                    <a:pt x="12554" y="168420"/>
                  </a:lnTo>
                  <a:lnTo>
                    <a:pt x="8534" y="164401"/>
                  </a:lnTo>
                  <a:lnTo>
                    <a:pt x="5437" y="159765"/>
                  </a:lnTo>
                  <a:lnTo>
                    <a:pt x="3262" y="154514"/>
                  </a:lnTo>
                  <a:lnTo>
                    <a:pt x="1087" y="149262"/>
                  </a:lnTo>
                  <a:lnTo>
                    <a:pt x="0" y="143795"/>
                  </a:lnTo>
                  <a:lnTo>
                    <a:pt x="0" y="13811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/>
          <p:cNvSpPr txBox="1"/>
          <p:nvPr/>
        </p:nvSpPr>
        <p:spPr>
          <a:xfrm>
            <a:off x="1196974" y="5326062"/>
            <a:ext cx="2239010" cy="334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3703" sz="1125" b="1">
                <a:solidFill>
                  <a:srgbClr val="FF6A5B"/>
                </a:solidFill>
                <a:latin typeface="Courier New"/>
                <a:cs typeface="Courier New"/>
              </a:rPr>
              <a:t>df["new"]</a:t>
            </a:r>
            <a:r>
              <a:rPr dirty="0" baseline="3703" sz="1125" spc="7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baseline="3703" sz="1125" b="1">
                <a:solidFill>
                  <a:srgbClr val="FF6A5B"/>
                </a:solidFill>
                <a:latin typeface="Courier New"/>
                <a:cs typeface="Courier New"/>
              </a:rPr>
              <a:t>=</a:t>
            </a:r>
            <a:r>
              <a:rPr dirty="0" baseline="3703" sz="1125" spc="7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baseline="3703" sz="1125" b="1">
                <a:solidFill>
                  <a:srgbClr val="FF6A5B"/>
                </a:solidFill>
                <a:latin typeface="Courier New"/>
                <a:cs typeface="Courier New"/>
              </a:rPr>
              <a:t>...</a:t>
            </a:r>
            <a:r>
              <a:rPr dirty="0" baseline="3703" sz="1125" spc="240" b="1">
                <a:solidFill>
                  <a:srgbClr val="FF6A5B"/>
                </a:solidFill>
                <a:latin typeface="Courier New"/>
                <a:cs typeface="Courier New"/>
              </a:rPr>
              <a:t>  </a:t>
            </a:r>
            <a:r>
              <a:rPr dirty="0" sz="750" spc="-10">
                <a:solidFill>
                  <a:srgbClr val="4A4E6A"/>
                </a:solidFill>
                <a:latin typeface="Trebuchet MS"/>
                <a:cs typeface="Trebuchet MS"/>
              </a:rPr>
              <a:t>Add</a:t>
            </a:r>
            <a:r>
              <a:rPr dirty="0" sz="7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4A4E6A"/>
                </a:solidFill>
                <a:latin typeface="Trebuchet MS"/>
                <a:cs typeface="Trebuchet MS"/>
              </a:rPr>
              <a:t>or</a:t>
            </a:r>
            <a:r>
              <a:rPr dirty="0" sz="7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5">
                <a:solidFill>
                  <a:srgbClr val="4A4E6A"/>
                </a:solidFill>
                <a:latin typeface="Trebuchet MS"/>
                <a:cs typeface="Trebuchet MS"/>
              </a:rPr>
              <a:t>modify</a:t>
            </a:r>
            <a:r>
              <a:rPr dirty="0" sz="7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7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4A4E6A"/>
                </a:solidFill>
                <a:latin typeface="Trebuchet MS"/>
                <a:cs typeface="Trebuchet MS"/>
              </a:rPr>
              <a:t>column.</a:t>
            </a:r>
            <a:endParaRPr sz="75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  <a:spcBef>
                <a:spcPts val="650"/>
              </a:spcBef>
            </a:pPr>
            <a:r>
              <a:rPr dirty="0" sz="70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"grade"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700" spc="-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5"/>
                </a:solidFill>
                <a:latin typeface="Courier New"/>
                <a:cs typeface="Courier New"/>
              </a:rPr>
              <a:t>= </a:t>
            </a:r>
            <a:r>
              <a:rPr dirty="0" sz="70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"marks"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].</a:t>
            </a:r>
            <a:r>
              <a:rPr dirty="0" sz="700" spc="-10">
                <a:solidFill>
                  <a:srgbClr val="FFD580"/>
                </a:solidFill>
                <a:latin typeface="Courier New"/>
                <a:cs typeface="Courier New"/>
              </a:rPr>
              <a:t>apply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(to_grade)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6153148" y="5105399"/>
            <a:ext cx="5353050" cy="828675"/>
            <a:chOff x="6153148" y="5105399"/>
            <a:chExt cx="5353050" cy="828675"/>
          </a:xfrm>
        </p:grpSpPr>
        <p:sp>
          <p:nvSpPr>
            <p:cNvPr id="103" name="object 103"/>
            <p:cNvSpPr/>
            <p:nvPr/>
          </p:nvSpPr>
          <p:spPr>
            <a:xfrm>
              <a:off x="6157911" y="5110162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5258978" y="819149"/>
                  </a:moveTo>
                  <a:lnTo>
                    <a:pt x="84545" y="819149"/>
                  </a:lnTo>
                  <a:lnTo>
                    <a:pt x="78661" y="818569"/>
                  </a:lnTo>
                  <a:lnTo>
                    <a:pt x="35275" y="800598"/>
                  </a:lnTo>
                  <a:lnTo>
                    <a:pt x="9161" y="768779"/>
                  </a:lnTo>
                  <a:lnTo>
                    <a:pt x="0" y="734603"/>
                  </a:lnTo>
                  <a:lnTo>
                    <a:pt x="0" y="728661"/>
                  </a:lnTo>
                  <a:lnTo>
                    <a:pt x="0" y="84545"/>
                  </a:lnTo>
                  <a:lnTo>
                    <a:pt x="11949" y="45154"/>
                  </a:lnTo>
                  <a:lnTo>
                    <a:pt x="45154" y="11947"/>
                  </a:lnTo>
                  <a:lnTo>
                    <a:pt x="84545" y="0"/>
                  </a:lnTo>
                  <a:lnTo>
                    <a:pt x="5258978" y="0"/>
                  </a:lnTo>
                  <a:lnTo>
                    <a:pt x="5298368" y="11947"/>
                  </a:lnTo>
                  <a:lnTo>
                    <a:pt x="5331575" y="45154"/>
                  </a:lnTo>
                  <a:lnTo>
                    <a:pt x="5343524" y="84545"/>
                  </a:lnTo>
                  <a:lnTo>
                    <a:pt x="5343524" y="734603"/>
                  </a:lnTo>
                  <a:lnTo>
                    <a:pt x="5331575" y="773994"/>
                  </a:lnTo>
                  <a:lnTo>
                    <a:pt x="5298368" y="807199"/>
                  </a:lnTo>
                  <a:lnTo>
                    <a:pt x="5264862" y="818569"/>
                  </a:lnTo>
                  <a:lnTo>
                    <a:pt x="5258978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6157911" y="5110162"/>
              <a:ext cx="5343525" cy="819150"/>
            </a:xfrm>
            <a:custGeom>
              <a:avLst/>
              <a:gdLst/>
              <a:ahLst/>
              <a:cxnLst/>
              <a:rect l="l" t="t" r="r" b="b"/>
              <a:pathLst>
                <a:path w="5343525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8" y="67006"/>
                  </a:lnTo>
                  <a:lnTo>
                    <a:pt x="4614" y="61347"/>
                  </a:lnTo>
                  <a:lnTo>
                    <a:pt x="26503" y="26503"/>
                  </a:lnTo>
                  <a:lnTo>
                    <a:pt x="30705" y="22301"/>
                  </a:lnTo>
                  <a:lnTo>
                    <a:pt x="35275" y="18550"/>
                  </a:lnTo>
                  <a:lnTo>
                    <a:pt x="40214" y="15249"/>
                  </a:lnTo>
                  <a:lnTo>
                    <a:pt x="45154" y="11948"/>
                  </a:lnTo>
                  <a:lnTo>
                    <a:pt x="50369" y="9161"/>
                  </a:lnTo>
                  <a:lnTo>
                    <a:pt x="55859" y="6887"/>
                  </a:lnTo>
                  <a:lnTo>
                    <a:pt x="61348" y="4613"/>
                  </a:lnTo>
                  <a:lnTo>
                    <a:pt x="90488" y="0"/>
                  </a:lnTo>
                  <a:lnTo>
                    <a:pt x="5253037" y="0"/>
                  </a:lnTo>
                  <a:lnTo>
                    <a:pt x="5293153" y="9161"/>
                  </a:lnTo>
                  <a:lnTo>
                    <a:pt x="5303308" y="15249"/>
                  </a:lnTo>
                  <a:lnTo>
                    <a:pt x="5308249" y="18550"/>
                  </a:lnTo>
                  <a:lnTo>
                    <a:pt x="5334362" y="50369"/>
                  </a:lnTo>
                  <a:lnTo>
                    <a:pt x="5336636" y="55858"/>
                  </a:lnTo>
                  <a:lnTo>
                    <a:pt x="5338909" y="61347"/>
                  </a:lnTo>
                  <a:lnTo>
                    <a:pt x="5340626" y="67006"/>
                  </a:lnTo>
                  <a:lnTo>
                    <a:pt x="5341785" y="72833"/>
                  </a:lnTo>
                  <a:lnTo>
                    <a:pt x="5342944" y="78661"/>
                  </a:lnTo>
                  <a:lnTo>
                    <a:pt x="5343524" y="84545"/>
                  </a:lnTo>
                  <a:lnTo>
                    <a:pt x="5343525" y="90487"/>
                  </a:lnTo>
                  <a:lnTo>
                    <a:pt x="5343525" y="728662"/>
                  </a:lnTo>
                  <a:lnTo>
                    <a:pt x="5343524" y="734603"/>
                  </a:lnTo>
                  <a:lnTo>
                    <a:pt x="5342944" y="740487"/>
                  </a:lnTo>
                  <a:lnTo>
                    <a:pt x="5341785" y="746314"/>
                  </a:lnTo>
                  <a:lnTo>
                    <a:pt x="5340626" y="752141"/>
                  </a:lnTo>
                  <a:lnTo>
                    <a:pt x="5338909" y="757800"/>
                  </a:lnTo>
                  <a:lnTo>
                    <a:pt x="5336636" y="763290"/>
                  </a:lnTo>
                  <a:lnTo>
                    <a:pt x="5334362" y="768779"/>
                  </a:lnTo>
                  <a:lnTo>
                    <a:pt x="5331575" y="773994"/>
                  </a:lnTo>
                  <a:lnTo>
                    <a:pt x="5328274" y="778934"/>
                  </a:lnTo>
                  <a:lnTo>
                    <a:pt x="5324973" y="783874"/>
                  </a:lnTo>
                  <a:lnTo>
                    <a:pt x="5293153" y="809987"/>
                  </a:lnTo>
                  <a:lnTo>
                    <a:pt x="5287664" y="812261"/>
                  </a:lnTo>
                  <a:lnTo>
                    <a:pt x="5282175" y="814535"/>
                  </a:lnTo>
                  <a:lnTo>
                    <a:pt x="5276517" y="816251"/>
                  </a:lnTo>
                  <a:lnTo>
                    <a:pt x="5270690" y="817411"/>
                  </a:lnTo>
                  <a:lnTo>
                    <a:pt x="5264862" y="818570"/>
                  </a:lnTo>
                  <a:lnTo>
                    <a:pt x="5258978" y="819149"/>
                  </a:lnTo>
                  <a:lnTo>
                    <a:pt x="5253037" y="819149"/>
                  </a:lnTo>
                  <a:lnTo>
                    <a:pt x="90488" y="819149"/>
                  </a:lnTo>
                  <a:lnTo>
                    <a:pt x="84545" y="819149"/>
                  </a:lnTo>
                  <a:lnTo>
                    <a:pt x="78661" y="818570"/>
                  </a:lnTo>
                  <a:lnTo>
                    <a:pt x="72833" y="817411"/>
                  </a:lnTo>
                  <a:lnTo>
                    <a:pt x="67006" y="816251"/>
                  </a:lnTo>
                  <a:lnTo>
                    <a:pt x="61348" y="814535"/>
                  </a:lnTo>
                  <a:lnTo>
                    <a:pt x="55859" y="812261"/>
                  </a:lnTo>
                  <a:lnTo>
                    <a:pt x="50369" y="809987"/>
                  </a:lnTo>
                  <a:lnTo>
                    <a:pt x="26503" y="792646"/>
                  </a:lnTo>
                  <a:lnTo>
                    <a:pt x="22302" y="788445"/>
                  </a:lnTo>
                  <a:lnTo>
                    <a:pt x="2898" y="752141"/>
                  </a:lnTo>
                  <a:lnTo>
                    <a:pt x="1738" y="746314"/>
                  </a:lnTo>
                  <a:lnTo>
                    <a:pt x="579" y="740487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6974" y="5400674"/>
              <a:ext cx="228599" cy="228599"/>
            </a:xfrm>
            <a:prstGeom prst="rect">
              <a:avLst/>
            </a:prstGeom>
          </p:spPr>
        </p:pic>
      </p:grpSp>
      <p:sp>
        <p:nvSpPr>
          <p:cNvPr id="106" name="object 106"/>
          <p:cNvSpPr txBox="1"/>
          <p:nvPr/>
        </p:nvSpPr>
        <p:spPr>
          <a:xfrm>
            <a:off x="6323359" y="5435600"/>
            <a:ext cx="1339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0" b="1">
                <a:solidFill>
                  <a:srgbClr val="4A4E6A"/>
                </a:solidFill>
                <a:latin typeface="Tahoma"/>
                <a:cs typeface="Tahoma"/>
              </a:rPr>
              <a:t>10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6610349" y="5324474"/>
            <a:ext cx="2667000" cy="381000"/>
            <a:chOff x="6610349" y="5324474"/>
            <a:chExt cx="2667000" cy="381000"/>
          </a:xfrm>
        </p:grpSpPr>
        <p:sp>
          <p:nvSpPr>
            <p:cNvPr id="108" name="object 108"/>
            <p:cNvSpPr/>
            <p:nvPr/>
          </p:nvSpPr>
          <p:spPr>
            <a:xfrm>
              <a:off x="6610349" y="5324474"/>
              <a:ext cx="1133475" cy="171450"/>
            </a:xfrm>
            <a:custGeom>
              <a:avLst/>
              <a:gdLst/>
              <a:ahLst/>
              <a:cxnLst/>
              <a:rect l="l" t="t" r="r" b="b"/>
              <a:pathLst>
                <a:path w="1133475" h="171450">
                  <a:moveTo>
                    <a:pt x="1092165" y="171449"/>
                  </a:moveTo>
                  <a:lnTo>
                    <a:pt x="41309" y="171449"/>
                  </a:lnTo>
                  <a:lnTo>
                    <a:pt x="35233" y="170240"/>
                  </a:lnTo>
                  <a:lnTo>
                    <a:pt x="1208" y="136215"/>
                  </a:lnTo>
                  <a:lnTo>
                    <a:pt x="0" y="130140"/>
                  </a:lnTo>
                  <a:lnTo>
                    <a:pt x="0" y="123824"/>
                  </a:lnTo>
                  <a:lnTo>
                    <a:pt x="0" y="41308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1092165" y="0"/>
                  </a:lnTo>
                  <a:lnTo>
                    <a:pt x="1127432" y="23564"/>
                  </a:lnTo>
                  <a:lnTo>
                    <a:pt x="1133474" y="41308"/>
                  </a:lnTo>
                  <a:lnTo>
                    <a:pt x="1133474" y="130140"/>
                  </a:lnTo>
                  <a:lnTo>
                    <a:pt x="1109910" y="165407"/>
                  </a:lnTo>
                  <a:lnTo>
                    <a:pt x="1098240" y="170240"/>
                  </a:lnTo>
                  <a:lnTo>
                    <a:pt x="1092165" y="17144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6615111" y="5519737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2620296" y="180974"/>
                  </a:moveTo>
                  <a:lnTo>
                    <a:pt x="37178" y="180974"/>
                  </a:lnTo>
                  <a:lnTo>
                    <a:pt x="31710" y="179886"/>
                  </a:lnTo>
                  <a:lnTo>
                    <a:pt x="1087" y="149262"/>
                  </a:lnTo>
                  <a:lnTo>
                    <a:pt x="0" y="143795"/>
                  </a:lnTo>
                  <a:lnTo>
                    <a:pt x="0" y="138112"/>
                  </a:lnTo>
                  <a:lnTo>
                    <a:pt x="0" y="37177"/>
                  </a:lnTo>
                  <a:lnTo>
                    <a:pt x="21208" y="5436"/>
                  </a:lnTo>
                  <a:lnTo>
                    <a:pt x="37178" y="0"/>
                  </a:lnTo>
                  <a:lnTo>
                    <a:pt x="2620296" y="0"/>
                  </a:lnTo>
                  <a:lnTo>
                    <a:pt x="2652036" y="21207"/>
                  </a:lnTo>
                  <a:lnTo>
                    <a:pt x="2657474" y="37177"/>
                  </a:lnTo>
                  <a:lnTo>
                    <a:pt x="2657474" y="143795"/>
                  </a:lnTo>
                  <a:lnTo>
                    <a:pt x="2636265" y="175536"/>
                  </a:lnTo>
                  <a:lnTo>
                    <a:pt x="2625763" y="179886"/>
                  </a:lnTo>
                  <a:lnTo>
                    <a:pt x="2620296" y="180974"/>
                  </a:lnTo>
                  <a:close/>
                </a:path>
              </a:pathLst>
            </a:custGeom>
            <a:solidFill>
              <a:srgbClr val="1B1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6615111" y="5519737"/>
              <a:ext cx="2657475" cy="180975"/>
            </a:xfrm>
            <a:custGeom>
              <a:avLst/>
              <a:gdLst/>
              <a:ahLst/>
              <a:cxnLst/>
              <a:rect l="l" t="t" r="r" b="b"/>
              <a:pathLst>
                <a:path w="2657475" h="180975">
                  <a:moveTo>
                    <a:pt x="0" y="138112"/>
                  </a:moveTo>
                  <a:lnTo>
                    <a:pt x="0" y="42862"/>
                  </a:lnTo>
                  <a:lnTo>
                    <a:pt x="0" y="37177"/>
                  </a:lnTo>
                  <a:lnTo>
                    <a:pt x="1087" y="31710"/>
                  </a:lnTo>
                  <a:lnTo>
                    <a:pt x="3262" y="26458"/>
                  </a:lnTo>
                  <a:lnTo>
                    <a:pt x="5438" y="21207"/>
                  </a:lnTo>
                  <a:lnTo>
                    <a:pt x="8535" y="16572"/>
                  </a:lnTo>
                  <a:lnTo>
                    <a:pt x="12554" y="12553"/>
                  </a:lnTo>
                  <a:lnTo>
                    <a:pt x="16573" y="8534"/>
                  </a:lnTo>
                  <a:lnTo>
                    <a:pt x="21208" y="5436"/>
                  </a:lnTo>
                  <a:lnTo>
                    <a:pt x="26459" y="3262"/>
                  </a:lnTo>
                  <a:lnTo>
                    <a:pt x="31710" y="1087"/>
                  </a:lnTo>
                  <a:lnTo>
                    <a:pt x="37178" y="0"/>
                  </a:lnTo>
                  <a:lnTo>
                    <a:pt x="42863" y="0"/>
                  </a:lnTo>
                  <a:lnTo>
                    <a:pt x="2614612" y="0"/>
                  </a:lnTo>
                  <a:lnTo>
                    <a:pt x="2620296" y="0"/>
                  </a:lnTo>
                  <a:lnTo>
                    <a:pt x="2625763" y="1087"/>
                  </a:lnTo>
                  <a:lnTo>
                    <a:pt x="2631014" y="3262"/>
                  </a:lnTo>
                  <a:lnTo>
                    <a:pt x="2636265" y="5436"/>
                  </a:lnTo>
                  <a:lnTo>
                    <a:pt x="2640900" y="8534"/>
                  </a:lnTo>
                  <a:lnTo>
                    <a:pt x="2644920" y="12553"/>
                  </a:lnTo>
                  <a:lnTo>
                    <a:pt x="2648939" y="16572"/>
                  </a:lnTo>
                  <a:lnTo>
                    <a:pt x="2657475" y="42862"/>
                  </a:lnTo>
                  <a:lnTo>
                    <a:pt x="2657475" y="138112"/>
                  </a:lnTo>
                  <a:lnTo>
                    <a:pt x="2657474" y="143795"/>
                  </a:lnTo>
                  <a:lnTo>
                    <a:pt x="2656387" y="149262"/>
                  </a:lnTo>
                  <a:lnTo>
                    <a:pt x="2654211" y="154514"/>
                  </a:lnTo>
                  <a:lnTo>
                    <a:pt x="2652036" y="159765"/>
                  </a:lnTo>
                  <a:lnTo>
                    <a:pt x="2631014" y="177711"/>
                  </a:lnTo>
                  <a:lnTo>
                    <a:pt x="2625763" y="179886"/>
                  </a:lnTo>
                  <a:lnTo>
                    <a:pt x="2620296" y="180974"/>
                  </a:lnTo>
                  <a:lnTo>
                    <a:pt x="2614612" y="180974"/>
                  </a:lnTo>
                  <a:lnTo>
                    <a:pt x="42863" y="180974"/>
                  </a:lnTo>
                  <a:lnTo>
                    <a:pt x="37178" y="180974"/>
                  </a:lnTo>
                  <a:lnTo>
                    <a:pt x="31710" y="179886"/>
                  </a:lnTo>
                  <a:lnTo>
                    <a:pt x="26459" y="177711"/>
                  </a:lnTo>
                  <a:lnTo>
                    <a:pt x="21208" y="175536"/>
                  </a:lnTo>
                  <a:lnTo>
                    <a:pt x="0" y="143795"/>
                  </a:lnTo>
                  <a:lnTo>
                    <a:pt x="0" y="138112"/>
                  </a:lnTo>
                  <a:close/>
                </a:path>
              </a:pathLst>
            </a:custGeom>
            <a:ln w="9524">
              <a:solidFill>
                <a:srgbClr val="292E5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1" name="object 111"/>
          <p:cNvSpPr txBox="1"/>
          <p:nvPr/>
        </p:nvSpPr>
        <p:spPr>
          <a:xfrm>
            <a:off x="6664325" y="5326062"/>
            <a:ext cx="3625215" cy="334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3703" sz="1125" b="1">
                <a:solidFill>
                  <a:srgbClr val="FF6A5B"/>
                </a:solidFill>
                <a:latin typeface="Courier New"/>
                <a:cs typeface="Courier New"/>
              </a:rPr>
              <a:t>df.groupby("col")</a:t>
            </a:r>
            <a:r>
              <a:rPr dirty="0" baseline="3703" sz="1125" spc="345" b="1">
                <a:solidFill>
                  <a:srgbClr val="FF6A5B"/>
                </a:solidFill>
                <a:latin typeface="Courier New"/>
                <a:cs typeface="Courier New"/>
              </a:rPr>
              <a:t>  </a:t>
            </a:r>
            <a:r>
              <a:rPr dirty="0" sz="750" spc="-20">
                <a:solidFill>
                  <a:srgbClr val="4A4E6A"/>
                </a:solidFill>
                <a:latin typeface="Trebuchet MS"/>
                <a:cs typeface="Trebuchet MS"/>
              </a:rPr>
              <a:t>Group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0">
                <a:solidFill>
                  <a:srgbClr val="4A4E6A"/>
                </a:solidFill>
                <a:latin typeface="Trebuchet MS"/>
                <a:cs typeface="Trebuchet MS"/>
              </a:rPr>
              <a:t>rows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2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 a </a:t>
            </a:r>
            <a:r>
              <a:rPr dirty="0" sz="750" spc="-40">
                <a:solidFill>
                  <a:srgbClr val="4A4E6A"/>
                </a:solidFill>
                <a:latin typeface="Trebuchet MS"/>
                <a:cs typeface="Trebuchet MS"/>
              </a:rPr>
              <a:t>column.</a:t>
            </a:r>
            <a:r>
              <a:rPr dirty="0" sz="75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Chain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35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50">
                <a:solidFill>
                  <a:srgbClr val="4A4E6A"/>
                </a:solidFill>
                <a:latin typeface="Trebuchet MS"/>
                <a:cs typeface="Trebuchet MS"/>
              </a:rPr>
              <a:t>.mean(),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50">
                <a:solidFill>
                  <a:srgbClr val="4A4E6A"/>
                </a:solidFill>
                <a:latin typeface="Trebuchet MS"/>
                <a:cs typeface="Trebuchet MS"/>
              </a:rPr>
              <a:t>.sum(),</a:t>
            </a:r>
            <a:r>
              <a:rPr dirty="0" sz="7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4A4E6A"/>
                </a:solidFill>
                <a:latin typeface="Trebuchet MS"/>
                <a:cs typeface="Trebuchet MS"/>
              </a:rPr>
              <a:t>.count().</a:t>
            </a:r>
            <a:endParaRPr sz="750">
              <a:latin typeface="Trebuchet MS"/>
              <a:cs typeface="Trebuchet MS"/>
            </a:endParaRPr>
          </a:p>
          <a:p>
            <a:pPr marL="31115">
              <a:lnSpc>
                <a:spcPct val="100000"/>
              </a:lnSpc>
              <a:spcBef>
                <a:spcPts val="650"/>
              </a:spcBef>
            </a:pPr>
            <a:r>
              <a:rPr dirty="0" sz="700" spc="-10">
                <a:solidFill>
                  <a:srgbClr val="87D4FF"/>
                </a:solidFill>
                <a:latin typeface="Courier New"/>
                <a:cs typeface="Courier New"/>
              </a:rPr>
              <a:t>df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.</a:t>
            </a:r>
            <a:r>
              <a:rPr dirty="0" sz="700" spc="-10">
                <a:solidFill>
                  <a:srgbClr val="FFD580"/>
                </a:solidFill>
                <a:latin typeface="Courier New"/>
                <a:cs typeface="Courier New"/>
              </a:rPr>
              <a:t>groupby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"city"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)[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"marks"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].</a:t>
            </a:r>
            <a:r>
              <a:rPr dirty="0" sz="700" spc="-10">
                <a:solidFill>
                  <a:srgbClr val="FFD580"/>
                </a:solidFill>
                <a:latin typeface="Courier New"/>
                <a:cs typeface="Courier New"/>
              </a:rPr>
              <a:t>mean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()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685799" y="6010274"/>
            <a:ext cx="10820400" cy="314325"/>
            <a:chOff x="685799" y="6010274"/>
            <a:chExt cx="10820400" cy="314325"/>
          </a:xfrm>
        </p:grpSpPr>
        <p:sp>
          <p:nvSpPr>
            <p:cNvPr id="113" name="object 113"/>
            <p:cNvSpPr/>
            <p:nvPr/>
          </p:nvSpPr>
          <p:spPr>
            <a:xfrm>
              <a:off x="690562" y="6015037"/>
              <a:ext cx="10810875" cy="304800"/>
            </a:xfrm>
            <a:custGeom>
              <a:avLst/>
              <a:gdLst/>
              <a:ahLst/>
              <a:cxnLst/>
              <a:rect l="l" t="t" r="r" b="b"/>
              <a:pathLst>
                <a:path w="10810875" h="304800">
                  <a:moveTo>
                    <a:pt x="10726327" y="304799"/>
                  </a:moveTo>
                  <a:lnTo>
                    <a:pt x="84545" y="304799"/>
                  </a:lnTo>
                  <a:lnTo>
                    <a:pt x="78661" y="304219"/>
                  </a:lnTo>
                  <a:lnTo>
                    <a:pt x="35275" y="286247"/>
                  </a:lnTo>
                  <a:lnTo>
                    <a:pt x="9161" y="254428"/>
                  </a:lnTo>
                  <a:lnTo>
                    <a:pt x="0" y="220253"/>
                  </a:lnTo>
                  <a:lnTo>
                    <a:pt x="0" y="214312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726327" y="0"/>
                  </a:lnTo>
                  <a:lnTo>
                    <a:pt x="10765717" y="11948"/>
                  </a:lnTo>
                  <a:lnTo>
                    <a:pt x="10798924" y="45154"/>
                  </a:lnTo>
                  <a:lnTo>
                    <a:pt x="10810872" y="84545"/>
                  </a:lnTo>
                  <a:lnTo>
                    <a:pt x="10810872" y="220253"/>
                  </a:lnTo>
                  <a:lnTo>
                    <a:pt x="10798924" y="259643"/>
                  </a:lnTo>
                  <a:lnTo>
                    <a:pt x="10765717" y="292850"/>
                  </a:lnTo>
                  <a:lnTo>
                    <a:pt x="10732211" y="304219"/>
                  </a:lnTo>
                  <a:lnTo>
                    <a:pt x="10726327" y="304799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690562" y="6015037"/>
              <a:ext cx="10810875" cy="304800"/>
            </a:xfrm>
            <a:custGeom>
              <a:avLst/>
              <a:gdLst/>
              <a:ahLst/>
              <a:cxnLst/>
              <a:rect l="l" t="t" r="r" b="b"/>
              <a:pathLst>
                <a:path w="10810875" h="304800">
                  <a:moveTo>
                    <a:pt x="0" y="21431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0"/>
                  </a:lnTo>
                  <a:lnTo>
                    <a:pt x="1738" y="72833"/>
                  </a:lnTo>
                  <a:lnTo>
                    <a:pt x="2897" y="67005"/>
                  </a:lnTo>
                  <a:lnTo>
                    <a:pt x="4614" y="61347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72834" y="173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720386" y="0"/>
                  </a:lnTo>
                  <a:lnTo>
                    <a:pt x="10726327" y="0"/>
                  </a:lnTo>
                  <a:lnTo>
                    <a:pt x="10732211" y="579"/>
                  </a:lnTo>
                  <a:lnTo>
                    <a:pt x="10770657" y="15249"/>
                  </a:lnTo>
                  <a:lnTo>
                    <a:pt x="10795623" y="40215"/>
                  </a:lnTo>
                  <a:lnTo>
                    <a:pt x="10798924" y="45154"/>
                  </a:lnTo>
                  <a:lnTo>
                    <a:pt x="10801711" y="50369"/>
                  </a:lnTo>
                  <a:lnTo>
                    <a:pt x="10803984" y="55858"/>
                  </a:lnTo>
                  <a:lnTo>
                    <a:pt x="10806258" y="61347"/>
                  </a:lnTo>
                  <a:lnTo>
                    <a:pt x="10807975" y="67005"/>
                  </a:lnTo>
                  <a:lnTo>
                    <a:pt x="10809134" y="72833"/>
                  </a:lnTo>
                  <a:lnTo>
                    <a:pt x="10810293" y="78660"/>
                  </a:lnTo>
                  <a:lnTo>
                    <a:pt x="10810872" y="84545"/>
                  </a:lnTo>
                  <a:lnTo>
                    <a:pt x="10810874" y="90487"/>
                  </a:lnTo>
                  <a:lnTo>
                    <a:pt x="10810874" y="214312"/>
                  </a:lnTo>
                  <a:lnTo>
                    <a:pt x="10810872" y="220253"/>
                  </a:lnTo>
                  <a:lnTo>
                    <a:pt x="10810293" y="226137"/>
                  </a:lnTo>
                  <a:lnTo>
                    <a:pt x="10809134" y="231965"/>
                  </a:lnTo>
                  <a:lnTo>
                    <a:pt x="10807975" y="237792"/>
                  </a:lnTo>
                  <a:lnTo>
                    <a:pt x="10788572" y="274094"/>
                  </a:lnTo>
                  <a:lnTo>
                    <a:pt x="10755013" y="297911"/>
                  </a:lnTo>
                  <a:lnTo>
                    <a:pt x="10749524" y="300185"/>
                  </a:lnTo>
                  <a:lnTo>
                    <a:pt x="10720386" y="304799"/>
                  </a:lnTo>
                  <a:lnTo>
                    <a:pt x="90487" y="304799"/>
                  </a:lnTo>
                  <a:lnTo>
                    <a:pt x="55859" y="297911"/>
                  </a:lnTo>
                  <a:lnTo>
                    <a:pt x="50370" y="295637"/>
                  </a:lnTo>
                  <a:lnTo>
                    <a:pt x="18550" y="269523"/>
                  </a:lnTo>
                  <a:lnTo>
                    <a:pt x="1738" y="231965"/>
                  </a:lnTo>
                  <a:lnTo>
                    <a:pt x="0" y="220253"/>
                  </a:lnTo>
                  <a:lnTo>
                    <a:pt x="0" y="214312"/>
                  </a:lnTo>
                  <a:close/>
                </a:path>
              </a:pathLst>
            </a:custGeom>
            <a:ln w="9524">
              <a:solidFill>
                <a:srgbClr val="FFD0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/>
          <p:cNvSpPr txBox="1"/>
          <p:nvPr/>
        </p:nvSpPr>
        <p:spPr>
          <a:xfrm>
            <a:off x="815975" y="6088062"/>
            <a:ext cx="480059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35" b="1">
                <a:solidFill>
                  <a:srgbClr val="FF6A5B"/>
                </a:solidFill>
                <a:latin typeface="Tahoma"/>
                <a:cs typeface="Tahoma"/>
              </a:rPr>
              <a:t>PAT</a:t>
            </a:r>
            <a:r>
              <a:rPr dirty="0" sz="750" spc="-9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8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8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75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75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1847837" y="6096000"/>
            <a:ext cx="7019925" cy="133350"/>
          </a:xfrm>
          <a:custGeom>
            <a:avLst/>
            <a:gdLst/>
            <a:ahLst/>
            <a:cxnLst/>
            <a:rect l="l" t="t" r="r" b="b"/>
            <a:pathLst>
              <a:path w="7019925" h="133350">
                <a:moveTo>
                  <a:pt x="561975" y="24790"/>
                </a:moveTo>
                <a:lnTo>
                  <a:pt x="537197" y="0"/>
                </a:lnTo>
                <a:lnTo>
                  <a:pt x="24790" y="0"/>
                </a:lnTo>
                <a:lnTo>
                  <a:pt x="0" y="24790"/>
                </a:lnTo>
                <a:lnTo>
                  <a:pt x="0" y="104775"/>
                </a:lnTo>
                <a:lnTo>
                  <a:pt x="0" y="108572"/>
                </a:lnTo>
                <a:lnTo>
                  <a:pt x="24790" y="133350"/>
                </a:lnTo>
                <a:lnTo>
                  <a:pt x="537197" y="133350"/>
                </a:lnTo>
                <a:lnTo>
                  <a:pt x="561975" y="108572"/>
                </a:lnTo>
                <a:lnTo>
                  <a:pt x="561975" y="24790"/>
                </a:lnTo>
                <a:close/>
              </a:path>
              <a:path w="7019925" h="133350">
                <a:moveTo>
                  <a:pt x="2305050" y="24790"/>
                </a:moveTo>
                <a:lnTo>
                  <a:pt x="2280272" y="0"/>
                </a:lnTo>
                <a:lnTo>
                  <a:pt x="1167790" y="0"/>
                </a:lnTo>
                <a:lnTo>
                  <a:pt x="1143000" y="24790"/>
                </a:lnTo>
                <a:lnTo>
                  <a:pt x="1143000" y="104775"/>
                </a:lnTo>
                <a:lnTo>
                  <a:pt x="1143000" y="108572"/>
                </a:lnTo>
                <a:lnTo>
                  <a:pt x="1167790" y="133350"/>
                </a:lnTo>
                <a:lnTo>
                  <a:pt x="2280272" y="133350"/>
                </a:lnTo>
                <a:lnTo>
                  <a:pt x="2305050" y="108572"/>
                </a:lnTo>
                <a:lnTo>
                  <a:pt x="2305050" y="24790"/>
                </a:lnTo>
                <a:close/>
              </a:path>
              <a:path w="7019925" h="133350">
                <a:moveTo>
                  <a:pt x="3352800" y="24790"/>
                </a:moveTo>
                <a:lnTo>
                  <a:pt x="3328022" y="0"/>
                </a:lnTo>
                <a:lnTo>
                  <a:pt x="2806090" y="0"/>
                </a:lnTo>
                <a:lnTo>
                  <a:pt x="2781300" y="24790"/>
                </a:lnTo>
                <a:lnTo>
                  <a:pt x="2781300" y="104775"/>
                </a:lnTo>
                <a:lnTo>
                  <a:pt x="2781300" y="108572"/>
                </a:lnTo>
                <a:lnTo>
                  <a:pt x="2806090" y="133350"/>
                </a:lnTo>
                <a:lnTo>
                  <a:pt x="3328022" y="133350"/>
                </a:lnTo>
                <a:lnTo>
                  <a:pt x="3352800" y="108572"/>
                </a:lnTo>
                <a:lnTo>
                  <a:pt x="3352800" y="24790"/>
                </a:lnTo>
                <a:close/>
              </a:path>
              <a:path w="7019925" h="133350">
                <a:moveTo>
                  <a:pt x="4543425" y="24790"/>
                </a:moveTo>
                <a:lnTo>
                  <a:pt x="4518647" y="0"/>
                </a:lnTo>
                <a:lnTo>
                  <a:pt x="3825265" y="0"/>
                </a:lnTo>
                <a:lnTo>
                  <a:pt x="3800475" y="24790"/>
                </a:lnTo>
                <a:lnTo>
                  <a:pt x="3800475" y="104775"/>
                </a:lnTo>
                <a:lnTo>
                  <a:pt x="3800475" y="108572"/>
                </a:lnTo>
                <a:lnTo>
                  <a:pt x="3825265" y="133350"/>
                </a:lnTo>
                <a:lnTo>
                  <a:pt x="4518647" y="133350"/>
                </a:lnTo>
                <a:lnTo>
                  <a:pt x="4543425" y="108572"/>
                </a:lnTo>
                <a:lnTo>
                  <a:pt x="4543425" y="24790"/>
                </a:lnTo>
                <a:close/>
              </a:path>
              <a:path w="7019925" h="133350">
                <a:moveTo>
                  <a:pt x="5343525" y="24790"/>
                </a:moveTo>
                <a:lnTo>
                  <a:pt x="5318747" y="0"/>
                </a:lnTo>
                <a:lnTo>
                  <a:pt x="5092090" y="0"/>
                </a:lnTo>
                <a:lnTo>
                  <a:pt x="5067300" y="24790"/>
                </a:lnTo>
                <a:lnTo>
                  <a:pt x="5067300" y="104775"/>
                </a:lnTo>
                <a:lnTo>
                  <a:pt x="5067300" y="108572"/>
                </a:lnTo>
                <a:lnTo>
                  <a:pt x="5092090" y="133350"/>
                </a:lnTo>
                <a:lnTo>
                  <a:pt x="5318747" y="133350"/>
                </a:lnTo>
                <a:lnTo>
                  <a:pt x="5343525" y="108572"/>
                </a:lnTo>
                <a:lnTo>
                  <a:pt x="5343525" y="24790"/>
                </a:lnTo>
                <a:close/>
              </a:path>
              <a:path w="7019925" h="133350">
                <a:moveTo>
                  <a:pt x="7019925" y="24790"/>
                </a:moveTo>
                <a:lnTo>
                  <a:pt x="6995147" y="0"/>
                </a:lnTo>
                <a:lnTo>
                  <a:pt x="6063640" y="0"/>
                </a:lnTo>
                <a:lnTo>
                  <a:pt x="6038850" y="24790"/>
                </a:lnTo>
                <a:lnTo>
                  <a:pt x="6038850" y="104775"/>
                </a:lnTo>
                <a:lnTo>
                  <a:pt x="6038850" y="108572"/>
                </a:lnTo>
                <a:lnTo>
                  <a:pt x="6063640" y="133350"/>
                </a:lnTo>
                <a:lnTo>
                  <a:pt x="6995147" y="133350"/>
                </a:lnTo>
                <a:lnTo>
                  <a:pt x="7019925" y="108572"/>
                </a:lnTo>
                <a:lnTo>
                  <a:pt x="7019925" y="24790"/>
                </a:lnTo>
                <a:close/>
              </a:path>
            </a:pathLst>
          </a:custGeom>
          <a:solidFill>
            <a:srgbClr val="FF6A5B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 txBox="1"/>
          <p:nvPr/>
        </p:nvSpPr>
        <p:spPr>
          <a:xfrm>
            <a:off x="1398785" y="6073774"/>
            <a:ext cx="86563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Load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800" spc="3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read_csv</a:t>
            </a:r>
            <a:r>
              <a:rPr dirty="0" sz="750" spc="-6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105">
                <a:solidFill>
                  <a:srgbClr val="4A4E6A"/>
                </a:solidFill>
                <a:latin typeface="Trebuchet MS"/>
                <a:cs typeface="Trebuchet MS"/>
              </a:rPr>
              <a:t>,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inspect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800" spc="3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head/info/describe</a:t>
            </a:r>
            <a:r>
              <a:rPr dirty="0" sz="750" spc="-6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105">
                <a:solidFill>
                  <a:srgbClr val="4A4E6A"/>
                </a:solidFill>
                <a:latin typeface="Trebuchet MS"/>
                <a:cs typeface="Trebuchet MS"/>
              </a:rPr>
              <a:t>,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filter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800" spc="3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df[mask]</a:t>
            </a:r>
            <a:r>
              <a:rPr dirty="0" sz="750" spc="-6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105">
                <a:solidFill>
                  <a:srgbClr val="4A4E6A"/>
                </a:solidFill>
                <a:latin typeface="Trebuchet MS"/>
                <a:cs typeface="Trebuchet MS"/>
              </a:rPr>
              <a:t>,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sort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800" spc="3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sort_values</a:t>
            </a:r>
            <a:r>
              <a:rPr dirty="0" sz="750" spc="-6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105">
                <a:solidFill>
                  <a:srgbClr val="4A4E6A"/>
                </a:solidFill>
                <a:latin typeface="Trebuchet MS"/>
                <a:cs typeface="Trebuchet MS"/>
              </a:rPr>
              <a:t>,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select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800" spc="3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loc</a:t>
            </a:r>
            <a:r>
              <a:rPr dirty="0" sz="750" spc="-6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105">
                <a:solidFill>
                  <a:srgbClr val="4A4E6A"/>
                </a:solidFill>
                <a:latin typeface="Trebuchet MS"/>
                <a:cs typeface="Trebuchet MS"/>
              </a:rPr>
              <a:t>,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transform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800" spc="3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df["new"]</a:t>
            </a:r>
            <a:r>
              <a:rPr dirty="0" sz="750" spc="3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=</a:t>
            </a:r>
            <a:r>
              <a:rPr dirty="0" sz="750" spc="35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93283"/>
                </a:solidFill>
                <a:latin typeface="Courier New"/>
                <a:cs typeface="Courier New"/>
              </a:rPr>
              <a:t>...</a:t>
            </a:r>
            <a:r>
              <a:rPr dirty="0" sz="750" spc="-6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800" spc="-10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That's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whole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workflow.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18" name="object 1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119" name="object 1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1</a:t>
            </a:r>
            <a:r>
              <a:rPr dirty="0" spc="-110"/>
              <a:t> </a:t>
            </a:r>
            <a:r>
              <a:rPr dirty="0"/>
              <a:t>3</a:t>
            </a:r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3099" y="1282700"/>
            <a:ext cx="168973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720"/>
              <a:t>03</a:t>
            </a:r>
            <a:r>
              <a:rPr dirty="0" sz="4800" spc="-605"/>
              <a:t> </a:t>
            </a:r>
            <a:r>
              <a:rPr dirty="0" sz="4800" spc="-725"/>
              <a:t>/</a:t>
            </a:r>
            <a:r>
              <a:rPr dirty="0" sz="4800" spc="-605"/>
              <a:t> </a:t>
            </a:r>
            <a:r>
              <a:rPr dirty="0" sz="4800" spc="-745"/>
              <a:t>03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685799" y="2266949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5930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93076" y="0"/>
                </a:lnTo>
                <a:lnTo>
                  <a:pt x="609599" y="16523"/>
                </a:lnTo>
                <a:lnTo>
                  <a:pt x="609599" y="21576"/>
                </a:lnTo>
                <a:lnTo>
                  <a:pt x="595506" y="37616"/>
                </a:lnTo>
                <a:lnTo>
                  <a:pt x="593076" y="3809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3099" y="2425700"/>
            <a:ext cx="9244330" cy="227520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 marR="2197100">
              <a:lnSpc>
                <a:spcPts val="5470"/>
              </a:lnSpc>
              <a:spcBef>
                <a:spcPts val="969"/>
              </a:spcBef>
            </a:pPr>
            <a:r>
              <a:rPr dirty="0" sz="5250" spc="-580" b="1">
                <a:solidFill>
                  <a:srgbClr val="293283"/>
                </a:solidFill>
                <a:latin typeface="Tahoma"/>
                <a:cs typeface="Tahoma"/>
              </a:rPr>
              <a:t>Build</a:t>
            </a:r>
            <a:r>
              <a:rPr dirty="0" sz="5250" spc="-6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5250" spc="-565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5250" spc="-6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5250" spc="-635" b="1">
                <a:solidFill>
                  <a:srgbClr val="293283"/>
                </a:solidFill>
                <a:latin typeface="Tahoma"/>
                <a:cs typeface="Tahoma"/>
              </a:rPr>
              <a:t>student</a:t>
            </a:r>
            <a:r>
              <a:rPr dirty="0" sz="5250" spc="-6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5250" spc="-630" b="1">
                <a:solidFill>
                  <a:srgbClr val="293283"/>
                </a:solidFill>
                <a:latin typeface="Tahoma"/>
                <a:cs typeface="Tahoma"/>
              </a:rPr>
              <a:t>dashboard. </a:t>
            </a:r>
            <a:r>
              <a:rPr dirty="0" sz="5250" spc="-635" b="1">
                <a:solidFill>
                  <a:srgbClr val="FF6A5B"/>
                </a:solidFill>
                <a:latin typeface="Tahoma"/>
                <a:cs typeface="Tahoma"/>
              </a:rPr>
              <a:t>Sidebar</a:t>
            </a:r>
            <a:r>
              <a:rPr dirty="0" sz="5250" spc="-6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5250" spc="-1720" b="1">
                <a:solidFill>
                  <a:srgbClr val="FF6A5B"/>
                </a:solidFill>
                <a:latin typeface="Tahoma"/>
                <a:cs typeface="Tahoma"/>
              </a:rPr>
              <a:t>+</a:t>
            </a:r>
            <a:r>
              <a:rPr dirty="0" sz="5250" spc="-6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5250" spc="-635" b="1">
                <a:solidFill>
                  <a:srgbClr val="FF6A5B"/>
                </a:solidFill>
                <a:latin typeface="Tahoma"/>
                <a:cs typeface="Tahoma"/>
              </a:rPr>
              <a:t>pandas.</a:t>
            </a:r>
            <a:endParaRPr sz="52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1250"/>
              </a:spcBef>
            </a:pPr>
            <a:r>
              <a:rPr dirty="0" sz="1550" spc="-70">
                <a:solidFill>
                  <a:srgbClr val="4A4E6A"/>
                </a:solidFill>
                <a:latin typeface="Trebuchet MS"/>
                <a:cs typeface="Trebuchet MS"/>
              </a:rPr>
              <a:t>Today's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95">
                <a:solidFill>
                  <a:srgbClr val="4A4E6A"/>
                </a:solidFill>
                <a:latin typeface="Trebuchet MS"/>
                <a:cs typeface="Trebuchet MS"/>
              </a:rPr>
              <a:t>exercise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65">
                <a:solidFill>
                  <a:srgbClr val="4A4E6A"/>
                </a:solidFill>
                <a:latin typeface="Trebuchet MS"/>
                <a:cs typeface="Trebuchet MS"/>
              </a:rPr>
              <a:t>combines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60">
                <a:solidFill>
                  <a:srgbClr val="4A4E6A"/>
                </a:solidFill>
                <a:latin typeface="Trebuchet MS"/>
                <a:cs typeface="Trebuchet MS"/>
              </a:rPr>
              <a:t>Day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4A4E6A"/>
                </a:solidFill>
                <a:latin typeface="Trebuchet MS"/>
                <a:cs typeface="Trebuchet MS"/>
              </a:rPr>
              <a:t>5's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70">
                <a:solidFill>
                  <a:srgbClr val="4A4E6A"/>
                </a:solidFill>
                <a:latin typeface="Trebuchet MS"/>
                <a:cs typeface="Trebuchet MS"/>
              </a:rPr>
              <a:t>sidebar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pattern</a:t>
            </a:r>
            <a:r>
              <a:rPr dirty="0" sz="155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70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60">
                <a:solidFill>
                  <a:srgbClr val="4A4E6A"/>
                </a:solidFill>
                <a:latin typeface="Trebuchet MS"/>
                <a:cs typeface="Trebuchet MS"/>
              </a:rPr>
              <a:t>Day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4A4E6A"/>
                </a:solidFill>
                <a:latin typeface="Trebuchet MS"/>
                <a:cs typeface="Trebuchet MS"/>
              </a:rPr>
              <a:t>6's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80">
                <a:solidFill>
                  <a:srgbClr val="4A4E6A"/>
                </a:solidFill>
                <a:latin typeface="Trebuchet MS"/>
                <a:cs typeface="Trebuchet MS"/>
              </a:rPr>
              <a:t>pandas.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75">
                <a:solidFill>
                  <a:srgbClr val="4A4E6A"/>
                </a:solidFill>
                <a:latin typeface="Trebuchet MS"/>
                <a:cs typeface="Trebuchet MS"/>
              </a:rPr>
              <a:t>Load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6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155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130">
                <a:solidFill>
                  <a:srgbClr val="4A4E6A"/>
                </a:solidFill>
                <a:latin typeface="Trebuchet MS"/>
                <a:cs typeface="Trebuchet MS"/>
              </a:rPr>
              <a:t>CSV,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100">
                <a:solidFill>
                  <a:srgbClr val="4A4E6A"/>
                </a:solidFill>
                <a:latin typeface="Trebuchet MS"/>
                <a:cs typeface="Trebuchet MS"/>
              </a:rPr>
              <a:t>filter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6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75">
                <a:solidFill>
                  <a:srgbClr val="4A4E6A"/>
                </a:solidFill>
                <a:latin typeface="Trebuchet MS"/>
                <a:cs typeface="Trebuchet MS"/>
              </a:rPr>
              <a:t>branch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60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140">
                <a:solidFill>
                  <a:srgbClr val="4A4E6A"/>
                </a:solidFill>
                <a:latin typeface="Trebuchet MS"/>
                <a:cs typeface="Trebuchet MS"/>
              </a:rPr>
              <a:t>city,</a:t>
            </a:r>
            <a:r>
              <a:rPr dirty="0" sz="1550" spc="-8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4A4E6A"/>
                </a:solidFill>
                <a:latin typeface="Trebuchet MS"/>
                <a:cs typeface="Trebuchet MS"/>
              </a:rPr>
              <a:t>display </a:t>
            </a:r>
            <a:r>
              <a:rPr dirty="0" sz="1550" spc="-7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1550" spc="-9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results. </a:t>
            </a:r>
            <a:r>
              <a:rPr dirty="0" sz="1550" spc="-9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60">
                <a:solidFill>
                  <a:srgbClr val="4A4E6A"/>
                </a:solidFill>
                <a:latin typeface="Trebuchet MS"/>
                <a:cs typeface="Trebuchet MS"/>
              </a:rPr>
              <a:t>dashboard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pattern</a:t>
            </a:r>
            <a:r>
              <a:rPr dirty="0" sz="1550" spc="-9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75">
                <a:solidFill>
                  <a:srgbClr val="4A4E6A"/>
                </a:solidFill>
                <a:latin typeface="Trebuchet MS"/>
                <a:cs typeface="Trebuchet MS"/>
              </a:rPr>
              <a:t>every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55">
                <a:solidFill>
                  <a:srgbClr val="4A4E6A"/>
                </a:solidFill>
                <a:latin typeface="Trebuchet MS"/>
                <a:cs typeface="Trebuchet MS"/>
              </a:rPr>
              <a:t>group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95">
                <a:solidFill>
                  <a:srgbClr val="4A4E6A"/>
                </a:solidFill>
                <a:latin typeface="Trebuchet MS"/>
                <a:cs typeface="Trebuchet MS"/>
              </a:rPr>
              <a:t>will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65">
                <a:solidFill>
                  <a:srgbClr val="4A4E6A"/>
                </a:solidFill>
                <a:latin typeface="Trebuchet MS"/>
                <a:cs typeface="Trebuchet MS"/>
              </a:rPr>
              <a:t>reuse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65">
                <a:solidFill>
                  <a:srgbClr val="4A4E6A"/>
                </a:solidFill>
                <a:latin typeface="Trebuchet MS"/>
                <a:cs typeface="Trebuchet MS"/>
              </a:rPr>
              <a:t>in</a:t>
            </a:r>
            <a:r>
              <a:rPr dirty="0" sz="1550" spc="-9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60">
                <a:solidFill>
                  <a:srgbClr val="4A4E6A"/>
                </a:solidFill>
                <a:latin typeface="Trebuchet MS"/>
                <a:cs typeface="Trebuchet MS"/>
              </a:rPr>
              <a:t>Phase</a:t>
            </a:r>
            <a:r>
              <a:rPr dirty="0" sz="1550" spc="-8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550" spc="-25">
                <a:solidFill>
                  <a:srgbClr val="4A4E6A"/>
                </a:solidFill>
                <a:latin typeface="Trebuchet MS"/>
                <a:cs typeface="Trebuchet MS"/>
              </a:rPr>
              <a:t>4.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799" y="5067299"/>
            <a:ext cx="1609725" cy="400050"/>
            <a:chOff x="685799" y="5067299"/>
            <a:chExt cx="1609725" cy="400050"/>
          </a:xfrm>
        </p:grpSpPr>
        <p:sp>
          <p:nvSpPr>
            <p:cNvPr id="6" name="object 6"/>
            <p:cNvSpPr/>
            <p:nvPr/>
          </p:nvSpPr>
          <p:spPr>
            <a:xfrm>
              <a:off x="690562" y="5072062"/>
              <a:ext cx="1600200" cy="390525"/>
            </a:xfrm>
            <a:custGeom>
              <a:avLst/>
              <a:gdLst/>
              <a:ahLst/>
              <a:cxnLst/>
              <a:rect l="l" t="t" r="r" b="b"/>
              <a:pathLst>
                <a:path w="1600200" h="390525">
                  <a:moveTo>
                    <a:pt x="1404937" y="390524"/>
                  </a:moveTo>
                  <a:lnTo>
                    <a:pt x="195262" y="390524"/>
                  </a:lnTo>
                  <a:lnTo>
                    <a:pt x="185669" y="390290"/>
                  </a:lnTo>
                  <a:lnTo>
                    <a:pt x="147805" y="384671"/>
                  </a:lnTo>
                  <a:lnTo>
                    <a:pt x="111765" y="371773"/>
                  </a:lnTo>
                  <a:lnTo>
                    <a:pt x="78934" y="352092"/>
                  </a:lnTo>
                  <a:lnTo>
                    <a:pt x="50573" y="326384"/>
                  </a:lnTo>
                  <a:lnTo>
                    <a:pt x="27773" y="295637"/>
                  </a:lnTo>
                  <a:lnTo>
                    <a:pt x="11409" y="261032"/>
                  </a:lnTo>
                  <a:lnTo>
                    <a:pt x="2110" y="223901"/>
                  </a:lnTo>
                  <a:lnTo>
                    <a:pt x="0" y="195262"/>
                  </a:lnTo>
                  <a:lnTo>
                    <a:pt x="234" y="185669"/>
                  </a:lnTo>
                  <a:lnTo>
                    <a:pt x="5853" y="147805"/>
                  </a:lnTo>
                  <a:lnTo>
                    <a:pt x="18751" y="111765"/>
                  </a:lnTo>
                  <a:lnTo>
                    <a:pt x="38432" y="78934"/>
                  </a:lnTo>
                  <a:lnTo>
                    <a:pt x="64139" y="50573"/>
                  </a:lnTo>
                  <a:lnTo>
                    <a:pt x="94886" y="27772"/>
                  </a:lnTo>
                  <a:lnTo>
                    <a:pt x="129491" y="11408"/>
                  </a:lnTo>
                  <a:lnTo>
                    <a:pt x="166622" y="2110"/>
                  </a:lnTo>
                  <a:lnTo>
                    <a:pt x="195262" y="0"/>
                  </a:lnTo>
                  <a:lnTo>
                    <a:pt x="1404937" y="0"/>
                  </a:lnTo>
                  <a:lnTo>
                    <a:pt x="1443031" y="3751"/>
                  </a:lnTo>
                  <a:lnTo>
                    <a:pt x="1479660" y="14862"/>
                  </a:lnTo>
                  <a:lnTo>
                    <a:pt x="1513419" y="32907"/>
                  </a:lnTo>
                  <a:lnTo>
                    <a:pt x="1543008" y="57190"/>
                  </a:lnTo>
                  <a:lnTo>
                    <a:pt x="1567291" y="86780"/>
                  </a:lnTo>
                  <a:lnTo>
                    <a:pt x="1585336" y="120538"/>
                  </a:lnTo>
                  <a:lnTo>
                    <a:pt x="1596447" y="157168"/>
                  </a:lnTo>
                  <a:lnTo>
                    <a:pt x="1600199" y="195262"/>
                  </a:lnTo>
                  <a:lnTo>
                    <a:pt x="1599965" y="204855"/>
                  </a:lnTo>
                  <a:lnTo>
                    <a:pt x="1594346" y="242718"/>
                  </a:lnTo>
                  <a:lnTo>
                    <a:pt x="1581448" y="278758"/>
                  </a:lnTo>
                  <a:lnTo>
                    <a:pt x="1561767" y="311589"/>
                  </a:lnTo>
                  <a:lnTo>
                    <a:pt x="1536059" y="339950"/>
                  </a:lnTo>
                  <a:lnTo>
                    <a:pt x="1505312" y="362751"/>
                  </a:lnTo>
                  <a:lnTo>
                    <a:pt x="1470708" y="379115"/>
                  </a:lnTo>
                  <a:lnTo>
                    <a:pt x="1433576" y="388414"/>
                  </a:lnTo>
                  <a:lnTo>
                    <a:pt x="1404937" y="390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90562" y="5072062"/>
              <a:ext cx="1600200" cy="390525"/>
            </a:xfrm>
            <a:custGeom>
              <a:avLst/>
              <a:gdLst/>
              <a:ahLst/>
              <a:cxnLst/>
              <a:rect l="l" t="t" r="r" b="b"/>
              <a:pathLst>
                <a:path w="1600200" h="390525">
                  <a:moveTo>
                    <a:pt x="0" y="195262"/>
                  </a:moveTo>
                  <a:lnTo>
                    <a:pt x="3751" y="157168"/>
                  </a:lnTo>
                  <a:lnTo>
                    <a:pt x="14863" y="120538"/>
                  </a:lnTo>
                  <a:lnTo>
                    <a:pt x="32907" y="86780"/>
                  </a:lnTo>
                  <a:lnTo>
                    <a:pt x="57191" y="57190"/>
                  </a:lnTo>
                  <a:lnTo>
                    <a:pt x="86780" y="32907"/>
                  </a:lnTo>
                  <a:lnTo>
                    <a:pt x="120538" y="14862"/>
                  </a:lnTo>
                  <a:lnTo>
                    <a:pt x="157168" y="3751"/>
                  </a:lnTo>
                  <a:lnTo>
                    <a:pt x="195262" y="0"/>
                  </a:lnTo>
                  <a:lnTo>
                    <a:pt x="1404937" y="0"/>
                  </a:lnTo>
                  <a:lnTo>
                    <a:pt x="1443031" y="3751"/>
                  </a:lnTo>
                  <a:lnTo>
                    <a:pt x="1479660" y="14862"/>
                  </a:lnTo>
                  <a:lnTo>
                    <a:pt x="1513419" y="32907"/>
                  </a:lnTo>
                  <a:lnTo>
                    <a:pt x="1543008" y="57190"/>
                  </a:lnTo>
                  <a:lnTo>
                    <a:pt x="1567291" y="86780"/>
                  </a:lnTo>
                  <a:lnTo>
                    <a:pt x="1585336" y="120538"/>
                  </a:lnTo>
                  <a:lnTo>
                    <a:pt x="1596447" y="157168"/>
                  </a:lnTo>
                  <a:lnTo>
                    <a:pt x="1600199" y="195262"/>
                  </a:lnTo>
                  <a:lnTo>
                    <a:pt x="1599965" y="204855"/>
                  </a:lnTo>
                  <a:lnTo>
                    <a:pt x="1594346" y="242718"/>
                  </a:lnTo>
                  <a:lnTo>
                    <a:pt x="1581448" y="278758"/>
                  </a:lnTo>
                  <a:lnTo>
                    <a:pt x="1561767" y="311589"/>
                  </a:lnTo>
                  <a:lnTo>
                    <a:pt x="1536059" y="339950"/>
                  </a:lnTo>
                  <a:lnTo>
                    <a:pt x="1505312" y="362751"/>
                  </a:lnTo>
                  <a:lnTo>
                    <a:pt x="1470708" y="379115"/>
                  </a:lnTo>
                  <a:lnTo>
                    <a:pt x="1433576" y="388414"/>
                  </a:lnTo>
                  <a:lnTo>
                    <a:pt x="1404937" y="390524"/>
                  </a:lnTo>
                  <a:lnTo>
                    <a:pt x="195262" y="390524"/>
                  </a:lnTo>
                  <a:lnTo>
                    <a:pt x="157168" y="386772"/>
                  </a:lnTo>
                  <a:lnTo>
                    <a:pt x="120538" y="375661"/>
                  </a:lnTo>
                  <a:lnTo>
                    <a:pt x="86780" y="357617"/>
                  </a:lnTo>
                  <a:lnTo>
                    <a:pt x="57191" y="333333"/>
                  </a:lnTo>
                  <a:lnTo>
                    <a:pt x="32907" y="303744"/>
                  </a:lnTo>
                  <a:lnTo>
                    <a:pt x="14863" y="269985"/>
                  </a:lnTo>
                  <a:lnTo>
                    <a:pt x="3751" y="233355"/>
                  </a:lnTo>
                  <a:lnTo>
                    <a:pt x="0" y="1952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6774" y="5172074"/>
              <a:ext cx="190500" cy="1904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14648" y="5178425"/>
            <a:ext cx="787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9825" y="5178425"/>
            <a:ext cx="9779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3709" algn="l"/>
                <a:tab pos="635000" algn="l"/>
              </a:tabLst>
            </a:pPr>
            <a:r>
              <a:rPr dirty="0" sz="900" spc="-120" b="1">
                <a:solidFill>
                  <a:srgbClr val="293283"/>
                </a:solidFill>
                <a:latin typeface="Tahoma"/>
                <a:cs typeface="Tahoma"/>
              </a:rPr>
              <a:t>B</a:t>
            </a:r>
            <a:r>
              <a:rPr dirty="0" sz="900" spc="-1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sz="900" spc="-1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293283"/>
                </a:solidFill>
                <a:latin typeface="Tahoma"/>
                <a:cs typeface="Tahoma"/>
              </a:rPr>
              <a:t>I</a:t>
            </a:r>
            <a:r>
              <a:rPr dirty="0" sz="900" spc="-1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900" spc="-1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293283"/>
                </a:solidFill>
                <a:latin typeface="Tahoma"/>
                <a:cs typeface="Tahoma"/>
              </a:rPr>
              <a:t>F</a:t>
            </a:r>
            <a:r>
              <a:rPr dirty="0" sz="900" b="1">
                <a:solidFill>
                  <a:srgbClr val="293283"/>
                </a:solidFill>
                <a:latin typeface="Tahoma"/>
                <a:cs typeface="Tahoma"/>
              </a:rPr>
              <a:t>	</a:t>
            </a:r>
            <a:r>
              <a:rPr dirty="0" sz="900" spc="-50" b="1">
                <a:solidFill>
                  <a:srgbClr val="E4DED0"/>
                </a:solidFill>
                <a:latin typeface="Tahoma"/>
                <a:cs typeface="Tahoma"/>
              </a:rPr>
              <a:t>·</a:t>
            </a:r>
            <a:r>
              <a:rPr dirty="0" sz="900" b="1">
                <a:solidFill>
                  <a:srgbClr val="E4DED0"/>
                </a:solidFill>
                <a:latin typeface="Tahoma"/>
                <a:cs typeface="Tahoma"/>
              </a:rPr>
              <a:t>	</a:t>
            </a:r>
            <a:r>
              <a:rPr dirty="0" sz="900">
                <a:solidFill>
                  <a:srgbClr val="797E94"/>
                </a:solidFill>
                <a:latin typeface="Trebuchet MS"/>
                <a:cs typeface="Trebuchet MS"/>
              </a:rPr>
              <a:t>5</a:t>
            </a:r>
            <a:r>
              <a:rPr dirty="0" sz="900" spc="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70">
                <a:solidFill>
                  <a:srgbClr val="797E94"/>
                </a:solidFill>
                <a:latin typeface="Trebuchet MS"/>
                <a:cs typeface="Trebuchet MS"/>
              </a:rPr>
              <a:t>MIN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09824" y="5067299"/>
            <a:ext cx="1704975" cy="400050"/>
            <a:chOff x="2409824" y="5067299"/>
            <a:chExt cx="1704975" cy="400050"/>
          </a:xfrm>
        </p:grpSpPr>
        <p:sp>
          <p:nvSpPr>
            <p:cNvPr id="12" name="object 12"/>
            <p:cNvSpPr/>
            <p:nvPr/>
          </p:nvSpPr>
          <p:spPr>
            <a:xfrm>
              <a:off x="2414587" y="5072062"/>
              <a:ext cx="1695450" cy="390525"/>
            </a:xfrm>
            <a:custGeom>
              <a:avLst/>
              <a:gdLst/>
              <a:ahLst/>
              <a:cxnLst/>
              <a:rect l="l" t="t" r="r" b="b"/>
              <a:pathLst>
                <a:path w="1695450" h="390525">
                  <a:moveTo>
                    <a:pt x="1500187" y="390524"/>
                  </a:moveTo>
                  <a:lnTo>
                    <a:pt x="195262" y="390524"/>
                  </a:lnTo>
                  <a:lnTo>
                    <a:pt x="185669" y="390290"/>
                  </a:lnTo>
                  <a:lnTo>
                    <a:pt x="147805" y="384671"/>
                  </a:lnTo>
                  <a:lnTo>
                    <a:pt x="111765" y="371773"/>
                  </a:lnTo>
                  <a:lnTo>
                    <a:pt x="78934" y="352092"/>
                  </a:lnTo>
                  <a:lnTo>
                    <a:pt x="50573" y="326384"/>
                  </a:lnTo>
                  <a:lnTo>
                    <a:pt x="27773" y="295637"/>
                  </a:lnTo>
                  <a:lnTo>
                    <a:pt x="11408" y="261032"/>
                  </a:lnTo>
                  <a:lnTo>
                    <a:pt x="2110" y="223901"/>
                  </a:lnTo>
                  <a:lnTo>
                    <a:pt x="0" y="195262"/>
                  </a:lnTo>
                  <a:lnTo>
                    <a:pt x="234" y="185669"/>
                  </a:lnTo>
                  <a:lnTo>
                    <a:pt x="5853" y="147805"/>
                  </a:lnTo>
                  <a:lnTo>
                    <a:pt x="18750" y="111765"/>
                  </a:lnTo>
                  <a:lnTo>
                    <a:pt x="38432" y="78934"/>
                  </a:lnTo>
                  <a:lnTo>
                    <a:pt x="64139" y="50573"/>
                  </a:lnTo>
                  <a:lnTo>
                    <a:pt x="94886" y="27772"/>
                  </a:lnTo>
                  <a:lnTo>
                    <a:pt x="129490" y="11408"/>
                  </a:lnTo>
                  <a:lnTo>
                    <a:pt x="166622" y="2110"/>
                  </a:lnTo>
                  <a:lnTo>
                    <a:pt x="195262" y="0"/>
                  </a:lnTo>
                  <a:lnTo>
                    <a:pt x="1500187" y="0"/>
                  </a:lnTo>
                  <a:lnTo>
                    <a:pt x="1538280" y="3751"/>
                  </a:lnTo>
                  <a:lnTo>
                    <a:pt x="1574910" y="14862"/>
                  </a:lnTo>
                  <a:lnTo>
                    <a:pt x="1608669" y="32907"/>
                  </a:lnTo>
                  <a:lnTo>
                    <a:pt x="1638258" y="57190"/>
                  </a:lnTo>
                  <a:lnTo>
                    <a:pt x="1662541" y="86780"/>
                  </a:lnTo>
                  <a:lnTo>
                    <a:pt x="1680585" y="120538"/>
                  </a:lnTo>
                  <a:lnTo>
                    <a:pt x="1691697" y="157168"/>
                  </a:lnTo>
                  <a:lnTo>
                    <a:pt x="1695449" y="195262"/>
                  </a:lnTo>
                  <a:lnTo>
                    <a:pt x="1695215" y="204855"/>
                  </a:lnTo>
                  <a:lnTo>
                    <a:pt x="1689596" y="242718"/>
                  </a:lnTo>
                  <a:lnTo>
                    <a:pt x="1676698" y="278758"/>
                  </a:lnTo>
                  <a:lnTo>
                    <a:pt x="1657017" y="311589"/>
                  </a:lnTo>
                  <a:lnTo>
                    <a:pt x="1631309" y="339950"/>
                  </a:lnTo>
                  <a:lnTo>
                    <a:pt x="1600562" y="362751"/>
                  </a:lnTo>
                  <a:lnTo>
                    <a:pt x="1565958" y="379115"/>
                  </a:lnTo>
                  <a:lnTo>
                    <a:pt x="1528826" y="388414"/>
                  </a:lnTo>
                  <a:lnTo>
                    <a:pt x="1500187" y="390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14587" y="5072062"/>
              <a:ext cx="1695450" cy="390525"/>
            </a:xfrm>
            <a:custGeom>
              <a:avLst/>
              <a:gdLst/>
              <a:ahLst/>
              <a:cxnLst/>
              <a:rect l="l" t="t" r="r" b="b"/>
              <a:pathLst>
                <a:path w="1695450" h="390525">
                  <a:moveTo>
                    <a:pt x="0" y="195262"/>
                  </a:moveTo>
                  <a:lnTo>
                    <a:pt x="3751" y="157168"/>
                  </a:lnTo>
                  <a:lnTo>
                    <a:pt x="14863" y="120538"/>
                  </a:lnTo>
                  <a:lnTo>
                    <a:pt x="32907" y="86780"/>
                  </a:lnTo>
                  <a:lnTo>
                    <a:pt x="57190" y="57190"/>
                  </a:lnTo>
                  <a:lnTo>
                    <a:pt x="86780" y="32907"/>
                  </a:lnTo>
                  <a:lnTo>
                    <a:pt x="120538" y="14862"/>
                  </a:lnTo>
                  <a:lnTo>
                    <a:pt x="157168" y="3751"/>
                  </a:lnTo>
                  <a:lnTo>
                    <a:pt x="195262" y="0"/>
                  </a:lnTo>
                  <a:lnTo>
                    <a:pt x="1500187" y="0"/>
                  </a:lnTo>
                  <a:lnTo>
                    <a:pt x="1538280" y="3751"/>
                  </a:lnTo>
                  <a:lnTo>
                    <a:pt x="1574910" y="14862"/>
                  </a:lnTo>
                  <a:lnTo>
                    <a:pt x="1608669" y="32907"/>
                  </a:lnTo>
                  <a:lnTo>
                    <a:pt x="1638258" y="57190"/>
                  </a:lnTo>
                  <a:lnTo>
                    <a:pt x="1662541" y="86780"/>
                  </a:lnTo>
                  <a:lnTo>
                    <a:pt x="1680585" y="120538"/>
                  </a:lnTo>
                  <a:lnTo>
                    <a:pt x="1691697" y="157168"/>
                  </a:lnTo>
                  <a:lnTo>
                    <a:pt x="1695449" y="195262"/>
                  </a:lnTo>
                  <a:lnTo>
                    <a:pt x="1695215" y="204855"/>
                  </a:lnTo>
                  <a:lnTo>
                    <a:pt x="1689596" y="242718"/>
                  </a:lnTo>
                  <a:lnTo>
                    <a:pt x="1676698" y="278758"/>
                  </a:lnTo>
                  <a:lnTo>
                    <a:pt x="1657017" y="311589"/>
                  </a:lnTo>
                  <a:lnTo>
                    <a:pt x="1631309" y="339950"/>
                  </a:lnTo>
                  <a:lnTo>
                    <a:pt x="1600562" y="362751"/>
                  </a:lnTo>
                  <a:lnTo>
                    <a:pt x="1565958" y="379115"/>
                  </a:lnTo>
                  <a:lnTo>
                    <a:pt x="1528826" y="388414"/>
                  </a:lnTo>
                  <a:lnTo>
                    <a:pt x="1500187" y="390524"/>
                  </a:lnTo>
                  <a:lnTo>
                    <a:pt x="195262" y="390524"/>
                  </a:lnTo>
                  <a:lnTo>
                    <a:pt x="157168" y="386772"/>
                  </a:lnTo>
                  <a:lnTo>
                    <a:pt x="120538" y="375661"/>
                  </a:lnTo>
                  <a:lnTo>
                    <a:pt x="86780" y="357617"/>
                  </a:lnTo>
                  <a:lnTo>
                    <a:pt x="57190" y="333333"/>
                  </a:lnTo>
                  <a:lnTo>
                    <a:pt x="32907" y="303744"/>
                  </a:lnTo>
                  <a:lnTo>
                    <a:pt x="14863" y="269985"/>
                  </a:lnTo>
                  <a:lnTo>
                    <a:pt x="3751" y="233355"/>
                  </a:lnTo>
                  <a:lnTo>
                    <a:pt x="0" y="1952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799" y="5172074"/>
              <a:ext cx="190500" cy="19049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640458" y="5178425"/>
            <a:ext cx="787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65635" y="5178425"/>
            <a:ext cx="10699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6570" algn="l"/>
                <a:tab pos="657225" algn="l"/>
              </a:tabLst>
            </a:pPr>
            <a:r>
              <a:rPr dirty="0" sz="900" spc="-120" b="1">
                <a:solidFill>
                  <a:srgbClr val="293283"/>
                </a:solidFill>
                <a:latin typeface="Tahoma"/>
                <a:cs typeface="Tahoma"/>
              </a:rPr>
              <a:t>B</a:t>
            </a:r>
            <a:r>
              <a:rPr dirty="0" sz="900" spc="-1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293283"/>
                </a:solidFill>
                <a:latin typeface="Tahoma"/>
                <a:cs typeface="Tahoma"/>
              </a:rPr>
              <a:t>U</a:t>
            </a:r>
            <a:r>
              <a:rPr dirty="0" sz="900" spc="-1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293283"/>
                </a:solidFill>
                <a:latin typeface="Tahoma"/>
                <a:cs typeface="Tahoma"/>
              </a:rPr>
              <a:t>I</a:t>
            </a:r>
            <a:r>
              <a:rPr dirty="0" sz="900" spc="-1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293283"/>
                </a:solidFill>
                <a:latin typeface="Tahoma"/>
                <a:cs typeface="Tahoma"/>
              </a:rPr>
              <a:t>L</a:t>
            </a:r>
            <a:r>
              <a:rPr dirty="0" sz="900" spc="-1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293283"/>
                </a:solidFill>
                <a:latin typeface="Tahoma"/>
                <a:cs typeface="Tahoma"/>
              </a:rPr>
              <a:t>D</a:t>
            </a:r>
            <a:r>
              <a:rPr dirty="0" sz="900" b="1">
                <a:solidFill>
                  <a:srgbClr val="293283"/>
                </a:solidFill>
                <a:latin typeface="Tahoma"/>
                <a:cs typeface="Tahoma"/>
              </a:rPr>
              <a:t>	</a:t>
            </a:r>
            <a:r>
              <a:rPr dirty="0" sz="900" spc="-60" b="1">
                <a:solidFill>
                  <a:srgbClr val="E4DED0"/>
                </a:solidFill>
                <a:latin typeface="Tahoma"/>
                <a:cs typeface="Tahoma"/>
              </a:rPr>
              <a:t>·</a:t>
            </a:r>
            <a:r>
              <a:rPr dirty="0" sz="900" b="1">
                <a:solidFill>
                  <a:srgbClr val="E4DED0"/>
                </a:solidFill>
                <a:latin typeface="Tahoma"/>
                <a:cs typeface="Tahoma"/>
              </a:rPr>
              <a:t>	</a:t>
            </a:r>
            <a:r>
              <a:rPr dirty="0" sz="900">
                <a:solidFill>
                  <a:srgbClr val="797E94"/>
                </a:solidFill>
                <a:latin typeface="Trebuchet MS"/>
                <a:cs typeface="Trebuchet MS"/>
              </a:rPr>
              <a:t>15</a:t>
            </a:r>
            <a:r>
              <a:rPr dirty="0" sz="900" spc="16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70">
                <a:solidFill>
                  <a:srgbClr val="797E94"/>
                </a:solidFill>
                <a:latin typeface="Trebuchet MS"/>
                <a:cs typeface="Trebuchet MS"/>
              </a:rPr>
              <a:t>MIN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29099" y="5067299"/>
            <a:ext cx="1743075" cy="400050"/>
            <a:chOff x="4229099" y="5067299"/>
            <a:chExt cx="1743075" cy="400050"/>
          </a:xfrm>
        </p:grpSpPr>
        <p:sp>
          <p:nvSpPr>
            <p:cNvPr id="18" name="object 18"/>
            <p:cNvSpPr/>
            <p:nvPr/>
          </p:nvSpPr>
          <p:spPr>
            <a:xfrm>
              <a:off x="4233862" y="5072062"/>
              <a:ext cx="1733550" cy="390525"/>
            </a:xfrm>
            <a:custGeom>
              <a:avLst/>
              <a:gdLst/>
              <a:ahLst/>
              <a:cxnLst/>
              <a:rect l="l" t="t" r="r" b="b"/>
              <a:pathLst>
                <a:path w="1733550" h="390525">
                  <a:moveTo>
                    <a:pt x="1538287" y="390524"/>
                  </a:moveTo>
                  <a:lnTo>
                    <a:pt x="195262" y="390524"/>
                  </a:lnTo>
                  <a:lnTo>
                    <a:pt x="185669" y="390290"/>
                  </a:lnTo>
                  <a:lnTo>
                    <a:pt x="147805" y="384671"/>
                  </a:lnTo>
                  <a:lnTo>
                    <a:pt x="111765" y="371773"/>
                  </a:lnTo>
                  <a:lnTo>
                    <a:pt x="78934" y="352092"/>
                  </a:lnTo>
                  <a:lnTo>
                    <a:pt x="50573" y="326384"/>
                  </a:lnTo>
                  <a:lnTo>
                    <a:pt x="27772" y="295637"/>
                  </a:lnTo>
                  <a:lnTo>
                    <a:pt x="11408" y="261032"/>
                  </a:lnTo>
                  <a:lnTo>
                    <a:pt x="2110" y="223901"/>
                  </a:lnTo>
                  <a:lnTo>
                    <a:pt x="0" y="195262"/>
                  </a:lnTo>
                  <a:lnTo>
                    <a:pt x="234" y="185669"/>
                  </a:lnTo>
                  <a:lnTo>
                    <a:pt x="5852" y="147805"/>
                  </a:lnTo>
                  <a:lnTo>
                    <a:pt x="18750" y="111765"/>
                  </a:lnTo>
                  <a:lnTo>
                    <a:pt x="38431" y="78934"/>
                  </a:lnTo>
                  <a:lnTo>
                    <a:pt x="64139" y="50573"/>
                  </a:lnTo>
                  <a:lnTo>
                    <a:pt x="94886" y="27772"/>
                  </a:lnTo>
                  <a:lnTo>
                    <a:pt x="129490" y="11408"/>
                  </a:lnTo>
                  <a:lnTo>
                    <a:pt x="166622" y="2110"/>
                  </a:lnTo>
                  <a:lnTo>
                    <a:pt x="195262" y="0"/>
                  </a:lnTo>
                  <a:lnTo>
                    <a:pt x="1538287" y="0"/>
                  </a:lnTo>
                  <a:lnTo>
                    <a:pt x="1576380" y="3751"/>
                  </a:lnTo>
                  <a:lnTo>
                    <a:pt x="1613010" y="14862"/>
                  </a:lnTo>
                  <a:lnTo>
                    <a:pt x="1646768" y="32907"/>
                  </a:lnTo>
                  <a:lnTo>
                    <a:pt x="1676358" y="57190"/>
                  </a:lnTo>
                  <a:lnTo>
                    <a:pt x="1700641" y="86780"/>
                  </a:lnTo>
                  <a:lnTo>
                    <a:pt x="1718685" y="120538"/>
                  </a:lnTo>
                  <a:lnTo>
                    <a:pt x="1729797" y="157168"/>
                  </a:lnTo>
                  <a:lnTo>
                    <a:pt x="1733549" y="195262"/>
                  </a:lnTo>
                  <a:lnTo>
                    <a:pt x="1733315" y="204855"/>
                  </a:lnTo>
                  <a:lnTo>
                    <a:pt x="1727695" y="242718"/>
                  </a:lnTo>
                  <a:lnTo>
                    <a:pt x="1714797" y="278758"/>
                  </a:lnTo>
                  <a:lnTo>
                    <a:pt x="1695117" y="311589"/>
                  </a:lnTo>
                  <a:lnTo>
                    <a:pt x="1669409" y="339950"/>
                  </a:lnTo>
                  <a:lnTo>
                    <a:pt x="1638662" y="362751"/>
                  </a:lnTo>
                  <a:lnTo>
                    <a:pt x="1604058" y="379115"/>
                  </a:lnTo>
                  <a:lnTo>
                    <a:pt x="1566926" y="388414"/>
                  </a:lnTo>
                  <a:lnTo>
                    <a:pt x="1538287" y="390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233862" y="5072062"/>
              <a:ext cx="1733550" cy="390525"/>
            </a:xfrm>
            <a:custGeom>
              <a:avLst/>
              <a:gdLst/>
              <a:ahLst/>
              <a:cxnLst/>
              <a:rect l="l" t="t" r="r" b="b"/>
              <a:pathLst>
                <a:path w="1733550" h="390525">
                  <a:moveTo>
                    <a:pt x="0" y="195262"/>
                  </a:moveTo>
                  <a:lnTo>
                    <a:pt x="3751" y="157168"/>
                  </a:lnTo>
                  <a:lnTo>
                    <a:pt x="14862" y="120538"/>
                  </a:lnTo>
                  <a:lnTo>
                    <a:pt x="32906" y="86780"/>
                  </a:lnTo>
                  <a:lnTo>
                    <a:pt x="57190" y="57190"/>
                  </a:lnTo>
                  <a:lnTo>
                    <a:pt x="86780" y="32907"/>
                  </a:lnTo>
                  <a:lnTo>
                    <a:pt x="120538" y="14862"/>
                  </a:lnTo>
                  <a:lnTo>
                    <a:pt x="157168" y="3751"/>
                  </a:lnTo>
                  <a:lnTo>
                    <a:pt x="195262" y="0"/>
                  </a:lnTo>
                  <a:lnTo>
                    <a:pt x="1538287" y="0"/>
                  </a:lnTo>
                  <a:lnTo>
                    <a:pt x="1576380" y="3751"/>
                  </a:lnTo>
                  <a:lnTo>
                    <a:pt x="1613010" y="14862"/>
                  </a:lnTo>
                  <a:lnTo>
                    <a:pt x="1646768" y="32907"/>
                  </a:lnTo>
                  <a:lnTo>
                    <a:pt x="1676358" y="57190"/>
                  </a:lnTo>
                  <a:lnTo>
                    <a:pt x="1700641" y="86780"/>
                  </a:lnTo>
                  <a:lnTo>
                    <a:pt x="1718685" y="120538"/>
                  </a:lnTo>
                  <a:lnTo>
                    <a:pt x="1729797" y="157168"/>
                  </a:lnTo>
                  <a:lnTo>
                    <a:pt x="1733549" y="195262"/>
                  </a:lnTo>
                  <a:lnTo>
                    <a:pt x="1733315" y="204855"/>
                  </a:lnTo>
                  <a:lnTo>
                    <a:pt x="1727695" y="242718"/>
                  </a:lnTo>
                  <a:lnTo>
                    <a:pt x="1714797" y="278758"/>
                  </a:lnTo>
                  <a:lnTo>
                    <a:pt x="1695117" y="311589"/>
                  </a:lnTo>
                  <a:lnTo>
                    <a:pt x="1669409" y="339950"/>
                  </a:lnTo>
                  <a:lnTo>
                    <a:pt x="1638662" y="362751"/>
                  </a:lnTo>
                  <a:lnTo>
                    <a:pt x="1604058" y="379115"/>
                  </a:lnTo>
                  <a:lnTo>
                    <a:pt x="1566926" y="388414"/>
                  </a:lnTo>
                  <a:lnTo>
                    <a:pt x="1538287" y="390524"/>
                  </a:lnTo>
                  <a:lnTo>
                    <a:pt x="195262" y="390524"/>
                  </a:lnTo>
                  <a:lnTo>
                    <a:pt x="157168" y="386772"/>
                  </a:lnTo>
                  <a:lnTo>
                    <a:pt x="120538" y="375661"/>
                  </a:lnTo>
                  <a:lnTo>
                    <a:pt x="86780" y="357617"/>
                  </a:lnTo>
                  <a:lnTo>
                    <a:pt x="57190" y="333333"/>
                  </a:lnTo>
                  <a:lnTo>
                    <a:pt x="32906" y="303744"/>
                  </a:lnTo>
                  <a:lnTo>
                    <a:pt x="14862" y="269985"/>
                  </a:lnTo>
                  <a:lnTo>
                    <a:pt x="3751" y="233355"/>
                  </a:lnTo>
                  <a:lnTo>
                    <a:pt x="0" y="19526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10074" y="5172074"/>
              <a:ext cx="190499" cy="19049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458096" y="5178425"/>
            <a:ext cx="787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83273" y="5178425"/>
            <a:ext cx="1105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1345" algn="l"/>
                <a:tab pos="762000" algn="l"/>
              </a:tabLst>
            </a:pPr>
            <a:r>
              <a:rPr dirty="0" sz="900" spc="-12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900" spc="-1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293283"/>
                </a:solidFill>
                <a:latin typeface="Tahoma"/>
                <a:cs typeface="Tahoma"/>
              </a:rPr>
              <a:t>X </a:t>
            </a:r>
            <a:r>
              <a:rPr dirty="0" sz="900" spc="-11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900" spc="-1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900" spc="-1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0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900" spc="-1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60" b="1">
                <a:solidFill>
                  <a:srgbClr val="293283"/>
                </a:solidFill>
                <a:latin typeface="Tahoma"/>
                <a:cs typeface="Tahoma"/>
              </a:rPr>
              <a:t>D</a:t>
            </a:r>
            <a:r>
              <a:rPr dirty="0" sz="900" b="1">
                <a:solidFill>
                  <a:srgbClr val="293283"/>
                </a:solidFill>
                <a:latin typeface="Tahoma"/>
                <a:cs typeface="Tahoma"/>
              </a:rPr>
              <a:t>	</a:t>
            </a:r>
            <a:r>
              <a:rPr dirty="0" sz="900" spc="-50" b="1">
                <a:solidFill>
                  <a:srgbClr val="E4DED0"/>
                </a:solidFill>
                <a:latin typeface="Tahoma"/>
                <a:cs typeface="Tahoma"/>
              </a:rPr>
              <a:t>·</a:t>
            </a:r>
            <a:r>
              <a:rPr dirty="0" sz="900" b="1">
                <a:solidFill>
                  <a:srgbClr val="E4DED0"/>
                </a:solidFill>
                <a:latin typeface="Tahoma"/>
                <a:cs typeface="Tahoma"/>
              </a:rPr>
              <a:t>	</a:t>
            </a:r>
            <a:r>
              <a:rPr dirty="0" sz="900">
                <a:solidFill>
                  <a:srgbClr val="797E94"/>
                </a:solidFill>
                <a:latin typeface="Trebuchet MS"/>
                <a:cs typeface="Trebuchet MS"/>
              </a:rPr>
              <a:t>5</a:t>
            </a:r>
            <a:r>
              <a:rPr dirty="0" sz="900" spc="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900" spc="70">
                <a:solidFill>
                  <a:srgbClr val="797E94"/>
                </a:solidFill>
                <a:latin typeface="Trebuchet MS"/>
                <a:cs typeface="Trebuchet MS"/>
              </a:rPr>
              <a:t>MIN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5799" y="590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25500" y="530225"/>
            <a:ext cx="21513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5" b="1">
                <a:solidFill>
                  <a:srgbClr val="FF6A5B"/>
                </a:solidFill>
                <a:latin typeface="Tahoma"/>
                <a:cs typeface="Tahoma"/>
              </a:rPr>
              <a:t>PA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3</a:t>
            </a:r>
            <a:r>
              <a:rPr dirty="0" sz="900" spc="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3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X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1</a:t>
            </a:r>
            <a:r>
              <a:rPr dirty="0" spc="-110"/>
              <a:t> </a:t>
            </a:r>
            <a:r>
              <a:rPr dirty="0"/>
              <a:t>4</a:t>
            </a:r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16586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X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1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B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5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2049" y="847724"/>
            <a:ext cx="1419225" cy="219075"/>
          </a:xfrm>
          <a:custGeom>
            <a:avLst/>
            <a:gdLst/>
            <a:ahLst/>
            <a:cxnLst/>
            <a:rect l="l" t="t" r="r" b="b"/>
            <a:pathLst>
              <a:path w="1419225" h="219075">
                <a:moveTo>
                  <a:pt x="1394439" y="219074"/>
                </a:moveTo>
                <a:lnTo>
                  <a:pt x="24785" y="219074"/>
                </a:lnTo>
                <a:lnTo>
                  <a:pt x="21140" y="218349"/>
                </a:lnTo>
                <a:lnTo>
                  <a:pt x="0" y="194289"/>
                </a:lnTo>
                <a:lnTo>
                  <a:pt x="0" y="190499"/>
                </a:lnTo>
                <a:lnTo>
                  <a:pt x="0" y="24785"/>
                </a:lnTo>
                <a:lnTo>
                  <a:pt x="24785" y="0"/>
                </a:lnTo>
                <a:lnTo>
                  <a:pt x="1394439" y="0"/>
                </a:lnTo>
                <a:lnTo>
                  <a:pt x="1419224" y="24785"/>
                </a:lnTo>
                <a:lnTo>
                  <a:pt x="1419224" y="194289"/>
                </a:lnTo>
                <a:lnTo>
                  <a:pt x="1398084" y="218349"/>
                </a:lnTo>
                <a:lnTo>
                  <a:pt x="1394439" y="2190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73099" y="768350"/>
            <a:ext cx="590359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20">
                <a:solidFill>
                  <a:srgbClr val="293283"/>
                </a:solidFill>
              </a:rPr>
              <a:t>Load</a:t>
            </a:r>
            <a:r>
              <a:rPr dirty="0" sz="1800" spc="235">
                <a:solidFill>
                  <a:srgbClr val="293283"/>
                </a:solidFill>
              </a:rPr>
              <a:t> </a:t>
            </a:r>
            <a:r>
              <a:rPr dirty="0" sz="1500" spc="-45">
                <a:solidFill>
                  <a:srgbClr val="293283"/>
                </a:solidFill>
                <a:latin typeface="Courier New"/>
                <a:cs typeface="Courier New"/>
              </a:rPr>
              <a:t>students.csv</a:t>
            </a:r>
            <a:r>
              <a:rPr dirty="0" sz="1500" spc="-540">
                <a:solidFill>
                  <a:srgbClr val="293283"/>
                </a:solidFill>
                <a:latin typeface="Courier New"/>
                <a:cs typeface="Courier New"/>
              </a:rPr>
              <a:t> </a:t>
            </a:r>
            <a:r>
              <a:rPr dirty="0" sz="1800" spc="-90">
                <a:solidFill>
                  <a:srgbClr val="293283"/>
                </a:solidFill>
              </a:rPr>
              <a:t>.</a:t>
            </a:r>
            <a:r>
              <a:rPr dirty="0" sz="1800" spc="-165">
                <a:solidFill>
                  <a:srgbClr val="293283"/>
                </a:solidFill>
              </a:rPr>
              <a:t> </a:t>
            </a:r>
            <a:r>
              <a:rPr dirty="0" sz="1800" spc="-190">
                <a:solidFill>
                  <a:srgbClr val="293283"/>
                </a:solidFill>
              </a:rPr>
              <a:t>Filter</a:t>
            </a:r>
            <a:r>
              <a:rPr dirty="0" sz="1800" spc="-170">
                <a:solidFill>
                  <a:srgbClr val="293283"/>
                </a:solidFill>
              </a:rPr>
              <a:t> </a:t>
            </a:r>
            <a:r>
              <a:rPr dirty="0" sz="1800" spc="-215">
                <a:solidFill>
                  <a:srgbClr val="293283"/>
                </a:solidFill>
              </a:rPr>
              <a:t>by</a:t>
            </a:r>
            <a:r>
              <a:rPr dirty="0" sz="1800" spc="-165">
                <a:solidFill>
                  <a:srgbClr val="293283"/>
                </a:solidFill>
              </a:rPr>
              <a:t> </a:t>
            </a:r>
            <a:r>
              <a:rPr dirty="0" sz="1800" spc="-229">
                <a:solidFill>
                  <a:srgbClr val="293283"/>
                </a:solidFill>
              </a:rPr>
              <a:t>branch</a:t>
            </a:r>
            <a:r>
              <a:rPr dirty="0" sz="1800" spc="-170">
                <a:solidFill>
                  <a:srgbClr val="293283"/>
                </a:solidFill>
              </a:rPr>
              <a:t> </a:t>
            </a:r>
            <a:r>
              <a:rPr dirty="0" sz="1800" spc="-225">
                <a:solidFill>
                  <a:srgbClr val="293283"/>
                </a:solidFill>
              </a:rPr>
              <a:t>and</a:t>
            </a:r>
            <a:r>
              <a:rPr dirty="0" sz="1800" spc="-170">
                <a:solidFill>
                  <a:srgbClr val="293283"/>
                </a:solidFill>
              </a:rPr>
              <a:t> </a:t>
            </a:r>
            <a:r>
              <a:rPr dirty="0" sz="1800" spc="-200">
                <a:solidFill>
                  <a:srgbClr val="293283"/>
                </a:solidFill>
              </a:rPr>
              <a:t>city.</a:t>
            </a:r>
            <a:r>
              <a:rPr dirty="0" sz="1800" spc="-165">
                <a:solidFill>
                  <a:srgbClr val="293283"/>
                </a:solidFill>
              </a:rPr>
              <a:t> </a:t>
            </a:r>
            <a:r>
              <a:rPr dirty="0" sz="1800" spc="-220"/>
              <a:t>Display</a:t>
            </a:r>
            <a:r>
              <a:rPr dirty="0" sz="1800" spc="-170"/>
              <a:t> </a:t>
            </a:r>
            <a:r>
              <a:rPr dirty="0" sz="1800" spc="-200"/>
              <a:t>the</a:t>
            </a:r>
            <a:r>
              <a:rPr dirty="0" sz="1800" spc="-170"/>
              <a:t> </a:t>
            </a:r>
            <a:r>
              <a:rPr dirty="0" sz="1800" spc="-120"/>
              <a:t>result.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099" y="1116012"/>
            <a:ext cx="7941309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real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4A4E6A"/>
                </a:solidFill>
                <a:latin typeface="Trebuchet MS"/>
                <a:cs typeface="Trebuchet MS"/>
              </a:rPr>
              <a:t>dashboard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pattern.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Controls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in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the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sidebar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(Day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5),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data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4A4E6A"/>
                </a:solidFill>
                <a:latin typeface="Trebuchet MS"/>
                <a:cs typeface="Trebuchet MS"/>
              </a:rPr>
              <a:t>filtering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with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pandas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(Day </a:t>
            </a:r>
            <a:r>
              <a:rPr dirty="0" sz="900" spc="-60">
                <a:solidFill>
                  <a:srgbClr val="4A4E6A"/>
                </a:solidFill>
                <a:latin typeface="Trebuchet MS"/>
                <a:cs typeface="Trebuchet MS"/>
              </a:rPr>
              <a:t>6),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results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in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the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main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area.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4A4E6A"/>
                </a:solidFill>
                <a:latin typeface="Trebuchet MS"/>
                <a:cs typeface="Trebuchet MS"/>
              </a:rPr>
              <a:t>Every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A4E6A"/>
                </a:solidFill>
                <a:latin typeface="Trebuchet MS"/>
                <a:cs typeface="Trebuchet MS"/>
              </a:rPr>
              <a:t>group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project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4A4E6A"/>
                </a:solidFill>
                <a:latin typeface="Trebuchet MS"/>
                <a:cs typeface="Trebuchet MS"/>
              </a:rPr>
              <a:t>will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have </a:t>
            </a:r>
            <a:r>
              <a:rPr dirty="0" sz="900" spc="-20">
                <a:solidFill>
                  <a:srgbClr val="4A4E6A"/>
                </a:solidFill>
                <a:latin typeface="Trebuchet MS"/>
                <a:cs typeface="Trebuchet MS"/>
              </a:rPr>
              <a:t>some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version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4A4E6A"/>
                </a:solidFill>
                <a:latin typeface="Trebuchet MS"/>
                <a:cs typeface="Trebuchet MS"/>
              </a:rPr>
              <a:t>of</a:t>
            </a:r>
            <a:r>
              <a:rPr dirty="0" sz="9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A4E6A"/>
                </a:solidFill>
                <a:latin typeface="Trebuchet MS"/>
                <a:cs typeface="Trebuchet MS"/>
              </a:rPr>
              <a:t>this.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799" y="1409700"/>
            <a:ext cx="3486150" cy="4514850"/>
            <a:chOff x="685799" y="1409700"/>
            <a:chExt cx="3486150" cy="4514850"/>
          </a:xfrm>
        </p:grpSpPr>
        <p:sp>
          <p:nvSpPr>
            <p:cNvPr id="7" name="object 7"/>
            <p:cNvSpPr/>
            <p:nvPr/>
          </p:nvSpPr>
          <p:spPr>
            <a:xfrm>
              <a:off x="704849" y="1414462"/>
              <a:ext cx="3462654" cy="4505325"/>
            </a:xfrm>
            <a:custGeom>
              <a:avLst/>
              <a:gdLst/>
              <a:ahLst/>
              <a:cxnLst/>
              <a:rect l="l" t="t" r="r" b="b"/>
              <a:pathLst>
                <a:path w="3462654" h="4505325">
                  <a:moveTo>
                    <a:pt x="3359992" y="4505324"/>
                  </a:moveTo>
                  <a:lnTo>
                    <a:pt x="88995" y="4505324"/>
                  </a:lnTo>
                  <a:lnTo>
                    <a:pt x="82801" y="4504622"/>
                  </a:lnTo>
                  <a:lnTo>
                    <a:pt x="37131" y="4482867"/>
                  </a:lnTo>
                  <a:lnTo>
                    <a:pt x="12577" y="4450661"/>
                  </a:lnTo>
                  <a:lnTo>
                    <a:pt x="610" y="4410101"/>
                  </a:lnTo>
                  <a:lnTo>
                    <a:pt x="0" y="4402979"/>
                  </a:lnTo>
                  <a:lnTo>
                    <a:pt x="0" y="4395787"/>
                  </a:lnTo>
                  <a:lnTo>
                    <a:pt x="0" y="102345"/>
                  </a:lnTo>
                  <a:lnTo>
                    <a:pt x="9643" y="60974"/>
                  </a:lnTo>
                  <a:lnTo>
                    <a:pt x="32320" y="26996"/>
                  </a:lnTo>
                  <a:lnTo>
                    <a:pt x="64577" y="5585"/>
                  </a:lnTo>
                  <a:lnTo>
                    <a:pt x="88995" y="0"/>
                  </a:lnTo>
                  <a:lnTo>
                    <a:pt x="3359992" y="0"/>
                  </a:lnTo>
                  <a:lnTo>
                    <a:pt x="3401362" y="11090"/>
                  </a:lnTo>
                  <a:lnTo>
                    <a:pt x="3435340" y="37168"/>
                  </a:lnTo>
                  <a:lnTo>
                    <a:pt x="3456751" y="74263"/>
                  </a:lnTo>
                  <a:lnTo>
                    <a:pt x="3462337" y="102345"/>
                  </a:lnTo>
                  <a:lnTo>
                    <a:pt x="3462337" y="4402979"/>
                  </a:lnTo>
                  <a:lnTo>
                    <a:pt x="3451246" y="4444348"/>
                  </a:lnTo>
                  <a:lnTo>
                    <a:pt x="3425168" y="4478326"/>
                  </a:lnTo>
                  <a:lnTo>
                    <a:pt x="3388072" y="4499738"/>
                  </a:lnTo>
                  <a:lnTo>
                    <a:pt x="3367115" y="4504622"/>
                  </a:lnTo>
                  <a:lnTo>
                    <a:pt x="3359992" y="4505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44016" y="1409699"/>
              <a:ext cx="3428365" cy="4514850"/>
            </a:xfrm>
            <a:custGeom>
              <a:avLst/>
              <a:gdLst/>
              <a:ahLst/>
              <a:cxnLst/>
              <a:rect l="l" t="t" r="r" b="b"/>
              <a:pathLst>
                <a:path w="3428365" h="4514850">
                  <a:moveTo>
                    <a:pt x="3427920" y="114300"/>
                  </a:moveTo>
                  <a:lnTo>
                    <a:pt x="3419221" y="70561"/>
                  </a:lnTo>
                  <a:lnTo>
                    <a:pt x="3394887" y="33997"/>
                  </a:lnTo>
                  <a:lnTo>
                    <a:pt x="3359112" y="9525"/>
                  </a:lnTo>
                  <a:lnTo>
                    <a:pt x="3313620" y="0"/>
                  </a:lnTo>
                  <a:lnTo>
                    <a:pt x="56070" y="0"/>
                  </a:lnTo>
                  <a:lnTo>
                    <a:pt x="12331" y="8712"/>
                  </a:lnTo>
                  <a:lnTo>
                    <a:pt x="0" y="14795"/>
                  </a:lnTo>
                  <a:lnTo>
                    <a:pt x="22440" y="20408"/>
                  </a:lnTo>
                  <a:lnTo>
                    <a:pt x="26911" y="17500"/>
                  </a:lnTo>
                  <a:lnTo>
                    <a:pt x="33985" y="14020"/>
                  </a:lnTo>
                  <a:lnTo>
                    <a:pt x="41211" y="11518"/>
                  </a:lnTo>
                  <a:lnTo>
                    <a:pt x="48564" y="10033"/>
                  </a:lnTo>
                  <a:lnTo>
                    <a:pt x="56070" y="9525"/>
                  </a:lnTo>
                  <a:lnTo>
                    <a:pt x="3313620" y="9525"/>
                  </a:lnTo>
                  <a:lnTo>
                    <a:pt x="3353727" y="17500"/>
                  </a:lnTo>
                  <a:lnTo>
                    <a:pt x="3387712" y="40220"/>
                  </a:lnTo>
                  <a:lnTo>
                    <a:pt x="3410420" y="74206"/>
                  </a:lnTo>
                  <a:lnTo>
                    <a:pt x="3418395" y="114300"/>
                  </a:lnTo>
                  <a:lnTo>
                    <a:pt x="3418395" y="4400550"/>
                  </a:lnTo>
                  <a:lnTo>
                    <a:pt x="3410420" y="4440656"/>
                  </a:lnTo>
                  <a:lnTo>
                    <a:pt x="3388169" y="4474146"/>
                  </a:lnTo>
                  <a:lnTo>
                    <a:pt x="3353727" y="4497349"/>
                  </a:lnTo>
                  <a:lnTo>
                    <a:pt x="3313620" y="4505325"/>
                  </a:lnTo>
                  <a:lnTo>
                    <a:pt x="56070" y="4505325"/>
                  </a:lnTo>
                  <a:lnTo>
                    <a:pt x="22440" y="4494454"/>
                  </a:lnTo>
                  <a:lnTo>
                    <a:pt x="0" y="4500067"/>
                  </a:lnTo>
                  <a:lnTo>
                    <a:pt x="44818" y="4514316"/>
                  </a:lnTo>
                  <a:lnTo>
                    <a:pt x="56070" y="4514850"/>
                  </a:lnTo>
                  <a:lnTo>
                    <a:pt x="3313620" y="4514850"/>
                  </a:lnTo>
                  <a:lnTo>
                    <a:pt x="3357372" y="4506150"/>
                  </a:lnTo>
                  <a:lnTo>
                    <a:pt x="3359112" y="4505325"/>
                  </a:lnTo>
                  <a:lnTo>
                    <a:pt x="3367557" y="4501350"/>
                  </a:lnTo>
                  <a:lnTo>
                    <a:pt x="3402025" y="4473029"/>
                  </a:lnTo>
                  <a:lnTo>
                    <a:pt x="3423031" y="4433684"/>
                  </a:lnTo>
                  <a:lnTo>
                    <a:pt x="3427920" y="4400550"/>
                  </a:lnTo>
                  <a:lnTo>
                    <a:pt x="3427920" y="11430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799" y="1424325"/>
              <a:ext cx="81280" cy="4485640"/>
            </a:xfrm>
            <a:custGeom>
              <a:avLst/>
              <a:gdLst/>
              <a:ahLst/>
              <a:cxnLst/>
              <a:rect l="l" t="t" r="r" b="b"/>
              <a:pathLst>
                <a:path w="81279" h="4485640">
                  <a:moveTo>
                    <a:pt x="58503" y="4485597"/>
                  </a:moveTo>
                  <a:lnTo>
                    <a:pt x="25900" y="4458399"/>
                  </a:lnTo>
                  <a:lnTo>
                    <a:pt x="4894" y="4419053"/>
                  </a:lnTo>
                  <a:lnTo>
                    <a:pt x="0" y="4385923"/>
                  </a:lnTo>
                  <a:lnTo>
                    <a:pt x="0" y="99674"/>
                  </a:lnTo>
                  <a:lnTo>
                    <a:pt x="8700" y="55933"/>
                  </a:lnTo>
                  <a:lnTo>
                    <a:pt x="33477" y="18851"/>
                  </a:lnTo>
                  <a:lnTo>
                    <a:pt x="58503" y="0"/>
                  </a:lnTo>
                  <a:lnTo>
                    <a:pt x="80929" y="5606"/>
                  </a:lnTo>
                  <a:lnTo>
                    <a:pt x="78343" y="7284"/>
                  </a:lnTo>
                  <a:lnTo>
                    <a:pt x="71957" y="12540"/>
                  </a:lnTo>
                  <a:lnTo>
                    <a:pt x="47107" y="50233"/>
                  </a:lnTo>
                  <a:lnTo>
                    <a:pt x="38462" y="89352"/>
                  </a:lnTo>
                  <a:lnTo>
                    <a:pt x="38100" y="99674"/>
                  </a:lnTo>
                  <a:lnTo>
                    <a:pt x="38100" y="4385923"/>
                  </a:lnTo>
                  <a:lnTo>
                    <a:pt x="43900" y="4426018"/>
                  </a:lnTo>
                  <a:lnTo>
                    <a:pt x="65982" y="4466956"/>
                  </a:lnTo>
                  <a:lnTo>
                    <a:pt x="80930" y="4479991"/>
                  </a:lnTo>
                  <a:lnTo>
                    <a:pt x="58503" y="4485597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57250" y="1530350"/>
            <a:ext cx="58483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H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16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B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293283"/>
                </a:solidFill>
                <a:latin typeface="Tahoma"/>
                <a:cs typeface="Tahoma"/>
              </a:rPr>
              <a:t>I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Tahoma"/>
                <a:cs typeface="Tahoma"/>
              </a:rPr>
              <a:t>F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19499" y="1533524"/>
            <a:ext cx="409575" cy="190500"/>
          </a:xfrm>
          <a:custGeom>
            <a:avLst/>
            <a:gdLst/>
            <a:ahLst/>
            <a:cxnLst/>
            <a:rect l="l" t="t" r="r" b="b"/>
            <a:pathLst>
              <a:path w="409575" h="190500">
                <a:moveTo>
                  <a:pt x="320579" y="190499"/>
                </a:moveTo>
                <a:lnTo>
                  <a:pt x="88995" y="190499"/>
                </a:lnTo>
                <a:lnTo>
                  <a:pt x="82801" y="189889"/>
                </a:lnTo>
                <a:lnTo>
                  <a:pt x="37131" y="170972"/>
                </a:lnTo>
                <a:lnTo>
                  <a:pt x="9643" y="137478"/>
                </a:lnTo>
                <a:lnTo>
                  <a:pt x="0" y="101504"/>
                </a:lnTo>
                <a:lnTo>
                  <a:pt x="0" y="95249"/>
                </a:lnTo>
                <a:lnTo>
                  <a:pt x="0" y="88995"/>
                </a:lnTo>
                <a:lnTo>
                  <a:pt x="12577" y="47531"/>
                </a:lnTo>
                <a:lnTo>
                  <a:pt x="47531" y="12577"/>
                </a:lnTo>
                <a:lnTo>
                  <a:pt x="88995" y="0"/>
                </a:lnTo>
                <a:lnTo>
                  <a:pt x="320579" y="0"/>
                </a:lnTo>
                <a:lnTo>
                  <a:pt x="362042" y="12577"/>
                </a:lnTo>
                <a:lnTo>
                  <a:pt x="396997" y="47531"/>
                </a:lnTo>
                <a:lnTo>
                  <a:pt x="409575" y="88995"/>
                </a:lnTo>
                <a:lnTo>
                  <a:pt x="409575" y="101504"/>
                </a:lnTo>
                <a:lnTo>
                  <a:pt x="396996" y="142967"/>
                </a:lnTo>
                <a:lnTo>
                  <a:pt x="362043" y="177921"/>
                </a:lnTo>
                <a:lnTo>
                  <a:pt x="326773" y="189889"/>
                </a:lnTo>
                <a:lnTo>
                  <a:pt x="320579" y="190499"/>
                </a:lnTo>
                <a:close/>
              </a:path>
            </a:pathLst>
          </a:custGeom>
          <a:solidFill>
            <a:srgbClr val="E7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707457" y="1554162"/>
            <a:ext cx="23558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spc="-45" b="1">
                <a:solidFill>
                  <a:srgbClr val="293283"/>
                </a:solidFill>
                <a:latin typeface="Tahoma"/>
                <a:cs typeface="Tahoma"/>
              </a:rPr>
              <a:t>TA</a:t>
            </a:r>
            <a:r>
              <a:rPr dirty="0" sz="700" spc="-105" b="1">
                <a:solidFill>
                  <a:srgbClr val="293283"/>
                </a:solidFill>
                <a:latin typeface="Tahoma"/>
                <a:cs typeface="Tahoma"/>
              </a:rPr>
              <a:t> S </a:t>
            </a:r>
            <a:r>
              <a:rPr dirty="0" sz="700" spc="-50" b="1">
                <a:solidFill>
                  <a:srgbClr val="293283"/>
                </a:solidFill>
                <a:latin typeface="Tahoma"/>
                <a:cs typeface="Tahoma"/>
              </a:rPr>
              <a:t>K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7237" y="1838324"/>
            <a:ext cx="2352675" cy="1152525"/>
          </a:xfrm>
          <a:custGeom>
            <a:avLst/>
            <a:gdLst/>
            <a:ahLst/>
            <a:cxnLst/>
            <a:rect l="l" t="t" r="r" b="b"/>
            <a:pathLst>
              <a:path w="2352675" h="1152525">
                <a:moveTo>
                  <a:pt x="819150" y="196240"/>
                </a:moveTo>
                <a:lnTo>
                  <a:pt x="794372" y="171450"/>
                </a:lnTo>
                <a:lnTo>
                  <a:pt x="24790" y="171450"/>
                </a:lnTo>
                <a:lnTo>
                  <a:pt x="0" y="196240"/>
                </a:lnTo>
                <a:lnTo>
                  <a:pt x="0" y="257175"/>
                </a:lnTo>
                <a:lnTo>
                  <a:pt x="0" y="260972"/>
                </a:lnTo>
                <a:lnTo>
                  <a:pt x="24790" y="285750"/>
                </a:lnTo>
                <a:lnTo>
                  <a:pt x="794372" y="285750"/>
                </a:lnTo>
                <a:lnTo>
                  <a:pt x="819150" y="260972"/>
                </a:lnTo>
                <a:lnTo>
                  <a:pt x="819150" y="196240"/>
                </a:lnTo>
                <a:close/>
              </a:path>
              <a:path w="2352675" h="1152525">
                <a:moveTo>
                  <a:pt x="1752600" y="853465"/>
                </a:moveTo>
                <a:lnTo>
                  <a:pt x="1727822" y="828675"/>
                </a:lnTo>
                <a:lnTo>
                  <a:pt x="1053490" y="828675"/>
                </a:lnTo>
                <a:lnTo>
                  <a:pt x="1028700" y="853465"/>
                </a:lnTo>
                <a:lnTo>
                  <a:pt x="1028700" y="914400"/>
                </a:lnTo>
                <a:lnTo>
                  <a:pt x="1028700" y="918197"/>
                </a:lnTo>
                <a:lnTo>
                  <a:pt x="1053490" y="942975"/>
                </a:lnTo>
                <a:lnTo>
                  <a:pt x="1727822" y="942975"/>
                </a:lnTo>
                <a:lnTo>
                  <a:pt x="1752600" y="918197"/>
                </a:lnTo>
                <a:lnTo>
                  <a:pt x="1752600" y="853465"/>
                </a:lnTo>
                <a:close/>
              </a:path>
              <a:path w="2352675" h="1152525">
                <a:moveTo>
                  <a:pt x="2085975" y="24790"/>
                </a:moveTo>
                <a:lnTo>
                  <a:pt x="2061197" y="0"/>
                </a:lnTo>
                <a:lnTo>
                  <a:pt x="1291615" y="0"/>
                </a:lnTo>
                <a:lnTo>
                  <a:pt x="1266825" y="24790"/>
                </a:lnTo>
                <a:lnTo>
                  <a:pt x="1266825" y="85725"/>
                </a:lnTo>
                <a:lnTo>
                  <a:pt x="1266825" y="89522"/>
                </a:lnTo>
                <a:lnTo>
                  <a:pt x="1291615" y="114300"/>
                </a:lnTo>
                <a:lnTo>
                  <a:pt x="2061197" y="114300"/>
                </a:lnTo>
                <a:lnTo>
                  <a:pt x="2085975" y="89522"/>
                </a:lnTo>
                <a:lnTo>
                  <a:pt x="2085975" y="24790"/>
                </a:lnTo>
                <a:close/>
              </a:path>
              <a:path w="2352675" h="1152525">
                <a:moveTo>
                  <a:pt x="2352675" y="1063015"/>
                </a:moveTo>
                <a:lnTo>
                  <a:pt x="2327897" y="1038225"/>
                </a:lnTo>
                <a:lnTo>
                  <a:pt x="1586890" y="1038225"/>
                </a:lnTo>
                <a:lnTo>
                  <a:pt x="1562100" y="1063015"/>
                </a:lnTo>
                <a:lnTo>
                  <a:pt x="1562100" y="1123950"/>
                </a:lnTo>
                <a:lnTo>
                  <a:pt x="1562100" y="1127747"/>
                </a:lnTo>
                <a:lnTo>
                  <a:pt x="1586890" y="1152525"/>
                </a:lnTo>
                <a:lnTo>
                  <a:pt x="2327897" y="1152525"/>
                </a:lnTo>
                <a:lnTo>
                  <a:pt x="2352675" y="1127747"/>
                </a:lnTo>
                <a:lnTo>
                  <a:pt x="2352675" y="1063015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57250" y="1762760"/>
            <a:ext cx="3038475" cy="272986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R="5080">
              <a:lnSpc>
                <a:spcPct val="128499"/>
              </a:lnSpc>
              <a:spcBef>
                <a:spcPts val="60"/>
              </a:spcBef>
            </a:pP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Build</a:t>
            </a:r>
            <a:r>
              <a:rPr dirty="0" sz="900" spc="-7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a</a:t>
            </a:r>
            <a:r>
              <a:rPr dirty="0" sz="900" spc="-7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Streamlit</a:t>
            </a:r>
            <a:r>
              <a:rPr dirty="0" sz="900" spc="-7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app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called</a:t>
            </a:r>
            <a:r>
              <a:rPr dirty="0" sz="900" spc="26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1B1F3A"/>
                </a:solidFill>
                <a:latin typeface="Courier New"/>
                <a:cs typeface="Courier New"/>
              </a:rPr>
              <a:t>dashboard.py</a:t>
            </a:r>
            <a:r>
              <a:rPr dirty="0" sz="800" spc="5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that </a:t>
            </a:r>
            <a:r>
              <a:rPr dirty="0" sz="900" spc="-20">
                <a:solidFill>
                  <a:srgbClr val="1B1F3A"/>
                </a:solidFill>
                <a:latin typeface="Trebuchet MS"/>
                <a:cs typeface="Trebuchet MS"/>
              </a:rPr>
              <a:t>loads </a:t>
            </a:r>
            <a:r>
              <a:rPr dirty="0" sz="800">
                <a:solidFill>
                  <a:srgbClr val="1B1F3A"/>
                </a:solidFill>
                <a:latin typeface="Courier New"/>
                <a:cs typeface="Courier New"/>
              </a:rPr>
              <a:t>students.csv</a:t>
            </a:r>
            <a:r>
              <a:rPr dirty="0" sz="800" spc="-13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900" spc="-110">
                <a:solidFill>
                  <a:srgbClr val="1B1F3A"/>
                </a:solidFill>
                <a:latin typeface="Trebuchet MS"/>
                <a:cs typeface="Trebuchet MS"/>
              </a:rPr>
              <a:t>,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displays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full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75">
                <a:solidFill>
                  <a:srgbClr val="1B1F3A"/>
                </a:solidFill>
                <a:latin typeface="Trebuchet MS"/>
                <a:cs typeface="Trebuchet MS"/>
              </a:rPr>
              <a:t>table,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and </a:t>
            </a:r>
            <a:r>
              <a:rPr dirty="0" sz="900" spc="-60">
                <a:solidFill>
                  <a:srgbClr val="1B1F3A"/>
                </a:solidFill>
                <a:latin typeface="Trebuchet MS"/>
                <a:cs typeface="Trebuchet MS"/>
              </a:rPr>
              <a:t>lets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user </a:t>
            </a:r>
            <a:r>
              <a:rPr dirty="0" sz="900" spc="-70">
                <a:solidFill>
                  <a:srgbClr val="1B1F3A"/>
                </a:solidFill>
                <a:latin typeface="Trebuchet MS"/>
                <a:cs typeface="Trebuchet MS"/>
              </a:rPr>
              <a:t>filter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rebuchet MS"/>
                <a:cs typeface="Trebuchet MS"/>
              </a:rPr>
              <a:t>by 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branch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and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75">
                <a:solidFill>
                  <a:srgbClr val="1B1F3A"/>
                </a:solidFill>
                <a:latin typeface="Trebuchet MS"/>
                <a:cs typeface="Trebuchet MS"/>
              </a:rPr>
              <a:t>city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using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sidebar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rebuchet MS"/>
                <a:cs typeface="Trebuchet MS"/>
              </a:rPr>
              <a:t>widgets.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750" spc="-140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05" b="1">
                <a:solidFill>
                  <a:srgbClr val="797E94"/>
                </a:solidFill>
                <a:latin typeface="Tahoma"/>
                <a:cs typeface="Tahoma"/>
              </a:rPr>
              <a:t>E </a:t>
            </a:r>
            <a:r>
              <a:rPr dirty="0" sz="750" spc="-70" b="1">
                <a:solidFill>
                  <a:srgbClr val="797E94"/>
                </a:solidFill>
                <a:latin typeface="Tahoma"/>
                <a:cs typeface="Tahoma"/>
              </a:rPr>
              <a:t>Q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70" b="1">
                <a:solidFill>
                  <a:srgbClr val="797E94"/>
                </a:solidFill>
                <a:latin typeface="Tahoma"/>
                <a:cs typeface="Tahoma"/>
              </a:rPr>
              <a:t>U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70" b="1">
                <a:solidFill>
                  <a:srgbClr val="797E94"/>
                </a:solidFill>
                <a:latin typeface="Tahoma"/>
                <a:cs typeface="Tahoma"/>
              </a:rPr>
              <a:t>I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40" b="1">
                <a:solidFill>
                  <a:srgbClr val="797E94"/>
                </a:solidFill>
                <a:latin typeface="Tahoma"/>
                <a:cs typeface="Tahoma"/>
              </a:rPr>
              <a:t>R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0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30" b="1">
                <a:solidFill>
                  <a:srgbClr val="797E94"/>
                </a:solidFill>
                <a:latin typeface="Tahoma"/>
                <a:cs typeface="Tahoma"/>
              </a:rPr>
              <a:t>M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0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750" spc="-9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00" b="1">
                <a:solidFill>
                  <a:srgbClr val="797E94"/>
                </a:solidFill>
                <a:latin typeface="Tahoma"/>
                <a:cs typeface="Tahoma"/>
              </a:rPr>
              <a:t>T </a:t>
            </a:r>
            <a:r>
              <a:rPr dirty="0" sz="750" spc="-50" b="1">
                <a:solidFill>
                  <a:srgbClr val="797E94"/>
                </a:solidFill>
                <a:latin typeface="Tahoma"/>
                <a:cs typeface="Tahoma"/>
              </a:rPr>
              <a:t>S</a:t>
            </a:r>
            <a:endParaRPr sz="750">
              <a:latin typeface="Tahoma"/>
              <a:cs typeface="Tahoma"/>
            </a:endParaRPr>
          </a:p>
          <a:p>
            <a:pPr marL="208915" indent="-208915">
              <a:lnSpc>
                <a:spcPct val="100000"/>
              </a:lnSpc>
              <a:spcBef>
                <a:spcPts val="650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208915" algn="l"/>
              </a:tabLst>
            </a:pPr>
            <a:r>
              <a:rPr dirty="0" sz="850" spc="-45">
                <a:solidFill>
                  <a:srgbClr val="1B1F3A"/>
                </a:solidFill>
                <a:latin typeface="Trebuchet MS"/>
                <a:cs typeface="Trebuchet MS"/>
              </a:rPr>
              <a:t>Load</a:t>
            </a:r>
            <a:r>
              <a:rPr dirty="0" sz="850" spc="-7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850" spc="-7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rebuchet MS"/>
                <a:cs typeface="Trebuchet MS"/>
              </a:rPr>
              <a:t>CSV</a:t>
            </a:r>
            <a:r>
              <a:rPr dirty="0" sz="850" spc="-7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1B1F3A"/>
                </a:solidFill>
                <a:latin typeface="Trebuchet MS"/>
                <a:cs typeface="Trebuchet MS"/>
              </a:rPr>
              <a:t>with</a:t>
            </a:r>
            <a:r>
              <a:rPr dirty="0" sz="850" spc="1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pd.read_csv</a:t>
            </a:r>
            <a:endParaRPr sz="750">
              <a:latin typeface="Courier New"/>
              <a:cs typeface="Courier New"/>
            </a:endParaRPr>
          </a:p>
          <a:p>
            <a:pPr marL="208915" indent="-208915">
              <a:lnSpc>
                <a:spcPct val="100000"/>
              </a:lnSpc>
              <a:spcBef>
                <a:spcPts val="630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208915" algn="l"/>
              </a:tabLst>
            </a:pPr>
            <a:r>
              <a:rPr dirty="0" sz="850" spc="-30">
                <a:solidFill>
                  <a:srgbClr val="1B1F3A"/>
                </a:solidFill>
                <a:latin typeface="Trebuchet MS"/>
                <a:cs typeface="Trebuchet MS"/>
              </a:rPr>
              <a:t>Show</a:t>
            </a:r>
            <a:r>
              <a:rPr dirty="0" sz="850" spc="-7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850" spc="-7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1B1F3A"/>
                </a:solidFill>
                <a:latin typeface="Trebuchet MS"/>
                <a:cs typeface="Trebuchet MS"/>
              </a:rPr>
              <a:t>full</a:t>
            </a:r>
            <a:r>
              <a:rPr dirty="0" sz="850" spc="-7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1B1F3A"/>
                </a:solidFill>
                <a:latin typeface="Trebuchet MS"/>
                <a:cs typeface="Trebuchet MS"/>
              </a:rPr>
              <a:t>DataFrame</a:t>
            </a:r>
            <a:r>
              <a:rPr dirty="0" sz="850" spc="-7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1B1F3A"/>
                </a:solidFill>
                <a:latin typeface="Trebuchet MS"/>
                <a:cs typeface="Trebuchet MS"/>
              </a:rPr>
              <a:t>using</a:t>
            </a:r>
            <a:r>
              <a:rPr dirty="0" sz="850" spc="2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st.dataframe</a:t>
            </a:r>
            <a:endParaRPr sz="750">
              <a:latin typeface="Courier New"/>
              <a:cs typeface="Courier New"/>
            </a:endParaRPr>
          </a:p>
          <a:p>
            <a:pPr marL="208915" indent="-208915">
              <a:lnSpc>
                <a:spcPct val="100000"/>
              </a:lnSpc>
              <a:spcBef>
                <a:spcPts val="705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208915" algn="l"/>
              </a:tabLst>
            </a:pPr>
            <a:r>
              <a:rPr dirty="0" sz="850" spc="-55">
                <a:solidFill>
                  <a:srgbClr val="1B1F3A"/>
                </a:solidFill>
                <a:latin typeface="Trebuchet MS"/>
                <a:cs typeface="Trebuchet MS"/>
              </a:rPr>
              <a:t>Sidebar: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rebuchet MS"/>
                <a:cs typeface="Trebuchet MS"/>
              </a:rPr>
              <a:t>a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1B1F3A"/>
                </a:solidFill>
                <a:latin typeface="Trebuchet MS"/>
                <a:cs typeface="Trebuchet MS"/>
              </a:rPr>
              <a:t>selectbox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rebuchet MS"/>
                <a:cs typeface="Trebuchet MS"/>
              </a:rPr>
              <a:t>for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rebuchet MS"/>
                <a:cs typeface="Trebuchet MS"/>
              </a:rPr>
              <a:t>branch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1B1F3A"/>
                </a:solidFill>
                <a:latin typeface="Trebuchet MS"/>
                <a:cs typeface="Trebuchet MS"/>
              </a:rPr>
              <a:t>(All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rebuchet MS"/>
                <a:cs typeface="Trebuchet MS"/>
              </a:rPr>
              <a:t>+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rebuchet MS"/>
                <a:cs typeface="Trebuchet MS"/>
              </a:rPr>
              <a:t>unique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1B1F3A"/>
                </a:solidFill>
                <a:latin typeface="Trebuchet MS"/>
                <a:cs typeface="Trebuchet MS"/>
              </a:rPr>
              <a:t>branches)</a:t>
            </a:r>
            <a:endParaRPr sz="850">
              <a:latin typeface="Trebuchet MS"/>
              <a:cs typeface="Trebuchet MS"/>
            </a:endParaRPr>
          </a:p>
          <a:p>
            <a:pPr marL="208915" indent="-208915">
              <a:lnSpc>
                <a:spcPct val="100000"/>
              </a:lnSpc>
              <a:spcBef>
                <a:spcPts val="630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208915" algn="l"/>
              </a:tabLst>
            </a:pPr>
            <a:r>
              <a:rPr dirty="0" sz="850" spc="-55">
                <a:solidFill>
                  <a:srgbClr val="1B1F3A"/>
                </a:solidFill>
                <a:latin typeface="Trebuchet MS"/>
                <a:cs typeface="Trebuchet MS"/>
              </a:rPr>
              <a:t>Sidebar:</a:t>
            </a:r>
            <a:r>
              <a:rPr dirty="0" sz="850" spc="-4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rebuchet MS"/>
                <a:cs typeface="Trebuchet MS"/>
              </a:rPr>
              <a:t>a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1B1F3A"/>
                </a:solidFill>
                <a:latin typeface="Trebuchet MS"/>
                <a:cs typeface="Trebuchet MS"/>
              </a:rPr>
              <a:t>selectbox</a:t>
            </a:r>
            <a:r>
              <a:rPr dirty="0" sz="850" spc="-4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rebuchet MS"/>
                <a:cs typeface="Trebuchet MS"/>
              </a:rPr>
              <a:t>for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65">
                <a:solidFill>
                  <a:srgbClr val="1B1F3A"/>
                </a:solidFill>
                <a:latin typeface="Trebuchet MS"/>
                <a:cs typeface="Trebuchet MS"/>
              </a:rPr>
              <a:t>city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1B1F3A"/>
                </a:solidFill>
                <a:latin typeface="Trebuchet MS"/>
                <a:cs typeface="Trebuchet MS"/>
              </a:rPr>
              <a:t>(All</a:t>
            </a:r>
            <a:r>
              <a:rPr dirty="0" sz="850" spc="-4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30">
                <a:solidFill>
                  <a:srgbClr val="1B1F3A"/>
                </a:solidFill>
                <a:latin typeface="Trebuchet MS"/>
                <a:cs typeface="Trebuchet MS"/>
              </a:rPr>
              <a:t>+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rebuchet MS"/>
                <a:cs typeface="Trebuchet MS"/>
              </a:rPr>
              <a:t>unique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1B1F3A"/>
                </a:solidFill>
                <a:latin typeface="Trebuchet MS"/>
                <a:cs typeface="Trebuchet MS"/>
              </a:rPr>
              <a:t>cities)</a:t>
            </a:r>
            <a:endParaRPr sz="850">
              <a:latin typeface="Trebuchet MS"/>
              <a:cs typeface="Trebuchet MS"/>
            </a:endParaRPr>
          </a:p>
          <a:p>
            <a:pPr marL="208915" indent="-208915">
              <a:lnSpc>
                <a:spcPct val="100000"/>
              </a:lnSpc>
              <a:spcBef>
                <a:spcPts val="630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208915" algn="l"/>
              </a:tabLst>
            </a:pPr>
            <a:r>
              <a:rPr dirty="0" sz="850" spc="-60">
                <a:solidFill>
                  <a:srgbClr val="1B1F3A"/>
                </a:solidFill>
                <a:latin typeface="Trebuchet MS"/>
                <a:cs typeface="Trebuchet MS"/>
              </a:rPr>
              <a:t>Filter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1B1F3A"/>
                </a:solidFill>
                <a:latin typeface="Trebuchet MS"/>
                <a:cs typeface="Trebuchet MS"/>
              </a:rPr>
              <a:t>DataFrame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1B1F3A"/>
                </a:solidFill>
                <a:latin typeface="Trebuchet MS"/>
                <a:cs typeface="Trebuchet MS"/>
              </a:rPr>
              <a:t>based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1B1F3A"/>
                </a:solidFill>
                <a:latin typeface="Trebuchet MS"/>
                <a:cs typeface="Trebuchet MS"/>
              </a:rPr>
              <a:t>on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1B1F3A"/>
                </a:solidFill>
                <a:latin typeface="Trebuchet MS"/>
                <a:cs typeface="Trebuchet MS"/>
              </a:rPr>
              <a:t>selections</a:t>
            </a:r>
            <a:endParaRPr sz="850">
              <a:latin typeface="Trebuchet MS"/>
              <a:cs typeface="Trebuchet MS"/>
            </a:endParaRPr>
          </a:p>
          <a:p>
            <a:pPr marL="208915" indent="-208915">
              <a:lnSpc>
                <a:spcPct val="100000"/>
              </a:lnSpc>
              <a:spcBef>
                <a:spcPts val="705"/>
              </a:spcBef>
              <a:buClr>
                <a:srgbClr val="FF6A5B"/>
              </a:buClr>
              <a:buSzPct val="105882"/>
              <a:buFont typeface="Yu Gothic"/>
              <a:buChar char="✓"/>
              <a:tabLst>
                <a:tab pos="208915" algn="l"/>
              </a:tabLst>
            </a:pPr>
            <a:r>
              <a:rPr dirty="0" sz="850" spc="-30">
                <a:solidFill>
                  <a:srgbClr val="1B1F3A"/>
                </a:solidFill>
                <a:latin typeface="Trebuchet MS"/>
                <a:cs typeface="Trebuchet MS"/>
              </a:rPr>
              <a:t>Show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850" spc="-3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60">
                <a:solidFill>
                  <a:srgbClr val="1B1F3A"/>
                </a:solidFill>
                <a:latin typeface="Trebuchet MS"/>
                <a:cs typeface="Trebuchet MS"/>
              </a:rPr>
              <a:t>filtered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1B1F3A"/>
                </a:solidFill>
                <a:latin typeface="Trebuchet MS"/>
                <a:cs typeface="Trebuchet MS"/>
              </a:rPr>
              <a:t>DataFrame</a:t>
            </a:r>
            <a:r>
              <a:rPr dirty="0" sz="850" spc="-3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1B1F3A"/>
                </a:solidFill>
                <a:latin typeface="Trebuchet MS"/>
                <a:cs typeface="Trebuchet MS"/>
              </a:rPr>
              <a:t>below</a:t>
            </a:r>
            <a:r>
              <a:rPr dirty="0" sz="850" spc="-3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1B1F3A"/>
                </a:solidFill>
                <a:latin typeface="Trebuchet MS"/>
                <a:cs typeface="Trebuchet MS"/>
              </a:rPr>
              <a:t>full</a:t>
            </a:r>
            <a:r>
              <a:rPr dirty="0" sz="850" spc="-3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850" spc="-25">
                <a:solidFill>
                  <a:srgbClr val="1B1F3A"/>
                </a:solidFill>
                <a:latin typeface="Trebuchet MS"/>
                <a:cs typeface="Trebuchet MS"/>
              </a:rPr>
              <a:t>one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dirty="0" sz="750" spc="-100" b="1">
                <a:solidFill>
                  <a:srgbClr val="797E94"/>
                </a:solidFill>
                <a:latin typeface="Tahoma"/>
                <a:cs typeface="Tahoma"/>
              </a:rPr>
              <a:t>B</a:t>
            </a:r>
            <a:r>
              <a:rPr dirty="0" sz="750" spc="-13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797E94"/>
                </a:solidFill>
                <a:latin typeface="Tahoma"/>
                <a:cs typeface="Tahoma"/>
              </a:rPr>
              <a:t>Y</a:t>
            </a:r>
            <a:r>
              <a:rPr dirty="0" sz="750" spc="7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00" b="1">
                <a:solidFill>
                  <a:srgbClr val="797E94"/>
                </a:solidFill>
                <a:latin typeface="Tahoma"/>
                <a:cs typeface="Tahoma"/>
              </a:rPr>
              <a:t>T </a:t>
            </a:r>
            <a:r>
              <a:rPr dirty="0" sz="750" spc="-110" b="1">
                <a:solidFill>
                  <a:srgbClr val="797E94"/>
                </a:solidFill>
                <a:latin typeface="Tahoma"/>
                <a:cs typeface="Tahoma"/>
              </a:rPr>
              <a:t>H</a:t>
            </a:r>
            <a:r>
              <a:rPr dirty="0" sz="75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750" spc="145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105" b="1">
                <a:solidFill>
                  <a:srgbClr val="797E94"/>
                </a:solidFill>
                <a:latin typeface="Tahoma"/>
                <a:cs typeface="Tahoma"/>
              </a:rPr>
              <a:t>E</a:t>
            </a:r>
            <a:r>
              <a:rPr dirty="0" sz="75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95" b="1">
                <a:solidFill>
                  <a:srgbClr val="797E94"/>
                </a:solidFill>
                <a:latin typeface="Tahoma"/>
                <a:cs typeface="Tahoma"/>
              </a:rPr>
              <a:t>N</a:t>
            </a:r>
            <a:r>
              <a:rPr dirty="0" sz="750" spc="-100" b="1">
                <a:solidFill>
                  <a:srgbClr val="797E94"/>
                </a:solidFill>
                <a:latin typeface="Tahoma"/>
                <a:cs typeface="Tahoma"/>
              </a:rPr>
              <a:t> </a:t>
            </a:r>
            <a:r>
              <a:rPr dirty="0" sz="750" spc="-50" b="1">
                <a:solidFill>
                  <a:srgbClr val="797E94"/>
                </a:solidFill>
                <a:latin typeface="Tahoma"/>
                <a:cs typeface="Tahoma"/>
              </a:rPr>
              <a:t>D</a:t>
            </a:r>
            <a:endParaRPr sz="750">
              <a:latin typeface="Tahoma"/>
              <a:cs typeface="Tahoma"/>
            </a:endParaRPr>
          </a:p>
          <a:p>
            <a:pPr marR="64135">
              <a:lnSpc>
                <a:spcPct val="125000"/>
              </a:lnSpc>
              <a:spcBef>
                <a:spcPts val="395"/>
              </a:spcBef>
            </a:pP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Every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 student 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has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working dashboard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that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filters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real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CSV by 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two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columns.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pattern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groups 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will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reuse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in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Phase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4.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05299" y="1409700"/>
            <a:ext cx="3486150" cy="4514850"/>
            <a:chOff x="4305299" y="1409700"/>
            <a:chExt cx="3486150" cy="4514850"/>
          </a:xfrm>
        </p:grpSpPr>
        <p:sp>
          <p:nvSpPr>
            <p:cNvPr id="16" name="object 16"/>
            <p:cNvSpPr/>
            <p:nvPr/>
          </p:nvSpPr>
          <p:spPr>
            <a:xfrm>
              <a:off x="4324349" y="1414462"/>
              <a:ext cx="3462654" cy="4505325"/>
            </a:xfrm>
            <a:custGeom>
              <a:avLst/>
              <a:gdLst/>
              <a:ahLst/>
              <a:cxnLst/>
              <a:rect l="l" t="t" r="r" b="b"/>
              <a:pathLst>
                <a:path w="3462654" h="4505325">
                  <a:moveTo>
                    <a:pt x="3359992" y="4505324"/>
                  </a:moveTo>
                  <a:lnTo>
                    <a:pt x="88995" y="4505324"/>
                  </a:lnTo>
                  <a:lnTo>
                    <a:pt x="82801" y="4504622"/>
                  </a:lnTo>
                  <a:lnTo>
                    <a:pt x="37132" y="4482867"/>
                  </a:lnTo>
                  <a:lnTo>
                    <a:pt x="12578" y="4450661"/>
                  </a:lnTo>
                  <a:lnTo>
                    <a:pt x="610" y="4410101"/>
                  </a:lnTo>
                  <a:lnTo>
                    <a:pt x="0" y="4402979"/>
                  </a:lnTo>
                  <a:lnTo>
                    <a:pt x="0" y="4395787"/>
                  </a:lnTo>
                  <a:lnTo>
                    <a:pt x="0" y="102345"/>
                  </a:lnTo>
                  <a:lnTo>
                    <a:pt x="9643" y="60974"/>
                  </a:lnTo>
                  <a:lnTo>
                    <a:pt x="32320" y="26996"/>
                  </a:lnTo>
                  <a:lnTo>
                    <a:pt x="64577" y="5585"/>
                  </a:lnTo>
                  <a:lnTo>
                    <a:pt x="88995" y="0"/>
                  </a:lnTo>
                  <a:lnTo>
                    <a:pt x="3359992" y="0"/>
                  </a:lnTo>
                  <a:lnTo>
                    <a:pt x="3401362" y="11090"/>
                  </a:lnTo>
                  <a:lnTo>
                    <a:pt x="3435340" y="37168"/>
                  </a:lnTo>
                  <a:lnTo>
                    <a:pt x="3456751" y="74263"/>
                  </a:lnTo>
                  <a:lnTo>
                    <a:pt x="3462337" y="102345"/>
                  </a:lnTo>
                  <a:lnTo>
                    <a:pt x="3462337" y="4402979"/>
                  </a:lnTo>
                  <a:lnTo>
                    <a:pt x="3451246" y="4444348"/>
                  </a:lnTo>
                  <a:lnTo>
                    <a:pt x="3425168" y="4478326"/>
                  </a:lnTo>
                  <a:lnTo>
                    <a:pt x="3388072" y="4499738"/>
                  </a:lnTo>
                  <a:lnTo>
                    <a:pt x="3367115" y="4504622"/>
                  </a:lnTo>
                  <a:lnTo>
                    <a:pt x="3359992" y="4505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63517" y="1409699"/>
              <a:ext cx="3428365" cy="4514850"/>
            </a:xfrm>
            <a:custGeom>
              <a:avLst/>
              <a:gdLst/>
              <a:ahLst/>
              <a:cxnLst/>
              <a:rect l="l" t="t" r="r" b="b"/>
              <a:pathLst>
                <a:path w="3428365" h="4514850">
                  <a:moveTo>
                    <a:pt x="3427920" y="114300"/>
                  </a:moveTo>
                  <a:lnTo>
                    <a:pt x="3419221" y="70561"/>
                  </a:lnTo>
                  <a:lnTo>
                    <a:pt x="3394887" y="33997"/>
                  </a:lnTo>
                  <a:lnTo>
                    <a:pt x="3359112" y="9525"/>
                  </a:lnTo>
                  <a:lnTo>
                    <a:pt x="3313620" y="0"/>
                  </a:lnTo>
                  <a:lnTo>
                    <a:pt x="56070" y="0"/>
                  </a:lnTo>
                  <a:lnTo>
                    <a:pt x="12331" y="8712"/>
                  </a:lnTo>
                  <a:lnTo>
                    <a:pt x="0" y="14795"/>
                  </a:lnTo>
                  <a:lnTo>
                    <a:pt x="22440" y="20408"/>
                  </a:lnTo>
                  <a:lnTo>
                    <a:pt x="26911" y="17500"/>
                  </a:lnTo>
                  <a:lnTo>
                    <a:pt x="33985" y="14020"/>
                  </a:lnTo>
                  <a:lnTo>
                    <a:pt x="41211" y="11518"/>
                  </a:lnTo>
                  <a:lnTo>
                    <a:pt x="48564" y="10033"/>
                  </a:lnTo>
                  <a:lnTo>
                    <a:pt x="56070" y="9525"/>
                  </a:lnTo>
                  <a:lnTo>
                    <a:pt x="3313620" y="9525"/>
                  </a:lnTo>
                  <a:lnTo>
                    <a:pt x="3353727" y="17500"/>
                  </a:lnTo>
                  <a:lnTo>
                    <a:pt x="3387712" y="40220"/>
                  </a:lnTo>
                  <a:lnTo>
                    <a:pt x="3410420" y="74206"/>
                  </a:lnTo>
                  <a:lnTo>
                    <a:pt x="3418395" y="114300"/>
                  </a:lnTo>
                  <a:lnTo>
                    <a:pt x="3418395" y="4400550"/>
                  </a:lnTo>
                  <a:lnTo>
                    <a:pt x="3410420" y="4440656"/>
                  </a:lnTo>
                  <a:lnTo>
                    <a:pt x="3388169" y="4474146"/>
                  </a:lnTo>
                  <a:lnTo>
                    <a:pt x="3353727" y="4497349"/>
                  </a:lnTo>
                  <a:lnTo>
                    <a:pt x="3313620" y="4505325"/>
                  </a:lnTo>
                  <a:lnTo>
                    <a:pt x="56070" y="4505325"/>
                  </a:lnTo>
                  <a:lnTo>
                    <a:pt x="22440" y="4494454"/>
                  </a:lnTo>
                  <a:lnTo>
                    <a:pt x="0" y="4500067"/>
                  </a:lnTo>
                  <a:lnTo>
                    <a:pt x="44818" y="4514316"/>
                  </a:lnTo>
                  <a:lnTo>
                    <a:pt x="56070" y="4514850"/>
                  </a:lnTo>
                  <a:lnTo>
                    <a:pt x="3313620" y="4514850"/>
                  </a:lnTo>
                  <a:lnTo>
                    <a:pt x="3357359" y="4506150"/>
                  </a:lnTo>
                  <a:lnTo>
                    <a:pt x="3359112" y="4505325"/>
                  </a:lnTo>
                  <a:lnTo>
                    <a:pt x="3367557" y="4501350"/>
                  </a:lnTo>
                  <a:lnTo>
                    <a:pt x="3402025" y="4473029"/>
                  </a:lnTo>
                  <a:lnTo>
                    <a:pt x="3423031" y="4433684"/>
                  </a:lnTo>
                  <a:lnTo>
                    <a:pt x="3427920" y="4400550"/>
                  </a:lnTo>
                  <a:lnTo>
                    <a:pt x="3427920" y="11430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305299" y="1424325"/>
              <a:ext cx="81280" cy="4485640"/>
            </a:xfrm>
            <a:custGeom>
              <a:avLst/>
              <a:gdLst/>
              <a:ahLst/>
              <a:cxnLst/>
              <a:rect l="l" t="t" r="r" b="b"/>
              <a:pathLst>
                <a:path w="81279" h="4485640">
                  <a:moveTo>
                    <a:pt x="58503" y="4485597"/>
                  </a:moveTo>
                  <a:lnTo>
                    <a:pt x="25900" y="4458399"/>
                  </a:lnTo>
                  <a:lnTo>
                    <a:pt x="4894" y="4419053"/>
                  </a:lnTo>
                  <a:lnTo>
                    <a:pt x="0" y="4385923"/>
                  </a:lnTo>
                  <a:lnTo>
                    <a:pt x="0" y="99674"/>
                  </a:lnTo>
                  <a:lnTo>
                    <a:pt x="8700" y="55933"/>
                  </a:lnTo>
                  <a:lnTo>
                    <a:pt x="33477" y="18851"/>
                  </a:lnTo>
                  <a:lnTo>
                    <a:pt x="58503" y="0"/>
                  </a:lnTo>
                  <a:lnTo>
                    <a:pt x="80929" y="5606"/>
                  </a:lnTo>
                  <a:lnTo>
                    <a:pt x="78342" y="7284"/>
                  </a:lnTo>
                  <a:lnTo>
                    <a:pt x="71957" y="12540"/>
                  </a:lnTo>
                  <a:lnTo>
                    <a:pt x="47107" y="50233"/>
                  </a:lnTo>
                  <a:lnTo>
                    <a:pt x="38462" y="89352"/>
                  </a:lnTo>
                  <a:lnTo>
                    <a:pt x="38100" y="99674"/>
                  </a:lnTo>
                  <a:lnTo>
                    <a:pt x="38100" y="4385923"/>
                  </a:lnTo>
                  <a:lnTo>
                    <a:pt x="43900" y="4426018"/>
                  </a:lnTo>
                  <a:lnTo>
                    <a:pt x="65982" y="4466956"/>
                  </a:lnTo>
                  <a:lnTo>
                    <a:pt x="80930" y="4479991"/>
                  </a:lnTo>
                  <a:lnTo>
                    <a:pt x="58503" y="4485597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476452" y="1530350"/>
            <a:ext cx="78486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13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8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FF6A5B"/>
                </a:solidFill>
                <a:latin typeface="Tahoma"/>
                <a:cs typeface="Tahoma"/>
              </a:rPr>
              <a:t>P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25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800" spc="16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80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25" b="1">
                <a:solidFill>
                  <a:srgbClr val="FF6A5B"/>
                </a:solidFill>
                <a:latin typeface="Tahoma"/>
                <a:cs typeface="Tahoma"/>
              </a:rPr>
              <a:t>ATA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296149" y="1533524"/>
            <a:ext cx="352425" cy="190500"/>
          </a:xfrm>
          <a:custGeom>
            <a:avLst/>
            <a:gdLst/>
            <a:ahLst/>
            <a:cxnLst/>
            <a:rect l="l" t="t" r="r" b="b"/>
            <a:pathLst>
              <a:path w="352425" h="190500">
                <a:moveTo>
                  <a:pt x="263429" y="190499"/>
                </a:moveTo>
                <a:lnTo>
                  <a:pt x="88995" y="190499"/>
                </a:lnTo>
                <a:lnTo>
                  <a:pt x="82801" y="189889"/>
                </a:lnTo>
                <a:lnTo>
                  <a:pt x="37131" y="170972"/>
                </a:lnTo>
                <a:lnTo>
                  <a:pt x="9643" y="137478"/>
                </a:lnTo>
                <a:lnTo>
                  <a:pt x="0" y="101504"/>
                </a:lnTo>
                <a:lnTo>
                  <a:pt x="0" y="95249"/>
                </a:lnTo>
                <a:lnTo>
                  <a:pt x="0" y="88995"/>
                </a:lnTo>
                <a:lnTo>
                  <a:pt x="12577" y="47531"/>
                </a:lnTo>
                <a:lnTo>
                  <a:pt x="47531" y="12577"/>
                </a:lnTo>
                <a:lnTo>
                  <a:pt x="88995" y="0"/>
                </a:lnTo>
                <a:lnTo>
                  <a:pt x="263429" y="0"/>
                </a:lnTo>
                <a:lnTo>
                  <a:pt x="304891" y="12577"/>
                </a:lnTo>
                <a:lnTo>
                  <a:pt x="339846" y="47531"/>
                </a:lnTo>
                <a:lnTo>
                  <a:pt x="352424" y="88995"/>
                </a:lnTo>
                <a:lnTo>
                  <a:pt x="352424" y="101504"/>
                </a:lnTo>
                <a:lnTo>
                  <a:pt x="339846" y="142967"/>
                </a:lnTo>
                <a:lnTo>
                  <a:pt x="304891" y="177921"/>
                </a:lnTo>
                <a:lnTo>
                  <a:pt x="269623" y="189889"/>
                </a:lnTo>
                <a:lnTo>
                  <a:pt x="263429" y="190499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380982" y="1554162"/>
            <a:ext cx="18161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spc="-9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10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50" b="1">
                <a:solidFill>
                  <a:srgbClr val="FF6A5B"/>
                </a:solidFill>
                <a:latin typeface="Tahoma"/>
                <a:cs typeface="Tahoma"/>
              </a:rPr>
              <a:t>V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76749" y="2009774"/>
            <a:ext cx="3171825" cy="1704975"/>
          </a:xfrm>
          <a:custGeom>
            <a:avLst/>
            <a:gdLst/>
            <a:ahLst/>
            <a:cxnLst/>
            <a:rect l="l" t="t" r="r" b="b"/>
            <a:pathLst>
              <a:path w="3171825" h="1704975">
                <a:moveTo>
                  <a:pt x="3065029" y="1704974"/>
                </a:moveTo>
                <a:lnTo>
                  <a:pt x="106795" y="1704974"/>
                </a:lnTo>
                <a:lnTo>
                  <a:pt x="99362" y="1704242"/>
                </a:lnTo>
                <a:lnTo>
                  <a:pt x="57038" y="1689880"/>
                </a:lnTo>
                <a:lnTo>
                  <a:pt x="23432" y="1660415"/>
                </a:lnTo>
                <a:lnTo>
                  <a:pt x="3660" y="1620333"/>
                </a:lnTo>
                <a:lnTo>
                  <a:pt x="0" y="1598179"/>
                </a:lnTo>
                <a:lnTo>
                  <a:pt x="0" y="1590674"/>
                </a:lnTo>
                <a:lnTo>
                  <a:pt x="0" y="106794"/>
                </a:lnTo>
                <a:lnTo>
                  <a:pt x="11572" y="63625"/>
                </a:lnTo>
                <a:lnTo>
                  <a:pt x="38784" y="28170"/>
                </a:lnTo>
                <a:lnTo>
                  <a:pt x="77492" y="5828"/>
                </a:lnTo>
                <a:lnTo>
                  <a:pt x="106795" y="0"/>
                </a:lnTo>
                <a:lnTo>
                  <a:pt x="3065029" y="0"/>
                </a:lnTo>
                <a:lnTo>
                  <a:pt x="3108198" y="11572"/>
                </a:lnTo>
                <a:lnTo>
                  <a:pt x="3143653" y="38784"/>
                </a:lnTo>
                <a:lnTo>
                  <a:pt x="3165995" y="77492"/>
                </a:lnTo>
                <a:lnTo>
                  <a:pt x="3171825" y="106794"/>
                </a:lnTo>
                <a:lnTo>
                  <a:pt x="3171825" y="1598179"/>
                </a:lnTo>
                <a:lnTo>
                  <a:pt x="3160251" y="1641348"/>
                </a:lnTo>
                <a:lnTo>
                  <a:pt x="3133040" y="1676803"/>
                </a:lnTo>
                <a:lnTo>
                  <a:pt x="3094330" y="1699145"/>
                </a:lnTo>
                <a:lnTo>
                  <a:pt x="3072462" y="1704242"/>
                </a:lnTo>
                <a:lnTo>
                  <a:pt x="3065029" y="1704974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476452" y="1782762"/>
            <a:ext cx="3003550" cy="1804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solidFill>
                  <a:srgbClr val="797E94"/>
                </a:solidFill>
                <a:latin typeface="Courier New"/>
                <a:cs typeface="Courier New"/>
              </a:rPr>
              <a:t>students.csv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750">
              <a:latin typeface="Courier New"/>
              <a:cs typeface="Courier New"/>
            </a:endParaRPr>
          </a:p>
          <a:p>
            <a:pPr marL="132715" marR="5080">
              <a:lnSpc>
                <a:spcPct val="126800"/>
              </a:lnSpc>
              <a:spcBef>
                <a:spcPts val="5"/>
              </a:spcBef>
            </a:pPr>
            <a:r>
              <a:rPr dirty="0" sz="850" spc="-10" b="1">
                <a:solidFill>
                  <a:srgbClr val="FF8B7E"/>
                </a:solidFill>
                <a:latin typeface="Courier New"/>
                <a:cs typeface="Courier New"/>
              </a:rPr>
              <a:t>name,age,city,branch,marks </a:t>
            </a:r>
            <a:r>
              <a:rPr dirty="0" sz="850" spc="-10">
                <a:solidFill>
                  <a:srgbClr val="E7E9F5"/>
                </a:solidFill>
                <a:latin typeface="Courier New"/>
                <a:cs typeface="Courier New"/>
              </a:rPr>
              <a:t>Aarav,20,Amritsar,BCA,85 Priya,21,Jalandhar,BCA,92 Rahul,22,Amritsar,BSc-IT,78 Meera,20,Ludhiana,BCA,88 Sanjana,21,Amritsar,BCA,91 Vikram,23,Jalandhar,BSc-IT,75 Anjali,20,Amritsar,BCA,89 Karan,22,Ludhiana,BCA,82</a:t>
            </a:r>
            <a:r>
              <a:rPr dirty="0" sz="850" spc="-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797E94"/>
                </a:solidFill>
                <a:latin typeface="Courier New"/>
                <a:cs typeface="Courier New"/>
              </a:rPr>
              <a:t>...</a:t>
            </a:r>
            <a:r>
              <a:rPr dirty="0" sz="850" spc="-25" i="1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797E94"/>
                </a:solidFill>
                <a:latin typeface="Courier New"/>
                <a:cs typeface="Courier New"/>
              </a:rPr>
              <a:t>(28</a:t>
            </a:r>
            <a:r>
              <a:rPr dirty="0" sz="850" spc="-20" i="1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50" i="1">
                <a:solidFill>
                  <a:srgbClr val="797E94"/>
                </a:solidFill>
                <a:latin typeface="Courier New"/>
                <a:cs typeface="Courier New"/>
              </a:rPr>
              <a:t>rows</a:t>
            </a:r>
            <a:r>
              <a:rPr dirty="0" sz="850" spc="-25" i="1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50" spc="-10" i="1">
                <a:solidFill>
                  <a:srgbClr val="797E94"/>
                </a:solidFill>
                <a:latin typeface="Courier New"/>
                <a:cs typeface="Courier New"/>
              </a:rPr>
              <a:t>total)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924799" y="1409700"/>
            <a:ext cx="3581400" cy="4514850"/>
            <a:chOff x="7924799" y="1409700"/>
            <a:chExt cx="3581400" cy="4514850"/>
          </a:xfrm>
        </p:grpSpPr>
        <p:sp>
          <p:nvSpPr>
            <p:cNvPr id="25" name="object 25"/>
            <p:cNvSpPr/>
            <p:nvPr/>
          </p:nvSpPr>
          <p:spPr>
            <a:xfrm>
              <a:off x="7943849" y="1414462"/>
              <a:ext cx="3557904" cy="4505325"/>
            </a:xfrm>
            <a:custGeom>
              <a:avLst/>
              <a:gdLst/>
              <a:ahLst/>
              <a:cxnLst/>
              <a:rect l="l" t="t" r="r" b="b"/>
              <a:pathLst>
                <a:path w="3557904" h="4505325">
                  <a:moveTo>
                    <a:pt x="3455241" y="4505324"/>
                  </a:moveTo>
                  <a:lnTo>
                    <a:pt x="88995" y="4505324"/>
                  </a:lnTo>
                  <a:lnTo>
                    <a:pt x="82801" y="4504622"/>
                  </a:lnTo>
                  <a:lnTo>
                    <a:pt x="37131" y="4482867"/>
                  </a:lnTo>
                  <a:lnTo>
                    <a:pt x="12577" y="4450661"/>
                  </a:lnTo>
                  <a:lnTo>
                    <a:pt x="609" y="4410101"/>
                  </a:lnTo>
                  <a:lnTo>
                    <a:pt x="0" y="4402979"/>
                  </a:lnTo>
                  <a:lnTo>
                    <a:pt x="0" y="4395787"/>
                  </a:lnTo>
                  <a:lnTo>
                    <a:pt x="0" y="102345"/>
                  </a:lnTo>
                  <a:lnTo>
                    <a:pt x="9643" y="60974"/>
                  </a:lnTo>
                  <a:lnTo>
                    <a:pt x="32320" y="26996"/>
                  </a:lnTo>
                  <a:lnTo>
                    <a:pt x="64576" y="5585"/>
                  </a:lnTo>
                  <a:lnTo>
                    <a:pt x="88995" y="0"/>
                  </a:lnTo>
                  <a:lnTo>
                    <a:pt x="3455241" y="0"/>
                  </a:lnTo>
                  <a:lnTo>
                    <a:pt x="3496612" y="11090"/>
                  </a:lnTo>
                  <a:lnTo>
                    <a:pt x="3530590" y="37168"/>
                  </a:lnTo>
                  <a:lnTo>
                    <a:pt x="3552000" y="74263"/>
                  </a:lnTo>
                  <a:lnTo>
                    <a:pt x="3557586" y="102345"/>
                  </a:lnTo>
                  <a:lnTo>
                    <a:pt x="3557586" y="4402979"/>
                  </a:lnTo>
                  <a:lnTo>
                    <a:pt x="3546496" y="4444348"/>
                  </a:lnTo>
                  <a:lnTo>
                    <a:pt x="3520419" y="4478326"/>
                  </a:lnTo>
                  <a:lnTo>
                    <a:pt x="3483322" y="4499738"/>
                  </a:lnTo>
                  <a:lnTo>
                    <a:pt x="3462365" y="4504622"/>
                  </a:lnTo>
                  <a:lnTo>
                    <a:pt x="3455241" y="4505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983017" y="1409699"/>
              <a:ext cx="3523615" cy="4514850"/>
            </a:xfrm>
            <a:custGeom>
              <a:avLst/>
              <a:gdLst/>
              <a:ahLst/>
              <a:cxnLst/>
              <a:rect l="l" t="t" r="r" b="b"/>
              <a:pathLst>
                <a:path w="3523615" h="4514850">
                  <a:moveTo>
                    <a:pt x="3523170" y="114300"/>
                  </a:moveTo>
                  <a:lnTo>
                    <a:pt x="3514471" y="70561"/>
                  </a:lnTo>
                  <a:lnTo>
                    <a:pt x="3490137" y="33997"/>
                  </a:lnTo>
                  <a:lnTo>
                    <a:pt x="3454362" y="9525"/>
                  </a:lnTo>
                  <a:lnTo>
                    <a:pt x="3408870" y="0"/>
                  </a:lnTo>
                  <a:lnTo>
                    <a:pt x="56070" y="0"/>
                  </a:lnTo>
                  <a:lnTo>
                    <a:pt x="12331" y="8712"/>
                  </a:lnTo>
                  <a:lnTo>
                    <a:pt x="0" y="14795"/>
                  </a:lnTo>
                  <a:lnTo>
                    <a:pt x="22440" y="20408"/>
                  </a:lnTo>
                  <a:lnTo>
                    <a:pt x="26911" y="17500"/>
                  </a:lnTo>
                  <a:lnTo>
                    <a:pt x="33985" y="14020"/>
                  </a:lnTo>
                  <a:lnTo>
                    <a:pt x="41211" y="11518"/>
                  </a:lnTo>
                  <a:lnTo>
                    <a:pt x="48564" y="10033"/>
                  </a:lnTo>
                  <a:lnTo>
                    <a:pt x="56070" y="9525"/>
                  </a:lnTo>
                  <a:lnTo>
                    <a:pt x="3408870" y="9525"/>
                  </a:lnTo>
                  <a:lnTo>
                    <a:pt x="3448977" y="17500"/>
                  </a:lnTo>
                  <a:lnTo>
                    <a:pt x="3482962" y="40220"/>
                  </a:lnTo>
                  <a:lnTo>
                    <a:pt x="3505670" y="74206"/>
                  </a:lnTo>
                  <a:lnTo>
                    <a:pt x="3513645" y="114300"/>
                  </a:lnTo>
                  <a:lnTo>
                    <a:pt x="3513645" y="4400550"/>
                  </a:lnTo>
                  <a:lnTo>
                    <a:pt x="3505670" y="4440656"/>
                  </a:lnTo>
                  <a:lnTo>
                    <a:pt x="3483419" y="4474146"/>
                  </a:lnTo>
                  <a:lnTo>
                    <a:pt x="3448977" y="4497349"/>
                  </a:lnTo>
                  <a:lnTo>
                    <a:pt x="3408870" y="4505325"/>
                  </a:lnTo>
                  <a:lnTo>
                    <a:pt x="56070" y="4505325"/>
                  </a:lnTo>
                  <a:lnTo>
                    <a:pt x="22440" y="4494454"/>
                  </a:lnTo>
                  <a:lnTo>
                    <a:pt x="0" y="4500067"/>
                  </a:lnTo>
                  <a:lnTo>
                    <a:pt x="44818" y="4514316"/>
                  </a:lnTo>
                  <a:lnTo>
                    <a:pt x="56070" y="4514850"/>
                  </a:lnTo>
                  <a:lnTo>
                    <a:pt x="3408870" y="4514850"/>
                  </a:lnTo>
                  <a:lnTo>
                    <a:pt x="3452609" y="4506150"/>
                  </a:lnTo>
                  <a:lnTo>
                    <a:pt x="3454362" y="4505325"/>
                  </a:lnTo>
                  <a:lnTo>
                    <a:pt x="3462807" y="4501350"/>
                  </a:lnTo>
                  <a:lnTo>
                    <a:pt x="3497275" y="4473029"/>
                  </a:lnTo>
                  <a:lnTo>
                    <a:pt x="3518281" y="4433684"/>
                  </a:lnTo>
                  <a:lnTo>
                    <a:pt x="3523170" y="4400550"/>
                  </a:lnTo>
                  <a:lnTo>
                    <a:pt x="3523170" y="11430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924799" y="1424325"/>
              <a:ext cx="81280" cy="4485640"/>
            </a:xfrm>
            <a:custGeom>
              <a:avLst/>
              <a:gdLst/>
              <a:ahLst/>
              <a:cxnLst/>
              <a:rect l="l" t="t" r="r" b="b"/>
              <a:pathLst>
                <a:path w="81279" h="4485640">
                  <a:moveTo>
                    <a:pt x="58503" y="4485598"/>
                  </a:moveTo>
                  <a:lnTo>
                    <a:pt x="25900" y="4458399"/>
                  </a:lnTo>
                  <a:lnTo>
                    <a:pt x="4893" y="4419053"/>
                  </a:lnTo>
                  <a:lnTo>
                    <a:pt x="0" y="4385923"/>
                  </a:lnTo>
                  <a:lnTo>
                    <a:pt x="0" y="99674"/>
                  </a:lnTo>
                  <a:lnTo>
                    <a:pt x="8699" y="55933"/>
                  </a:lnTo>
                  <a:lnTo>
                    <a:pt x="33477" y="18851"/>
                  </a:lnTo>
                  <a:lnTo>
                    <a:pt x="58503" y="0"/>
                  </a:lnTo>
                  <a:lnTo>
                    <a:pt x="80929" y="5606"/>
                  </a:lnTo>
                  <a:lnTo>
                    <a:pt x="78342" y="7285"/>
                  </a:lnTo>
                  <a:lnTo>
                    <a:pt x="71957" y="12540"/>
                  </a:lnTo>
                  <a:lnTo>
                    <a:pt x="47107" y="50233"/>
                  </a:lnTo>
                  <a:lnTo>
                    <a:pt x="38462" y="89352"/>
                  </a:lnTo>
                  <a:lnTo>
                    <a:pt x="38100" y="99674"/>
                  </a:lnTo>
                  <a:lnTo>
                    <a:pt x="38100" y="4385923"/>
                  </a:lnTo>
                  <a:lnTo>
                    <a:pt x="43900" y="4426018"/>
                  </a:lnTo>
                  <a:lnTo>
                    <a:pt x="65982" y="4466956"/>
                  </a:lnTo>
                  <a:lnTo>
                    <a:pt x="80930" y="4479991"/>
                  </a:lnTo>
                  <a:lnTo>
                    <a:pt x="58503" y="4485598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8095654" y="1530350"/>
            <a:ext cx="117919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13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80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45" b="1">
                <a:solidFill>
                  <a:srgbClr val="293283"/>
                </a:solidFill>
                <a:latin typeface="Tahoma"/>
                <a:cs typeface="Tahoma"/>
              </a:rPr>
              <a:t>TA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293283"/>
                </a:solidFill>
                <a:latin typeface="Tahoma"/>
                <a:cs typeface="Tahoma"/>
              </a:rPr>
              <a:t>R 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293283"/>
                </a:solidFill>
                <a:latin typeface="Tahoma"/>
                <a:cs typeface="Tahoma"/>
              </a:rPr>
              <a:t>I</a:t>
            </a:r>
            <a:r>
              <a:rPr dirty="0" sz="80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G</a:t>
            </a:r>
            <a:r>
              <a:rPr dirty="0" sz="800" spc="22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10" b="1">
                <a:solidFill>
                  <a:srgbClr val="293283"/>
                </a:solidFill>
                <a:latin typeface="Tahoma"/>
                <a:cs typeface="Tahoma"/>
              </a:rPr>
              <a:t>C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F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F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25" b="1">
                <a:solidFill>
                  <a:srgbClr val="293283"/>
                </a:solidFill>
                <a:latin typeface="Tahoma"/>
                <a:cs typeface="Tahoma"/>
              </a:rPr>
              <a:t>L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Tahoma"/>
                <a:cs typeface="Tahoma"/>
              </a:rPr>
              <a:t>D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915649" y="1533524"/>
            <a:ext cx="447675" cy="190500"/>
          </a:xfrm>
          <a:custGeom>
            <a:avLst/>
            <a:gdLst/>
            <a:ahLst/>
            <a:cxnLst/>
            <a:rect l="l" t="t" r="r" b="b"/>
            <a:pathLst>
              <a:path w="447675" h="190500">
                <a:moveTo>
                  <a:pt x="358679" y="190499"/>
                </a:moveTo>
                <a:lnTo>
                  <a:pt x="88995" y="190499"/>
                </a:lnTo>
                <a:lnTo>
                  <a:pt x="82801" y="189889"/>
                </a:lnTo>
                <a:lnTo>
                  <a:pt x="37130" y="170972"/>
                </a:lnTo>
                <a:lnTo>
                  <a:pt x="9642" y="137478"/>
                </a:lnTo>
                <a:lnTo>
                  <a:pt x="0" y="101504"/>
                </a:lnTo>
                <a:lnTo>
                  <a:pt x="0" y="95249"/>
                </a:lnTo>
                <a:lnTo>
                  <a:pt x="0" y="88995"/>
                </a:lnTo>
                <a:lnTo>
                  <a:pt x="12575" y="47531"/>
                </a:lnTo>
                <a:lnTo>
                  <a:pt x="47530" y="12577"/>
                </a:lnTo>
                <a:lnTo>
                  <a:pt x="88995" y="0"/>
                </a:lnTo>
                <a:lnTo>
                  <a:pt x="358679" y="0"/>
                </a:lnTo>
                <a:lnTo>
                  <a:pt x="400140" y="12577"/>
                </a:lnTo>
                <a:lnTo>
                  <a:pt x="435095" y="47531"/>
                </a:lnTo>
                <a:lnTo>
                  <a:pt x="447673" y="88995"/>
                </a:lnTo>
                <a:lnTo>
                  <a:pt x="447673" y="101504"/>
                </a:lnTo>
                <a:lnTo>
                  <a:pt x="435095" y="142967"/>
                </a:lnTo>
                <a:lnTo>
                  <a:pt x="400140" y="177921"/>
                </a:lnTo>
                <a:lnTo>
                  <a:pt x="364873" y="189889"/>
                </a:lnTo>
                <a:lnTo>
                  <a:pt x="358679" y="190499"/>
                </a:lnTo>
                <a:close/>
              </a:path>
            </a:pathLst>
          </a:custGeom>
          <a:solidFill>
            <a:srgbClr val="E7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1005094" y="1554162"/>
            <a:ext cx="27305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spc="-35" b="1">
                <a:solidFill>
                  <a:srgbClr val="293283"/>
                </a:solidFill>
                <a:latin typeface="Tahoma"/>
                <a:cs typeface="Tahoma"/>
              </a:rPr>
              <a:t>TO</a:t>
            </a:r>
            <a:r>
              <a:rPr dirty="0" sz="70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85" b="1">
                <a:solidFill>
                  <a:srgbClr val="293283"/>
                </a:solidFill>
                <a:latin typeface="Tahoma"/>
                <a:cs typeface="Tahoma"/>
              </a:rPr>
              <a:t>D</a:t>
            </a:r>
            <a:r>
              <a:rPr dirty="0" sz="70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096249" y="1800224"/>
            <a:ext cx="3267075" cy="4000500"/>
          </a:xfrm>
          <a:custGeom>
            <a:avLst/>
            <a:gdLst/>
            <a:ahLst/>
            <a:cxnLst/>
            <a:rect l="l" t="t" r="r" b="b"/>
            <a:pathLst>
              <a:path w="3267075" h="4000500">
                <a:moveTo>
                  <a:pt x="3160280" y="4000499"/>
                </a:moveTo>
                <a:lnTo>
                  <a:pt x="106794" y="4000499"/>
                </a:lnTo>
                <a:lnTo>
                  <a:pt x="99360" y="3999767"/>
                </a:lnTo>
                <a:lnTo>
                  <a:pt x="57037" y="3985405"/>
                </a:lnTo>
                <a:lnTo>
                  <a:pt x="23431" y="3955940"/>
                </a:lnTo>
                <a:lnTo>
                  <a:pt x="3659" y="3915858"/>
                </a:lnTo>
                <a:lnTo>
                  <a:pt x="0" y="3893704"/>
                </a:lnTo>
                <a:lnTo>
                  <a:pt x="0" y="3886199"/>
                </a:lnTo>
                <a:lnTo>
                  <a:pt x="0" y="106794"/>
                </a:lnTo>
                <a:lnTo>
                  <a:pt x="11571" y="63625"/>
                </a:lnTo>
                <a:lnTo>
                  <a:pt x="38783" y="28170"/>
                </a:lnTo>
                <a:lnTo>
                  <a:pt x="77492" y="5828"/>
                </a:lnTo>
                <a:lnTo>
                  <a:pt x="106794" y="0"/>
                </a:lnTo>
                <a:lnTo>
                  <a:pt x="3160280" y="0"/>
                </a:lnTo>
                <a:lnTo>
                  <a:pt x="3203448" y="11572"/>
                </a:lnTo>
                <a:lnTo>
                  <a:pt x="3238902" y="38784"/>
                </a:lnTo>
                <a:lnTo>
                  <a:pt x="3261244" y="77492"/>
                </a:lnTo>
                <a:lnTo>
                  <a:pt x="3267073" y="106794"/>
                </a:lnTo>
                <a:lnTo>
                  <a:pt x="3267073" y="3893704"/>
                </a:lnTo>
                <a:lnTo>
                  <a:pt x="3255499" y="3936872"/>
                </a:lnTo>
                <a:lnTo>
                  <a:pt x="3228289" y="3972328"/>
                </a:lnTo>
                <a:lnTo>
                  <a:pt x="3189580" y="3994670"/>
                </a:lnTo>
                <a:lnTo>
                  <a:pt x="3167712" y="3999767"/>
                </a:lnTo>
                <a:lnTo>
                  <a:pt x="3160280" y="4000499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8209954" y="1843722"/>
            <a:ext cx="2848610" cy="30734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dashboard.py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—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starting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scaffold</a:t>
            </a:r>
            <a:endParaRPr sz="700">
              <a:latin typeface="Courier New"/>
              <a:cs typeface="Courier New"/>
            </a:endParaRPr>
          </a:p>
          <a:p>
            <a:pPr marR="1663064">
              <a:lnSpc>
                <a:spcPct val="107100"/>
              </a:lnSpc>
            </a:pP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700" spc="-5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5"/>
                </a:solidFill>
                <a:latin typeface="Courier New"/>
                <a:cs typeface="Courier New"/>
              </a:rPr>
              <a:t>streamlit</a:t>
            </a:r>
            <a:r>
              <a:rPr dirty="0" sz="700" spc="-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700" spc="-5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E7E9F5"/>
                </a:solidFill>
                <a:latin typeface="Courier New"/>
                <a:cs typeface="Courier New"/>
              </a:rPr>
              <a:t>st </a:t>
            </a: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700" spc="-4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5"/>
                </a:solidFill>
                <a:latin typeface="Courier New"/>
                <a:cs typeface="Courier New"/>
              </a:rPr>
              <a:t>pandas</a:t>
            </a:r>
            <a:r>
              <a:rPr dirty="0" sz="700" spc="-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700" spc="-4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E7E9F5"/>
                </a:solidFill>
                <a:latin typeface="Courier New"/>
                <a:cs typeface="Courier New"/>
              </a:rPr>
              <a:t>pd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st.title(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"Student</a:t>
            </a:r>
            <a:r>
              <a:rPr dirty="0" sz="70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Dashboard"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1.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Load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the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20" i="1">
                <a:solidFill>
                  <a:srgbClr val="8B8FB4"/>
                </a:solidFill>
                <a:latin typeface="Courier New"/>
                <a:cs typeface="Courier New"/>
              </a:rPr>
              <a:t>data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dirty="0" sz="700">
                <a:solidFill>
                  <a:srgbClr val="E7E9F5"/>
                </a:solidFill>
                <a:latin typeface="Courier New"/>
                <a:cs typeface="Courier New"/>
              </a:rPr>
              <a:t>df</a:t>
            </a:r>
            <a:r>
              <a:rPr dirty="0" sz="7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700" spc="-1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pd.read_csv(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"students.csv"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 marR="1555750">
              <a:lnSpc>
                <a:spcPct val="110100"/>
              </a:lnSpc>
              <a:spcBef>
                <a:spcPts val="50"/>
              </a:spcBef>
            </a:pP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2.</a:t>
            </a:r>
            <a:r>
              <a:rPr dirty="0" sz="7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Sidebar</a:t>
            </a:r>
            <a:r>
              <a:rPr dirty="0" sz="7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controls </a:t>
            </a: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with</a:t>
            </a:r>
            <a:r>
              <a:rPr dirty="0" sz="700" spc="-3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st.sidebar: st.write(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"**Filters**"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TODO:</a:t>
            </a:r>
            <a:r>
              <a:rPr dirty="0" sz="7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branch</a:t>
            </a:r>
            <a:r>
              <a:rPr dirty="0" sz="7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selectbox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options</a:t>
            </a:r>
            <a:r>
              <a:rPr dirty="0" sz="7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7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["All"]</a:t>
            </a:r>
            <a:r>
              <a:rPr dirty="0" sz="7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+</a:t>
            </a:r>
            <a:r>
              <a:rPr dirty="0" sz="7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df["branch"].unique().tolist()</a:t>
            </a:r>
            <a:endParaRPr sz="700">
              <a:latin typeface="Courier New"/>
              <a:cs typeface="Courier New"/>
            </a:endParaRPr>
          </a:p>
          <a:p>
            <a:pPr marR="593090">
              <a:lnSpc>
                <a:spcPct val="107100"/>
              </a:lnSpc>
              <a:spcBef>
                <a:spcPts val="75"/>
              </a:spcBef>
            </a:pP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2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branch</a:t>
            </a:r>
            <a:r>
              <a:rPr dirty="0" sz="700" spc="-2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700" spc="-2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st.selectbox("Branch",</a:t>
            </a:r>
            <a:r>
              <a:rPr dirty="0" sz="700" spc="-2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options)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TODO:</a:t>
            </a:r>
            <a:r>
              <a:rPr dirty="0" sz="7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city</a:t>
            </a:r>
            <a:r>
              <a:rPr dirty="0" sz="7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selectbox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1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city</a:t>
            </a:r>
            <a:r>
              <a:rPr dirty="0" sz="700" spc="-1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700" spc="-1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st.selectbox("City",</a:t>
            </a:r>
            <a:r>
              <a:rPr dirty="0" sz="700" spc="-1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options)</a:t>
            </a:r>
            <a:endParaRPr sz="700">
              <a:latin typeface="Courier New"/>
              <a:cs typeface="Courier New"/>
            </a:endParaRPr>
          </a:p>
          <a:p>
            <a:pPr marR="1341755">
              <a:lnSpc>
                <a:spcPct val="107100"/>
              </a:lnSpc>
              <a:spcBef>
                <a:spcPts val="75"/>
              </a:spcBef>
            </a:pP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3.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Show</a:t>
            </a:r>
            <a:r>
              <a:rPr dirty="0" sz="7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full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20" i="1">
                <a:solidFill>
                  <a:srgbClr val="8B8FB4"/>
                </a:solidFill>
                <a:latin typeface="Courier New"/>
                <a:cs typeface="Courier New"/>
              </a:rPr>
              <a:t>data 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st.write(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"**All</a:t>
            </a:r>
            <a:r>
              <a:rPr dirty="0" sz="70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8E886"/>
                </a:solidFill>
                <a:latin typeface="Courier New"/>
                <a:cs typeface="Courier New"/>
              </a:rPr>
              <a:t>students**"</a:t>
            </a:r>
            <a:r>
              <a:rPr dirty="0" sz="700" spc="-10">
                <a:solidFill>
                  <a:srgbClr val="E7E9F5"/>
                </a:solidFill>
                <a:latin typeface="Courier New"/>
                <a:cs typeface="Courier New"/>
              </a:rPr>
              <a:t>) st.dataframe(df)</a:t>
            </a:r>
            <a:endParaRPr sz="700">
              <a:latin typeface="Courier New"/>
              <a:cs typeface="Courier New"/>
            </a:endParaRPr>
          </a:p>
          <a:p>
            <a:pPr marR="1877060">
              <a:lnSpc>
                <a:spcPct val="107100"/>
              </a:lnSpc>
              <a:spcBef>
                <a:spcPts val="80"/>
              </a:spcBef>
            </a:pP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4.</a:t>
            </a:r>
            <a:r>
              <a:rPr dirty="0" sz="7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Filter</a:t>
            </a:r>
            <a:r>
              <a:rPr dirty="0" sz="7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(TODO)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4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filtered</a:t>
            </a:r>
            <a:r>
              <a:rPr dirty="0" sz="7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7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df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if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branch</a:t>
            </a:r>
            <a:r>
              <a:rPr dirty="0" sz="700" spc="-3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!=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"All":</a:t>
            </a:r>
            <a:endParaRPr sz="700">
              <a:latin typeface="Courier New"/>
              <a:cs typeface="Courier New"/>
            </a:endParaRPr>
          </a:p>
          <a:p>
            <a:pPr marR="111760">
              <a:lnSpc>
                <a:spcPct val="107100"/>
              </a:lnSpc>
              <a:spcBef>
                <a:spcPts val="75"/>
              </a:spcBef>
            </a:pP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filtered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filtered[filtered["branch"]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==</a:t>
            </a:r>
            <a:r>
              <a:rPr dirty="0" sz="700" spc="-2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branch]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if</a:t>
            </a:r>
            <a:r>
              <a:rPr dirty="0" sz="700" spc="-2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city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!=</a:t>
            </a:r>
            <a:r>
              <a:rPr dirty="0" sz="700" spc="-2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"All":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filtered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=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filtered[filtered["city"]</a:t>
            </a:r>
            <a:r>
              <a:rPr dirty="0" sz="700" spc="-2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==</a:t>
            </a:r>
            <a:r>
              <a:rPr dirty="0" sz="700" spc="-2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city]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5.</a:t>
            </a:r>
            <a:r>
              <a:rPr dirty="0" sz="7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Show</a:t>
            </a:r>
            <a:r>
              <a:rPr dirty="0" sz="700" spc="-4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filtered</a:t>
            </a:r>
            <a:r>
              <a:rPr dirty="0" sz="700" spc="-3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(TODO)</a:t>
            </a:r>
            <a:endParaRPr sz="700">
              <a:latin typeface="Courier New"/>
              <a:cs typeface="Courier New"/>
            </a:endParaRPr>
          </a:p>
          <a:p>
            <a:pPr marR="5080">
              <a:lnSpc>
                <a:spcPct val="107100"/>
              </a:lnSpc>
            </a:pP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st.write(f"**Filtered:</a:t>
            </a:r>
            <a:r>
              <a:rPr dirty="0" sz="700" spc="-5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{len(filtered)}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students**") </a:t>
            </a:r>
            <a:r>
              <a:rPr dirty="0" sz="700" i="1">
                <a:solidFill>
                  <a:srgbClr val="8B8FB4"/>
                </a:solidFill>
                <a:latin typeface="Courier New"/>
                <a:cs typeface="Courier New"/>
              </a:rPr>
              <a:t>#</a:t>
            </a:r>
            <a:r>
              <a:rPr dirty="0" sz="700" spc="-10" i="1">
                <a:solidFill>
                  <a:srgbClr val="8B8FB4"/>
                </a:solidFill>
                <a:latin typeface="Courier New"/>
                <a:cs typeface="Courier New"/>
              </a:rPr>
              <a:t> st.dataframe(filtered)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95624" y="6019799"/>
            <a:ext cx="6000750" cy="304800"/>
          </a:xfrm>
          <a:custGeom>
            <a:avLst/>
            <a:gdLst/>
            <a:ahLst/>
            <a:cxnLst/>
            <a:rect l="l" t="t" r="r" b="b"/>
            <a:pathLst>
              <a:path w="6000750" h="304800">
                <a:moveTo>
                  <a:pt x="5848349" y="304799"/>
                </a:moveTo>
                <a:lnTo>
                  <a:pt x="152399" y="304799"/>
                </a:lnTo>
                <a:lnTo>
                  <a:pt x="144912" y="304616"/>
                </a:lnTo>
                <a:lnTo>
                  <a:pt x="101066" y="295894"/>
                </a:lnTo>
                <a:lnTo>
                  <a:pt x="61607" y="274804"/>
                </a:lnTo>
                <a:lnTo>
                  <a:pt x="29995" y="243192"/>
                </a:lnTo>
                <a:lnTo>
                  <a:pt x="8904" y="203733"/>
                </a:lnTo>
                <a:lnTo>
                  <a:pt x="182" y="15988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5848349" y="0"/>
                </a:lnTo>
                <a:lnTo>
                  <a:pt x="5892587" y="6560"/>
                </a:lnTo>
                <a:lnTo>
                  <a:pt x="5933017" y="25683"/>
                </a:lnTo>
                <a:lnTo>
                  <a:pt x="5966157" y="55717"/>
                </a:lnTo>
                <a:lnTo>
                  <a:pt x="5989147" y="94078"/>
                </a:lnTo>
                <a:lnTo>
                  <a:pt x="6000016" y="137461"/>
                </a:lnTo>
                <a:lnTo>
                  <a:pt x="6000749" y="152399"/>
                </a:lnTo>
                <a:lnTo>
                  <a:pt x="6000566" y="159887"/>
                </a:lnTo>
                <a:lnTo>
                  <a:pt x="5991844" y="203733"/>
                </a:lnTo>
                <a:lnTo>
                  <a:pt x="5970753" y="243192"/>
                </a:lnTo>
                <a:lnTo>
                  <a:pt x="5939141" y="274804"/>
                </a:lnTo>
                <a:lnTo>
                  <a:pt x="5899681" y="295894"/>
                </a:lnTo>
                <a:lnTo>
                  <a:pt x="5855836" y="304616"/>
                </a:lnTo>
                <a:lnTo>
                  <a:pt x="5848349" y="304799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236069" y="6078537"/>
            <a:ext cx="413384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55" b="1">
                <a:solidFill>
                  <a:srgbClr val="FF6A5B"/>
                </a:solidFill>
                <a:latin typeface="Tahoma"/>
                <a:cs typeface="Tahoma"/>
              </a:rPr>
              <a:t>RU</a:t>
            </a:r>
            <a:r>
              <a:rPr dirty="0" sz="850" spc="-1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sz="850" spc="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195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850" spc="-1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50" spc="-5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endParaRPr sz="85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762374" y="6086474"/>
            <a:ext cx="1866900" cy="171450"/>
          </a:xfrm>
          <a:custGeom>
            <a:avLst/>
            <a:gdLst/>
            <a:ahLst/>
            <a:cxnLst/>
            <a:rect l="l" t="t" r="r" b="b"/>
            <a:pathLst>
              <a:path w="1866900" h="171450">
                <a:moveTo>
                  <a:pt x="1842113" y="171449"/>
                </a:moveTo>
                <a:lnTo>
                  <a:pt x="24785" y="171449"/>
                </a:lnTo>
                <a:lnTo>
                  <a:pt x="21140" y="170723"/>
                </a:lnTo>
                <a:lnTo>
                  <a:pt x="0" y="146663"/>
                </a:lnTo>
                <a:lnTo>
                  <a:pt x="0" y="142874"/>
                </a:lnTo>
                <a:lnTo>
                  <a:pt x="0" y="24785"/>
                </a:lnTo>
                <a:lnTo>
                  <a:pt x="24785" y="0"/>
                </a:lnTo>
                <a:lnTo>
                  <a:pt x="1842113" y="0"/>
                </a:lnTo>
                <a:lnTo>
                  <a:pt x="1866899" y="24785"/>
                </a:lnTo>
                <a:lnTo>
                  <a:pt x="1866899" y="146663"/>
                </a:lnTo>
                <a:lnTo>
                  <a:pt x="1845759" y="170723"/>
                </a:lnTo>
                <a:lnTo>
                  <a:pt x="1842113" y="171449"/>
                </a:lnTo>
                <a:close/>
              </a:path>
            </a:pathLst>
          </a:custGeom>
          <a:solidFill>
            <a:srgbClr val="FF6A5B">
              <a:alpha val="1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810545" y="6078537"/>
            <a:ext cx="514096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streamlit</a:t>
            </a:r>
            <a:r>
              <a:rPr dirty="0" sz="800" spc="14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run</a:t>
            </a:r>
            <a:r>
              <a:rPr dirty="0" sz="800" spc="145" b="1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B"/>
                </a:solidFill>
                <a:latin typeface="Courier New"/>
                <a:cs typeface="Courier New"/>
              </a:rPr>
              <a:t>dashboard.py</a:t>
            </a:r>
            <a:r>
              <a:rPr dirty="0" sz="800" spc="125" b="1">
                <a:solidFill>
                  <a:srgbClr val="FF6A5B"/>
                </a:solidFill>
                <a:latin typeface="Courier New"/>
                <a:cs typeface="Courier New"/>
              </a:rPr>
              <a:t>  </a:t>
            </a:r>
            <a:r>
              <a:rPr dirty="0" sz="850" spc="-105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r>
              <a:rPr dirty="0" sz="850" spc="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Pick</a:t>
            </a:r>
            <a:r>
              <a:rPr dirty="0" sz="850" spc="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850" spc="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branch</a:t>
            </a:r>
            <a:r>
              <a:rPr dirty="0" sz="850" spc="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+</a:t>
            </a:r>
            <a:r>
              <a:rPr dirty="0" sz="850" spc="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rebuchet MS"/>
                <a:cs typeface="Trebuchet MS"/>
              </a:rPr>
              <a:t>city</a:t>
            </a:r>
            <a:r>
              <a:rPr dirty="0" sz="850" spc="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in</a:t>
            </a:r>
            <a:r>
              <a:rPr dirty="0" sz="850" spc="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50" spc="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4A4E6A"/>
                </a:solidFill>
                <a:latin typeface="Trebuchet MS"/>
                <a:cs typeface="Trebuchet MS"/>
              </a:rPr>
              <a:t>sidebar.</a:t>
            </a:r>
            <a:r>
              <a:rPr dirty="0" sz="850" spc="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50" spc="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filtered</a:t>
            </a:r>
            <a:r>
              <a:rPr dirty="0" sz="850" spc="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table</a:t>
            </a:r>
            <a:r>
              <a:rPr dirty="0" sz="850" spc="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updates</a:t>
            </a:r>
            <a:r>
              <a:rPr dirty="0" sz="850" spc="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live.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1</a:t>
            </a:r>
            <a:r>
              <a:rPr dirty="0" spc="-110"/>
              <a:t> </a:t>
            </a:r>
            <a:r>
              <a:rPr dirty="0"/>
              <a:t>5</a:t>
            </a:r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4479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X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1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5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sz="900" spc="25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W</a:t>
            </a:r>
            <a:r>
              <a:rPr dirty="0" sz="900" spc="-14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FF6A5B"/>
                </a:solidFill>
                <a:latin typeface="Tahoma"/>
                <a:cs typeface="Tahoma"/>
              </a:rPr>
              <a:t>K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45">
                <a:solidFill>
                  <a:srgbClr val="293283"/>
                </a:solidFill>
              </a:rPr>
              <a:t>One</a:t>
            </a:r>
            <a:r>
              <a:rPr dirty="0" spc="-210">
                <a:solidFill>
                  <a:srgbClr val="293283"/>
                </a:solidFill>
              </a:rPr>
              <a:t> </a:t>
            </a:r>
            <a:r>
              <a:rPr dirty="0" spc="-300">
                <a:solidFill>
                  <a:srgbClr val="293283"/>
                </a:solidFill>
              </a:rPr>
              <a:t>way</a:t>
            </a:r>
            <a:r>
              <a:rPr dirty="0" spc="-204">
                <a:solidFill>
                  <a:srgbClr val="293283"/>
                </a:solidFill>
              </a:rPr>
              <a:t> to </a:t>
            </a:r>
            <a:r>
              <a:rPr dirty="0" spc="-245">
                <a:solidFill>
                  <a:srgbClr val="293283"/>
                </a:solidFill>
              </a:rPr>
              <a:t>solve</a:t>
            </a:r>
            <a:r>
              <a:rPr dirty="0" spc="-204">
                <a:solidFill>
                  <a:srgbClr val="293283"/>
                </a:solidFill>
              </a:rPr>
              <a:t> </a:t>
            </a:r>
            <a:r>
              <a:rPr dirty="0" spc="-165">
                <a:solidFill>
                  <a:srgbClr val="293283"/>
                </a:solidFill>
              </a:rPr>
              <a:t>it.</a:t>
            </a:r>
            <a:r>
              <a:rPr dirty="0" spc="-204">
                <a:solidFill>
                  <a:srgbClr val="293283"/>
                </a:solidFill>
              </a:rPr>
              <a:t> </a:t>
            </a:r>
            <a:r>
              <a:rPr dirty="0" spc="-254"/>
              <a:t>There</a:t>
            </a:r>
            <a:r>
              <a:rPr dirty="0" spc="-204"/>
              <a:t> </a:t>
            </a:r>
            <a:r>
              <a:rPr dirty="0" spc="-245"/>
              <a:t>are</a:t>
            </a:r>
            <a:r>
              <a:rPr dirty="0" spc="-210"/>
              <a:t> </a:t>
            </a:r>
            <a:r>
              <a:rPr dirty="0" spc="-245"/>
              <a:t>others</a:t>
            </a:r>
            <a:r>
              <a:rPr dirty="0" spc="-204"/>
              <a:t> </a:t>
            </a:r>
            <a:r>
              <a:rPr dirty="0" spc="-25"/>
              <a:t>—</a:t>
            </a:r>
            <a:r>
              <a:rPr dirty="0" spc="-204"/>
              <a:t> </a:t>
            </a:r>
            <a:r>
              <a:rPr dirty="0" spc="-229"/>
              <a:t>this</a:t>
            </a:r>
            <a:r>
              <a:rPr dirty="0" spc="-204"/>
              <a:t> </a:t>
            </a:r>
            <a:r>
              <a:rPr dirty="0" spc="-215"/>
              <a:t>is</a:t>
            </a:r>
            <a:r>
              <a:rPr dirty="0" spc="-204"/>
              <a:t> </a:t>
            </a:r>
            <a:r>
              <a:rPr dirty="0" spc="-254"/>
              <a:t>just</a:t>
            </a:r>
            <a:r>
              <a:rPr dirty="0" spc="-204"/>
              <a:t> </a:t>
            </a:r>
            <a:r>
              <a:rPr dirty="0" spc="-155"/>
              <a:t>clean.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3099" y="1149350"/>
            <a:ext cx="3897629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Walk</a:t>
            </a:r>
            <a:r>
              <a:rPr dirty="0" sz="9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through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this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55">
                <a:solidFill>
                  <a:srgbClr val="4A4E6A"/>
                </a:solidFill>
                <a:latin typeface="Trebuchet MS"/>
                <a:cs typeface="Trebuchet MS"/>
              </a:rPr>
              <a:t>line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by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65">
                <a:solidFill>
                  <a:srgbClr val="4A4E6A"/>
                </a:solidFill>
                <a:latin typeface="Trebuchet MS"/>
                <a:cs typeface="Trebuchet MS"/>
              </a:rPr>
              <a:t>line.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Then </a:t>
            </a:r>
            <a:r>
              <a:rPr dirty="0" sz="950" spc="-25">
                <a:solidFill>
                  <a:srgbClr val="4A4E6A"/>
                </a:solidFill>
                <a:latin typeface="Trebuchet MS"/>
                <a:cs typeface="Trebuchet MS"/>
              </a:rPr>
              <a:t>go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55">
                <a:solidFill>
                  <a:srgbClr val="4A4E6A"/>
                </a:solidFill>
                <a:latin typeface="Trebuchet MS"/>
                <a:cs typeface="Trebuchet MS"/>
              </a:rPr>
              <a:t>back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to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your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4A4E6A"/>
                </a:solidFill>
                <a:latin typeface="Trebuchet MS"/>
                <a:cs typeface="Trebuchet MS"/>
              </a:rPr>
              <a:t>own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version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rebuchet MS"/>
                <a:cs typeface="Trebuchet MS"/>
              </a:rPr>
              <a:t>compare.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199" y="1468437"/>
            <a:ext cx="79629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10">
                <a:solidFill>
                  <a:srgbClr val="4A4E6A"/>
                </a:solidFill>
                <a:latin typeface="Courier New"/>
                <a:cs typeface="Courier New"/>
              </a:rPr>
              <a:t>dashboard.py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31123" y="1487487"/>
            <a:ext cx="51562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10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700" spc="-9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65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700" spc="-9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10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60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700" spc="-9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8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700" spc="-9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155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700" spc="-9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65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700" spc="-9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5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5799" y="1695449"/>
            <a:ext cx="6400800" cy="4238625"/>
          </a:xfrm>
          <a:custGeom>
            <a:avLst/>
            <a:gdLst/>
            <a:ahLst/>
            <a:cxnLst/>
            <a:rect l="l" t="t" r="r" b="b"/>
            <a:pathLst>
              <a:path w="6400800" h="4238625">
                <a:moveTo>
                  <a:pt x="6294004" y="4238624"/>
                </a:moveTo>
                <a:lnTo>
                  <a:pt x="106794" y="4238624"/>
                </a:lnTo>
                <a:lnTo>
                  <a:pt x="99361" y="4237892"/>
                </a:lnTo>
                <a:lnTo>
                  <a:pt x="57038" y="4223530"/>
                </a:lnTo>
                <a:lnTo>
                  <a:pt x="23432" y="4194066"/>
                </a:lnTo>
                <a:lnTo>
                  <a:pt x="3660" y="4153983"/>
                </a:lnTo>
                <a:lnTo>
                  <a:pt x="0" y="4131829"/>
                </a:lnTo>
                <a:lnTo>
                  <a:pt x="0" y="4124324"/>
                </a:lnTo>
                <a:lnTo>
                  <a:pt x="0" y="106794"/>
                </a:lnTo>
                <a:lnTo>
                  <a:pt x="11572" y="63625"/>
                </a:lnTo>
                <a:lnTo>
                  <a:pt x="38784" y="28170"/>
                </a:lnTo>
                <a:lnTo>
                  <a:pt x="77493" y="5828"/>
                </a:lnTo>
                <a:lnTo>
                  <a:pt x="106794" y="0"/>
                </a:lnTo>
                <a:lnTo>
                  <a:pt x="6294004" y="0"/>
                </a:lnTo>
                <a:lnTo>
                  <a:pt x="6337173" y="11572"/>
                </a:lnTo>
                <a:lnTo>
                  <a:pt x="6372628" y="38784"/>
                </a:lnTo>
                <a:lnTo>
                  <a:pt x="6394970" y="77492"/>
                </a:lnTo>
                <a:lnTo>
                  <a:pt x="6400799" y="106794"/>
                </a:lnTo>
                <a:lnTo>
                  <a:pt x="6400799" y="4131829"/>
                </a:lnTo>
                <a:lnTo>
                  <a:pt x="6389225" y="4174998"/>
                </a:lnTo>
                <a:lnTo>
                  <a:pt x="6362014" y="4210453"/>
                </a:lnTo>
                <a:lnTo>
                  <a:pt x="6323305" y="4232795"/>
                </a:lnTo>
                <a:lnTo>
                  <a:pt x="6301437" y="4237892"/>
                </a:lnTo>
                <a:lnTo>
                  <a:pt x="6294004" y="4238624"/>
                </a:lnTo>
                <a:close/>
              </a:path>
            </a:pathLst>
          </a:custGeom>
          <a:solidFill>
            <a:srgbClr val="1B1F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25500" y="1770379"/>
            <a:ext cx="1392555" cy="311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9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800" spc="6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streamlit</a:t>
            </a:r>
            <a:r>
              <a:rPr dirty="0" sz="800" spc="6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800" spc="6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7E9F5"/>
                </a:solidFill>
                <a:latin typeface="Courier New"/>
                <a:cs typeface="Courier New"/>
              </a:rPr>
              <a:t>st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import</a:t>
            </a:r>
            <a:r>
              <a:rPr dirty="0" sz="800" spc="5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pandas</a:t>
            </a:r>
            <a:r>
              <a:rPr dirty="0" sz="80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800" spc="5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7E9F5"/>
                </a:solidFill>
                <a:latin typeface="Courier New"/>
                <a:cs typeface="Courier New"/>
              </a:rPr>
              <a:t>pd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9" y="2238374"/>
            <a:ext cx="152400" cy="1523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77887" y="2235200"/>
            <a:ext cx="742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000" y="2206625"/>
            <a:ext cx="182689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st.title(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"Student</a:t>
            </a:r>
            <a:r>
              <a:rPr dirty="0" sz="800" spc="16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Dashboard"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9" y="2543174"/>
            <a:ext cx="152400" cy="1523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77887" y="2540000"/>
            <a:ext cx="742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6000" y="2511425"/>
            <a:ext cx="20129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df</a:t>
            </a:r>
            <a:r>
              <a:rPr dirty="0" sz="800" spc="2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pd.read_csv(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"students.csv"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9" y="2847974"/>
            <a:ext cx="152400" cy="15239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77887" y="2844800"/>
            <a:ext cx="742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6000" y="2780029"/>
            <a:ext cx="3932554" cy="91122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with</a:t>
            </a:r>
            <a:r>
              <a:rPr dirty="0" sz="800" spc="4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st.sidebar:</a:t>
            </a:r>
            <a:endParaRPr sz="800">
              <a:latin typeface="Courier New"/>
              <a:cs typeface="Courier New"/>
            </a:endParaRPr>
          </a:p>
          <a:p>
            <a:pPr marL="69850">
              <a:lnSpc>
                <a:spcPct val="100000"/>
              </a:lnSpc>
              <a:spcBef>
                <a:spcPts val="315"/>
              </a:spcBef>
            </a:pP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st.write(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"**Filters**"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69850" marR="687070">
              <a:lnSpc>
                <a:spcPct val="109400"/>
              </a:lnSpc>
              <a:spcBef>
                <a:spcPts val="7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branches</a:t>
            </a:r>
            <a:r>
              <a:rPr dirty="0" sz="800" spc="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"All"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800" spc="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+</a:t>
            </a:r>
            <a:r>
              <a:rPr dirty="0" sz="80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df[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"branch"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].unique().tolist()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cities</a:t>
            </a:r>
            <a:r>
              <a:rPr dirty="0" sz="800" spc="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[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"All"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800" spc="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+</a:t>
            </a:r>
            <a:r>
              <a:rPr dirty="0" sz="800" spc="4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df[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"city"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].unique().tolist()</a:t>
            </a:r>
            <a:endParaRPr sz="800">
              <a:latin typeface="Courier New"/>
              <a:cs typeface="Courier New"/>
            </a:endParaRPr>
          </a:p>
          <a:p>
            <a:pPr marL="69850" marR="5080">
              <a:lnSpc>
                <a:spcPct val="117200"/>
              </a:lnSpc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branch</a:t>
            </a:r>
            <a:r>
              <a:rPr dirty="0" sz="800" spc="9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9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st.selectbox(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"Branch"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9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branches,</a:t>
            </a:r>
            <a:r>
              <a:rPr dirty="0" sz="800" spc="9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key=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"filter_branch"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city</a:t>
            </a:r>
            <a:r>
              <a:rPr dirty="0" sz="800" spc="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st.selectbox(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"City"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,</a:t>
            </a:r>
            <a:r>
              <a:rPr dirty="0" sz="800" spc="8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cities,</a:t>
            </a:r>
            <a:r>
              <a:rPr dirty="0" sz="800" spc="8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key=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"filter_city"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9" y="3848099"/>
            <a:ext cx="152400" cy="15239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77887" y="3844925"/>
            <a:ext cx="742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 b="1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7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16000" y="3816350"/>
            <a:ext cx="176466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st.write(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"**All</a:t>
            </a:r>
            <a:r>
              <a:rPr dirty="0" sz="800" spc="14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students**"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5500" y="3961129"/>
            <a:ext cx="2385060" cy="31115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st.dataframe(df)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st.write(f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"Total:</a:t>
            </a:r>
            <a:r>
              <a:rPr dirty="0" sz="800" spc="12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{len(df)}</a:t>
            </a:r>
            <a:r>
              <a:rPr dirty="0" sz="800" spc="12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students"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9" y="4438649"/>
            <a:ext cx="152400" cy="15239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877887" y="4435475"/>
            <a:ext cx="742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 b="1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7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1832" y="4370704"/>
            <a:ext cx="3315970" cy="7683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409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filtered</a:t>
            </a:r>
            <a:r>
              <a:rPr dirty="0" sz="80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5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35">
                <a:solidFill>
                  <a:srgbClr val="E7E9F5"/>
                </a:solidFill>
                <a:latin typeface="Courier New"/>
                <a:cs typeface="Courier New"/>
              </a:rPr>
              <a:t>df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800" spc="4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branch</a:t>
            </a:r>
            <a:r>
              <a:rPr dirty="0" sz="800" spc="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!=</a:t>
            </a:r>
            <a:r>
              <a:rPr dirty="0" sz="800" spc="4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"All"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800">
              <a:latin typeface="Courier New"/>
              <a:cs typeface="Courier New"/>
            </a:endParaRPr>
          </a:p>
          <a:p>
            <a:pPr marL="260350">
              <a:lnSpc>
                <a:spcPct val="100000"/>
              </a:lnSpc>
              <a:spcBef>
                <a:spcPts val="90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filtered</a:t>
            </a:r>
            <a:r>
              <a:rPr dirty="0" sz="800" spc="9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9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filtered[filtered[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"branch"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800" spc="9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==</a:t>
            </a:r>
            <a:r>
              <a:rPr dirty="0" sz="800" spc="9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branch]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800" spc="3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city</a:t>
            </a:r>
            <a:r>
              <a:rPr dirty="0" sz="800" spc="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!=</a:t>
            </a:r>
            <a:r>
              <a:rPr dirty="0" sz="800" spc="3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"All"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:</a:t>
            </a:r>
            <a:endParaRPr sz="800">
              <a:latin typeface="Courier New"/>
              <a:cs typeface="Courier New"/>
            </a:endParaRPr>
          </a:p>
          <a:p>
            <a:pPr marL="260350">
              <a:lnSpc>
                <a:spcPct val="100000"/>
              </a:lnSpc>
              <a:spcBef>
                <a:spcPts val="16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filtered</a:t>
            </a:r>
            <a:r>
              <a:rPr dirty="0" sz="800" spc="9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</a:t>
            </a:r>
            <a:r>
              <a:rPr dirty="0" sz="800" spc="9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filtered[filtered[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"city"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]</a:t>
            </a:r>
            <a:r>
              <a:rPr dirty="0" sz="800" spc="9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==</a:t>
            </a:r>
            <a:r>
              <a:rPr dirty="0" sz="800" spc="9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city]</a:t>
            </a:r>
            <a:endParaRPr sz="800">
              <a:latin typeface="Courier New"/>
              <a:cs typeface="Courier New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9" y="5295899"/>
            <a:ext cx="152400" cy="15239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77887" y="5292725"/>
            <a:ext cx="742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 b="1">
                <a:solidFill>
                  <a:srgbClr val="FFFFFF"/>
                </a:solidFill>
                <a:latin typeface="Tahoma"/>
                <a:cs typeface="Tahoma"/>
              </a:rPr>
              <a:t>6</a:t>
            </a:r>
            <a:endParaRPr sz="75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11697" y="5227954"/>
            <a:ext cx="399859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07085" indent="3810">
              <a:lnSpc>
                <a:spcPct val="132800"/>
              </a:lnSpc>
              <a:spcBef>
                <a:spcPts val="9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st.write(f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"**Filtered:</a:t>
            </a:r>
            <a:r>
              <a:rPr dirty="0" sz="800" spc="17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{len(filtered)}</a:t>
            </a:r>
            <a:r>
              <a:rPr dirty="0" sz="800" spc="175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students**"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 st.dataframe(filtered)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800" spc="5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len(filtered)</a:t>
            </a:r>
            <a:r>
              <a:rPr dirty="0" sz="800" spc="60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&gt;</a:t>
            </a:r>
            <a:r>
              <a:rPr dirty="0" sz="800" spc="55">
                <a:solidFill>
                  <a:srgbClr val="E7E9F5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7E9F5"/>
                </a:solidFill>
                <a:latin typeface="Courier New"/>
                <a:cs typeface="Courier New"/>
              </a:rPr>
              <a:t>0:</a:t>
            </a:r>
            <a:endParaRPr sz="800">
              <a:latin typeface="Courier New"/>
              <a:cs typeface="Courier New"/>
            </a:endParaRPr>
          </a:p>
          <a:p>
            <a:pPr marL="260350">
              <a:lnSpc>
                <a:spcPct val="100000"/>
              </a:lnSpc>
              <a:spcBef>
                <a:spcPts val="165"/>
              </a:spcBef>
            </a:pPr>
            <a:r>
              <a:rPr dirty="0" sz="800">
                <a:solidFill>
                  <a:srgbClr val="E7E9F5"/>
                </a:solidFill>
                <a:latin typeface="Courier New"/>
                <a:cs typeface="Courier New"/>
              </a:rPr>
              <a:t>st.write(f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"Average</a:t>
            </a:r>
            <a:r>
              <a:rPr dirty="0" sz="800" spc="114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8E886"/>
                </a:solidFill>
                <a:latin typeface="Courier New"/>
                <a:cs typeface="Courier New"/>
              </a:rPr>
              <a:t>marks:</a:t>
            </a:r>
            <a:r>
              <a:rPr dirty="0" sz="800" spc="120">
                <a:solidFill>
                  <a:srgbClr val="B8E88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8E886"/>
                </a:solidFill>
                <a:latin typeface="Courier New"/>
                <a:cs typeface="Courier New"/>
              </a:rPr>
              <a:t>{filtered[\"marks\"].mean():.1f}"</a:t>
            </a:r>
            <a:r>
              <a:rPr dirty="0" sz="800" spc="-10">
                <a:solidFill>
                  <a:srgbClr val="E7E9F5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238999" y="1476375"/>
            <a:ext cx="4267200" cy="4457700"/>
            <a:chOff x="7238999" y="1476375"/>
            <a:chExt cx="4267200" cy="4457700"/>
          </a:xfrm>
        </p:grpSpPr>
        <p:sp>
          <p:nvSpPr>
            <p:cNvPr id="29" name="object 29"/>
            <p:cNvSpPr/>
            <p:nvPr/>
          </p:nvSpPr>
          <p:spPr>
            <a:xfrm>
              <a:off x="7258049" y="1481137"/>
              <a:ext cx="4243705" cy="4448175"/>
            </a:xfrm>
            <a:custGeom>
              <a:avLst/>
              <a:gdLst/>
              <a:ahLst/>
              <a:cxnLst/>
              <a:rect l="l" t="t" r="r" b="b"/>
              <a:pathLst>
                <a:path w="4243705" h="4448175">
                  <a:moveTo>
                    <a:pt x="4141041" y="4448174"/>
                  </a:moveTo>
                  <a:lnTo>
                    <a:pt x="88995" y="4448174"/>
                  </a:lnTo>
                  <a:lnTo>
                    <a:pt x="82801" y="4447472"/>
                  </a:lnTo>
                  <a:lnTo>
                    <a:pt x="37131" y="4425717"/>
                  </a:lnTo>
                  <a:lnTo>
                    <a:pt x="12577" y="4393511"/>
                  </a:lnTo>
                  <a:lnTo>
                    <a:pt x="609" y="4352952"/>
                  </a:lnTo>
                  <a:lnTo>
                    <a:pt x="0" y="4345829"/>
                  </a:lnTo>
                  <a:lnTo>
                    <a:pt x="0" y="4338637"/>
                  </a:lnTo>
                  <a:lnTo>
                    <a:pt x="0" y="102345"/>
                  </a:lnTo>
                  <a:lnTo>
                    <a:pt x="9643" y="60974"/>
                  </a:lnTo>
                  <a:lnTo>
                    <a:pt x="32320" y="26996"/>
                  </a:lnTo>
                  <a:lnTo>
                    <a:pt x="64576" y="5585"/>
                  </a:lnTo>
                  <a:lnTo>
                    <a:pt x="88995" y="0"/>
                  </a:lnTo>
                  <a:lnTo>
                    <a:pt x="4141041" y="0"/>
                  </a:lnTo>
                  <a:lnTo>
                    <a:pt x="4182411" y="11090"/>
                  </a:lnTo>
                  <a:lnTo>
                    <a:pt x="4216389" y="37168"/>
                  </a:lnTo>
                  <a:lnTo>
                    <a:pt x="4237800" y="74264"/>
                  </a:lnTo>
                  <a:lnTo>
                    <a:pt x="4243386" y="102345"/>
                  </a:lnTo>
                  <a:lnTo>
                    <a:pt x="4243386" y="4345829"/>
                  </a:lnTo>
                  <a:lnTo>
                    <a:pt x="4232295" y="4387199"/>
                  </a:lnTo>
                  <a:lnTo>
                    <a:pt x="4206218" y="4421176"/>
                  </a:lnTo>
                  <a:lnTo>
                    <a:pt x="4169121" y="4442588"/>
                  </a:lnTo>
                  <a:lnTo>
                    <a:pt x="4148165" y="4447472"/>
                  </a:lnTo>
                  <a:lnTo>
                    <a:pt x="4141041" y="4448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297217" y="1476374"/>
              <a:ext cx="4209415" cy="4457700"/>
            </a:xfrm>
            <a:custGeom>
              <a:avLst/>
              <a:gdLst/>
              <a:ahLst/>
              <a:cxnLst/>
              <a:rect l="l" t="t" r="r" b="b"/>
              <a:pathLst>
                <a:path w="4209415" h="4457700">
                  <a:moveTo>
                    <a:pt x="4208970" y="114300"/>
                  </a:moveTo>
                  <a:lnTo>
                    <a:pt x="4200271" y="70561"/>
                  </a:lnTo>
                  <a:lnTo>
                    <a:pt x="4175937" y="33997"/>
                  </a:lnTo>
                  <a:lnTo>
                    <a:pt x="4140162" y="9525"/>
                  </a:lnTo>
                  <a:lnTo>
                    <a:pt x="4094670" y="0"/>
                  </a:lnTo>
                  <a:lnTo>
                    <a:pt x="56070" y="0"/>
                  </a:lnTo>
                  <a:lnTo>
                    <a:pt x="12331" y="8712"/>
                  </a:lnTo>
                  <a:lnTo>
                    <a:pt x="0" y="14795"/>
                  </a:lnTo>
                  <a:lnTo>
                    <a:pt x="22440" y="20408"/>
                  </a:lnTo>
                  <a:lnTo>
                    <a:pt x="26911" y="17500"/>
                  </a:lnTo>
                  <a:lnTo>
                    <a:pt x="33985" y="14020"/>
                  </a:lnTo>
                  <a:lnTo>
                    <a:pt x="41211" y="11518"/>
                  </a:lnTo>
                  <a:lnTo>
                    <a:pt x="48564" y="10033"/>
                  </a:lnTo>
                  <a:lnTo>
                    <a:pt x="56070" y="9525"/>
                  </a:lnTo>
                  <a:lnTo>
                    <a:pt x="4094670" y="9525"/>
                  </a:lnTo>
                  <a:lnTo>
                    <a:pt x="4134777" y="17500"/>
                  </a:lnTo>
                  <a:lnTo>
                    <a:pt x="4168762" y="40220"/>
                  </a:lnTo>
                  <a:lnTo>
                    <a:pt x="4191470" y="74206"/>
                  </a:lnTo>
                  <a:lnTo>
                    <a:pt x="4199445" y="114300"/>
                  </a:lnTo>
                  <a:lnTo>
                    <a:pt x="4199445" y="4343400"/>
                  </a:lnTo>
                  <a:lnTo>
                    <a:pt x="4191470" y="4383506"/>
                  </a:lnTo>
                  <a:lnTo>
                    <a:pt x="4169219" y="4416996"/>
                  </a:lnTo>
                  <a:lnTo>
                    <a:pt x="4134777" y="4440199"/>
                  </a:lnTo>
                  <a:lnTo>
                    <a:pt x="4094670" y="4448175"/>
                  </a:lnTo>
                  <a:lnTo>
                    <a:pt x="56070" y="4448175"/>
                  </a:lnTo>
                  <a:lnTo>
                    <a:pt x="22440" y="4437304"/>
                  </a:lnTo>
                  <a:lnTo>
                    <a:pt x="0" y="4442917"/>
                  </a:lnTo>
                  <a:lnTo>
                    <a:pt x="44818" y="4457166"/>
                  </a:lnTo>
                  <a:lnTo>
                    <a:pt x="56070" y="4457700"/>
                  </a:lnTo>
                  <a:lnTo>
                    <a:pt x="4094670" y="4457700"/>
                  </a:lnTo>
                  <a:lnTo>
                    <a:pt x="4138409" y="4449000"/>
                  </a:lnTo>
                  <a:lnTo>
                    <a:pt x="4140162" y="4448175"/>
                  </a:lnTo>
                  <a:lnTo>
                    <a:pt x="4148607" y="4444200"/>
                  </a:lnTo>
                  <a:lnTo>
                    <a:pt x="4183075" y="4415879"/>
                  </a:lnTo>
                  <a:lnTo>
                    <a:pt x="4204081" y="4376534"/>
                  </a:lnTo>
                  <a:lnTo>
                    <a:pt x="4208970" y="4343400"/>
                  </a:lnTo>
                  <a:lnTo>
                    <a:pt x="4208970" y="11430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238999" y="1491000"/>
              <a:ext cx="81280" cy="4428490"/>
            </a:xfrm>
            <a:custGeom>
              <a:avLst/>
              <a:gdLst/>
              <a:ahLst/>
              <a:cxnLst/>
              <a:rect l="l" t="t" r="r" b="b"/>
              <a:pathLst>
                <a:path w="81279" h="4428490">
                  <a:moveTo>
                    <a:pt x="58503" y="4428448"/>
                  </a:moveTo>
                  <a:lnTo>
                    <a:pt x="25899" y="4401249"/>
                  </a:lnTo>
                  <a:lnTo>
                    <a:pt x="4893" y="4361903"/>
                  </a:lnTo>
                  <a:lnTo>
                    <a:pt x="0" y="4328774"/>
                  </a:lnTo>
                  <a:lnTo>
                    <a:pt x="0" y="99674"/>
                  </a:lnTo>
                  <a:lnTo>
                    <a:pt x="8699" y="55933"/>
                  </a:lnTo>
                  <a:lnTo>
                    <a:pt x="33477" y="18852"/>
                  </a:lnTo>
                  <a:lnTo>
                    <a:pt x="58503" y="0"/>
                  </a:lnTo>
                  <a:lnTo>
                    <a:pt x="80929" y="5606"/>
                  </a:lnTo>
                  <a:lnTo>
                    <a:pt x="78342" y="7285"/>
                  </a:lnTo>
                  <a:lnTo>
                    <a:pt x="71956" y="12540"/>
                  </a:lnTo>
                  <a:lnTo>
                    <a:pt x="47106" y="50233"/>
                  </a:lnTo>
                  <a:lnTo>
                    <a:pt x="38462" y="89352"/>
                  </a:lnTo>
                  <a:lnTo>
                    <a:pt x="38100" y="99674"/>
                  </a:lnTo>
                  <a:lnTo>
                    <a:pt x="38100" y="4328774"/>
                  </a:lnTo>
                  <a:lnTo>
                    <a:pt x="43899" y="4368868"/>
                  </a:lnTo>
                  <a:lnTo>
                    <a:pt x="65981" y="4409806"/>
                  </a:lnTo>
                  <a:lnTo>
                    <a:pt x="80929" y="4422841"/>
                  </a:lnTo>
                  <a:lnTo>
                    <a:pt x="58503" y="4428448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7429500" y="1625600"/>
            <a:ext cx="7391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125" b="1">
                <a:solidFill>
                  <a:srgbClr val="293283"/>
                </a:solidFill>
                <a:latin typeface="Tahoma"/>
                <a:cs typeface="Tahoma"/>
              </a:rPr>
              <a:t>L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293283"/>
                </a:solidFill>
                <a:latin typeface="Tahoma"/>
                <a:cs typeface="Tahoma"/>
              </a:rPr>
              <a:t>I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B</a:t>
            </a:r>
            <a:r>
              <a:rPr dirty="0" sz="800" spc="-13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Y</a:t>
            </a:r>
            <a:r>
              <a:rPr dirty="0" sz="800" spc="1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25" b="1">
                <a:solidFill>
                  <a:srgbClr val="293283"/>
                </a:solidFill>
                <a:latin typeface="Tahoma"/>
                <a:cs typeface="Tahoma"/>
              </a:rPr>
              <a:t>L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293283"/>
                </a:solidFill>
                <a:latin typeface="Tahoma"/>
                <a:cs typeface="Tahoma"/>
              </a:rPr>
              <a:t>I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791822" y="1619250"/>
            <a:ext cx="552450" cy="190500"/>
          </a:xfrm>
          <a:custGeom>
            <a:avLst/>
            <a:gdLst/>
            <a:ahLst/>
            <a:cxnLst/>
            <a:rect l="l" t="t" r="r" b="b"/>
            <a:pathLst>
              <a:path w="552450" h="190500">
                <a:moveTo>
                  <a:pt x="463455" y="190499"/>
                </a:moveTo>
                <a:lnTo>
                  <a:pt x="88995" y="190499"/>
                </a:lnTo>
                <a:lnTo>
                  <a:pt x="82800" y="189889"/>
                </a:lnTo>
                <a:lnTo>
                  <a:pt x="37131" y="170972"/>
                </a:lnTo>
                <a:lnTo>
                  <a:pt x="9643" y="137478"/>
                </a:lnTo>
                <a:lnTo>
                  <a:pt x="0" y="101503"/>
                </a:lnTo>
                <a:lnTo>
                  <a:pt x="1" y="95249"/>
                </a:lnTo>
                <a:lnTo>
                  <a:pt x="0" y="88995"/>
                </a:lnTo>
                <a:lnTo>
                  <a:pt x="12577" y="47531"/>
                </a:lnTo>
                <a:lnTo>
                  <a:pt x="47531" y="12577"/>
                </a:lnTo>
                <a:lnTo>
                  <a:pt x="88995" y="0"/>
                </a:lnTo>
                <a:lnTo>
                  <a:pt x="463455" y="0"/>
                </a:lnTo>
                <a:lnTo>
                  <a:pt x="504917" y="12577"/>
                </a:lnTo>
                <a:lnTo>
                  <a:pt x="539872" y="47531"/>
                </a:lnTo>
                <a:lnTo>
                  <a:pt x="552451" y="88995"/>
                </a:lnTo>
                <a:lnTo>
                  <a:pt x="552451" y="101503"/>
                </a:lnTo>
                <a:lnTo>
                  <a:pt x="539872" y="142967"/>
                </a:lnTo>
                <a:lnTo>
                  <a:pt x="504917" y="177921"/>
                </a:lnTo>
                <a:lnTo>
                  <a:pt x="469649" y="189889"/>
                </a:lnTo>
                <a:lnTo>
                  <a:pt x="463455" y="190499"/>
                </a:lnTo>
                <a:close/>
              </a:path>
            </a:pathLst>
          </a:custGeom>
          <a:solidFill>
            <a:srgbClr val="E7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0881716" y="1639887"/>
            <a:ext cx="37719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b="1">
                <a:solidFill>
                  <a:srgbClr val="293283"/>
                </a:solidFill>
                <a:latin typeface="Tahoma"/>
                <a:cs typeface="Tahoma"/>
              </a:rPr>
              <a:t>6</a:t>
            </a:r>
            <a:r>
              <a:rPr dirty="0" sz="700" spc="8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105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70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8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9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95" b="1">
                <a:solidFill>
                  <a:srgbClr val="293283"/>
                </a:solidFill>
                <a:latin typeface="Tahoma"/>
                <a:cs typeface="Tahoma"/>
              </a:rPr>
              <a:t>P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429499" y="1914524"/>
            <a:ext cx="2352675" cy="2362200"/>
            <a:chOff x="7429499" y="1914524"/>
            <a:chExt cx="2352675" cy="2362200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9499" y="1914524"/>
              <a:ext cx="171450" cy="17144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086724" y="2085974"/>
              <a:ext cx="504825" cy="104775"/>
            </a:xfrm>
            <a:custGeom>
              <a:avLst/>
              <a:gdLst/>
              <a:ahLst/>
              <a:cxnLst/>
              <a:rect l="l" t="t" r="r" b="b"/>
              <a:pathLst>
                <a:path w="504825" h="104775">
                  <a:moveTo>
                    <a:pt x="488300" y="104774"/>
                  </a:moveTo>
                  <a:lnTo>
                    <a:pt x="16523" y="104774"/>
                  </a:lnTo>
                  <a:lnTo>
                    <a:pt x="14093" y="104291"/>
                  </a:lnTo>
                  <a:lnTo>
                    <a:pt x="0" y="88251"/>
                  </a:lnTo>
                  <a:lnTo>
                    <a:pt x="0" y="85724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488300" y="0"/>
                  </a:lnTo>
                  <a:lnTo>
                    <a:pt x="504824" y="16523"/>
                  </a:lnTo>
                  <a:lnTo>
                    <a:pt x="504824" y="88251"/>
                  </a:lnTo>
                  <a:lnTo>
                    <a:pt x="490730" y="104291"/>
                  </a:lnTo>
                  <a:lnTo>
                    <a:pt x="488300" y="104774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29499" y="2295524"/>
              <a:ext cx="171450" cy="17144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686674" y="2466974"/>
              <a:ext cx="676275" cy="104775"/>
            </a:xfrm>
            <a:custGeom>
              <a:avLst/>
              <a:gdLst/>
              <a:ahLst/>
              <a:cxnLst/>
              <a:rect l="l" t="t" r="r" b="b"/>
              <a:pathLst>
                <a:path w="676275" h="104775">
                  <a:moveTo>
                    <a:pt x="659750" y="104774"/>
                  </a:moveTo>
                  <a:lnTo>
                    <a:pt x="16523" y="104774"/>
                  </a:lnTo>
                  <a:lnTo>
                    <a:pt x="14093" y="104291"/>
                  </a:lnTo>
                  <a:lnTo>
                    <a:pt x="0" y="88251"/>
                  </a:lnTo>
                  <a:lnTo>
                    <a:pt x="0" y="85724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659750" y="0"/>
                  </a:lnTo>
                  <a:lnTo>
                    <a:pt x="676274" y="16523"/>
                  </a:lnTo>
                  <a:lnTo>
                    <a:pt x="676274" y="88251"/>
                  </a:lnTo>
                  <a:lnTo>
                    <a:pt x="662180" y="104291"/>
                  </a:lnTo>
                  <a:lnTo>
                    <a:pt x="659750" y="104774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29499" y="2676525"/>
              <a:ext cx="171450" cy="17144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429624" y="2847974"/>
              <a:ext cx="1352550" cy="104775"/>
            </a:xfrm>
            <a:custGeom>
              <a:avLst/>
              <a:gdLst/>
              <a:ahLst/>
              <a:cxnLst/>
              <a:rect l="l" t="t" r="r" b="b"/>
              <a:pathLst>
                <a:path w="1352550" h="104775">
                  <a:moveTo>
                    <a:pt x="1336025" y="104774"/>
                  </a:moveTo>
                  <a:lnTo>
                    <a:pt x="16523" y="104774"/>
                  </a:lnTo>
                  <a:lnTo>
                    <a:pt x="14093" y="104291"/>
                  </a:lnTo>
                  <a:lnTo>
                    <a:pt x="0" y="88251"/>
                  </a:lnTo>
                  <a:lnTo>
                    <a:pt x="0" y="85724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1336025" y="0"/>
                  </a:lnTo>
                  <a:lnTo>
                    <a:pt x="1352550" y="16523"/>
                  </a:lnTo>
                  <a:lnTo>
                    <a:pt x="1352550" y="88251"/>
                  </a:lnTo>
                  <a:lnTo>
                    <a:pt x="1338455" y="104291"/>
                  </a:lnTo>
                  <a:lnTo>
                    <a:pt x="1336025" y="104774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29499" y="3200399"/>
              <a:ext cx="171450" cy="17144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686674" y="3371849"/>
              <a:ext cx="733425" cy="104775"/>
            </a:xfrm>
            <a:custGeom>
              <a:avLst/>
              <a:gdLst/>
              <a:ahLst/>
              <a:cxnLst/>
              <a:rect l="l" t="t" r="r" b="b"/>
              <a:pathLst>
                <a:path w="733425" h="104775">
                  <a:moveTo>
                    <a:pt x="716900" y="104774"/>
                  </a:moveTo>
                  <a:lnTo>
                    <a:pt x="16523" y="104774"/>
                  </a:lnTo>
                  <a:lnTo>
                    <a:pt x="14093" y="104291"/>
                  </a:lnTo>
                  <a:lnTo>
                    <a:pt x="0" y="88251"/>
                  </a:lnTo>
                  <a:lnTo>
                    <a:pt x="0" y="85724"/>
                  </a:lnTo>
                  <a:lnTo>
                    <a:pt x="0" y="16523"/>
                  </a:lnTo>
                  <a:lnTo>
                    <a:pt x="16523" y="0"/>
                  </a:lnTo>
                  <a:lnTo>
                    <a:pt x="716900" y="0"/>
                  </a:lnTo>
                  <a:lnTo>
                    <a:pt x="733424" y="16523"/>
                  </a:lnTo>
                  <a:lnTo>
                    <a:pt x="733424" y="88251"/>
                  </a:lnTo>
                  <a:lnTo>
                    <a:pt x="719330" y="104291"/>
                  </a:lnTo>
                  <a:lnTo>
                    <a:pt x="716900" y="104774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29499" y="3581399"/>
              <a:ext cx="171450" cy="17144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29499" y="4105275"/>
              <a:ext cx="171450" cy="171449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7490221" y="1916112"/>
            <a:ext cx="63500" cy="23361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-50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dirty="0" sz="750" spc="-5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dirty="0" sz="750" spc="-50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dirty="0" sz="750" spc="-50" b="1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dirty="0" sz="750" spc="-50" b="1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750" spc="-50" b="1">
                <a:solidFill>
                  <a:srgbClr val="FFFFFF"/>
                </a:solidFill>
                <a:latin typeface="Tahoma"/>
                <a:cs typeface="Tahoma"/>
              </a:rPr>
              <a:t>6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686673" y="4276724"/>
            <a:ext cx="733425" cy="104775"/>
          </a:xfrm>
          <a:custGeom>
            <a:avLst/>
            <a:gdLst/>
            <a:ahLst/>
            <a:cxnLst/>
            <a:rect l="l" t="t" r="r" b="b"/>
            <a:pathLst>
              <a:path w="733425" h="104775">
                <a:moveTo>
                  <a:pt x="716900" y="104774"/>
                </a:moveTo>
                <a:lnTo>
                  <a:pt x="16523" y="104774"/>
                </a:lnTo>
                <a:lnTo>
                  <a:pt x="14093" y="104291"/>
                </a:lnTo>
                <a:lnTo>
                  <a:pt x="0" y="88251"/>
                </a:lnTo>
                <a:lnTo>
                  <a:pt x="0" y="85724"/>
                </a:lnTo>
                <a:lnTo>
                  <a:pt x="0" y="16523"/>
                </a:lnTo>
                <a:lnTo>
                  <a:pt x="16523" y="0"/>
                </a:lnTo>
                <a:lnTo>
                  <a:pt x="716900" y="0"/>
                </a:lnTo>
                <a:lnTo>
                  <a:pt x="733424" y="16523"/>
                </a:lnTo>
                <a:lnTo>
                  <a:pt x="733424" y="88251"/>
                </a:lnTo>
                <a:lnTo>
                  <a:pt x="719330" y="104291"/>
                </a:lnTo>
                <a:lnTo>
                  <a:pt x="716900" y="104774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7686675" y="1860650"/>
            <a:ext cx="3648710" cy="267843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25"/>
              </a:spcBef>
            </a:pPr>
            <a:r>
              <a:rPr dirty="0" sz="850" spc="-10" b="1">
                <a:solidFill>
                  <a:srgbClr val="293283"/>
                </a:solidFill>
                <a:latin typeface="Tahoma"/>
                <a:cs typeface="Tahoma"/>
              </a:rPr>
              <a:t>Title</a:t>
            </a:r>
            <a:endParaRPr sz="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Standard</a:t>
            </a:r>
            <a:r>
              <a:rPr dirty="0" sz="800" spc="1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st.title</a:t>
            </a:r>
            <a:r>
              <a:rPr dirty="0" sz="750" spc="-23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00" spc="-10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r>
              <a:rPr dirty="0" sz="8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page</a:t>
            </a:r>
            <a:r>
              <a:rPr dirty="0" sz="8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heading.</a:t>
            </a: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r>
              <a:rPr dirty="0" sz="850" spc="-110" b="1">
                <a:solidFill>
                  <a:srgbClr val="293283"/>
                </a:solidFill>
                <a:latin typeface="Tahoma"/>
                <a:cs typeface="Tahoma"/>
              </a:rPr>
              <a:t>Load</a:t>
            </a:r>
            <a:r>
              <a:rPr dirty="0" sz="85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90" b="1">
                <a:solidFill>
                  <a:srgbClr val="293283"/>
                </a:solidFill>
                <a:latin typeface="Tahoma"/>
                <a:cs typeface="Tahoma"/>
              </a:rPr>
              <a:t>the</a:t>
            </a:r>
            <a:r>
              <a:rPr dirty="0" sz="85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20" b="1">
                <a:solidFill>
                  <a:srgbClr val="293283"/>
                </a:solidFill>
                <a:latin typeface="Tahoma"/>
                <a:cs typeface="Tahoma"/>
              </a:rPr>
              <a:t>data</a:t>
            </a:r>
            <a:endParaRPr sz="85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  <a:spcBef>
                <a:spcPts val="229"/>
              </a:spcBef>
            </a:pP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pd.read_csv</a:t>
            </a:r>
            <a:r>
              <a:rPr dirty="0" sz="750" spc="-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loads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CSV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into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DataFrame. 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One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line.</a:t>
            </a: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r>
              <a:rPr dirty="0" sz="850" spc="-100" b="1">
                <a:solidFill>
                  <a:srgbClr val="293283"/>
                </a:solidFill>
                <a:latin typeface="Tahoma"/>
                <a:cs typeface="Tahoma"/>
              </a:rPr>
              <a:t>Sidebar</a:t>
            </a:r>
            <a:r>
              <a:rPr dirty="0" sz="850" spc="-2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10" b="1">
                <a:solidFill>
                  <a:srgbClr val="293283"/>
                </a:solidFill>
                <a:latin typeface="Tahoma"/>
                <a:cs typeface="Tahoma"/>
              </a:rPr>
              <a:t>controls</a:t>
            </a:r>
            <a:endParaRPr sz="850">
              <a:latin typeface="Tahoma"/>
              <a:cs typeface="Tahoma"/>
            </a:endParaRPr>
          </a:p>
          <a:p>
            <a:pPr marR="222885">
              <a:lnSpc>
                <a:spcPts val="1200"/>
              </a:lnSpc>
              <a:spcBef>
                <a:spcPts val="70"/>
              </a:spcBef>
            </a:pP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Build</a:t>
            </a:r>
            <a:r>
              <a:rPr dirty="0" sz="80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option</a:t>
            </a:r>
            <a:r>
              <a:rPr dirty="0" sz="8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lists:</a:t>
            </a:r>
            <a:r>
              <a:rPr dirty="0" sz="800" spc="1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["All"] +</a:t>
            </a:r>
            <a:r>
              <a:rPr dirty="0" sz="750" spc="-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unique</a:t>
            </a:r>
            <a:r>
              <a:rPr dirty="0" sz="750" spc="-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values</a:t>
            </a:r>
            <a:r>
              <a:rPr dirty="0" sz="750" spc="-229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00" spc="-10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r>
              <a:rPr dirty="0" sz="8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"All"</a:t>
            </a:r>
            <a:r>
              <a:rPr dirty="0" sz="8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option</a:t>
            </a:r>
            <a:r>
              <a:rPr dirty="0" sz="8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is</a:t>
            </a:r>
            <a:r>
              <a:rPr dirty="0" sz="8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no-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filter 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default.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Both</a:t>
            </a:r>
            <a:r>
              <a:rPr dirty="0" sz="80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widgets</a:t>
            </a:r>
            <a:r>
              <a:rPr dirty="0" sz="800" spc="-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keyed.</a:t>
            </a: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r>
              <a:rPr dirty="0" sz="850" spc="-120" b="1">
                <a:solidFill>
                  <a:srgbClr val="293283"/>
                </a:solidFill>
                <a:latin typeface="Tahoma"/>
                <a:cs typeface="Tahoma"/>
              </a:rPr>
              <a:t>Show</a:t>
            </a:r>
            <a:r>
              <a:rPr dirty="0" sz="85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80" b="1">
                <a:solidFill>
                  <a:srgbClr val="293283"/>
                </a:solidFill>
                <a:latin typeface="Tahoma"/>
                <a:cs typeface="Tahoma"/>
              </a:rPr>
              <a:t>full</a:t>
            </a:r>
            <a:r>
              <a:rPr dirty="0" sz="85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20" b="1">
                <a:solidFill>
                  <a:srgbClr val="293283"/>
                </a:solidFill>
                <a:latin typeface="Tahoma"/>
                <a:cs typeface="Tahoma"/>
              </a:rPr>
              <a:t>data</a:t>
            </a:r>
            <a:endParaRPr sz="85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  <a:spcBef>
                <a:spcPts val="229"/>
              </a:spcBef>
            </a:pP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st.dataframe</a:t>
            </a:r>
            <a:r>
              <a:rPr dirty="0" sz="750" spc="1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renders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an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interactive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4A4E6A"/>
                </a:solidFill>
                <a:latin typeface="Trebuchet MS"/>
                <a:cs typeface="Trebuchet MS"/>
              </a:rPr>
              <a:t>table.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Below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4A4E6A"/>
                </a:solidFill>
                <a:latin typeface="Trebuchet MS"/>
                <a:cs typeface="Trebuchet MS"/>
              </a:rPr>
              <a:t>it,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a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count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of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total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rows.</a:t>
            </a: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r>
              <a:rPr dirty="0" sz="850" spc="-10" b="1">
                <a:solidFill>
                  <a:srgbClr val="293283"/>
                </a:solidFill>
                <a:latin typeface="Tahoma"/>
                <a:cs typeface="Tahoma"/>
              </a:rPr>
              <a:t>Filter</a:t>
            </a:r>
            <a:endParaRPr sz="850">
              <a:latin typeface="Tahoma"/>
              <a:cs typeface="Tahoma"/>
            </a:endParaRPr>
          </a:p>
          <a:p>
            <a:pPr marR="5080">
              <a:lnSpc>
                <a:spcPts val="1200"/>
              </a:lnSpc>
              <a:spcBef>
                <a:spcPts val="70"/>
              </a:spcBef>
            </a:pP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Start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with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the 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full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85">
                <a:solidFill>
                  <a:srgbClr val="4A4E6A"/>
                </a:solidFill>
                <a:latin typeface="Trebuchet MS"/>
                <a:cs typeface="Trebuchet MS"/>
              </a:rPr>
              <a:t>df,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then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apply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each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filter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only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if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the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user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picked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something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other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than 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"All".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universal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dashboard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pattern.</a:t>
            </a: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r>
              <a:rPr dirty="0" sz="850" spc="-120" b="1">
                <a:solidFill>
                  <a:srgbClr val="293283"/>
                </a:solidFill>
                <a:latin typeface="Tahoma"/>
                <a:cs typeface="Tahoma"/>
              </a:rPr>
              <a:t>Show</a:t>
            </a:r>
            <a:r>
              <a:rPr dirty="0" sz="85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85" b="1">
                <a:solidFill>
                  <a:srgbClr val="293283"/>
                </a:solidFill>
                <a:latin typeface="Tahoma"/>
                <a:cs typeface="Tahoma"/>
              </a:rPr>
              <a:t>filtered</a:t>
            </a:r>
            <a:r>
              <a:rPr dirty="0" sz="85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275" b="1">
                <a:solidFill>
                  <a:srgbClr val="293283"/>
                </a:solidFill>
                <a:latin typeface="Tahoma"/>
                <a:cs typeface="Tahoma"/>
              </a:rPr>
              <a:t>+</a:t>
            </a:r>
            <a:r>
              <a:rPr dirty="0" sz="85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50" spc="-10" b="1">
                <a:solidFill>
                  <a:srgbClr val="293283"/>
                </a:solidFill>
                <a:latin typeface="Tahoma"/>
                <a:cs typeface="Tahoma"/>
              </a:rPr>
              <a:t>stats</a:t>
            </a:r>
            <a:endParaRPr sz="850">
              <a:latin typeface="Tahoma"/>
              <a:cs typeface="Tahoma"/>
            </a:endParaRPr>
          </a:p>
          <a:p>
            <a:pPr marR="40005" indent="28575">
              <a:lnSpc>
                <a:spcPts val="1200"/>
              </a:lnSpc>
              <a:spcBef>
                <a:spcPts val="70"/>
              </a:spcBef>
            </a:pP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st.dataframe</a:t>
            </a:r>
            <a:r>
              <a:rPr dirty="0" sz="750" spc="2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again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for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filtered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result.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Bonus: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average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marks of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filtered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set,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formatted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to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1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decimal.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895349" y="6029324"/>
            <a:ext cx="10401300" cy="295275"/>
            <a:chOff x="895349" y="6029324"/>
            <a:chExt cx="10401300" cy="295275"/>
          </a:xfrm>
        </p:grpSpPr>
        <p:sp>
          <p:nvSpPr>
            <p:cNvPr id="50" name="object 50"/>
            <p:cNvSpPr/>
            <p:nvPr/>
          </p:nvSpPr>
          <p:spPr>
            <a:xfrm>
              <a:off x="895349" y="6029324"/>
              <a:ext cx="10401300" cy="295275"/>
            </a:xfrm>
            <a:custGeom>
              <a:avLst/>
              <a:gdLst/>
              <a:ahLst/>
              <a:cxnLst/>
              <a:rect l="l" t="t" r="r" b="b"/>
              <a:pathLst>
                <a:path w="10401300" h="295275">
                  <a:moveTo>
                    <a:pt x="10253661" y="295274"/>
                  </a:moveTo>
                  <a:lnTo>
                    <a:pt x="147637" y="295274"/>
                  </a:lnTo>
                  <a:lnTo>
                    <a:pt x="140384" y="295097"/>
                  </a:lnTo>
                  <a:lnTo>
                    <a:pt x="97907" y="286648"/>
                  </a:lnTo>
                  <a:lnTo>
                    <a:pt x="59682" y="266216"/>
                  </a:lnTo>
                  <a:lnTo>
                    <a:pt x="29058" y="235592"/>
                  </a:lnTo>
                  <a:lnTo>
                    <a:pt x="8626" y="197366"/>
                  </a:lnTo>
                  <a:lnTo>
                    <a:pt x="177" y="154890"/>
                  </a:lnTo>
                  <a:lnTo>
                    <a:pt x="0" y="147637"/>
                  </a:lnTo>
                  <a:lnTo>
                    <a:pt x="177" y="140384"/>
                  </a:lnTo>
                  <a:lnTo>
                    <a:pt x="8626" y="97907"/>
                  </a:lnTo>
                  <a:lnTo>
                    <a:pt x="29058" y="59682"/>
                  </a:lnTo>
                  <a:lnTo>
                    <a:pt x="59682" y="29058"/>
                  </a:lnTo>
                  <a:lnTo>
                    <a:pt x="97907" y="8625"/>
                  </a:lnTo>
                  <a:lnTo>
                    <a:pt x="140384" y="177"/>
                  </a:lnTo>
                  <a:lnTo>
                    <a:pt x="147637" y="0"/>
                  </a:lnTo>
                  <a:lnTo>
                    <a:pt x="10253661" y="0"/>
                  </a:lnTo>
                  <a:lnTo>
                    <a:pt x="10296518" y="6355"/>
                  </a:lnTo>
                  <a:lnTo>
                    <a:pt x="10335683" y="24881"/>
                  </a:lnTo>
                  <a:lnTo>
                    <a:pt x="10367787" y="53976"/>
                  </a:lnTo>
                  <a:lnTo>
                    <a:pt x="10390060" y="91138"/>
                  </a:lnTo>
                  <a:lnTo>
                    <a:pt x="10400590" y="133166"/>
                  </a:lnTo>
                  <a:lnTo>
                    <a:pt x="10401299" y="147637"/>
                  </a:lnTo>
                  <a:lnTo>
                    <a:pt x="10401121" y="154890"/>
                  </a:lnTo>
                  <a:lnTo>
                    <a:pt x="10392671" y="197366"/>
                  </a:lnTo>
                  <a:lnTo>
                    <a:pt x="10372239" y="235591"/>
                  </a:lnTo>
                  <a:lnTo>
                    <a:pt x="10341616" y="266216"/>
                  </a:lnTo>
                  <a:lnTo>
                    <a:pt x="10303390" y="286648"/>
                  </a:lnTo>
                  <a:lnTo>
                    <a:pt x="10260914" y="295097"/>
                  </a:lnTo>
                  <a:lnTo>
                    <a:pt x="10253661" y="295274"/>
                  </a:lnTo>
                  <a:close/>
                </a:path>
              </a:pathLst>
            </a:custGeom>
            <a:solidFill>
              <a:srgbClr val="FFE7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324212" y="6105525"/>
              <a:ext cx="3971925" cy="133350"/>
            </a:xfrm>
            <a:custGeom>
              <a:avLst/>
              <a:gdLst/>
              <a:ahLst/>
              <a:cxnLst/>
              <a:rect l="l" t="t" r="r" b="b"/>
              <a:pathLst>
                <a:path w="3971925" h="133350">
                  <a:moveTo>
                    <a:pt x="990600" y="24790"/>
                  </a:moveTo>
                  <a:lnTo>
                    <a:pt x="96582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104775"/>
                  </a:lnTo>
                  <a:lnTo>
                    <a:pt x="0" y="108572"/>
                  </a:lnTo>
                  <a:lnTo>
                    <a:pt x="24790" y="133350"/>
                  </a:lnTo>
                  <a:lnTo>
                    <a:pt x="965822" y="133350"/>
                  </a:lnTo>
                  <a:lnTo>
                    <a:pt x="990600" y="108572"/>
                  </a:lnTo>
                  <a:lnTo>
                    <a:pt x="990600" y="24790"/>
                  </a:lnTo>
                  <a:close/>
                </a:path>
                <a:path w="3971925" h="133350">
                  <a:moveTo>
                    <a:pt x="2600325" y="24790"/>
                  </a:moveTo>
                  <a:lnTo>
                    <a:pt x="2575547" y="0"/>
                  </a:lnTo>
                  <a:lnTo>
                    <a:pt x="1948840" y="0"/>
                  </a:lnTo>
                  <a:lnTo>
                    <a:pt x="1924050" y="24790"/>
                  </a:lnTo>
                  <a:lnTo>
                    <a:pt x="1924050" y="104775"/>
                  </a:lnTo>
                  <a:lnTo>
                    <a:pt x="1924050" y="108572"/>
                  </a:lnTo>
                  <a:lnTo>
                    <a:pt x="1948840" y="133350"/>
                  </a:lnTo>
                  <a:lnTo>
                    <a:pt x="2575547" y="133350"/>
                  </a:lnTo>
                  <a:lnTo>
                    <a:pt x="2600325" y="108572"/>
                  </a:lnTo>
                  <a:lnTo>
                    <a:pt x="2600325" y="24790"/>
                  </a:lnTo>
                  <a:close/>
                </a:path>
                <a:path w="3971925" h="133350">
                  <a:moveTo>
                    <a:pt x="3971925" y="24790"/>
                  </a:moveTo>
                  <a:lnTo>
                    <a:pt x="3947147" y="0"/>
                  </a:lnTo>
                  <a:lnTo>
                    <a:pt x="3444265" y="0"/>
                  </a:lnTo>
                  <a:lnTo>
                    <a:pt x="3419475" y="24790"/>
                  </a:lnTo>
                  <a:lnTo>
                    <a:pt x="3419475" y="104775"/>
                  </a:lnTo>
                  <a:lnTo>
                    <a:pt x="3419475" y="108572"/>
                  </a:lnTo>
                  <a:lnTo>
                    <a:pt x="3444265" y="133350"/>
                  </a:lnTo>
                  <a:lnTo>
                    <a:pt x="3947147" y="133350"/>
                  </a:lnTo>
                  <a:lnTo>
                    <a:pt x="3971925" y="108572"/>
                  </a:lnTo>
                  <a:lnTo>
                    <a:pt x="3971925" y="24790"/>
                  </a:lnTo>
                  <a:close/>
                </a:path>
              </a:pathLst>
            </a:custGeom>
            <a:solidFill>
              <a:srgbClr val="FF6A5B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1031626" y="6083299"/>
            <a:ext cx="101244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30" b="1">
                <a:solidFill>
                  <a:srgbClr val="FF6A5B"/>
                </a:solidFill>
                <a:latin typeface="Tahoma"/>
                <a:cs typeface="Tahoma"/>
              </a:rPr>
              <a:t>OT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800" spc="15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45" b="1">
                <a:solidFill>
                  <a:srgbClr val="FF6A5B"/>
                </a:solidFill>
                <a:latin typeface="Tahoma"/>
                <a:cs typeface="Tahoma"/>
              </a:rPr>
              <a:t>LU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800" spc="1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X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FF6A5B"/>
                </a:solidFill>
                <a:latin typeface="Tahoma"/>
                <a:cs typeface="Tahoma"/>
              </a:rPr>
              <a:t>S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800" spc="190" b="1">
                <a:solidFill>
                  <a:srgbClr val="FF6A5B"/>
                </a:solidFill>
                <a:latin typeface="Tahoma"/>
                <a:cs typeface="Tahoma"/>
              </a:rPr>
              <a:t>  </a:t>
            </a:r>
            <a:r>
              <a:rPr dirty="0" sz="800" spc="15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800" spc="1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You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could</a:t>
            </a:r>
            <a:r>
              <a:rPr dirty="0" sz="800" spc="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use</a:t>
            </a:r>
            <a:r>
              <a:rPr dirty="0" sz="800" spc="3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50">
                <a:solidFill>
                  <a:srgbClr val="FF6A5B"/>
                </a:solidFill>
                <a:latin typeface="Courier New"/>
                <a:cs typeface="Courier New"/>
              </a:rPr>
              <a:t>st.data_editor</a:t>
            </a:r>
            <a:r>
              <a:rPr dirty="0" sz="750" spc="170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for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editable</a:t>
            </a:r>
            <a:r>
              <a:rPr dirty="0" sz="800" spc="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tables,</a:t>
            </a:r>
            <a:r>
              <a:rPr dirty="0" sz="800" spc="3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F6A5B"/>
                </a:solidFill>
                <a:latin typeface="Courier New"/>
                <a:cs typeface="Courier New"/>
              </a:rPr>
              <a:t>st.metric</a:t>
            </a:r>
            <a:r>
              <a:rPr dirty="0" sz="750" spc="170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for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count,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or</a:t>
            </a:r>
            <a:r>
              <a:rPr dirty="0" sz="800" spc="3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45">
                <a:solidFill>
                  <a:srgbClr val="FF6A5B"/>
                </a:solidFill>
                <a:latin typeface="Courier New"/>
                <a:cs typeface="Courier New"/>
              </a:rPr>
              <a:t>groupby</a:t>
            </a:r>
            <a:r>
              <a:rPr dirty="0" sz="750" spc="165">
                <a:solidFill>
                  <a:srgbClr val="FF6A5B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for</a:t>
            </a:r>
            <a:r>
              <a:rPr dirty="0" sz="800" spc="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per-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branch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averages.</a:t>
            </a:r>
            <a:r>
              <a:rPr dirty="0" sz="800" spc="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All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valid.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This</a:t>
            </a:r>
            <a:r>
              <a:rPr dirty="0" sz="800" spc="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version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is</a:t>
            </a:r>
            <a:r>
              <a:rPr dirty="0" sz="800" spc="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most</a:t>
            </a:r>
            <a:r>
              <a:rPr dirty="0" sz="800" spc="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readable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for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800" spc="1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beginner.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1</a:t>
            </a:r>
            <a:r>
              <a:rPr dirty="0" spc="-110"/>
              <a:t> </a:t>
            </a:r>
            <a:r>
              <a:rPr dirty="0"/>
              <a:t>6</a:t>
            </a:r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2300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X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55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X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1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900" spc="22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95" b="1">
                <a:solidFill>
                  <a:srgbClr val="FF6A5B"/>
                </a:solidFill>
                <a:latin typeface="Tahoma"/>
                <a:cs typeface="Tahoma"/>
              </a:rPr>
              <a:t>+</a:t>
            </a:r>
            <a:r>
              <a:rPr dirty="0" sz="900" spc="23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W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AT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40" b="1">
                <a:solidFill>
                  <a:srgbClr val="FF6A5B"/>
                </a:solidFill>
                <a:latin typeface="Tahoma"/>
                <a:cs typeface="Tahoma"/>
              </a:rPr>
              <a:t>'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229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N </a:t>
            </a:r>
            <a:r>
              <a:rPr dirty="0" sz="900" spc="-12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FF6A5B"/>
                </a:solidFill>
                <a:latin typeface="Tahoma"/>
                <a:cs typeface="Tahoma"/>
              </a:rPr>
              <a:t>X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0">
                <a:solidFill>
                  <a:srgbClr val="293283"/>
                </a:solidFill>
              </a:rPr>
              <a:t>Finished</a:t>
            </a:r>
            <a:r>
              <a:rPr dirty="0" spc="-195">
                <a:solidFill>
                  <a:srgbClr val="293283"/>
                </a:solidFill>
              </a:rPr>
              <a:t> </a:t>
            </a:r>
            <a:r>
              <a:rPr dirty="0" spc="-240">
                <a:solidFill>
                  <a:srgbClr val="293283"/>
                </a:solidFill>
              </a:rPr>
              <a:t>early?</a:t>
            </a:r>
            <a:r>
              <a:rPr dirty="0" spc="-195">
                <a:solidFill>
                  <a:srgbClr val="293283"/>
                </a:solidFill>
              </a:rPr>
              <a:t> </a:t>
            </a:r>
            <a:r>
              <a:rPr dirty="0" spc="-220"/>
              <a:t>Add</a:t>
            </a:r>
            <a:r>
              <a:rPr dirty="0" spc="-195"/>
              <a:t> </a:t>
            </a:r>
            <a:r>
              <a:rPr dirty="0" spc="-245"/>
              <a:t>stats.</a:t>
            </a:r>
            <a:r>
              <a:rPr dirty="0" spc="-195"/>
              <a:t> </a:t>
            </a:r>
            <a:r>
              <a:rPr dirty="0" spc="-215"/>
              <a:t>Or</a:t>
            </a:r>
            <a:r>
              <a:rPr dirty="0" spc="-195"/>
              <a:t> </a:t>
            </a:r>
            <a:r>
              <a:rPr dirty="0" spc="-254"/>
              <a:t>peek</a:t>
            </a:r>
            <a:r>
              <a:rPr dirty="0" spc="-195"/>
              <a:t> </a:t>
            </a:r>
            <a:r>
              <a:rPr dirty="0" spc="-229"/>
              <a:t>at</a:t>
            </a:r>
            <a:r>
              <a:rPr dirty="0" spc="-195"/>
              <a:t> </a:t>
            </a:r>
            <a:r>
              <a:rPr dirty="0" spc="-265"/>
              <a:t>tomorrow.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3099" y="1149350"/>
            <a:ext cx="464883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5">
                <a:solidFill>
                  <a:srgbClr val="4A4E6A"/>
                </a:solidFill>
                <a:latin typeface="Trebuchet MS"/>
                <a:cs typeface="Trebuchet MS"/>
              </a:rPr>
              <a:t>Three 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extension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ideas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for</a:t>
            </a:r>
            <a:r>
              <a:rPr dirty="0" sz="9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60">
                <a:solidFill>
                  <a:srgbClr val="4A4E6A"/>
                </a:solidFill>
                <a:latin typeface="Trebuchet MS"/>
                <a:cs typeface="Trebuchet MS"/>
              </a:rPr>
              <a:t>fast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students.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Plus</a:t>
            </a:r>
            <a:r>
              <a:rPr dirty="0" sz="9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preview </a:t>
            </a:r>
            <a:r>
              <a:rPr dirty="0" sz="950" spc="-40">
                <a:solidFill>
                  <a:srgbClr val="4A4E6A"/>
                </a:solidFill>
                <a:latin typeface="Trebuchet MS"/>
                <a:cs typeface="Trebuchet MS"/>
              </a:rPr>
              <a:t>of</a:t>
            </a:r>
            <a:r>
              <a:rPr dirty="0" sz="9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Day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rebuchet MS"/>
                <a:cs typeface="Trebuchet MS"/>
              </a:rPr>
              <a:t>7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180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9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when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4A4E6A"/>
                </a:solidFill>
                <a:latin typeface="Trebuchet MS"/>
                <a:cs typeface="Trebuchet MS"/>
              </a:rPr>
              <a:t>your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55">
                <a:solidFill>
                  <a:srgbClr val="4A4E6A"/>
                </a:solidFill>
                <a:latin typeface="Trebuchet MS"/>
                <a:cs typeface="Trebuchet MS"/>
              </a:rPr>
              <a:t>data </a:t>
            </a:r>
            <a:r>
              <a:rPr dirty="0" sz="950" spc="-45">
                <a:solidFill>
                  <a:srgbClr val="4A4E6A"/>
                </a:solidFill>
                <a:latin typeface="Trebuchet MS"/>
                <a:cs typeface="Trebuchet MS"/>
              </a:rPr>
              <a:t>gets</a:t>
            </a:r>
            <a:r>
              <a:rPr dirty="0" sz="9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950" spc="-10">
                <a:solidFill>
                  <a:srgbClr val="4A4E6A"/>
                </a:solidFill>
                <a:latin typeface="Trebuchet MS"/>
                <a:cs typeface="Trebuchet MS"/>
              </a:rPr>
              <a:t>visual.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799" y="1476375"/>
            <a:ext cx="5334000" cy="4467225"/>
            <a:chOff x="685799" y="1476375"/>
            <a:chExt cx="5334000" cy="4467225"/>
          </a:xfrm>
        </p:grpSpPr>
        <p:sp>
          <p:nvSpPr>
            <p:cNvPr id="6" name="object 6"/>
            <p:cNvSpPr/>
            <p:nvPr/>
          </p:nvSpPr>
          <p:spPr>
            <a:xfrm>
              <a:off x="704849" y="1481137"/>
              <a:ext cx="5310505" cy="4457700"/>
            </a:xfrm>
            <a:custGeom>
              <a:avLst/>
              <a:gdLst/>
              <a:ahLst/>
              <a:cxnLst/>
              <a:rect l="l" t="t" r="r" b="b"/>
              <a:pathLst>
                <a:path w="5310505" h="4457700">
                  <a:moveTo>
                    <a:pt x="5207841" y="4457699"/>
                  </a:moveTo>
                  <a:lnTo>
                    <a:pt x="88995" y="4457699"/>
                  </a:lnTo>
                  <a:lnTo>
                    <a:pt x="82801" y="4456997"/>
                  </a:lnTo>
                  <a:lnTo>
                    <a:pt x="37131" y="4435243"/>
                  </a:lnTo>
                  <a:lnTo>
                    <a:pt x="12577" y="4403036"/>
                  </a:lnTo>
                  <a:lnTo>
                    <a:pt x="610" y="4362477"/>
                  </a:lnTo>
                  <a:lnTo>
                    <a:pt x="0" y="4355354"/>
                  </a:lnTo>
                  <a:lnTo>
                    <a:pt x="0" y="4348162"/>
                  </a:lnTo>
                  <a:lnTo>
                    <a:pt x="0" y="102345"/>
                  </a:lnTo>
                  <a:lnTo>
                    <a:pt x="9643" y="60974"/>
                  </a:lnTo>
                  <a:lnTo>
                    <a:pt x="32320" y="26996"/>
                  </a:lnTo>
                  <a:lnTo>
                    <a:pt x="64577" y="5585"/>
                  </a:lnTo>
                  <a:lnTo>
                    <a:pt x="88995" y="0"/>
                  </a:lnTo>
                  <a:lnTo>
                    <a:pt x="5207841" y="0"/>
                  </a:lnTo>
                  <a:lnTo>
                    <a:pt x="5249212" y="11090"/>
                  </a:lnTo>
                  <a:lnTo>
                    <a:pt x="5283189" y="37168"/>
                  </a:lnTo>
                  <a:lnTo>
                    <a:pt x="5304601" y="74264"/>
                  </a:lnTo>
                  <a:lnTo>
                    <a:pt x="5310186" y="102345"/>
                  </a:lnTo>
                  <a:lnTo>
                    <a:pt x="5310186" y="4355354"/>
                  </a:lnTo>
                  <a:lnTo>
                    <a:pt x="5299095" y="4396724"/>
                  </a:lnTo>
                  <a:lnTo>
                    <a:pt x="5273018" y="4430702"/>
                  </a:lnTo>
                  <a:lnTo>
                    <a:pt x="5235922" y="4452113"/>
                  </a:lnTo>
                  <a:lnTo>
                    <a:pt x="5214964" y="4456997"/>
                  </a:lnTo>
                  <a:lnTo>
                    <a:pt x="5207841" y="4457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44016" y="1476374"/>
              <a:ext cx="5276215" cy="4467225"/>
            </a:xfrm>
            <a:custGeom>
              <a:avLst/>
              <a:gdLst/>
              <a:ahLst/>
              <a:cxnLst/>
              <a:rect l="l" t="t" r="r" b="b"/>
              <a:pathLst>
                <a:path w="5276215" h="4467225">
                  <a:moveTo>
                    <a:pt x="5275770" y="114300"/>
                  </a:moveTo>
                  <a:lnTo>
                    <a:pt x="5267071" y="70561"/>
                  </a:lnTo>
                  <a:lnTo>
                    <a:pt x="5242738" y="33997"/>
                  </a:lnTo>
                  <a:lnTo>
                    <a:pt x="5206962" y="9525"/>
                  </a:lnTo>
                  <a:lnTo>
                    <a:pt x="5161470" y="0"/>
                  </a:lnTo>
                  <a:lnTo>
                    <a:pt x="56070" y="0"/>
                  </a:lnTo>
                  <a:lnTo>
                    <a:pt x="12331" y="8712"/>
                  </a:lnTo>
                  <a:lnTo>
                    <a:pt x="0" y="14795"/>
                  </a:lnTo>
                  <a:lnTo>
                    <a:pt x="22440" y="20408"/>
                  </a:lnTo>
                  <a:lnTo>
                    <a:pt x="26911" y="17500"/>
                  </a:lnTo>
                  <a:lnTo>
                    <a:pt x="33985" y="14020"/>
                  </a:lnTo>
                  <a:lnTo>
                    <a:pt x="41211" y="11518"/>
                  </a:lnTo>
                  <a:lnTo>
                    <a:pt x="48564" y="10033"/>
                  </a:lnTo>
                  <a:lnTo>
                    <a:pt x="56070" y="9525"/>
                  </a:lnTo>
                  <a:lnTo>
                    <a:pt x="5161470" y="9525"/>
                  </a:lnTo>
                  <a:lnTo>
                    <a:pt x="5201577" y="17500"/>
                  </a:lnTo>
                  <a:lnTo>
                    <a:pt x="5235562" y="40220"/>
                  </a:lnTo>
                  <a:lnTo>
                    <a:pt x="5258270" y="74206"/>
                  </a:lnTo>
                  <a:lnTo>
                    <a:pt x="5266245" y="114300"/>
                  </a:lnTo>
                  <a:lnTo>
                    <a:pt x="5266245" y="4352925"/>
                  </a:lnTo>
                  <a:lnTo>
                    <a:pt x="5258270" y="4393031"/>
                  </a:lnTo>
                  <a:lnTo>
                    <a:pt x="5236019" y="4426521"/>
                  </a:lnTo>
                  <a:lnTo>
                    <a:pt x="5201577" y="4449724"/>
                  </a:lnTo>
                  <a:lnTo>
                    <a:pt x="5161470" y="4457700"/>
                  </a:lnTo>
                  <a:lnTo>
                    <a:pt x="56070" y="4457700"/>
                  </a:lnTo>
                  <a:lnTo>
                    <a:pt x="22440" y="4446829"/>
                  </a:lnTo>
                  <a:lnTo>
                    <a:pt x="0" y="4452442"/>
                  </a:lnTo>
                  <a:lnTo>
                    <a:pt x="44818" y="4466691"/>
                  </a:lnTo>
                  <a:lnTo>
                    <a:pt x="56070" y="4467225"/>
                  </a:lnTo>
                  <a:lnTo>
                    <a:pt x="5161470" y="4467225"/>
                  </a:lnTo>
                  <a:lnTo>
                    <a:pt x="5205222" y="4458525"/>
                  </a:lnTo>
                  <a:lnTo>
                    <a:pt x="5206962" y="4457700"/>
                  </a:lnTo>
                  <a:lnTo>
                    <a:pt x="5215407" y="4453725"/>
                  </a:lnTo>
                  <a:lnTo>
                    <a:pt x="5249875" y="4425404"/>
                  </a:lnTo>
                  <a:lnTo>
                    <a:pt x="5270881" y="4386059"/>
                  </a:lnTo>
                  <a:lnTo>
                    <a:pt x="5275770" y="4352925"/>
                  </a:lnTo>
                  <a:lnTo>
                    <a:pt x="5275770" y="11430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799" y="1491000"/>
              <a:ext cx="81280" cy="4438015"/>
            </a:xfrm>
            <a:custGeom>
              <a:avLst/>
              <a:gdLst/>
              <a:ahLst/>
              <a:cxnLst/>
              <a:rect l="l" t="t" r="r" b="b"/>
              <a:pathLst>
                <a:path w="81279" h="4438015">
                  <a:moveTo>
                    <a:pt x="58504" y="4437972"/>
                  </a:moveTo>
                  <a:lnTo>
                    <a:pt x="25900" y="4410774"/>
                  </a:lnTo>
                  <a:lnTo>
                    <a:pt x="4894" y="4371428"/>
                  </a:lnTo>
                  <a:lnTo>
                    <a:pt x="0" y="4338298"/>
                  </a:lnTo>
                  <a:lnTo>
                    <a:pt x="0" y="99674"/>
                  </a:lnTo>
                  <a:lnTo>
                    <a:pt x="8700" y="55933"/>
                  </a:lnTo>
                  <a:lnTo>
                    <a:pt x="33477" y="18851"/>
                  </a:lnTo>
                  <a:lnTo>
                    <a:pt x="58503" y="0"/>
                  </a:lnTo>
                  <a:lnTo>
                    <a:pt x="80929" y="5606"/>
                  </a:lnTo>
                  <a:lnTo>
                    <a:pt x="78343" y="7284"/>
                  </a:lnTo>
                  <a:lnTo>
                    <a:pt x="71957" y="12540"/>
                  </a:lnTo>
                  <a:lnTo>
                    <a:pt x="47107" y="50233"/>
                  </a:lnTo>
                  <a:lnTo>
                    <a:pt x="38462" y="89352"/>
                  </a:lnTo>
                  <a:lnTo>
                    <a:pt x="38100" y="99674"/>
                  </a:lnTo>
                  <a:lnTo>
                    <a:pt x="38100" y="4338298"/>
                  </a:lnTo>
                  <a:lnTo>
                    <a:pt x="43900" y="4378393"/>
                  </a:lnTo>
                  <a:lnTo>
                    <a:pt x="65982" y="4419330"/>
                  </a:lnTo>
                  <a:lnTo>
                    <a:pt x="80930" y="4432366"/>
                  </a:lnTo>
                  <a:lnTo>
                    <a:pt x="58504" y="4437972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76300" y="1625600"/>
            <a:ext cx="102616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X 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293283"/>
                </a:solidFill>
                <a:latin typeface="Tahoma"/>
                <a:cs typeface="Tahoma"/>
              </a:rPr>
              <a:t>I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800" spc="-10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800" spc="21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293283"/>
                </a:solidFill>
                <a:latin typeface="Tahoma"/>
                <a:cs typeface="Tahoma"/>
              </a:rPr>
              <a:t>I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D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05349" y="1619250"/>
            <a:ext cx="1152525" cy="190500"/>
          </a:xfrm>
          <a:custGeom>
            <a:avLst/>
            <a:gdLst/>
            <a:ahLst/>
            <a:cxnLst/>
            <a:rect l="l" t="t" r="r" b="b"/>
            <a:pathLst>
              <a:path w="1152525" h="190500">
                <a:moveTo>
                  <a:pt x="1063528" y="190499"/>
                </a:moveTo>
                <a:lnTo>
                  <a:pt x="88995" y="190499"/>
                </a:lnTo>
                <a:lnTo>
                  <a:pt x="82801" y="189889"/>
                </a:lnTo>
                <a:lnTo>
                  <a:pt x="37131" y="170972"/>
                </a:lnTo>
                <a:lnTo>
                  <a:pt x="9643" y="137478"/>
                </a:lnTo>
                <a:lnTo>
                  <a:pt x="0" y="101503"/>
                </a:lnTo>
                <a:lnTo>
                  <a:pt x="0" y="95249"/>
                </a:lnTo>
                <a:lnTo>
                  <a:pt x="0" y="88995"/>
                </a:lnTo>
                <a:lnTo>
                  <a:pt x="12577" y="47531"/>
                </a:lnTo>
                <a:lnTo>
                  <a:pt x="47531" y="12577"/>
                </a:lnTo>
                <a:lnTo>
                  <a:pt x="88995" y="0"/>
                </a:lnTo>
                <a:lnTo>
                  <a:pt x="1063528" y="0"/>
                </a:lnTo>
                <a:lnTo>
                  <a:pt x="1104992" y="12577"/>
                </a:lnTo>
                <a:lnTo>
                  <a:pt x="1139946" y="47531"/>
                </a:lnTo>
                <a:lnTo>
                  <a:pt x="1152524" y="88995"/>
                </a:lnTo>
                <a:lnTo>
                  <a:pt x="1152524" y="101503"/>
                </a:lnTo>
                <a:lnTo>
                  <a:pt x="1139946" y="142967"/>
                </a:lnTo>
                <a:lnTo>
                  <a:pt x="1104992" y="177921"/>
                </a:lnTo>
                <a:lnTo>
                  <a:pt x="1069722" y="189889"/>
                </a:lnTo>
                <a:lnTo>
                  <a:pt x="1063528" y="190499"/>
                </a:lnTo>
                <a:close/>
              </a:path>
            </a:pathLst>
          </a:custGeom>
          <a:solidFill>
            <a:srgbClr val="E7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791223" y="1639887"/>
            <a:ext cx="98107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spc="-95" b="1">
                <a:solidFill>
                  <a:srgbClr val="293283"/>
                </a:solidFill>
                <a:latin typeface="Tahoma"/>
                <a:cs typeface="Tahoma"/>
              </a:rPr>
              <a:t>F</a:t>
            </a:r>
            <a:r>
              <a:rPr dirty="0" sz="70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65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r>
              <a:rPr dirty="0" sz="700" spc="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45" b="1">
                <a:solidFill>
                  <a:srgbClr val="293283"/>
                </a:solidFill>
                <a:latin typeface="Tahoma"/>
                <a:cs typeface="Tahoma"/>
              </a:rPr>
              <a:t>FA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105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70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700" spc="1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105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70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8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60" b="1">
                <a:solidFill>
                  <a:srgbClr val="293283"/>
                </a:solidFill>
                <a:latin typeface="Tahoma"/>
                <a:cs typeface="Tahoma"/>
              </a:rPr>
              <a:t>U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85" b="1">
                <a:solidFill>
                  <a:srgbClr val="293283"/>
                </a:solidFill>
                <a:latin typeface="Tahoma"/>
                <a:cs typeface="Tahoma"/>
              </a:rPr>
              <a:t>D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9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7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8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endParaRPr sz="7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299" y="1933574"/>
            <a:ext cx="209550" cy="2095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52500" y="1949450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65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90612" y="2143124"/>
            <a:ext cx="4343400" cy="295275"/>
          </a:xfrm>
          <a:custGeom>
            <a:avLst/>
            <a:gdLst/>
            <a:ahLst/>
            <a:cxnLst/>
            <a:rect l="l" t="t" r="r" b="b"/>
            <a:pathLst>
              <a:path w="4343400" h="295275">
                <a:moveTo>
                  <a:pt x="3276600" y="24790"/>
                </a:moveTo>
                <a:lnTo>
                  <a:pt x="3251822" y="0"/>
                </a:lnTo>
                <a:lnTo>
                  <a:pt x="853465" y="0"/>
                </a:lnTo>
                <a:lnTo>
                  <a:pt x="828675" y="24790"/>
                </a:lnTo>
                <a:lnTo>
                  <a:pt x="828675" y="95250"/>
                </a:lnTo>
                <a:lnTo>
                  <a:pt x="828675" y="99047"/>
                </a:lnTo>
                <a:lnTo>
                  <a:pt x="853465" y="123825"/>
                </a:lnTo>
                <a:lnTo>
                  <a:pt x="3251822" y="123825"/>
                </a:lnTo>
                <a:lnTo>
                  <a:pt x="3276600" y="99047"/>
                </a:lnTo>
                <a:lnTo>
                  <a:pt x="3276600" y="24790"/>
                </a:lnTo>
                <a:close/>
              </a:path>
              <a:path w="4343400" h="295275">
                <a:moveTo>
                  <a:pt x="3752850" y="196240"/>
                </a:moveTo>
                <a:lnTo>
                  <a:pt x="3728072" y="171450"/>
                </a:lnTo>
                <a:lnTo>
                  <a:pt x="0" y="171450"/>
                </a:lnTo>
                <a:lnTo>
                  <a:pt x="0" y="295275"/>
                </a:lnTo>
                <a:lnTo>
                  <a:pt x="3728072" y="295275"/>
                </a:lnTo>
                <a:lnTo>
                  <a:pt x="3752850" y="270497"/>
                </a:lnTo>
                <a:lnTo>
                  <a:pt x="3752850" y="196240"/>
                </a:lnTo>
                <a:close/>
              </a:path>
              <a:path w="4343400" h="295275">
                <a:moveTo>
                  <a:pt x="4343400" y="0"/>
                </a:moveTo>
                <a:lnTo>
                  <a:pt x="3768115" y="0"/>
                </a:lnTo>
                <a:lnTo>
                  <a:pt x="3764470" y="736"/>
                </a:lnTo>
                <a:lnTo>
                  <a:pt x="3743325" y="24790"/>
                </a:lnTo>
                <a:lnTo>
                  <a:pt x="3743325" y="99047"/>
                </a:lnTo>
                <a:lnTo>
                  <a:pt x="3768115" y="123825"/>
                </a:lnTo>
                <a:lnTo>
                  <a:pt x="4343400" y="123825"/>
                </a:lnTo>
                <a:lnTo>
                  <a:pt x="4343400" y="0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90624" y="1838297"/>
            <a:ext cx="4457065" cy="75882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25"/>
              </a:spcBef>
            </a:pPr>
            <a:r>
              <a:rPr dirty="0" sz="950" spc="-90" b="1">
                <a:solidFill>
                  <a:srgbClr val="293283"/>
                </a:solidFill>
                <a:latin typeface="Tahoma"/>
                <a:cs typeface="Tahoma"/>
              </a:rPr>
              <a:t>Add</a:t>
            </a:r>
            <a:r>
              <a:rPr dirty="0" sz="95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90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95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120" b="1">
                <a:solidFill>
                  <a:srgbClr val="293283"/>
                </a:solidFill>
                <a:latin typeface="Tahoma"/>
                <a:cs typeface="Tahoma"/>
              </a:rPr>
              <a:t>marks-range</a:t>
            </a:r>
            <a:r>
              <a:rPr dirty="0" sz="95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293283"/>
                </a:solidFill>
                <a:latin typeface="Tahoma"/>
                <a:cs typeface="Tahoma"/>
              </a:rPr>
              <a:t>slider</a:t>
            </a:r>
            <a:endParaRPr sz="950">
              <a:latin typeface="Tahoma"/>
              <a:cs typeface="Tahoma"/>
            </a:endParaRPr>
          </a:p>
          <a:p>
            <a:pPr marR="5080">
              <a:lnSpc>
                <a:spcPct val="128699"/>
              </a:lnSpc>
              <a:spcBef>
                <a:spcPts val="165"/>
              </a:spcBef>
            </a:pP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In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65">
                <a:solidFill>
                  <a:srgbClr val="4A4E6A"/>
                </a:solidFill>
                <a:latin typeface="Trebuchet MS"/>
                <a:cs typeface="Trebuchet MS"/>
              </a:rPr>
              <a:t>sidebar,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add</a:t>
            </a:r>
            <a:r>
              <a:rPr dirty="0" sz="850" spc="1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st.slider("Marks</a:t>
            </a:r>
            <a:r>
              <a:rPr dirty="0" sz="750" spc="-4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range",</a:t>
            </a:r>
            <a:r>
              <a:rPr dirty="0" sz="750" spc="-4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0,</a:t>
            </a:r>
            <a:r>
              <a:rPr dirty="0" sz="750" spc="-4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100,</a:t>
            </a:r>
            <a:r>
              <a:rPr dirty="0" sz="750" spc="-4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(0,</a:t>
            </a:r>
            <a:r>
              <a:rPr dirty="0" sz="750" spc="-4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100))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filter:</a:t>
            </a:r>
            <a:r>
              <a:rPr dirty="0" sz="850" spc="19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filtered</a:t>
            </a:r>
            <a:r>
              <a:rPr dirty="0" sz="750" spc="-4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 spc="-50">
                <a:solidFill>
                  <a:srgbClr val="1B1F3A"/>
                </a:solidFill>
                <a:latin typeface="Courier New"/>
                <a:cs typeface="Courier New"/>
              </a:rPr>
              <a:t>=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filtered[(filtered["marks"]</a:t>
            </a:r>
            <a:r>
              <a:rPr dirty="0" sz="750" spc="-1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&gt;=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low)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&amp;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 (filtered["marks"]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&lt;=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 high)]</a:t>
            </a:r>
            <a:r>
              <a:rPr dirty="0" sz="750" spc="-16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105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r>
              <a:rPr dirty="0" sz="850" spc="-7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Now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users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can 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filter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by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marks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range.</a:t>
            </a:r>
            <a:endParaRPr sz="85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299" y="2733674"/>
            <a:ext cx="209550" cy="20954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52500" y="2749550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65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90612" y="2943224"/>
            <a:ext cx="3267075" cy="285750"/>
          </a:xfrm>
          <a:custGeom>
            <a:avLst/>
            <a:gdLst/>
            <a:ahLst/>
            <a:cxnLst/>
            <a:rect l="l" t="t" r="r" b="b"/>
            <a:pathLst>
              <a:path w="3267075" h="285750">
                <a:moveTo>
                  <a:pt x="1838325" y="186715"/>
                </a:moveTo>
                <a:lnTo>
                  <a:pt x="1813547" y="161925"/>
                </a:lnTo>
                <a:lnTo>
                  <a:pt x="0" y="161925"/>
                </a:lnTo>
                <a:lnTo>
                  <a:pt x="0" y="285750"/>
                </a:lnTo>
                <a:lnTo>
                  <a:pt x="1813547" y="285750"/>
                </a:lnTo>
                <a:lnTo>
                  <a:pt x="1838325" y="260972"/>
                </a:lnTo>
                <a:lnTo>
                  <a:pt x="1838325" y="186715"/>
                </a:lnTo>
                <a:close/>
              </a:path>
              <a:path w="3267075" h="285750">
                <a:moveTo>
                  <a:pt x="3267075" y="0"/>
                </a:moveTo>
                <a:lnTo>
                  <a:pt x="1282090" y="0"/>
                </a:lnTo>
                <a:lnTo>
                  <a:pt x="1278445" y="736"/>
                </a:lnTo>
                <a:lnTo>
                  <a:pt x="1257300" y="24790"/>
                </a:lnTo>
                <a:lnTo>
                  <a:pt x="1257300" y="99047"/>
                </a:lnTo>
                <a:lnTo>
                  <a:pt x="1282090" y="123825"/>
                </a:lnTo>
                <a:lnTo>
                  <a:pt x="3267075" y="123825"/>
                </a:lnTo>
                <a:lnTo>
                  <a:pt x="3267075" y="0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90624" y="2638397"/>
            <a:ext cx="4619625" cy="75882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25"/>
              </a:spcBef>
            </a:pPr>
            <a:r>
              <a:rPr dirty="0" sz="950" spc="-125" b="1">
                <a:solidFill>
                  <a:srgbClr val="293283"/>
                </a:solidFill>
                <a:latin typeface="Tahoma"/>
                <a:cs typeface="Tahoma"/>
              </a:rPr>
              <a:t>Show</a:t>
            </a:r>
            <a:r>
              <a:rPr dirty="0" sz="95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114" b="1">
                <a:solidFill>
                  <a:srgbClr val="293283"/>
                </a:solidFill>
                <a:latin typeface="Tahoma"/>
                <a:cs typeface="Tahoma"/>
              </a:rPr>
              <a:t>summary</a:t>
            </a:r>
            <a:r>
              <a:rPr dirty="0" sz="95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110" b="1">
                <a:solidFill>
                  <a:srgbClr val="293283"/>
                </a:solidFill>
                <a:latin typeface="Tahoma"/>
                <a:cs typeface="Tahoma"/>
              </a:rPr>
              <a:t>stats</a:t>
            </a:r>
            <a:r>
              <a:rPr dirty="0" sz="95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100" b="1">
                <a:solidFill>
                  <a:srgbClr val="293283"/>
                </a:solidFill>
                <a:latin typeface="Tahoma"/>
                <a:cs typeface="Tahoma"/>
              </a:rPr>
              <a:t>with</a:t>
            </a:r>
            <a:r>
              <a:rPr dirty="0" sz="950" spc="-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293283"/>
                </a:solidFill>
                <a:latin typeface="Tahoma"/>
                <a:cs typeface="Tahoma"/>
              </a:rPr>
              <a:t>st.metric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Below</a:t>
            </a:r>
            <a:r>
              <a:rPr dirty="0" sz="8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 filtered</a:t>
            </a:r>
            <a:r>
              <a:rPr dirty="0" sz="850" spc="-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70">
                <a:solidFill>
                  <a:srgbClr val="4A4E6A"/>
                </a:solidFill>
                <a:latin typeface="Trebuchet MS"/>
                <a:cs typeface="Trebuchet MS"/>
              </a:rPr>
              <a:t>table,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use</a:t>
            </a:r>
            <a:r>
              <a:rPr dirty="0" sz="850" spc="254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st.metric(label="Average",</a:t>
            </a:r>
            <a:r>
              <a:rPr dirty="0" sz="750" spc="2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value=f"</a:t>
            </a:r>
            <a:endParaRPr sz="750">
              <a:latin typeface="Courier New"/>
              <a:cs typeface="Courier New"/>
            </a:endParaRPr>
          </a:p>
          <a:p>
            <a:pPr marR="5080">
              <a:lnSpc>
                <a:spcPts val="1350"/>
              </a:lnSpc>
              <a:spcBef>
                <a:spcPts val="25"/>
              </a:spcBef>
            </a:pP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{filtered["marks"].mean():.1f}")</a:t>
            </a:r>
            <a:r>
              <a:rPr dirty="0" sz="750" spc="12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in </a:t>
            </a:r>
            <a:r>
              <a:rPr dirty="0" sz="850" spc="-20">
                <a:solidFill>
                  <a:srgbClr val="4A4E6A"/>
                </a:solidFill>
                <a:latin typeface="Trebuchet MS"/>
                <a:cs typeface="Trebuchet MS"/>
              </a:rPr>
              <a:t>3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columns: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average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marks,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highest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mark,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lowest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mark.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Looks 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like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 real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dashboard.</a:t>
            </a:r>
            <a:endParaRPr sz="850">
              <a:latin typeface="Trebuchet MS"/>
              <a:cs typeface="Trebuchet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299" y="3524249"/>
            <a:ext cx="209550" cy="20954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52500" y="3540125"/>
            <a:ext cx="711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65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90612" y="3733800"/>
            <a:ext cx="4200525" cy="295275"/>
          </a:xfrm>
          <a:custGeom>
            <a:avLst/>
            <a:gdLst/>
            <a:ahLst/>
            <a:cxnLst/>
            <a:rect l="l" t="t" r="r" b="b"/>
            <a:pathLst>
              <a:path w="4200525" h="295275">
                <a:moveTo>
                  <a:pt x="2657475" y="24790"/>
                </a:moveTo>
                <a:lnTo>
                  <a:pt x="2632697" y="0"/>
                </a:lnTo>
                <a:lnTo>
                  <a:pt x="853465" y="0"/>
                </a:lnTo>
                <a:lnTo>
                  <a:pt x="828675" y="24790"/>
                </a:lnTo>
                <a:lnTo>
                  <a:pt x="828675" y="95250"/>
                </a:lnTo>
                <a:lnTo>
                  <a:pt x="828675" y="99047"/>
                </a:lnTo>
                <a:lnTo>
                  <a:pt x="853465" y="123825"/>
                </a:lnTo>
                <a:lnTo>
                  <a:pt x="2632697" y="123825"/>
                </a:lnTo>
                <a:lnTo>
                  <a:pt x="2657475" y="99047"/>
                </a:lnTo>
                <a:lnTo>
                  <a:pt x="2657475" y="24790"/>
                </a:lnTo>
                <a:close/>
              </a:path>
              <a:path w="4200525" h="295275">
                <a:moveTo>
                  <a:pt x="3362325" y="196240"/>
                </a:moveTo>
                <a:lnTo>
                  <a:pt x="3337547" y="171450"/>
                </a:lnTo>
                <a:lnTo>
                  <a:pt x="0" y="171450"/>
                </a:lnTo>
                <a:lnTo>
                  <a:pt x="0" y="295275"/>
                </a:lnTo>
                <a:lnTo>
                  <a:pt x="3337547" y="295275"/>
                </a:lnTo>
                <a:lnTo>
                  <a:pt x="3362325" y="270497"/>
                </a:lnTo>
                <a:lnTo>
                  <a:pt x="3362325" y="196240"/>
                </a:lnTo>
                <a:close/>
              </a:path>
              <a:path w="4200525" h="295275">
                <a:moveTo>
                  <a:pt x="4200525" y="0"/>
                </a:moveTo>
                <a:lnTo>
                  <a:pt x="3006115" y="0"/>
                </a:lnTo>
                <a:lnTo>
                  <a:pt x="3002470" y="736"/>
                </a:lnTo>
                <a:lnTo>
                  <a:pt x="2981325" y="24790"/>
                </a:lnTo>
                <a:lnTo>
                  <a:pt x="2981325" y="99047"/>
                </a:lnTo>
                <a:lnTo>
                  <a:pt x="3006115" y="123825"/>
                </a:lnTo>
                <a:lnTo>
                  <a:pt x="4200525" y="123825"/>
                </a:lnTo>
                <a:lnTo>
                  <a:pt x="4200525" y="0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190624" y="3428972"/>
            <a:ext cx="4500245" cy="75882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25"/>
              </a:spcBef>
            </a:pPr>
            <a:r>
              <a:rPr dirty="0" sz="950" spc="-90" b="1">
                <a:solidFill>
                  <a:srgbClr val="293283"/>
                </a:solidFill>
                <a:latin typeface="Tahoma"/>
                <a:cs typeface="Tahoma"/>
              </a:rPr>
              <a:t>Add</a:t>
            </a:r>
            <a:r>
              <a:rPr dirty="0" sz="950" spc="-6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90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950" spc="-6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110" b="1">
                <a:solidFill>
                  <a:srgbClr val="293283"/>
                </a:solidFill>
                <a:latin typeface="Tahoma"/>
                <a:cs typeface="Tahoma"/>
              </a:rPr>
              <a:t>search</a:t>
            </a:r>
            <a:r>
              <a:rPr dirty="0" sz="950" spc="-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25" b="1">
                <a:solidFill>
                  <a:srgbClr val="293283"/>
                </a:solidFill>
                <a:latin typeface="Tahoma"/>
                <a:cs typeface="Tahoma"/>
              </a:rPr>
              <a:t>box</a:t>
            </a:r>
            <a:endParaRPr sz="950">
              <a:latin typeface="Tahoma"/>
              <a:cs typeface="Tahoma"/>
            </a:endParaRPr>
          </a:p>
          <a:p>
            <a:pPr marR="5080">
              <a:lnSpc>
                <a:spcPct val="128699"/>
              </a:lnSpc>
              <a:spcBef>
                <a:spcPts val="165"/>
              </a:spcBef>
            </a:pP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In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65">
                <a:solidFill>
                  <a:srgbClr val="4A4E6A"/>
                </a:solidFill>
                <a:latin typeface="Trebuchet MS"/>
                <a:cs typeface="Trebuchet MS"/>
              </a:rPr>
              <a:t>sidebar,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add</a:t>
            </a:r>
            <a:r>
              <a:rPr dirty="0" sz="850" spc="1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st.text_input("Search</a:t>
            </a:r>
            <a:r>
              <a:rPr dirty="0" sz="750" spc="-4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by</a:t>
            </a:r>
            <a:r>
              <a:rPr dirty="0" sz="750" spc="-3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name")</a:t>
            </a:r>
            <a:r>
              <a:rPr dirty="0" sz="750" spc="-16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105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Filter:</a:t>
            </a:r>
            <a:r>
              <a:rPr dirty="0" sz="850" spc="19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if</a:t>
            </a:r>
            <a:r>
              <a:rPr dirty="0" sz="750" spc="-4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search:</a:t>
            </a:r>
            <a:r>
              <a:rPr dirty="0" sz="750" spc="-3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filtered</a:t>
            </a:r>
            <a:r>
              <a:rPr dirty="0" sz="750" spc="-4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 spc="-50">
                <a:solidFill>
                  <a:srgbClr val="1B1F3A"/>
                </a:solidFill>
                <a:latin typeface="Courier New"/>
                <a:cs typeface="Courier New"/>
              </a:rPr>
              <a:t>=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filtered[filtered["name"].str.contains(search,</a:t>
            </a:r>
            <a:r>
              <a:rPr dirty="0" sz="750" spc="2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case=False)]</a:t>
            </a:r>
            <a:r>
              <a:rPr dirty="0" sz="750" spc="-13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105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Now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users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can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search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25">
                <a:solidFill>
                  <a:srgbClr val="4A4E6A"/>
                </a:solidFill>
                <a:latin typeface="Trebuchet MS"/>
                <a:cs typeface="Trebuchet MS"/>
              </a:rPr>
              <a:t>by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name.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72199" y="1476375"/>
            <a:ext cx="5334000" cy="4467225"/>
            <a:chOff x="6172199" y="1476375"/>
            <a:chExt cx="5334000" cy="4467225"/>
          </a:xfrm>
        </p:grpSpPr>
        <p:sp>
          <p:nvSpPr>
            <p:cNvPr id="25" name="object 25"/>
            <p:cNvSpPr/>
            <p:nvPr/>
          </p:nvSpPr>
          <p:spPr>
            <a:xfrm>
              <a:off x="6191248" y="1481137"/>
              <a:ext cx="5310505" cy="4457700"/>
            </a:xfrm>
            <a:custGeom>
              <a:avLst/>
              <a:gdLst/>
              <a:ahLst/>
              <a:cxnLst/>
              <a:rect l="l" t="t" r="r" b="b"/>
              <a:pathLst>
                <a:path w="5310505" h="4457700">
                  <a:moveTo>
                    <a:pt x="5207841" y="4457699"/>
                  </a:moveTo>
                  <a:lnTo>
                    <a:pt x="88995" y="4457699"/>
                  </a:lnTo>
                  <a:lnTo>
                    <a:pt x="82801" y="4456997"/>
                  </a:lnTo>
                  <a:lnTo>
                    <a:pt x="37131" y="4435243"/>
                  </a:lnTo>
                  <a:lnTo>
                    <a:pt x="12577" y="4403036"/>
                  </a:lnTo>
                  <a:lnTo>
                    <a:pt x="609" y="4362477"/>
                  </a:lnTo>
                  <a:lnTo>
                    <a:pt x="0" y="4355354"/>
                  </a:lnTo>
                  <a:lnTo>
                    <a:pt x="0" y="4348162"/>
                  </a:lnTo>
                  <a:lnTo>
                    <a:pt x="0" y="102345"/>
                  </a:lnTo>
                  <a:lnTo>
                    <a:pt x="9643" y="60974"/>
                  </a:lnTo>
                  <a:lnTo>
                    <a:pt x="32320" y="26996"/>
                  </a:lnTo>
                  <a:lnTo>
                    <a:pt x="64577" y="5585"/>
                  </a:lnTo>
                  <a:lnTo>
                    <a:pt x="88995" y="0"/>
                  </a:lnTo>
                  <a:lnTo>
                    <a:pt x="5207841" y="0"/>
                  </a:lnTo>
                  <a:lnTo>
                    <a:pt x="5249212" y="11090"/>
                  </a:lnTo>
                  <a:lnTo>
                    <a:pt x="5283190" y="37168"/>
                  </a:lnTo>
                  <a:lnTo>
                    <a:pt x="5304600" y="74264"/>
                  </a:lnTo>
                  <a:lnTo>
                    <a:pt x="5310186" y="102345"/>
                  </a:lnTo>
                  <a:lnTo>
                    <a:pt x="5310186" y="4355354"/>
                  </a:lnTo>
                  <a:lnTo>
                    <a:pt x="5299096" y="4396724"/>
                  </a:lnTo>
                  <a:lnTo>
                    <a:pt x="5273019" y="4430702"/>
                  </a:lnTo>
                  <a:lnTo>
                    <a:pt x="5235922" y="4452113"/>
                  </a:lnTo>
                  <a:lnTo>
                    <a:pt x="5214965" y="4456997"/>
                  </a:lnTo>
                  <a:lnTo>
                    <a:pt x="5207841" y="4457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230417" y="1476374"/>
              <a:ext cx="5276215" cy="4467225"/>
            </a:xfrm>
            <a:custGeom>
              <a:avLst/>
              <a:gdLst/>
              <a:ahLst/>
              <a:cxnLst/>
              <a:rect l="l" t="t" r="r" b="b"/>
              <a:pathLst>
                <a:path w="5276215" h="4467225">
                  <a:moveTo>
                    <a:pt x="5275770" y="114300"/>
                  </a:moveTo>
                  <a:lnTo>
                    <a:pt x="5267071" y="70561"/>
                  </a:lnTo>
                  <a:lnTo>
                    <a:pt x="5242738" y="33997"/>
                  </a:lnTo>
                  <a:lnTo>
                    <a:pt x="5206962" y="9525"/>
                  </a:lnTo>
                  <a:lnTo>
                    <a:pt x="5161470" y="0"/>
                  </a:lnTo>
                  <a:lnTo>
                    <a:pt x="56070" y="0"/>
                  </a:lnTo>
                  <a:lnTo>
                    <a:pt x="12331" y="8712"/>
                  </a:lnTo>
                  <a:lnTo>
                    <a:pt x="0" y="14795"/>
                  </a:lnTo>
                  <a:lnTo>
                    <a:pt x="22440" y="20408"/>
                  </a:lnTo>
                  <a:lnTo>
                    <a:pt x="26911" y="17500"/>
                  </a:lnTo>
                  <a:lnTo>
                    <a:pt x="33985" y="14020"/>
                  </a:lnTo>
                  <a:lnTo>
                    <a:pt x="41211" y="11518"/>
                  </a:lnTo>
                  <a:lnTo>
                    <a:pt x="48564" y="10033"/>
                  </a:lnTo>
                  <a:lnTo>
                    <a:pt x="56070" y="9525"/>
                  </a:lnTo>
                  <a:lnTo>
                    <a:pt x="5161470" y="9525"/>
                  </a:lnTo>
                  <a:lnTo>
                    <a:pt x="5201577" y="17500"/>
                  </a:lnTo>
                  <a:lnTo>
                    <a:pt x="5235562" y="40220"/>
                  </a:lnTo>
                  <a:lnTo>
                    <a:pt x="5258270" y="74206"/>
                  </a:lnTo>
                  <a:lnTo>
                    <a:pt x="5266245" y="114300"/>
                  </a:lnTo>
                  <a:lnTo>
                    <a:pt x="5266245" y="4352925"/>
                  </a:lnTo>
                  <a:lnTo>
                    <a:pt x="5258270" y="4393031"/>
                  </a:lnTo>
                  <a:lnTo>
                    <a:pt x="5236019" y="4426521"/>
                  </a:lnTo>
                  <a:lnTo>
                    <a:pt x="5201577" y="4449724"/>
                  </a:lnTo>
                  <a:lnTo>
                    <a:pt x="5161470" y="4457700"/>
                  </a:lnTo>
                  <a:lnTo>
                    <a:pt x="56070" y="4457700"/>
                  </a:lnTo>
                  <a:lnTo>
                    <a:pt x="22440" y="4446829"/>
                  </a:lnTo>
                  <a:lnTo>
                    <a:pt x="0" y="4452442"/>
                  </a:lnTo>
                  <a:lnTo>
                    <a:pt x="44818" y="4466691"/>
                  </a:lnTo>
                  <a:lnTo>
                    <a:pt x="56070" y="4467225"/>
                  </a:lnTo>
                  <a:lnTo>
                    <a:pt x="5161470" y="4467225"/>
                  </a:lnTo>
                  <a:lnTo>
                    <a:pt x="5205209" y="4458525"/>
                  </a:lnTo>
                  <a:lnTo>
                    <a:pt x="5206962" y="4457700"/>
                  </a:lnTo>
                  <a:lnTo>
                    <a:pt x="5215407" y="4453725"/>
                  </a:lnTo>
                  <a:lnTo>
                    <a:pt x="5249875" y="4425404"/>
                  </a:lnTo>
                  <a:lnTo>
                    <a:pt x="5270881" y="4386059"/>
                  </a:lnTo>
                  <a:lnTo>
                    <a:pt x="5275770" y="4352925"/>
                  </a:lnTo>
                  <a:lnTo>
                    <a:pt x="5275770" y="11430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172199" y="1491000"/>
              <a:ext cx="81280" cy="4438015"/>
            </a:xfrm>
            <a:custGeom>
              <a:avLst/>
              <a:gdLst/>
              <a:ahLst/>
              <a:cxnLst/>
              <a:rect l="l" t="t" r="r" b="b"/>
              <a:pathLst>
                <a:path w="81279" h="4438015">
                  <a:moveTo>
                    <a:pt x="58503" y="4437973"/>
                  </a:moveTo>
                  <a:lnTo>
                    <a:pt x="25899" y="4410774"/>
                  </a:lnTo>
                  <a:lnTo>
                    <a:pt x="4893" y="4371428"/>
                  </a:lnTo>
                  <a:lnTo>
                    <a:pt x="0" y="4338299"/>
                  </a:lnTo>
                  <a:lnTo>
                    <a:pt x="0" y="99674"/>
                  </a:lnTo>
                  <a:lnTo>
                    <a:pt x="8699" y="55933"/>
                  </a:lnTo>
                  <a:lnTo>
                    <a:pt x="33477" y="18852"/>
                  </a:lnTo>
                  <a:lnTo>
                    <a:pt x="58503" y="0"/>
                  </a:lnTo>
                  <a:lnTo>
                    <a:pt x="80929" y="5606"/>
                  </a:lnTo>
                  <a:lnTo>
                    <a:pt x="78343" y="7285"/>
                  </a:lnTo>
                  <a:lnTo>
                    <a:pt x="71957" y="12540"/>
                  </a:lnTo>
                  <a:lnTo>
                    <a:pt x="47107" y="50233"/>
                  </a:lnTo>
                  <a:lnTo>
                    <a:pt x="38462" y="89352"/>
                  </a:lnTo>
                  <a:lnTo>
                    <a:pt x="38100" y="99674"/>
                  </a:lnTo>
                  <a:lnTo>
                    <a:pt x="38100" y="4338299"/>
                  </a:lnTo>
                  <a:lnTo>
                    <a:pt x="43900" y="4378393"/>
                  </a:lnTo>
                  <a:lnTo>
                    <a:pt x="65982" y="4419331"/>
                  </a:lnTo>
                  <a:lnTo>
                    <a:pt x="80930" y="4432366"/>
                  </a:lnTo>
                  <a:lnTo>
                    <a:pt x="58503" y="4437973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6362699" y="1625600"/>
            <a:ext cx="12357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90" b="1">
                <a:solidFill>
                  <a:srgbClr val="FF6A5B"/>
                </a:solidFill>
                <a:latin typeface="Tahoma"/>
                <a:cs typeface="Tahoma"/>
              </a:rPr>
              <a:t>W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H </a:t>
            </a:r>
            <a:r>
              <a:rPr dirty="0" sz="800" spc="-45" b="1">
                <a:solidFill>
                  <a:srgbClr val="FF6A5B"/>
                </a:solidFill>
                <a:latin typeface="Tahoma"/>
                <a:cs typeface="Tahoma"/>
              </a:rPr>
              <a:t>AT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40" b="1">
                <a:solidFill>
                  <a:srgbClr val="FF6A5B"/>
                </a:solidFill>
                <a:latin typeface="Tahoma"/>
                <a:cs typeface="Tahoma"/>
              </a:rPr>
              <a:t>'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800" spc="5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X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800" spc="15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800" spc="1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800" spc="-12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AY</a:t>
            </a:r>
            <a:r>
              <a:rPr dirty="0" sz="800" spc="16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FF6A5B"/>
                </a:solidFill>
                <a:latin typeface="Tahoma"/>
                <a:cs typeface="Tahoma"/>
              </a:rPr>
              <a:t>7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001248" y="1619250"/>
            <a:ext cx="1343025" cy="190500"/>
          </a:xfrm>
          <a:custGeom>
            <a:avLst/>
            <a:gdLst/>
            <a:ahLst/>
            <a:cxnLst/>
            <a:rect l="l" t="t" r="r" b="b"/>
            <a:pathLst>
              <a:path w="1343025" h="190500">
                <a:moveTo>
                  <a:pt x="1254030" y="190499"/>
                </a:moveTo>
                <a:lnTo>
                  <a:pt x="88996" y="190499"/>
                </a:lnTo>
                <a:lnTo>
                  <a:pt x="82801" y="189889"/>
                </a:lnTo>
                <a:lnTo>
                  <a:pt x="37131" y="170972"/>
                </a:lnTo>
                <a:lnTo>
                  <a:pt x="9643" y="137478"/>
                </a:lnTo>
                <a:lnTo>
                  <a:pt x="0" y="101503"/>
                </a:lnTo>
                <a:lnTo>
                  <a:pt x="1" y="95249"/>
                </a:lnTo>
                <a:lnTo>
                  <a:pt x="0" y="88995"/>
                </a:lnTo>
                <a:lnTo>
                  <a:pt x="12577" y="47531"/>
                </a:lnTo>
                <a:lnTo>
                  <a:pt x="47531" y="12577"/>
                </a:lnTo>
                <a:lnTo>
                  <a:pt x="88996" y="0"/>
                </a:lnTo>
                <a:lnTo>
                  <a:pt x="1254030" y="0"/>
                </a:lnTo>
                <a:lnTo>
                  <a:pt x="1295492" y="12577"/>
                </a:lnTo>
                <a:lnTo>
                  <a:pt x="1330447" y="47531"/>
                </a:lnTo>
                <a:lnTo>
                  <a:pt x="1343026" y="88995"/>
                </a:lnTo>
                <a:lnTo>
                  <a:pt x="1343026" y="101503"/>
                </a:lnTo>
                <a:lnTo>
                  <a:pt x="1330447" y="142967"/>
                </a:lnTo>
                <a:lnTo>
                  <a:pt x="1295492" y="177921"/>
                </a:lnTo>
                <a:lnTo>
                  <a:pt x="1260224" y="189889"/>
                </a:lnTo>
                <a:lnTo>
                  <a:pt x="1254030" y="190499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0090248" y="1639887"/>
            <a:ext cx="116840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00" spc="-9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10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5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120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7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8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700" spc="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b="1">
                <a:solidFill>
                  <a:srgbClr val="FF6A5B"/>
                </a:solidFill>
                <a:latin typeface="Tahoma"/>
                <a:cs typeface="Tahoma"/>
              </a:rPr>
              <a:t>&amp;</a:t>
            </a:r>
            <a:r>
              <a:rPr dirty="0" sz="700" spc="14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30" b="1">
                <a:solidFill>
                  <a:srgbClr val="FF6A5B"/>
                </a:solidFill>
                <a:latin typeface="Tahoma"/>
                <a:cs typeface="Tahoma"/>
              </a:rPr>
              <a:t>DA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10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100" b="1">
                <a:solidFill>
                  <a:srgbClr val="FF6A5B"/>
                </a:solidFill>
                <a:latin typeface="Tahoma"/>
                <a:cs typeface="Tahoma"/>
              </a:rPr>
              <a:t>H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85" b="1">
                <a:solidFill>
                  <a:srgbClr val="FF6A5B"/>
                </a:solidFill>
                <a:latin typeface="Tahoma"/>
                <a:cs typeface="Tahoma"/>
              </a:rPr>
              <a:t>B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65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7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55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120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85" b="1">
                <a:solidFill>
                  <a:srgbClr val="FF6A5B"/>
                </a:solidFill>
                <a:latin typeface="Tahoma"/>
                <a:cs typeface="Tahoma"/>
              </a:rPr>
              <a:t>D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5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endParaRPr sz="7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362699" y="1924050"/>
            <a:ext cx="4981575" cy="533400"/>
            <a:chOff x="6362699" y="1924050"/>
            <a:chExt cx="4981575" cy="533400"/>
          </a:xfrm>
        </p:grpSpPr>
        <p:sp>
          <p:nvSpPr>
            <p:cNvPr id="32" name="object 32"/>
            <p:cNvSpPr/>
            <p:nvPr/>
          </p:nvSpPr>
          <p:spPr>
            <a:xfrm>
              <a:off x="6362699" y="1924050"/>
              <a:ext cx="4981575" cy="533400"/>
            </a:xfrm>
            <a:custGeom>
              <a:avLst/>
              <a:gdLst/>
              <a:ahLst/>
              <a:cxnLst/>
              <a:rect l="l" t="t" r="r" b="b"/>
              <a:pathLst>
                <a:path w="4981575" h="533400">
                  <a:moveTo>
                    <a:pt x="4892578" y="533399"/>
                  </a:moveTo>
                  <a:lnTo>
                    <a:pt x="88995" y="533399"/>
                  </a:lnTo>
                  <a:lnTo>
                    <a:pt x="82801" y="532789"/>
                  </a:lnTo>
                  <a:lnTo>
                    <a:pt x="37130" y="513872"/>
                  </a:lnTo>
                  <a:lnTo>
                    <a:pt x="9643" y="480378"/>
                  </a:lnTo>
                  <a:lnTo>
                    <a:pt x="0" y="444403"/>
                  </a:lnTo>
                  <a:lnTo>
                    <a:pt x="0" y="438149"/>
                  </a:lnTo>
                  <a:lnTo>
                    <a:pt x="0" y="88995"/>
                  </a:lnTo>
                  <a:lnTo>
                    <a:pt x="12576" y="47531"/>
                  </a:lnTo>
                  <a:lnTo>
                    <a:pt x="47530" y="12577"/>
                  </a:lnTo>
                  <a:lnTo>
                    <a:pt x="88995" y="0"/>
                  </a:lnTo>
                  <a:lnTo>
                    <a:pt x="4892578" y="0"/>
                  </a:lnTo>
                  <a:lnTo>
                    <a:pt x="4934041" y="12577"/>
                  </a:lnTo>
                  <a:lnTo>
                    <a:pt x="4968996" y="47531"/>
                  </a:lnTo>
                  <a:lnTo>
                    <a:pt x="4981574" y="88995"/>
                  </a:lnTo>
                  <a:lnTo>
                    <a:pt x="4981574" y="444403"/>
                  </a:lnTo>
                  <a:lnTo>
                    <a:pt x="4968996" y="485867"/>
                  </a:lnTo>
                  <a:lnTo>
                    <a:pt x="4934041" y="520821"/>
                  </a:lnTo>
                  <a:lnTo>
                    <a:pt x="4898772" y="532789"/>
                  </a:lnTo>
                  <a:lnTo>
                    <a:pt x="4892578" y="53339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481761" y="2024062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257729" y="333374"/>
                  </a:moveTo>
                  <a:lnTo>
                    <a:pt x="75646" y="333374"/>
                  </a:lnTo>
                  <a:lnTo>
                    <a:pt x="70381" y="332856"/>
                  </a:lnTo>
                  <a:lnTo>
                    <a:pt x="31562" y="316776"/>
                  </a:lnTo>
                  <a:lnTo>
                    <a:pt x="4128" y="278483"/>
                  </a:lnTo>
                  <a:lnTo>
                    <a:pt x="0" y="257728"/>
                  </a:lnTo>
                  <a:lnTo>
                    <a:pt x="0" y="252412"/>
                  </a:lnTo>
                  <a:lnTo>
                    <a:pt x="0" y="75646"/>
                  </a:lnTo>
                  <a:lnTo>
                    <a:pt x="16598" y="31561"/>
                  </a:lnTo>
                  <a:lnTo>
                    <a:pt x="54890" y="4128"/>
                  </a:lnTo>
                  <a:lnTo>
                    <a:pt x="75646" y="0"/>
                  </a:lnTo>
                  <a:lnTo>
                    <a:pt x="257729" y="0"/>
                  </a:lnTo>
                  <a:lnTo>
                    <a:pt x="301812" y="16597"/>
                  </a:lnTo>
                  <a:lnTo>
                    <a:pt x="329246" y="54890"/>
                  </a:lnTo>
                  <a:lnTo>
                    <a:pt x="333375" y="75646"/>
                  </a:lnTo>
                  <a:lnTo>
                    <a:pt x="333375" y="257728"/>
                  </a:lnTo>
                  <a:lnTo>
                    <a:pt x="316776" y="301812"/>
                  </a:lnTo>
                  <a:lnTo>
                    <a:pt x="278484" y="329246"/>
                  </a:lnTo>
                  <a:lnTo>
                    <a:pt x="262994" y="332856"/>
                  </a:lnTo>
                  <a:lnTo>
                    <a:pt x="257729" y="333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481761" y="2024062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252412"/>
                  </a:moveTo>
                  <a:lnTo>
                    <a:pt x="0" y="80962"/>
                  </a:lnTo>
                  <a:lnTo>
                    <a:pt x="0" y="75646"/>
                  </a:lnTo>
                  <a:lnTo>
                    <a:pt x="518" y="70381"/>
                  </a:lnTo>
                  <a:lnTo>
                    <a:pt x="1555" y="65167"/>
                  </a:lnTo>
                  <a:lnTo>
                    <a:pt x="2592" y="59953"/>
                  </a:lnTo>
                  <a:lnTo>
                    <a:pt x="4128" y="54890"/>
                  </a:lnTo>
                  <a:lnTo>
                    <a:pt x="6162" y="49979"/>
                  </a:lnTo>
                  <a:lnTo>
                    <a:pt x="8197" y="45067"/>
                  </a:lnTo>
                  <a:lnTo>
                    <a:pt x="10690" y="40401"/>
                  </a:lnTo>
                  <a:lnTo>
                    <a:pt x="13644" y="35981"/>
                  </a:lnTo>
                  <a:lnTo>
                    <a:pt x="16598" y="31561"/>
                  </a:lnTo>
                  <a:lnTo>
                    <a:pt x="19954" y="27472"/>
                  </a:lnTo>
                  <a:lnTo>
                    <a:pt x="23713" y="23713"/>
                  </a:lnTo>
                  <a:lnTo>
                    <a:pt x="27472" y="19954"/>
                  </a:lnTo>
                  <a:lnTo>
                    <a:pt x="31562" y="16597"/>
                  </a:lnTo>
                  <a:lnTo>
                    <a:pt x="35982" y="13644"/>
                  </a:lnTo>
                  <a:lnTo>
                    <a:pt x="40401" y="10691"/>
                  </a:lnTo>
                  <a:lnTo>
                    <a:pt x="75646" y="0"/>
                  </a:lnTo>
                  <a:lnTo>
                    <a:pt x="80963" y="0"/>
                  </a:lnTo>
                  <a:lnTo>
                    <a:pt x="252413" y="0"/>
                  </a:lnTo>
                  <a:lnTo>
                    <a:pt x="257729" y="0"/>
                  </a:lnTo>
                  <a:lnTo>
                    <a:pt x="262994" y="518"/>
                  </a:lnTo>
                  <a:lnTo>
                    <a:pt x="297392" y="13644"/>
                  </a:lnTo>
                  <a:lnTo>
                    <a:pt x="301812" y="16597"/>
                  </a:lnTo>
                  <a:lnTo>
                    <a:pt x="327212" y="49979"/>
                  </a:lnTo>
                  <a:lnTo>
                    <a:pt x="333375" y="75646"/>
                  </a:lnTo>
                  <a:lnTo>
                    <a:pt x="333375" y="80962"/>
                  </a:lnTo>
                  <a:lnTo>
                    <a:pt x="333375" y="252412"/>
                  </a:lnTo>
                  <a:lnTo>
                    <a:pt x="333375" y="257728"/>
                  </a:lnTo>
                  <a:lnTo>
                    <a:pt x="332857" y="262993"/>
                  </a:lnTo>
                  <a:lnTo>
                    <a:pt x="316776" y="301812"/>
                  </a:lnTo>
                  <a:lnTo>
                    <a:pt x="283396" y="327211"/>
                  </a:lnTo>
                  <a:lnTo>
                    <a:pt x="252413" y="333374"/>
                  </a:lnTo>
                  <a:lnTo>
                    <a:pt x="80963" y="333374"/>
                  </a:lnTo>
                  <a:lnTo>
                    <a:pt x="75646" y="333374"/>
                  </a:lnTo>
                  <a:lnTo>
                    <a:pt x="70381" y="332856"/>
                  </a:lnTo>
                  <a:lnTo>
                    <a:pt x="65167" y="331818"/>
                  </a:lnTo>
                  <a:lnTo>
                    <a:pt x="59953" y="330781"/>
                  </a:lnTo>
                  <a:lnTo>
                    <a:pt x="35982" y="319730"/>
                  </a:lnTo>
                  <a:lnTo>
                    <a:pt x="31562" y="316776"/>
                  </a:lnTo>
                  <a:lnTo>
                    <a:pt x="27472" y="313420"/>
                  </a:lnTo>
                  <a:lnTo>
                    <a:pt x="23713" y="309661"/>
                  </a:lnTo>
                  <a:lnTo>
                    <a:pt x="19954" y="305902"/>
                  </a:lnTo>
                  <a:lnTo>
                    <a:pt x="1555" y="268207"/>
                  </a:lnTo>
                  <a:lnTo>
                    <a:pt x="0" y="257728"/>
                  </a:lnTo>
                  <a:lnTo>
                    <a:pt x="0" y="2524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9074" y="2136774"/>
              <a:ext cx="158750" cy="10795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029562" y="2228849"/>
              <a:ext cx="1533525" cy="123825"/>
            </a:xfrm>
            <a:custGeom>
              <a:avLst/>
              <a:gdLst/>
              <a:ahLst/>
              <a:cxnLst/>
              <a:rect l="l" t="t" r="r" b="b"/>
              <a:pathLst>
                <a:path w="1533525" h="123825">
                  <a:moveTo>
                    <a:pt x="581025" y="24790"/>
                  </a:moveTo>
                  <a:lnTo>
                    <a:pt x="556247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95250"/>
                  </a:lnTo>
                  <a:lnTo>
                    <a:pt x="0" y="99047"/>
                  </a:lnTo>
                  <a:lnTo>
                    <a:pt x="24790" y="123825"/>
                  </a:lnTo>
                  <a:lnTo>
                    <a:pt x="556247" y="123825"/>
                  </a:lnTo>
                  <a:lnTo>
                    <a:pt x="581025" y="99047"/>
                  </a:lnTo>
                  <a:lnTo>
                    <a:pt x="581025" y="24790"/>
                  </a:lnTo>
                  <a:close/>
                </a:path>
                <a:path w="1533525" h="123825">
                  <a:moveTo>
                    <a:pt x="1533525" y="24790"/>
                  </a:moveTo>
                  <a:lnTo>
                    <a:pt x="1508747" y="0"/>
                  </a:lnTo>
                  <a:lnTo>
                    <a:pt x="748690" y="0"/>
                  </a:lnTo>
                  <a:lnTo>
                    <a:pt x="723900" y="24790"/>
                  </a:lnTo>
                  <a:lnTo>
                    <a:pt x="723900" y="95250"/>
                  </a:lnTo>
                  <a:lnTo>
                    <a:pt x="723900" y="99047"/>
                  </a:lnTo>
                  <a:lnTo>
                    <a:pt x="748690" y="123825"/>
                  </a:lnTo>
                  <a:lnTo>
                    <a:pt x="1508747" y="123825"/>
                  </a:lnTo>
                  <a:lnTo>
                    <a:pt x="1533525" y="99047"/>
                  </a:lnTo>
                  <a:lnTo>
                    <a:pt x="1533525" y="247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934200" y="1944314"/>
            <a:ext cx="2668270" cy="40513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dirty="0" sz="950" spc="-105" b="1">
                <a:solidFill>
                  <a:srgbClr val="293283"/>
                </a:solidFill>
                <a:latin typeface="Tahoma"/>
                <a:cs typeface="Tahoma"/>
              </a:rPr>
              <a:t>Line</a:t>
            </a:r>
            <a:r>
              <a:rPr dirty="0" sz="950" spc="-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293283"/>
                </a:solidFill>
                <a:latin typeface="Tahoma"/>
                <a:cs typeface="Tahoma"/>
              </a:rPr>
              <a:t>charts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Plot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a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column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over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time.</a:t>
            </a:r>
            <a:r>
              <a:rPr dirty="0" sz="850" spc="15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df.plot()</a:t>
            </a:r>
            <a:r>
              <a:rPr dirty="0" sz="750" spc="5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or</a:t>
            </a:r>
            <a:r>
              <a:rPr dirty="0" sz="850" spc="20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st.line_chart</a:t>
            </a:r>
            <a:r>
              <a:rPr dirty="0" sz="750" spc="-16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62699" y="2571749"/>
            <a:ext cx="4981575" cy="533400"/>
            <a:chOff x="6362699" y="2571749"/>
            <a:chExt cx="4981575" cy="533400"/>
          </a:xfrm>
        </p:grpSpPr>
        <p:sp>
          <p:nvSpPr>
            <p:cNvPr id="39" name="object 39"/>
            <p:cNvSpPr/>
            <p:nvPr/>
          </p:nvSpPr>
          <p:spPr>
            <a:xfrm>
              <a:off x="6362699" y="2571749"/>
              <a:ext cx="4981575" cy="533400"/>
            </a:xfrm>
            <a:custGeom>
              <a:avLst/>
              <a:gdLst/>
              <a:ahLst/>
              <a:cxnLst/>
              <a:rect l="l" t="t" r="r" b="b"/>
              <a:pathLst>
                <a:path w="4981575" h="533400">
                  <a:moveTo>
                    <a:pt x="4892578" y="533399"/>
                  </a:moveTo>
                  <a:lnTo>
                    <a:pt x="88995" y="533399"/>
                  </a:lnTo>
                  <a:lnTo>
                    <a:pt x="82801" y="532789"/>
                  </a:lnTo>
                  <a:lnTo>
                    <a:pt x="37130" y="513872"/>
                  </a:lnTo>
                  <a:lnTo>
                    <a:pt x="9643" y="480377"/>
                  </a:lnTo>
                  <a:lnTo>
                    <a:pt x="0" y="444403"/>
                  </a:lnTo>
                  <a:lnTo>
                    <a:pt x="0" y="438149"/>
                  </a:lnTo>
                  <a:lnTo>
                    <a:pt x="0" y="88995"/>
                  </a:lnTo>
                  <a:lnTo>
                    <a:pt x="12576" y="47531"/>
                  </a:lnTo>
                  <a:lnTo>
                    <a:pt x="47530" y="12577"/>
                  </a:lnTo>
                  <a:lnTo>
                    <a:pt x="88995" y="0"/>
                  </a:lnTo>
                  <a:lnTo>
                    <a:pt x="4892578" y="0"/>
                  </a:lnTo>
                  <a:lnTo>
                    <a:pt x="4934041" y="12577"/>
                  </a:lnTo>
                  <a:lnTo>
                    <a:pt x="4968996" y="47531"/>
                  </a:lnTo>
                  <a:lnTo>
                    <a:pt x="4981574" y="88995"/>
                  </a:lnTo>
                  <a:lnTo>
                    <a:pt x="4981574" y="444403"/>
                  </a:lnTo>
                  <a:lnTo>
                    <a:pt x="4968996" y="485867"/>
                  </a:lnTo>
                  <a:lnTo>
                    <a:pt x="4934041" y="520821"/>
                  </a:lnTo>
                  <a:lnTo>
                    <a:pt x="4898772" y="532789"/>
                  </a:lnTo>
                  <a:lnTo>
                    <a:pt x="4892578" y="53339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481761" y="2671762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257729" y="333374"/>
                  </a:moveTo>
                  <a:lnTo>
                    <a:pt x="75646" y="333374"/>
                  </a:lnTo>
                  <a:lnTo>
                    <a:pt x="70381" y="332856"/>
                  </a:lnTo>
                  <a:lnTo>
                    <a:pt x="31562" y="316776"/>
                  </a:lnTo>
                  <a:lnTo>
                    <a:pt x="4128" y="278483"/>
                  </a:lnTo>
                  <a:lnTo>
                    <a:pt x="0" y="257728"/>
                  </a:lnTo>
                  <a:lnTo>
                    <a:pt x="0" y="252412"/>
                  </a:lnTo>
                  <a:lnTo>
                    <a:pt x="0" y="75646"/>
                  </a:lnTo>
                  <a:lnTo>
                    <a:pt x="16598" y="31561"/>
                  </a:lnTo>
                  <a:lnTo>
                    <a:pt x="54890" y="4128"/>
                  </a:lnTo>
                  <a:lnTo>
                    <a:pt x="75646" y="0"/>
                  </a:lnTo>
                  <a:lnTo>
                    <a:pt x="257729" y="0"/>
                  </a:lnTo>
                  <a:lnTo>
                    <a:pt x="301812" y="16598"/>
                  </a:lnTo>
                  <a:lnTo>
                    <a:pt x="329246" y="54890"/>
                  </a:lnTo>
                  <a:lnTo>
                    <a:pt x="333375" y="75646"/>
                  </a:lnTo>
                  <a:lnTo>
                    <a:pt x="333375" y="257728"/>
                  </a:lnTo>
                  <a:lnTo>
                    <a:pt x="316776" y="301812"/>
                  </a:lnTo>
                  <a:lnTo>
                    <a:pt x="278484" y="329245"/>
                  </a:lnTo>
                  <a:lnTo>
                    <a:pt x="262994" y="332856"/>
                  </a:lnTo>
                  <a:lnTo>
                    <a:pt x="257729" y="333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481761" y="2671762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252412"/>
                  </a:moveTo>
                  <a:lnTo>
                    <a:pt x="0" y="80962"/>
                  </a:lnTo>
                  <a:lnTo>
                    <a:pt x="0" y="75646"/>
                  </a:lnTo>
                  <a:lnTo>
                    <a:pt x="518" y="70381"/>
                  </a:lnTo>
                  <a:lnTo>
                    <a:pt x="1555" y="65167"/>
                  </a:lnTo>
                  <a:lnTo>
                    <a:pt x="2592" y="59953"/>
                  </a:lnTo>
                  <a:lnTo>
                    <a:pt x="4128" y="54890"/>
                  </a:lnTo>
                  <a:lnTo>
                    <a:pt x="6162" y="49979"/>
                  </a:lnTo>
                  <a:lnTo>
                    <a:pt x="8197" y="45067"/>
                  </a:lnTo>
                  <a:lnTo>
                    <a:pt x="10690" y="40401"/>
                  </a:lnTo>
                  <a:lnTo>
                    <a:pt x="13644" y="35981"/>
                  </a:lnTo>
                  <a:lnTo>
                    <a:pt x="16598" y="31561"/>
                  </a:lnTo>
                  <a:lnTo>
                    <a:pt x="19954" y="27471"/>
                  </a:lnTo>
                  <a:lnTo>
                    <a:pt x="23713" y="23713"/>
                  </a:lnTo>
                  <a:lnTo>
                    <a:pt x="27472" y="19954"/>
                  </a:lnTo>
                  <a:lnTo>
                    <a:pt x="31562" y="16598"/>
                  </a:lnTo>
                  <a:lnTo>
                    <a:pt x="35982" y="13644"/>
                  </a:lnTo>
                  <a:lnTo>
                    <a:pt x="40401" y="10691"/>
                  </a:lnTo>
                  <a:lnTo>
                    <a:pt x="75646" y="0"/>
                  </a:lnTo>
                  <a:lnTo>
                    <a:pt x="80963" y="0"/>
                  </a:lnTo>
                  <a:lnTo>
                    <a:pt x="252413" y="0"/>
                  </a:lnTo>
                  <a:lnTo>
                    <a:pt x="257729" y="0"/>
                  </a:lnTo>
                  <a:lnTo>
                    <a:pt x="262994" y="518"/>
                  </a:lnTo>
                  <a:lnTo>
                    <a:pt x="301812" y="16598"/>
                  </a:lnTo>
                  <a:lnTo>
                    <a:pt x="327212" y="49979"/>
                  </a:lnTo>
                  <a:lnTo>
                    <a:pt x="333375" y="75646"/>
                  </a:lnTo>
                  <a:lnTo>
                    <a:pt x="333375" y="80962"/>
                  </a:lnTo>
                  <a:lnTo>
                    <a:pt x="333375" y="252412"/>
                  </a:lnTo>
                  <a:lnTo>
                    <a:pt x="333375" y="257728"/>
                  </a:lnTo>
                  <a:lnTo>
                    <a:pt x="332857" y="262993"/>
                  </a:lnTo>
                  <a:lnTo>
                    <a:pt x="316776" y="301812"/>
                  </a:lnTo>
                  <a:lnTo>
                    <a:pt x="283396" y="327211"/>
                  </a:lnTo>
                  <a:lnTo>
                    <a:pt x="268208" y="331818"/>
                  </a:lnTo>
                  <a:lnTo>
                    <a:pt x="262994" y="332856"/>
                  </a:lnTo>
                  <a:lnTo>
                    <a:pt x="257729" y="333374"/>
                  </a:lnTo>
                  <a:lnTo>
                    <a:pt x="252413" y="333374"/>
                  </a:lnTo>
                  <a:lnTo>
                    <a:pt x="80963" y="333374"/>
                  </a:lnTo>
                  <a:lnTo>
                    <a:pt x="75646" y="333374"/>
                  </a:lnTo>
                  <a:lnTo>
                    <a:pt x="70381" y="332856"/>
                  </a:lnTo>
                  <a:lnTo>
                    <a:pt x="65167" y="331818"/>
                  </a:lnTo>
                  <a:lnTo>
                    <a:pt x="59953" y="330781"/>
                  </a:lnTo>
                  <a:lnTo>
                    <a:pt x="35982" y="319729"/>
                  </a:lnTo>
                  <a:lnTo>
                    <a:pt x="31562" y="316776"/>
                  </a:lnTo>
                  <a:lnTo>
                    <a:pt x="6162" y="283395"/>
                  </a:lnTo>
                  <a:lnTo>
                    <a:pt x="1555" y="268207"/>
                  </a:lnTo>
                  <a:lnTo>
                    <a:pt x="518" y="262993"/>
                  </a:lnTo>
                  <a:lnTo>
                    <a:pt x="0" y="257728"/>
                  </a:lnTo>
                  <a:lnTo>
                    <a:pt x="0" y="2524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91299" y="2781299"/>
              <a:ext cx="114300" cy="1143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8458187" y="2876549"/>
              <a:ext cx="1695450" cy="123825"/>
            </a:xfrm>
            <a:custGeom>
              <a:avLst/>
              <a:gdLst/>
              <a:ahLst/>
              <a:cxnLst/>
              <a:rect l="l" t="t" r="r" b="b"/>
              <a:pathLst>
                <a:path w="1695450" h="123825">
                  <a:moveTo>
                    <a:pt x="800100" y="24790"/>
                  </a:moveTo>
                  <a:lnTo>
                    <a:pt x="77532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95250"/>
                  </a:lnTo>
                  <a:lnTo>
                    <a:pt x="0" y="99047"/>
                  </a:lnTo>
                  <a:lnTo>
                    <a:pt x="24790" y="123825"/>
                  </a:lnTo>
                  <a:lnTo>
                    <a:pt x="775322" y="123825"/>
                  </a:lnTo>
                  <a:lnTo>
                    <a:pt x="800100" y="99047"/>
                  </a:lnTo>
                  <a:lnTo>
                    <a:pt x="800100" y="24790"/>
                  </a:lnTo>
                  <a:close/>
                </a:path>
                <a:path w="1695450" h="123825">
                  <a:moveTo>
                    <a:pt x="1695450" y="24790"/>
                  </a:moveTo>
                  <a:lnTo>
                    <a:pt x="1670672" y="0"/>
                  </a:lnTo>
                  <a:lnTo>
                    <a:pt x="967765" y="0"/>
                  </a:lnTo>
                  <a:lnTo>
                    <a:pt x="942975" y="24790"/>
                  </a:lnTo>
                  <a:lnTo>
                    <a:pt x="942975" y="95250"/>
                  </a:lnTo>
                  <a:lnTo>
                    <a:pt x="942975" y="99047"/>
                  </a:lnTo>
                  <a:lnTo>
                    <a:pt x="967765" y="123825"/>
                  </a:lnTo>
                  <a:lnTo>
                    <a:pt x="1670672" y="123825"/>
                  </a:lnTo>
                  <a:lnTo>
                    <a:pt x="1695450" y="99047"/>
                  </a:lnTo>
                  <a:lnTo>
                    <a:pt x="1695450" y="247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934200" y="2592014"/>
            <a:ext cx="3263900" cy="40513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dirty="0" sz="950" spc="-100" b="1">
                <a:solidFill>
                  <a:srgbClr val="293283"/>
                </a:solidFill>
                <a:latin typeface="Tahoma"/>
                <a:cs typeface="Tahoma"/>
              </a:rPr>
              <a:t>Bar</a:t>
            </a:r>
            <a:r>
              <a:rPr dirty="0" sz="95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293283"/>
                </a:solidFill>
                <a:latin typeface="Tahoma"/>
                <a:cs typeface="Tahoma"/>
              </a:rPr>
              <a:t>charts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Compare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values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across</a:t>
            </a:r>
            <a:r>
              <a:rPr dirty="0" sz="850" spc="-7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categories.</a:t>
            </a:r>
            <a:r>
              <a:rPr dirty="0" sz="850" spc="16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1B1F3A"/>
                </a:solidFill>
                <a:latin typeface="Courier New"/>
                <a:cs typeface="Courier New"/>
              </a:rPr>
              <a:t>df.plot.bar()</a:t>
            </a:r>
            <a:r>
              <a:rPr dirty="0" sz="750" spc="1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4A4E6A"/>
                </a:solidFill>
                <a:latin typeface="Trebuchet MS"/>
                <a:cs typeface="Trebuchet MS"/>
              </a:rPr>
              <a:t>or</a:t>
            </a:r>
            <a:r>
              <a:rPr dirty="0" sz="850" spc="204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1B1F3A"/>
                </a:solidFill>
                <a:latin typeface="Courier New"/>
                <a:cs typeface="Courier New"/>
              </a:rPr>
              <a:t>st.bar_chart</a:t>
            </a:r>
            <a:r>
              <a:rPr dirty="0" sz="750" spc="-160">
                <a:solidFill>
                  <a:srgbClr val="1B1F3A"/>
                </a:solidFill>
                <a:latin typeface="Courier New"/>
                <a:cs typeface="Courier New"/>
              </a:rPr>
              <a:t> 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.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362699" y="3219449"/>
            <a:ext cx="4981575" cy="533400"/>
            <a:chOff x="6362699" y="3219449"/>
            <a:chExt cx="4981575" cy="533400"/>
          </a:xfrm>
        </p:grpSpPr>
        <p:sp>
          <p:nvSpPr>
            <p:cNvPr id="46" name="object 46"/>
            <p:cNvSpPr/>
            <p:nvPr/>
          </p:nvSpPr>
          <p:spPr>
            <a:xfrm>
              <a:off x="6362699" y="3219449"/>
              <a:ext cx="4981575" cy="533400"/>
            </a:xfrm>
            <a:custGeom>
              <a:avLst/>
              <a:gdLst/>
              <a:ahLst/>
              <a:cxnLst/>
              <a:rect l="l" t="t" r="r" b="b"/>
              <a:pathLst>
                <a:path w="4981575" h="533400">
                  <a:moveTo>
                    <a:pt x="4892578" y="533399"/>
                  </a:moveTo>
                  <a:lnTo>
                    <a:pt x="88995" y="533399"/>
                  </a:lnTo>
                  <a:lnTo>
                    <a:pt x="82801" y="532789"/>
                  </a:lnTo>
                  <a:lnTo>
                    <a:pt x="37130" y="513872"/>
                  </a:lnTo>
                  <a:lnTo>
                    <a:pt x="9643" y="480378"/>
                  </a:lnTo>
                  <a:lnTo>
                    <a:pt x="0" y="444403"/>
                  </a:lnTo>
                  <a:lnTo>
                    <a:pt x="0" y="438149"/>
                  </a:lnTo>
                  <a:lnTo>
                    <a:pt x="0" y="88995"/>
                  </a:lnTo>
                  <a:lnTo>
                    <a:pt x="12576" y="47531"/>
                  </a:lnTo>
                  <a:lnTo>
                    <a:pt x="47530" y="12577"/>
                  </a:lnTo>
                  <a:lnTo>
                    <a:pt x="88995" y="0"/>
                  </a:lnTo>
                  <a:lnTo>
                    <a:pt x="4892578" y="0"/>
                  </a:lnTo>
                  <a:lnTo>
                    <a:pt x="4934041" y="12577"/>
                  </a:lnTo>
                  <a:lnTo>
                    <a:pt x="4968996" y="47531"/>
                  </a:lnTo>
                  <a:lnTo>
                    <a:pt x="4981574" y="88995"/>
                  </a:lnTo>
                  <a:lnTo>
                    <a:pt x="4981574" y="444403"/>
                  </a:lnTo>
                  <a:lnTo>
                    <a:pt x="4968996" y="485867"/>
                  </a:lnTo>
                  <a:lnTo>
                    <a:pt x="4934041" y="520821"/>
                  </a:lnTo>
                  <a:lnTo>
                    <a:pt x="4898772" y="532789"/>
                  </a:lnTo>
                  <a:lnTo>
                    <a:pt x="4892578" y="533399"/>
                  </a:lnTo>
                  <a:close/>
                </a:path>
              </a:pathLst>
            </a:custGeom>
            <a:solidFill>
              <a:srgbClr val="F4E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481761" y="3319462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257729" y="333374"/>
                  </a:moveTo>
                  <a:lnTo>
                    <a:pt x="75646" y="333374"/>
                  </a:lnTo>
                  <a:lnTo>
                    <a:pt x="70381" y="332856"/>
                  </a:lnTo>
                  <a:lnTo>
                    <a:pt x="31562" y="316776"/>
                  </a:lnTo>
                  <a:lnTo>
                    <a:pt x="4128" y="278483"/>
                  </a:lnTo>
                  <a:lnTo>
                    <a:pt x="0" y="257728"/>
                  </a:lnTo>
                  <a:lnTo>
                    <a:pt x="0" y="252412"/>
                  </a:lnTo>
                  <a:lnTo>
                    <a:pt x="0" y="75646"/>
                  </a:lnTo>
                  <a:lnTo>
                    <a:pt x="16598" y="31561"/>
                  </a:lnTo>
                  <a:lnTo>
                    <a:pt x="54890" y="4128"/>
                  </a:lnTo>
                  <a:lnTo>
                    <a:pt x="75646" y="0"/>
                  </a:lnTo>
                  <a:lnTo>
                    <a:pt x="257729" y="0"/>
                  </a:lnTo>
                  <a:lnTo>
                    <a:pt x="301812" y="16597"/>
                  </a:lnTo>
                  <a:lnTo>
                    <a:pt x="329246" y="54890"/>
                  </a:lnTo>
                  <a:lnTo>
                    <a:pt x="333375" y="75646"/>
                  </a:lnTo>
                  <a:lnTo>
                    <a:pt x="333375" y="257728"/>
                  </a:lnTo>
                  <a:lnTo>
                    <a:pt x="316776" y="301812"/>
                  </a:lnTo>
                  <a:lnTo>
                    <a:pt x="278484" y="329245"/>
                  </a:lnTo>
                  <a:lnTo>
                    <a:pt x="262994" y="332856"/>
                  </a:lnTo>
                  <a:lnTo>
                    <a:pt x="257729" y="333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481761" y="3319462"/>
              <a:ext cx="333375" cy="333375"/>
            </a:xfrm>
            <a:custGeom>
              <a:avLst/>
              <a:gdLst/>
              <a:ahLst/>
              <a:cxnLst/>
              <a:rect l="l" t="t" r="r" b="b"/>
              <a:pathLst>
                <a:path w="333375" h="333375">
                  <a:moveTo>
                    <a:pt x="0" y="252412"/>
                  </a:moveTo>
                  <a:lnTo>
                    <a:pt x="0" y="80962"/>
                  </a:lnTo>
                  <a:lnTo>
                    <a:pt x="0" y="75646"/>
                  </a:lnTo>
                  <a:lnTo>
                    <a:pt x="518" y="70381"/>
                  </a:lnTo>
                  <a:lnTo>
                    <a:pt x="1555" y="65167"/>
                  </a:lnTo>
                  <a:lnTo>
                    <a:pt x="2592" y="59953"/>
                  </a:lnTo>
                  <a:lnTo>
                    <a:pt x="4128" y="54890"/>
                  </a:lnTo>
                  <a:lnTo>
                    <a:pt x="6162" y="49979"/>
                  </a:lnTo>
                  <a:lnTo>
                    <a:pt x="8197" y="45067"/>
                  </a:lnTo>
                  <a:lnTo>
                    <a:pt x="10690" y="40402"/>
                  </a:lnTo>
                  <a:lnTo>
                    <a:pt x="13644" y="35982"/>
                  </a:lnTo>
                  <a:lnTo>
                    <a:pt x="16598" y="31561"/>
                  </a:lnTo>
                  <a:lnTo>
                    <a:pt x="19954" y="27472"/>
                  </a:lnTo>
                  <a:lnTo>
                    <a:pt x="23713" y="23713"/>
                  </a:lnTo>
                  <a:lnTo>
                    <a:pt x="27472" y="19954"/>
                  </a:lnTo>
                  <a:lnTo>
                    <a:pt x="31562" y="16597"/>
                  </a:lnTo>
                  <a:lnTo>
                    <a:pt x="35982" y="13643"/>
                  </a:lnTo>
                  <a:lnTo>
                    <a:pt x="40401" y="10690"/>
                  </a:lnTo>
                  <a:lnTo>
                    <a:pt x="45066" y="8196"/>
                  </a:lnTo>
                  <a:lnTo>
                    <a:pt x="49978" y="6162"/>
                  </a:lnTo>
                  <a:lnTo>
                    <a:pt x="54890" y="4128"/>
                  </a:lnTo>
                  <a:lnTo>
                    <a:pt x="59953" y="2592"/>
                  </a:lnTo>
                  <a:lnTo>
                    <a:pt x="65167" y="1555"/>
                  </a:lnTo>
                  <a:lnTo>
                    <a:pt x="70381" y="518"/>
                  </a:lnTo>
                  <a:lnTo>
                    <a:pt x="75646" y="0"/>
                  </a:lnTo>
                  <a:lnTo>
                    <a:pt x="80963" y="0"/>
                  </a:lnTo>
                  <a:lnTo>
                    <a:pt x="252413" y="0"/>
                  </a:lnTo>
                  <a:lnTo>
                    <a:pt x="257729" y="0"/>
                  </a:lnTo>
                  <a:lnTo>
                    <a:pt x="262994" y="518"/>
                  </a:lnTo>
                  <a:lnTo>
                    <a:pt x="268208" y="1555"/>
                  </a:lnTo>
                  <a:lnTo>
                    <a:pt x="273422" y="2592"/>
                  </a:lnTo>
                  <a:lnTo>
                    <a:pt x="309661" y="23713"/>
                  </a:lnTo>
                  <a:lnTo>
                    <a:pt x="330782" y="59953"/>
                  </a:lnTo>
                  <a:lnTo>
                    <a:pt x="333375" y="75646"/>
                  </a:lnTo>
                  <a:lnTo>
                    <a:pt x="333375" y="80962"/>
                  </a:lnTo>
                  <a:lnTo>
                    <a:pt x="333375" y="252412"/>
                  </a:lnTo>
                  <a:lnTo>
                    <a:pt x="333375" y="257728"/>
                  </a:lnTo>
                  <a:lnTo>
                    <a:pt x="332857" y="262993"/>
                  </a:lnTo>
                  <a:lnTo>
                    <a:pt x="316776" y="301812"/>
                  </a:lnTo>
                  <a:lnTo>
                    <a:pt x="297392" y="319729"/>
                  </a:lnTo>
                  <a:lnTo>
                    <a:pt x="292972" y="322683"/>
                  </a:lnTo>
                  <a:lnTo>
                    <a:pt x="268208" y="331818"/>
                  </a:lnTo>
                  <a:lnTo>
                    <a:pt x="262994" y="332856"/>
                  </a:lnTo>
                  <a:lnTo>
                    <a:pt x="257729" y="333374"/>
                  </a:lnTo>
                  <a:lnTo>
                    <a:pt x="252413" y="333374"/>
                  </a:lnTo>
                  <a:lnTo>
                    <a:pt x="80963" y="333374"/>
                  </a:lnTo>
                  <a:lnTo>
                    <a:pt x="75646" y="333374"/>
                  </a:lnTo>
                  <a:lnTo>
                    <a:pt x="70381" y="332856"/>
                  </a:lnTo>
                  <a:lnTo>
                    <a:pt x="65167" y="331818"/>
                  </a:lnTo>
                  <a:lnTo>
                    <a:pt x="59953" y="330781"/>
                  </a:lnTo>
                  <a:lnTo>
                    <a:pt x="35982" y="319729"/>
                  </a:lnTo>
                  <a:lnTo>
                    <a:pt x="31562" y="316776"/>
                  </a:lnTo>
                  <a:lnTo>
                    <a:pt x="27472" y="313420"/>
                  </a:lnTo>
                  <a:lnTo>
                    <a:pt x="23713" y="309661"/>
                  </a:lnTo>
                  <a:lnTo>
                    <a:pt x="19954" y="305902"/>
                  </a:lnTo>
                  <a:lnTo>
                    <a:pt x="1555" y="268207"/>
                  </a:lnTo>
                  <a:lnTo>
                    <a:pt x="518" y="262993"/>
                  </a:lnTo>
                  <a:lnTo>
                    <a:pt x="0" y="257728"/>
                  </a:lnTo>
                  <a:lnTo>
                    <a:pt x="0" y="252412"/>
                  </a:lnTo>
                  <a:close/>
                </a:path>
              </a:pathLst>
            </a:custGeom>
            <a:ln w="9524">
              <a:solidFill>
                <a:srgbClr val="E4DE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5424" y="3413124"/>
              <a:ext cx="146050" cy="146050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6934200" y="3239715"/>
            <a:ext cx="3484245" cy="40513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dirty="0" sz="950" spc="-90" b="1">
                <a:solidFill>
                  <a:srgbClr val="293283"/>
                </a:solidFill>
                <a:latin typeface="Tahoma"/>
                <a:cs typeface="Tahoma"/>
              </a:rPr>
              <a:t>Full</a:t>
            </a:r>
            <a:r>
              <a:rPr dirty="0" sz="950" spc="-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50" spc="-10" b="1">
                <a:solidFill>
                  <a:srgbClr val="293283"/>
                </a:solidFill>
                <a:latin typeface="Tahoma"/>
                <a:cs typeface="Tahoma"/>
              </a:rPr>
              <a:t>dashboard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Combine </a:t>
            </a:r>
            <a:r>
              <a:rPr dirty="0" sz="850" spc="-45">
                <a:solidFill>
                  <a:srgbClr val="4A4E6A"/>
                </a:solidFill>
                <a:latin typeface="Trebuchet MS"/>
                <a:cs typeface="Trebuchet MS"/>
              </a:rPr>
              <a:t>sidebar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+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dataframe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+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metrics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30">
                <a:solidFill>
                  <a:srgbClr val="4A4E6A"/>
                </a:solidFill>
                <a:latin typeface="Trebuchet MS"/>
                <a:cs typeface="Trebuchet MS"/>
              </a:rPr>
              <a:t>+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60">
                <a:solidFill>
                  <a:srgbClr val="4A4E6A"/>
                </a:solidFill>
                <a:latin typeface="Trebuchet MS"/>
                <a:cs typeface="Trebuchet MS"/>
              </a:rPr>
              <a:t>charts.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5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Phase-</a:t>
            </a:r>
            <a:r>
              <a:rPr dirty="0" sz="850" spc="-20">
                <a:solidFill>
                  <a:srgbClr val="4A4E6A"/>
                </a:solidFill>
                <a:latin typeface="Trebuchet MS"/>
                <a:cs typeface="Trebuchet MS"/>
              </a:rPr>
              <a:t>2</a:t>
            </a:r>
            <a:r>
              <a:rPr dirty="0" sz="85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4A4E6A"/>
                </a:solidFill>
                <a:latin typeface="Trebuchet MS"/>
                <a:cs typeface="Trebuchet MS"/>
              </a:rPr>
              <a:t>capstone</a:t>
            </a:r>
            <a:r>
              <a:rPr dirty="0" sz="850" spc="-3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4A4E6A"/>
                </a:solidFill>
                <a:latin typeface="Trebuchet MS"/>
                <a:cs typeface="Trebuchet MS"/>
              </a:rPr>
              <a:t>pattern.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362699" y="3867149"/>
            <a:ext cx="4981575" cy="495300"/>
          </a:xfrm>
          <a:custGeom>
            <a:avLst/>
            <a:gdLst/>
            <a:ahLst/>
            <a:cxnLst/>
            <a:rect l="l" t="t" r="r" b="b"/>
            <a:pathLst>
              <a:path w="4981575" h="495300">
                <a:moveTo>
                  <a:pt x="4892578" y="495299"/>
                </a:moveTo>
                <a:lnTo>
                  <a:pt x="88995" y="495299"/>
                </a:lnTo>
                <a:lnTo>
                  <a:pt x="82801" y="494689"/>
                </a:lnTo>
                <a:lnTo>
                  <a:pt x="37130" y="475772"/>
                </a:lnTo>
                <a:lnTo>
                  <a:pt x="9643" y="442277"/>
                </a:lnTo>
                <a:lnTo>
                  <a:pt x="0" y="406303"/>
                </a:lnTo>
                <a:lnTo>
                  <a:pt x="0" y="400049"/>
                </a:lnTo>
                <a:lnTo>
                  <a:pt x="0" y="88995"/>
                </a:lnTo>
                <a:lnTo>
                  <a:pt x="12576" y="47531"/>
                </a:lnTo>
                <a:lnTo>
                  <a:pt x="47530" y="12577"/>
                </a:lnTo>
                <a:lnTo>
                  <a:pt x="88995" y="0"/>
                </a:lnTo>
                <a:lnTo>
                  <a:pt x="4892578" y="0"/>
                </a:lnTo>
                <a:lnTo>
                  <a:pt x="4934041" y="12577"/>
                </a:lnTo>
                <a:lnTo>
                  <a:pt x="4968996" y="47531"/>
                </a:lnTo>
                <a:lnTo>
                  <a:pt x="4981574" y="88995"/>
                </a:lnTo>
                <a:lnTo>
                  <a:pt x="4981574" y="406303"/>
                </a:lnTo>
                <a:lnTo>
                  <a:pt x="4968996" y="447767"/>
                </a:lnTo>
                <a:lnTo>
                  <a:pt x="4934041" y="482721"/>
                </a:lnTo>
                <a:lnTo>
                  <a:pt x="4898772" y="494689"/>
                </a:lnTo>
                <a:lnTo>
                  <a:pt x="4892578" y="495299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6496049" y="3933507"/>
            <a:ext cx="459295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42315" marR="5080" indent="-742950">
              <a:lnSpc>
                <a:spcPct val="117600"/>
              </a:lnSpc>
              <a:spcBef>
                <a:spcPts val="95"/>
              </a:spcBef>
            </a:pPr>
            <a:r>
              <a:rPr dirty="0" sz="750" spc="-80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750" spc="-10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750" spc="-55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750" spc="-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750" spc="-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750" spc="-55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750" spc="-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750" spc="-8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750" spc="-11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750" spc="-9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750" spc="-55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750" spc="-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FFFFFF"/>
                </a:solidFill>
                <a:latin typeface="Tahoma"/>
                <a:cs typeface="Tahoma"/>
              </a:rPr>
              <a:t>W</a:t>
            </a:r>
            <a:r>
              <a:rPr dirty="0" sz="750" spc="185" b="1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dirty="0" sz="850" spc="150">
                <a:solidFill>
                  <a:srgbClr val="FFFFFF"/>
                </a:solidFill>
                <a:latin typeface="Trebuchet MS"/>
                <a:cs typeface="Trebuchet MS"/>
              </a:rPr>
              <a:t>—</a:t>
            </a:r>
            <a:r>
              <a:rPr dirty="0" sz="850" spc="-55">
                <a:solidFill>
                  <a:srgbClr val="FFFFFF"/>
                </a:solidFill>
                <a:latin typeface="Trebuchet MS"/>
                <a:cs typeface="Trebuchet MS"/>
              </a:rPr>
              <a:t> Your </a:t>
            </a:r>
            <a:r>
              <a:rPr dirty="0" sz="850" spc="-6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dirty="0" sz="8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FFFFFF"/>
                </a:solidFill>
                <a:latin typeface="Trebuchet MS"/>
                <a:cs typeface="Trebuchet MS"/>
              </a:rPr>
              <a:t>stops</a:t>
            </a:r>
            <a:r>
              <a:rPr dirty="0" sz="8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FFFFFF"/>
                </a:solidFill>
                <a:latin typeface="Trebuchet MS"/>
                <a:cs typeface="Trebuchet MS"/>
              </a:rPr>
              <a:t>being</a:t>
            </a:r>
            <a:r>
              <a:rPr dirty="0" sz="8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8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50" spc="-60">
                <a:solidFill>
                  <a:srgbClr val="FFFFFF"/>
                </a:solidFill>
                <a:latin typeface="Trebuchet MS"/>
                <a:cs typeface="Trebuchet MS"/>
              </a:rPr>
              <a:t>table</a:t>
            </a:r>
            <a:r>
              <a:rPr dirty="0" sz="8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8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FFFFFF"/>
                </a:solidFill>
                <a:latin typeface="Trebuchet MS"/>
                <a:cs typeface="Trebuchet MS"/>
              </a:rPr>
              <a:t>starts</a:t>
            </a:r>
            <a:r>
              <a:rPr dirty="0" sz="8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FFFFFF"/>
                </a:solidFill>
                <a:latin typeface="Trebuchet MS"/>
                <a:cs typeface="Trebuchet MS"/>
              </a:rPr>
              <a:t>being</a:t>
            </a:r>
            <a:r>
              <a:rPr dirty="0" sz="8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50" spc="-5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8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50" spc="-60">
                <a:solidFill>
                  <a:srgbClr val="FFFFFF"/>
                </a:solidFill>
                <a:latin typeface="Trebuchet MS"/>
                <a:cs typeface="Trebuchet MS"/>
              </a:rPr>
              <a:t>picture.</a:t>
            </a:r>
            <a:r>
              <a:rPr dirty="0" sz="850" spc="-55">
                <a:solidFill>
                  <a:srgbClr val="FFFFFF"/>
                </a:solidFill>
                <a:latin typeface="Trebuchet MS"/>
                <a:cs typeface="Trebuchet MS"/>
              </a:rPr>
              <a:t> The</a:t>
            </a:r>
            <a:r>
              <a:rPr dirty="0" sz="8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50" spc="-30">
                <a:solidFill>
                  <a:srgbClr val="FFFFFF"/>
                </a:solidFill>
                <a:latin typeface="Trebuchet MS"/>
                <a:cs typeface="Trebuchet MS"/>
              </a:rPr>
              <a:t>moment</a:t>
            </a:r>
            <a:r>
              <a:rPr dirty="0" sz="8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FFFFFF"/>
                </a:solidFill>
                <a:latin typeface="Trebuchet MS"/>
                <a:cs typeface="Trebuchet MS"/>
              </a:rPr>
              <a:t>dashboards</a:t>
            </a:r>
            <a:r>
              <a:rPr dirty="0" sz="8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50" spc="-20">
                <a:solidFill>
                  <a:srgbClr val="FFFFFF"/>
                </a:solidFill>
                <a:latin typeface="Trebuchet MS"/>
                <a:cs typeface="Trebuchet MS"/>
              </a:rPr>
              <a:t>feel real.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962274" y="6038849"/>
            <a:ext cx="6267450" cy="285750"/>
          </a:xfrm>
          <a:custGeom>
            <a:avLst/>
            <a:gdLst/>
            <a:ahLst/>
            <a:cxnLst/>
            <a:rect l="l" t="t" r="r" b="b"/>
            <a:pathLst>
              <a:path w="6267450" h="285750">
                <a:moveTo>
                  <a:pt x="6124574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8" y="277400"/>
                </a:lnTo>
                <a:lnTo>
                  <a:pt x="57756" y="257627"/>
                </a:lnTo>
                <a:lnTo>
                  <a:pt x="28120" y="227992"/>
                </a:lnTo>
                <a:lnTo>
                  <a:pt x="8347" y="190999"/>
                </a:lnTo>
                <a:lnTo>
                  <a:pt x="171" y="149894"/>
                </a:lnTo>
                <a:lnTo>
                  <a:pt x="0" y="142874"/>
                </a:lnTo>
                <a:lnTo>
                  <a:pt x="171" y="135855"/>
                </a:lnTo>
                <a:lnTo>
                  <a:pt x="8347" y="94748"/>
                </a:lnTo>
                <a:lnTo>
                  <a:pt x="28120" y="57756"/>
                </a:lnTo>
                <a:lnTo>
                  <a:pt x="57756" y="28119"/>
                </a:lnTo>
                <a:lnTo>
                  <a:pt x="94748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6124574" y="0"/>
                </a:lnTo>
                <a:lnTo>
                  <a:pt x="6166048" y="6150"/>
                </a:lnTo>
                <a:lnTo>
                  <a:pt x="6203951" y="24077"/>
                </a:lnTo>
                <a:lnTo>
                  <a:pt x="6235019" y="52234"/>
                </a:lnTo>
                <a:lnTo>
                  <a:pt x="6256573" y="88198"/>
                </a:lnTo>
                <a:lnTo>
                  <a:pt x="6266762" y="128870"/>
                </a:lnTo>
                <a:lnTo>
                  <a:pt x="6267449" y="142874"/>
                </a:lnTo>
                <a:lnTo>
                  <a:pt x="6267277" y="149894"/>
                </a:lnTo>
                <a:lnTo>
                  <a:pt x="6259100" y="190999"/>
                </a:lnTo>
                <a:lnTo>
                  <a:pt x="6239327" y="227992"/>
                </a:lnTo>
                <a:lnTo>
                  <a:pt x="6209691" y="257628"/>
                </a:lnTo>
                <a:lnTo>
                  <a:pt x="6172698" y="277400"/>
                </a:lnTo>
                <a:lnTo>
                  <a:pt x="6131593" y="285578"/>
                </a:lnTo>
                <a:lnTo>
                  <a:pt x="6124574" y="285749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3104505" y="6092824"/>
            <a:ext cx="597916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8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F</a:t>
            </a:r>
            <a:r>
              <a:rPr dirty="0" sz="800" spc="14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FF6A5B"/>
                </a:solidFill>
                <a:latin typeface="Tahoma"/>
                <a:cs typeface="Tahoma"/>
              </a:rPr>
              <a:t>YO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40" b="1">
                <a:solidFill>
                  <a:srgbClr val="FF6A5B"/>
                </a:solidFill>
                <a:latin typeface="Tahoma"/>
                <a:cs typeface="Tahoma"/>
              </a:rPr>
              <a:t>'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14" b="1">
                <a:solidFill>
                  <a:srgbClr val="FF6A5B"/>
                </a:solidFill>
                <a:latin typeface="Tahoma"/>
                <a:cs typeface="Tahoma"/>
              </a:rPr>
              <a:t>R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800" spc="17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FF6A5B"/>
                </a:solidFill>
                <a:latin typeface="Tahoma"/>
                <a:cs typeface="Tahoma"/>
              </a:rPr>
              <a:t>S </a:t>
            </a:r>
            <a:r>
              <a:rPr dirty="0" sz="800" spc="-9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10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8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K</a:t>
            </a:r>
            <a:r>
              <a:rPr dirty="0" sz="800" spc="190" b="1">
                <a:solidFill>
                  <a:srgbClr val="FF6A5B"/>
                </a:solidFill>
                <a:latin typeface="Tahoma"/>
                <a:cs typeface="Tahoma"/>
              </a:rPr>
              <a:t>  </a:t>
            </a:r>
            <a:r>
              <a:rPr dirty="0" sz="800" spc="155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Pair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with a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neighbour.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Read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error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message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out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loud.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Raise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your hand.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We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move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at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room's</a:t>
            </a:r>
            <a:r>
              <a:rPr dirty="0" sz="800" spc="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pace.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90"/>
              <a:t>D</a:t>
            </a:r>
            <a:r>
              <a:rPr dirty="0" spc="-125"/>
              <a:t> </a:t>
            </a:r>
            <a:r>
              <a:rPr dirty="0"/>
              <a:t>AY</a:t>
            </a:r>
            <a:r>
              <a:rPr dirty="0" spc="55"/>
              <a:t> </a:t>
            </a:r>
            <a:r>
              <a:rPr dirty="0" spc="-105"/>
              <a:t>0 </a:t>
            </a:r>
            <a:r>
              <a:rPr dirty="0"/>
              <a:t>6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75"/>
              <a:t> </a:t>
            </a:r>
            <a:r>
              <a:rPr dirty="0" spc="-90"/>
              <a:t>W</a:t>
            </a:r>
            <a:r>
              <a:rPr dirty="0" spc="-114"/>
              <a:t> </a:t>
            </a:r>
            <a:r>
              <a:rPr dirty="0" spc="-65"/>
              <a:t>O</a:t>
            </a:r>
            <a:r>
              <a:rPr dirty="0" spc="-105"/>
              <a:t> </a:t>
            </a:r>
            <a:r>
              <a:rPr dirty="0" spc="-114"/>
              <a:t>R</a:t>
            </a:r>
            <a:r>
              <a:rPr dirty="0" spc="-105"/>
              <a:t> </a:t>
            </a:r>
            <a:r>
              <a:rPr dirty="0" spc="-120"/>
              <a:t>K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80"/>
              <a:t>N</a:t>
            </a:r>
            <a:r>
              <a:rPr dirty="0" spc="-105"/>
              <a:t> </a:t>
            </a:r>
            <a:r>
              <a:rPr dirty="0"/>
              <a:t>G</a:t>
            </a:r>
            <a:r>
              <a:rPr dirty="0" spc="170"/>
              <a:t> </a:t>
            </a:r>
            <a:r>
              <a:rPr dirty="0" spc="-90"/>
              <a:t>W</a:t>
            </a:r>
            <a:r>
              <a:rPr dirty="0" spc="-105"/>
              <a:t> </a:t>
            </a:r>
            <a:r>
              <a:rPr dirty="0" spc="-180"/>
              <a:t>I</a:t>
            </a:r>
            <a:r>
              <a:rPr dirty="0" spc="-105"/>
              <a:t> </a:t>
            </a:r>
            <a:r>
              <a:rPr dirty="0" spc="-90"/>
              <a:t>T</a:t>
            </a:r>
            <a:r>
              <a:rPr dirty="0" spc="-105"/>
              <a:t> </a:t>
            </a:r>
            <a:r>
              <a:rPr dirty="0"/>
              <a:t>H</a:t>
            </a:r>
            <a:r>
              <a:rPr dirty="0" spc="170"/>
              <a:t> </a:t>
            </a:r>
            <a:r>
              <a:rPr dirty="0" spc="-90"/>
              <a:t>D</a:t>
            </a:r>
            <a:r>
              <a:rPr dirty="0" spc="-125"/>
              <a:t> </a:t>
            </a:r>
            <a:r>
              <a:rPr dirty="0" spc="-25"/>
              <a:t>ATA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pc="-10"/>
              <a:t>1</a:t>
            </a:r>
            <a:r>
              <a:rPr dirty="0" spc="-110"/>
              <a:t> </a:t>
            </a:r>
            <a:r>
              <a:rPr dirty="0"/>
              <a:t>7</a:t>
            </a:r>
            <a:r>
              <a:rPr dirty="0" spc="125"/>
              <a:t> </a:t>
            </a:r>
            <a:r>
              <a:rPr dirty="0"/>
              <a:t>/</a:t>
            </a:r>
            <a:r>
              <a:rPr dirty="0" spc="155"/>
              <a:t> </a:t>
            </a:r>
            <a:r>
              <a:rPr dirty="0" spc="-10"/>
              <a:t>1</a:t>
            </a:r>
            <a:r>
              <a:rPr dirty="0" spc="-110"/>
              <a:t> </a:t>
            </a:r>
            <a:r>
              <a:rPr dirty="0" spc="-60"/>
              <a:t>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00" y="530225"/>
            <a:ext cx="15360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85" b="1">
                <a:solidFill>
                  <a:srgbClr val="FF6A5B"/>
                </a:solidFill>
                <a:latin typeface="Tahoma"/>
                <a:cs typeface="Tahoma"/>
              </a:rPr>
              <a:t>Q</a:t>
            </a:r>
            <a:r>
              <a:rPr dirty="0" sz="9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70" b="1">
                <a:solidFill>
                  <a:srgbClr val="FF6A5B"/>
                </a:solidFill>
                <a:latin typeface="Tahoma"/>
                <a:cs typeface="Tahoma"/>
              </a:rPr>
              <a:t>&amp;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A</a:t>
            </a:r>
            <a:r>
              <a:rPr dirty="0" sz="900" spc="7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0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3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40" b="1">
                <a:solidFill>
                  <a:srgbClr val="FF6A5B"/>
                </a:solidFill>
                <a:latin typeface="Tahoma"/>
                <a:cs typeface="Tahoma"/>
              </a:rPr>
              <a:t>L</a:t>
            </a:r>
            <a:r>
              <a:rPr dirty="0" sz="900" spc="-1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16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N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·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FF6A5B"/>
                </a:solidFill>
                <a:latin typeface="Tahoma"/>
                <a:cs typeface="Tahoma"/>
              </a:rPr>
              <a:t>5</a:t>
            </a:r>
            <a:r>
              <a:rPr dirty="0" sz="900" spc="21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6A5B"/>
                </a:solidFill>
                <a:latin typeface="Tahoma"/>
                <a:cs typeface="Tahoma"/>
              </a:rPr>
              <a:t>M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900" spc="-5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3099" y="342476"/>
            <a:ext cx="8590915" cy="1333500"/>
          </a:xfrm>
          <a:prstGeom prst="rect"/>
        </p:spPr>
        <p:txBody>
          <a:bodyPr wrap="square" lIns="0" tIns="361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0"/>
              </a:spcBef>
            </a:pPr>
            <a:r>
              <a:rPr dirty="0" sz="4200" spc="-985">
                <a:solidFill>
                  <a:srgbClr val="293283"/>
                </a:solidFill>
              </a:rPr>
              <a:t>T</a:t>
            </a:r>
            <a:r>
              <a:rPr dirty="0" sz="4200" spc="-520">
                <a:solidFill>
                  <a:srgbClr val="293283"/>
                </a:solidFill>
              </a:rPr>
              <a:t>od</a:t>
            </a:r>
            <a:r>
              <a:rPr dirty="0" sz="4200" spc="-625">
                <a:solidFill>
                  <a:srgbClr val="293283"/>
                </a:solidFill>
              </a:rPr>
              <a:t>a</a:t>
            </a:r>
            <a:r>
              <a:rPr dirty="0" sz="4200" spc="-395">
                <a:solidFill>
                  <a:srgbClr val="293283"/>
                </a:solidFill>
              </a:rPr>
              <a:t>y</a:t>
            </a:r>
            <a:r>
              <a:rPr dirty="0" sz="4200" spc="-480">
                <a:solidFill>
                  <a:srgbClr val="293283"/>
                </a:solidFill>
              </a:rPr>
              <a:t> </a:t>
            </a:r>
            <a:r>
              <a:rPr dirty="0" sz="4200" spc="-484">
                <a:solidFill>
                  <a:srgbClr val="293283"/>
                </a:solidFill>
              </a:rPr>
              <a:t>your</a:t>
            </a:r>
            <a:r>
              <a:rPr dirty="0" sz="4200" spc="-480">
                <a:solidFill>
                  <a:srgbClr val="293283"/>
                </a:solidFill>
              </a:rPr>
              <a:t> </a:t>
            </a:r>
            <a:r>
              <a:rPr dirty="0" sz="4200" spc="-525">
                <a:solidFill>
                  <a:srgbClr val="293283"/>
                </a:solidFill>
              </a:rPr>
              <a:t>apps</a:t>
            </a:r>
            <a:r>
              <a:rPr dirty="0" sz="4200" spc="-480">
                <a:solidFill>
                  <a:srgbClr val="293283"/>
                </a:solidFill>
              </a:rPr>
              <a:t> </a:t>
            </a:r>
            <a:r>
              <a:rPr dirty="0" sz="4200" spc="-475">
                <a:solidFill>
                  <a:srgbClr val="293283"/>
                </a:solidFill>
              </a:rPr>
              <a:t>learned</a:t>
            </a:r>
            <a:r>
              <a:rPr dirty="0" sz="4200" spc="-480">
                <a:solidFill>
                  <a:srgbClr val="293283"/>
                </a:solidFill>
              </a:rPr>
              <a:t> </a:t>
            </a:r>
            <a:r>
              <a:rPr dirty="0" sz="4200" spc="-395">
                <a:solidFill>
                  <a:srgbClr val="293283"/>
                </a:solidFill>
              </a:rPr>
              <a:t>to</a:t>
            </a:r>
            <a:r>
              <a:rPr dirty="0" sz="4200" spc="-480">
                <a:solidFill>
                  <a:srgbClr val="293283"/>
                </a:solidFill>
              </a:rPr>
              <a:t> </a:t>
            </a:r>
            <a:r>
              <a:rPr dirty="0" sz="4200" spc="-585"/>
              <a:t>r</a:t>
            </a:r>
            <a:r>
              <a:rPr dirty="0" sz="4200" spc="-515"/>
              <a:t>emembe</a:t>
            </a:r>
            <a:r>
              <a:rPr dirty="0" sz="4200" spc="-980"/>
              <a:t>r</a:t>
            </a:r>
            <a:r>
              <a:rPr dirty="0" sz="4200" spc="-390"/>
              <a:t>.</a:t>
            </a:r>
            <a:endParaRPr sz="4200"/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350" spc="-85" b="0">
                <a:solidFill>
                  <a:srgbClr val="4A4E6A"/>
                </a:solidFill>
                <a:latin typeface="Trebuchet MS"/>
                <a:cs typeface="Trebuchet MS"/>
              </a:rPr>
              <a:t>Tomorrow </a:t>
            </a:r>
            <a:r>
              <a:rPr dirty="0" sz="1350" spc="-70" b="0">
                <a:solidFill>
                  <a:srgbClr val="4A4E6A"/>
                </a:solidFill>
                <a:latin typeface="Trebuchet MS"/>
                <a:cs typeface="Trebuchet MS"/>
              </a:rPr>
              <a:t>we</a:t>
            </a:r>
            <a:r>
              <a:rPr dirty="0" sz="1350" spc="-8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90" b="0">
                <a:solidFill>
                  <a:srgbClr val="4A4E6A"/>
                </a:solidFill>
                <a:latin typeface="Trebuchet MS"/>
                <a:cs typeface="Trebuchet MS"/>
              </a:rPr>
              <a:t>make</a:t>
            </a:r>
            <a:r>
              <a:rPr dirty="0" sz="1350" spc="-8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85" b="0">
                <a:solidFill>
                  <a:srgbClr val="4A4E6A"/>
                </a:solidFill>
                <a:latin typeface="Trebuchet MS"/>
                <a:cs typeface="Trebuchet MS"/>
              </a:rPr>
              <a:t>that </a:t>
            </a:r>
            <a:r>
              <a:rPr dirty="0" sz="1350" spc="-90" b="0">
                <a:solidFill>
                  <a:srgbClr val="4A4E6A"/>
                </a:solidFill>
                <a:latin typeface="Trebuchet MS"/>
                <a:cs typeface="Trebuchet MS"/>
              </a:rPr>
              <a:t>data</a:t>
            </a:r>
            <a:r>
              <a:rPr dirty="0" sz="1350" spc="-8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80" b="0">
                <a:solidFill>
                  <a:srgbClr val="4A4E6A"/>
                </a:solidFill>
                <a:latin typeface="Trebuchet MS"/>
                <a:cs typeface="Trebuchet MS"/>
              </a:rPr>
              <a:t>visible </a:t>
            </a:r>
            <a:r>
              <a:rPr dirty="0" sz="1350" spc="225" b="0">
                <a:solidFill>
                  <a:srgbClr val="4A4E6A"/>
                </a:solidFill>
                <a:latin typeface="Trebuchet MS"/>
                <a:cs typeface="Trebuchet MS"/>
              </a:rPr>
              <a:t>—</a:t>
            </a:r>
            <a:r>
              <a:rPr dirty="0" sz="1350" spc="-8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80" b="0">
                <a:solidFill>
                  <a:srgbClr val="4A4E6A"/>
                </a:solidFill>
                <a:latin typeface="Trebuchet MS"/>
                <a:cs typeface="Trebuchet MS"/>
              </a:rPr>
              <a:t>line</a:t>
            </a:r>
            <a:r>
              <a:rPr dirty="0" sz="1350" spc="-8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90" b="0">
                <a:solidFill>
                  <a:srgbClr val="4A4E6A"/>
                </a:solidFill>
                <a:latin typeface="Trebuchet MS"/>
                <a:cs typeface="Trebuchet MS"/>
              </a:rPr>
              <a:t>charts,</a:t>
            </a:r>
            <a:r>
              <a:rPr dirty="0" sz="1350" spc="-8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70" b="0">
                <a:solidFill>
                  <a:srgbClr val="4A4E6A"/>
                </a:solidFill>
                <a:latin typeface="Trebuchet MS"/>
                <a:cs typeface="Trebuchet MS"/>
              </a:rPr>
              <a:t>bar</a:t>
            </a:r>
            <a:r>
              <a:rPr dirty="0" sz="1350" spc="-8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90" b="0">
                <a:solidFill>
                  <a:srgbClr val="4A4E6A"/>
                </a:solidFill>
                <a:latin typeface="Trebuchet MS"/>
                <a:cs typeface="Trebuchet MS"/>
              </a:rPr>
              <a:t>charts,</a:t>
            </a:r>
            <a:r>
              <a:rPr dirty="0" sz="1350" spc="-80" b="0">
                <a:solidFill>
                  <a:srgbClr val="4A4E6A"/>
                </a:solidFill>
                <a:latin typeface="Trebuchet MS"/>
                <a:cs typeface="Trebuchet MS"/>
              </a:rPr>
              <a:t> a</a:t>
            </a:r>
            <a:r>
              <a:rPr dirty="0" sz="1350" spc="-8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90" b="0">
                <a:solidFill>
                  <a:srgbClr val="4A4E6A"/>
                </a:solidFill>
                <a:latin typeface="Trebuchet MS"/>
                <a:cs typeface="Trebuchet MS"/>
              </a:rPr>
              <a:t>real</a:t>
            </a:r>
            <a:r>
              <a:rPr dirty="0" sz="1350" spc="-8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75" b="0">
                <a:solidFill>
                  <a:srgbClr val="4A4E6A"/>
                </a:solidFill>
                <a:latin typeface="Trebuchet MS"/>
                <a:cs typeface="Trebuchet MS"/>
              </a:rPr>
              <a:t>dashboard.</a:t>
            </a:r>
            <a:r>
              <a:rPr dirty="0" sz="1350" spc="-8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90" b="0">
                <a:solidFill>
                  <a:srgbClr val="4A4E6A"/>
                </a:solidFill>
                <a:latin typeface="Trebuchet MS"/>
                <a:cs typeface="Trebuchet MS"/>
              </a:rPr>
              <a:t>The</a:t>
            </a:r>
            <a:r>
              <a:rPr dirty="0" sz="1350" spc="-8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80" b="0">
                <a:solidFill>
                  <a:srgbClr val="4A4E6A"/>
                </a:solidFill>
                <a:latin typeface="Trebuchet MS"/>
                <a:cs typeface="Trebuchet MS"/>
              </a:rPr>
              <a:t>day</a:t>
            </a:r>
            <a:r>
              <a:rPr dirty="0" sz="1350" spc="-8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65" b="0">
                <a:solidFill>
                  <a:srgbClr val="4A4E6A"/>
                </a:solidFill>
                <a:latin typeface="Trebuchet MS"/>
                <a:cs typeface="Trebuchet MS"/>
              </a:rPr>
              <a:t>Phase</a:t>
            </a:r>
            <a:r>
              <a:rPr dirty="0" sz="1350" spc="-8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35" b="0">
                <a:solidFill>
                  <a:srgbClr val="4A4E6A"/>
                </a:solidFill>
                <a:latin typeface="Trebuchet MS"/>
                <a:cs typeface="Trebuchet MS"/>
              </a:rPr>
              <a:t>2</a:t>
            </a:r>
            <a:r>
              <a:rPr dirty="0" sz="1350" spc="-8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80" b="0">
                <a:solidFill>
                  <a:srgbClr val="4A4E6A"/>
                </a:solidFill>
                <a:latin typeface="Trebuchet MS"/>
                <a:cs typeface="Trebuchet MS"/>
              </a:rPr>
              <a:t>starts</a:t>
            </a:r>
            <a:r>
              <a:rPr dirty="0" sz="1350" spc="-85" b="0">
                <a:solidFill>
                  <a:srgbClr val="4A4E6A"/>
                </a:solidFill>
                <a:latin typeface="Trebuchet MS"/>
                <a:cs typeface="Trebuchet MS"/>
              </a:rPr>
              <a:t> feeling</a:t>
            </a:r>
            <a:r>
              <a:rPr dirty="0" sz="1350" spc="-80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100" b="0">
                <a:solidFill>
                  <a:srgbClr val="4A4E6A"/>
                </a:solidFill>
                <a:latin typeface="Trebuchet MS"/>
                <a:cs typeface="Trebuchet MS"/>
              </a:rPr>
              <a:t>like</a:t>
            </a:r>
            <a:r>
              <a:rPr dirty="0" sz="1350" spc="-85" b="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1350" spc="-80" b="0">
                <a:solidFill>
                  <a:srgbClr val="4A4E6A"/>
                </a:solidFill>
                <a:latin typeface="Trebuchet MS"/>
                <a:cs typeface="Trebuchet MS"/>
              </a:rPr>
              <a:t>a </a:t>
            </a:r>
            <a:r>
              <a:rPr dirty="0" sz="1350" spc="-25" b="0">
                <a:solidFill>
                  <a:srgbClr val="4A4E6A"/>
                </a:solidFill>
                <a:latin typeface="Trebuchet MS"/>
                <a:cs typeface="Trebuchet MS"/>
              </a:rPr>
              <a:t>product.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5799" y="1905000"/>
            <a:ext cx="3505200" cy="4819650"/>
            <a:chOff x="685799" y="1905000"/>
            <a:chExt cx="3505200" cy="4819650"/>
          </a:xfrm>
        </p:grpSpPr>
        <p:sp>
          <p:nvSpPr>
            <p:cNvPr id="5" name="object 5"/>
            <p:cNvSpPr/>
            <p:nvPr/>
          </p:nvSpPr>
          <p:spPr>
            <a:xfrm>
              <a:off x="704849" y="1909762"/>
              <a:ext cx="3481704" cy="4810125"/>
            </a:xfrm>
            <a:custGeom>
              <a:avLst/>
              <a:gdLst/>
              <a:ahLst/>
              <a:cxnLst/>
              <a:rect l="l" t="t" r="r" b="b"/>
              <a:pathLst>
                <a:path w="3481704" h="4810125">
                  <a:moveTo>
                    <a:pt x="3361242" y="4810124"/>
                  </a:moveTo>
                  <a:lnTo>
                    <a:pt x="106794" y="4810124"/>
                  </a:lnTo>
                  <a:lnTo>
                    <a:pt x="99362" y="4809300"/>
                  </a:lnTo>
                  <a:lnTo>
                    <a:pt x="57038" y="4793143"/>
                  </a:lnTo>
                  <a:lnTo>
                    <a:pt x="28170" y="4766490"/>
                  </a:lnTo>
                  <a:lnTo>
                    <a:pt x="5828" y="4722943"/>
                  </a:lnTo>
                  <a:lnTo>
                    <a:pt x="0" y="4689980"/>
                  </a:lnTo>
                  <a:lnTo>
                    <a:pt x="0" y="4681537"/>
                  </a:lnTo>
                  <a:lnTo>
                    <a:pt x="0" y="120144"/>
                  </a:lnTo>
                  <a:lnTo>
                    <a:pt x="11572" y="71578"/>
                  </a:lnTo>
                  <a:lnTo>
                    <a:pt x="38784" y="31692"/>
                  </a:lnTo>
                  <a:lnTo>
                    <a:pt x="77493" y="6556"/>
                  </a:lnTo>
                  <a:lnTo>
                    <a:pt x="106794" y="0"/>
                  </a:lnTo>
                  <a:lnTo>
                    <a:pt x="3361242" y="0"/>
                  </a:lnTo>
                  <a:lnTo>
                    <a:pt x="3409807" y="13018"/>
                  </a:lnTo>
                  <a:lnTo>
                    <a:pt x="3449694" y="43632"/>
                  </a:lnTo>
                  <a:lnTo>
                    <a:pt x="3474829" y="87179"/>
                  </a:lnTo>
                  <a:lnTo>
                    <a:pt x="3481387" y="120144"/>
                  </a:lnTo>
                  <a:lnTo>
                    <a:pt x="3481387" y="4689980"/>
                  </a:lnTo>
                  <a:lnTo>
                    <a:pt x="3468367" y="4738544"/>
                  </a:lnTo>
                  <a:lnTo>
                    <a:pt x="3437754" y="4778431"/>
                  </a:lnTo>
                  <a:lnTo>
                    <a:pt x="3394207" y="4803566"/>
                  </a:lnTo>
                  <a:lnTo>
                    <a:pt x="3369604" y="4809300"/>
                  </a:lnTo>
                  <a:lnTo>
                    <a:pt x="3361242" y="4810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53770" y="1904999"/>
              <a:ext cx="3437254" cy="4819650"/>
            </a:xfrm>
            <a:custGeom>
              <a:avLst/>
              <a:gdLst/>
              <a:ahLst/>
              <a:cxnLst/>
              <a:rect l="l" t="t" r="r" b="b"/>
              <a:pathLst>
                <a:path w="3437254" h="4819650">
                  <a:moveTo>
                    <a:pt x="3437217" y="133350"/>
                  </a:moveTo>
                  <a:lnTo>
                    <a:pt x="3431514" y="94703"/>
                  </a:lnTo>
                  <a:lnTo>
                    <a:pt x="3414776" y="59258"/>
                  </a:lnTo>
                  <a:lnTo>
                    <a:pt x="3398609" y="39573"/>
                  </a:lnTo>
                  <a:lnTo>
                    <a:pt x="3366795" y="15773"/>
                  </a:lnTo>
                  <a:lnTo>
                    <a:pt x="3329889" y="2540"/>
                  </a:lnTo>
                  <a:lnTo>
                    <a:pt x="33038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3303867" y="9525"/>
                  </a:lnTo>
                  <a:lnTo>
                    <a:pt x="3351263" y="18961"/>
                  </a:lnTo>
                  <a:lnTo>
                    <a:pt x="3391433" y="45796"/>
                  </a:lnTo>
                  <a:lnTo>
                    <a:pt x="3391878" y="46304"/>
                  </a:lnTo>
                  <a:lnTo>
                    <a:pt x="3399637" y="54838"/>
                  </a:lnTo>
                  <a:lnTo>
                    <a:pt x="3422396" y="97459"/>
                  </a:lnTo>
                  <a:lnTo>
                    <a:pt x="3427692" y="133350"/>
                  </a:lnTo>
                  <a:lnTo>
                    <a:pt x="3427692" y="4686300"/>
                  </a:lnTo>
                  <a:lnTo>
                    <a:pt x="3418268" y="4733696"/>
                  </a:lnTo>
                  <a:lnTo>
                    <a:pt x="3391878" y="4773358"/>
                  </a:lnTo>
                  <a:lnTo>
                    <a:pt x="3391433" y="4773866"/>
                  </a:lnTo>
                  <a:lnTo>
                    <a:pt x="3351263" y="4800701"/>
                  </a:lnTo>
                  <a:lnTo>
                    <a:pt x="3316325" y="4809502"/>
                  </a:lnTo>
                  <a:lnTo>
                    <a:pt x="3316846" y="4809502"/>
                  </a:lnTo>
                  <a:lnTo>
                    <a:pt x="3303867" y="4810125"/>
                  </a:lnTo>
                  <a:lnTo>
                    <a:pt x="65366" y="4810125"/>
                  </a:lnTo>
                  <a:lnTo>
                    <a:pt x="55397" y="4809502"/>
                  </a:lnTo>
                  <a:lnTo>
                    <a:pt x="55791" y="4809502"/>
                  </a:lnTo>
                  <a:lnTo>
                    <a:pt x="46786" y="4807775"/>
                  </a:lnTo>
                  <a:lnTo>
                    <a:pt x="37769" y="4804829"/>
                  </a:lnTo>
                  <a:lnTo>
                    <a:pt x="28917" y="4800701"/>
                  </a:lnTo>
                  <a:lnTo>
                    <a:pt x="22542" y="4796790"/>
                  </a:lnTo>
                  <a:lnTo>
                    <a:pt x="0" y="4802429"/>
                  </a:lnTo>
                  <a:lnTo>
                    <a:pt x="39357" y="4817122"/>
                  </a:lnTo>
                  <a:lnTo>
                    <a:pt x="65366" y="4819650"/>
                  </a:lnTo>
                  <a:lnTo>
                    <a:pt x="3303867" y="4819650"/>
                  </a:lnTo>
                  <a:lnTo>
                    <a:pt x="3317011" y="4819015"/>
                  </a:lnTo>
                  <a:lnTo>
                    <a:pt x="3329889" y="4817122"/>
                  </a:lnTo>
                  <a:lnTo>
                    <a:pt x="3342525" y="4813947"/>
                  </a:lnTo>
                  <a:lnTo>
                    <a:pt x="3353155" y="4810125"/>
                  </a:lnTo>
                  <a:lnTo>
                    <a:pt x="3354908" y="4809502"/>
                  </a:lnTo>
                  <a:lnTo>
                    <a:pt x="3388423" y="4789436"/>
                  </a:lnTo>
                  <a:lnTo>
                    <a:pt x="3414776" y="4760404"/>
                  </a:lnTo>
                  <a:lnTo>
                    <a:pt x="3431514" y="4724959"/>
                  </a:lnTo>
                  <a:lnTo>
                    <a:pt x="3437217" y="4686300"/>
                  </a:lnTo>
                  <a:lnTo>
                    <a:pt x="34372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799" y="1922063"/>
              <a:ext cx="90805" cy="4785995"/>
            </a:xfrm>
            <a:custGeom>
              <a:avLst/>
              <a:gdLst/>
              <a:ahLst/>
              <a:cxnLst/>
              <a:rect l="l" t="t" r="r" b="b"/>
              <a:pathLst>
                <a:path w="90804" h="4785995">
                  <a:moveTo>
                    <a:pt x="68254" y="4785522"/>
                  </a:moveTo>
                  <a:lnTo>
                    <a:pt x="30217" y="4753790"/>
                  </a:lnTo>
                  <a:lnTo>
                    <a:pt x="10150" y="4720266"/>
                  </a:lnTo>
                  <a:lnTo>
                    <a:pt x="634" y="4682372"/>
                  </a:lnTo>
                  <a:lnTo>
                    <a:pt x="0" y="466923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4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09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669236"/>
                  </a:lnTo>
                  <a:lnTo>
                    <a:pt x="45350" y="4716620"/>
                  </a:lnTo>
                  <a:lnTo>
                    <a:pt x="65998" y="4756793"/>
                  </a:lnTo>
                  <a:lnTo>
                    <a:pt x="90791" y="4779888"/>
                  </a:lnTo>
                  <a:lnTo>
                    <a:pt x="68254" y="4785522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82650" y="2082800"/>
            <a:ext cx="998219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65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P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800" spc="1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H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19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F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25" b="1">
                <a:solidFill>
                  <a:srgbClr val="293283"/>
                </a:solidFill>
                <a:latin typeface="Tahoma"/>
                <a:cs typeface="Tahoma"/>
              </a:rPr>
              <a:t>L</a:t>
            </a:r>
            <a:r>
              <a:rPr dirty="0" sz="800" spc="-12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Tahoma"/>
                <a:cs typeface="Tahoma"/>
              </a:rPr>
              <a:t>R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62324" y="2066924"/>
            <a:ext cx="647700" cy="219075"/>
          </a:xfrm>
          <a:custGeom>
            <a:avLst/>
            <a:gdLst/>
            <a:ahLst/>
            <a:cxnLst/>
            <a:rect l="l" t="t" r="r" b="b"/>
            <a:pathLst>
              <a:path w="647700" h="219075">
                <a:moveTo>
                  <a:pt x="545355" y="219074"/>
                </a:moveTo>
                <a:lnTo>
                  <a:pt x="102345" y="219074"/>
                </a:lnTo>
                <a:lnTo>
                  <a:pt x="95222" y="218373"/>
                </a:lnTo>
                <a:lnTo>
                  <a:pt x="54662" y="204610"/>
                </a:lnTo>
                <a:lnTo>
                  <a:pt x="22455" y="176373"/>
                </a:lnTo>
                <a:lnTo>
                  <a:pt x="3507" y="137961"/>
                </a:lnTo>
                <a:lnTo>
                  <a:pt x="0" y="116729"/>
                </a:lnTo>
                <a:lnTo>
                  <a:pt x="0" y="109537"/>
                </a:lnTo>
                <a:lnTo>
                  <a:pt x="0" y="102345"/>
                </a:lnTo>
                <a:lnTo>
                  <a:pt x="11090" y="60974"/>
                </a:lnTo>
                <a:lnTo>
                  <a:pt x="37168" y="26996"/>
                </a:lnTo>
                <a:lnTo>
                  <a:pt x="74264" y="5585"/>
                </a:lnTo>
                <a:lnTo>
                  <a:pt x="102345" y="0"/>
                </a:lnTo>
                <a:lnTo>
                  <a:pt x="545355" y="0"/>
                </a:lnTo>
                <a:lnTo>
                  <a:pt x="586725" y="11090"/>
                </a:lnTo>
                <a:lnTo>
                  <a:pt x="620702" y="37168"/>
                </a:lnTo>
                <a:lnTo>
                  <a:pt x="642114" y="74263"/>
                </a:lnTo>
                <a:lnTo>
                  <a:pt x="647699" y="102345"/>
                </a:lnTo>
                <a:lnTo>
                  <a:pt x="647699" y="116729"/>
                </a:lnTo>
                <a:lnTo>
                  <a:pt x="636609" y="158100"/>
                </a:lnTo>
                <a:lnTo>
                  <a:pt x="610531" y="192077"/>
                </a:lnTo>
                <a:lnTo>
                  <a:pt x="573435" y="213488"/>
                </a:lnTo>
                <a:lnTo>
                  <a:pt x="552478" y="218373"/>
                </a:lnTo>
                <a:lnTo>
                  <a:pt x="545355" y="219074"/>
                </a:lnTo>
                <a:close/>
              </a:path>
            </a:pathLst>
          </a:custGeom>
          <a:solidFill>
            <a:srgbClr val="E7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444130" y="2097087"/>
            <a:ext cx="471170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5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105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b="1">
                <a:solidFill>
                  <a:srgbClr val="293283"/>
                </a:solidFill>
                <a:latin typeface="Tahoma"/>
                <a:cs typeface="Tahoma"/>
              </a:rPr>
              <a:t>K</a:t>
            </a:r>
            <a:r>
              <a:rPr dirty="0" sz="700" spc="6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7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65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70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60" b="1">
                <a:solidFill>
                  <a:srgbClr val="293283"/>
                </a:solidFill>
                <a:latin typeface="Tahoma"/>
                <a:cs typeface="Tahoma"/>
              </a:rPr>
              <a:t>W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2650" y="2362835"/>
            <a:ext cx="287782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marR="5080" indent="-247650">
              <a:lnSpc>
                <a:spcPct val="125000"/>
              </a:lnSpc>
              <a:spcBef>
                <a:spcPts val="100"/>
              </a:spcBef>
              <a:buClr>
                <a:srgbClr val="FF6A5B"/>
              </a:buClr>
              <a:buSzPct val="116666"/>
              <a:buFont typeface="Yu Gothic"/>
              <a:buChar char="✓"/>
              <a:tabLst>
                <a:tab pos="259715" algn="l"/>
              </a:tabLst>
            </a:pPr>
            <a:r>
              <a:rPr dirty="0" sz="900" spc="-25">
                <a:solidFill>
                  <a:srgbClr val="1B1F3A"/>
                </a:solidFill>
                <a:latin typeface="Trebuchet MS"/>
                <a:cs typeface="Trebuchet MS"/>
              </a:rPr>
              <a:t>"Which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pandas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1B1F3A"/>
                </a:solidFill>
                <a:latin typeface="Trebuchet MS"/>
                <a:cs typeface="Trebuchet MS"/>
              </a:rPr>
              <a:t>concept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75">
                <a:solidFill>
                  <a:srgbClr val="1B1F3A"/>
                </a:solidFill>
                <a:latin typeface="Trebuchet MS"/>
                <a:cs typeface="Trebuchet MS"/>
              </a:rPr>
              <a:t>felt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most </a:t>
            </a:r>
            <a:r>
              <a:rPr dirty="0" sz="900" spc="-60">
                <a:solidFill>
                  <a:srgbClr val="1B1F3A"/>
                </a:solidFill>
                <a:latin typeface="Trebuchet MS"/>
                <a:cs typeface="Trebuchet MS"/>
              </a:rPr>
              <a:t>unclear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145">
                <a:solidFill>
                  <a:srgbClr val="1B1F3A"/>
                </a:solidFill>
                <a:latin typeface="Trebuchet MS"/>
                <a:cs typeface="Trebuchet MS"/>
              </a:rPr>
              <a:t>—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DataFrames, </a:t>
            </a:r>
            <a:r>
              <a:rPr dirty="0" sz="900" spc="-70">
                <a:solidFill>
                  <a:srgbClr val="1B1F3A"/>
                </a:solidFill>
                <a:latin typeface="Trebuchet MS"/>
                <a:cs typeface="Trebuchet MS"/>
              </a:rPr>
              <a:t>filtering,</a:t>
            </a:r>
            <a:r>
              <a:rPr dirty="0" sz="900" spc="-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1B1F3A"/>
                </a:solidFill>
                <a:latin typeface="Trebuchet MS"/>
                <a:cs typeface="Trebuchet MS"/>
              </a:rPr>
              <a:t>loc/iloc?"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2650" y="2810510"/>
            <a:ext cx="257619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marR="5080" indent="-247650">
              <a:lnSpc>
                <a:spcPct val="125000"/>
              </a:lnSpc>
              <a:spcBef>
                <a:spcPts val="100"/>
              </a:spcBef>
              <a:buClr>
                <a:srgbClr val="FF6A5B"/>
              </a:buClr>
              <a:buSzPct val="116666"/>
              <a:buFont typeface="Yu Gothic"/>
              <a:buChar char="✓"/>
              <a:tabLst>
                <a:tab pos="259715" algn="l"/>
              </a:tabLst>
            </a:pPr>
            <a:r>
              <a:rPr dirty="0" sz="900" spc="-20">
                <a:solidFill>
                  <a:srgbClr val="1B1F3A"/>
                </a:solidFill>
                <a:latin typeface="Trebuchet MS"/>
                <a:cs typeface="Trebuchet MS"/>
              </a:rPr>
              <a:t>"Did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boolean mask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pattern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85">
                <a:solidFill>
                  <a:srgbClr val="1B1F3A"/>
                </a:solidFill>
                <a:latin typeface="Trebuchet MS"/>
                <a:cs typeface="Trebuchet MS"/>
              </a:rPr>
              <a:t>click,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or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does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70">
                <a:solidFill>
                  <a:srgbClr val="1B1F3A"/>
                </a:solidFill>
                <a:latin typeface="Trebuchet MS"/>
                <a:cs typeface="Trebuchet MS"/>
              </a:rPr>
              <a:t>it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rebuchet MS"/>
                <a:cs typeface="Trebuchet MS"/>
              </a:rPr>
              <a:t>feel </a:t>
            </a:r>
            <a:r>
              <a:rPr dirty="0" sz="900" spc="-10">
                <a:solidFill>
                  <a:srgbClr val="1B1F3A"/>
                </a:solidFill>
                <a:latin typeface="Trebuchet MS"/>
                <a:cs typeface="Trebuchet MS"/>
              </a:rPr>
              <a:t>backwards?"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2650" y="3292475"/>
            <a:ext cx="2644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lr>
                <a:srgbClr val="FF6A5B"/>
              </a:buClr>
              <a:buSzPct val="116666"/>
              <a:buFont typeface="Yu Gothic"/>
              <a:buChar char="✓"/>
              <a:tabLst>
                <a:tab pos="259715" algn="l"/>
              </a:tabLst>
            </a:pP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"Anything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from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pitfalls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slide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rebuchet MS"/>
                <a:cs typeface="Trebuchet MS"/>
              </a:rPr>
              <a:t>you've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1B1F3A"/>
                </a:solidFill>
                <a:latin typeface="Trebuchet MS"/>
                <a:cs typeface="Trebuchet MS"/>
              </a:rPr>
              <a:t>already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1B1F3A"/>
                </a:solidFill>
                <a:latin typeface="Trebuchet MS"/>
                <a:cs typeface="Trebuchet MS"/>
              </a:rPr>
              <a:t>hit?"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43399" y="1905000"/>
            <a:ext cx="3505200" cy="4819650"/>
            <a:chOff x="4343399" y="1905000"/>
            <a:chExt cx="3505200" cy="4819650"/>
          </a:xfrm>
        </p:grpSpPr>
        <p:sp>
          <p:nvSpPr>
            <p:cNvPr id="15" name="object 15"/>
            <p:cNvSpPr/>
            <p:nvPr/>
          </p:nvSpPr>
          <p:spPr>
            <a:xfrm>
              <a:off x="4362449" y="1909762"/>
              <a:ext cx="3481704" cy="4810125"/>
            </a:xfrm>
            <a:custGeom>
              <a:avLst/>
              <a:gdLst/>
              <a:ahLst/>
              <a:cxnLst/>
              <a:rect l="l" t="t" r="r" b="b"/>
              <a:pathLst>
                <a:path w="3481704" h="4810125">
                  <a:moveTo>
                    <a:pt x="3361243" y="4810124"/>
                  </a:moveTo>
                  <a:lnTo>
                    <a:pt x="106794" y="4810124"/>
                  </a:lnTo>
                  <a:lnTo>
                    <a:pt x="99361" y="4809300"/>
                  </a:lnTo>
                  <a:lnTo>
                    <a:pt x="57037" y="4793143"/>
                  </a:lnTo>
                  <a:lnTo>
                    <a:pt x="28170" y="4766490"/>
                  </a:lnTo>
                  <a:lnTo>
                    <a:pt x="5828" y="4722943"/>
                  </a:lnTo>
                  <a:lnTo>
                    <a:pt x="0" y="4689980"/>
                  </a:lnTo>
                  <a:lnTo>
                    <a:pt x="0" y="4681537"/>
                  </a:lnTo>
                  <a:lnTo>
                    <a:pt x="0" y="120144"/>
                  </a:lnTo>
                  <a:lnTo>
                    <a:pt x="11571" y="71578"/>
                  </a:lnTo>
                  <a:lnTo>
                    <a:pt x="38783" y="31692"/>
                  </a:lnTo>
                  <a:lnTo>
                    <a:pt x="77492" y="6556"/>
                  </a:lnTo>
                  <a:lnTo>
                    <a:pt x="106794" y="0"/>
                  </a:lnTo>
                  <a:lnTo>
                    <a:pt x="3361243" y="0"/>
                  </a:lnTo>
                  <a:lnTo>
                    <a:pt x="3409807" y="13018"/>
                  </a:lnTo>
                  <a:lnTo>
                    <a:pt x="3449694" y="43632"/>
                  </a:lnTo>
                  <a:lnTo>
                    <a:pt x="3474829" y="87179"/>
                  </a:lnTo>
                  <a:lnTo>
                    <a:pt x="3481386" y="120144"/>
                  </a:lnTo>
                  <a:lnTo>
                    <a:pt x="3481386" y="4689980"/>
                  </a:lnTo>
                  <a:lnTo>
                    <a:pt x="3468367" y="4738544"/>
                  </a:lnTo>
                  <a:lnTo>
                    <a:pt x="3437754" y="4778431"/>
                  </a:lnTo>
                  <a:lnTo>
                    <a:pt x="3394206" y="4803566"/>
                  </a:lnTo>
                  <a:lnTo>
                    <a:pt x="3369605" y="4809300"/>
                  </a:lnTo>
                  <a:lnTo>
                    <a:pt x="3361243" y="4810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411370" y="1904999"/>
              <a:ext cx="3437254" cy="4819650"/>
            </a:xfrm>
            <a:custGeom>
              <a:avLst/>
              <a:gdLst/>
              <a:ahLst/>
              <a:cxnLst/>
              <a:rect l="l" t="t" r="r" b="b"/>
              <a:pathLst>
                <a:path w="3437254" h="4819650">
                  <a:moveTo>
                    <a:pt x="3437217" y="133350"/>
                  </a:moveTo>
                  <a:lnTo>
                    <a:pt x="3431514" y="94703"/>
                  </a:lnTo>
                  <a:lnTo>
                    <a:pt x="3414763" y="59258"/>
                  </a:lnTo>
                  <a:lnTo>
                    <a:pt x="3398609" y="39573"/>
                  </a:lnTo>
                  <a:lnTo>
                    <a:pt x="3366795" y="15773"/>
                  </a:lnTo>
                  <a:lnTo>
                    <a:pt x="3329889" y="2540"/>
                  </a:lnTo>
                  <a:lnTo>
                    <a:pt x="33038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3303867" y="9525"/>
                  </a:lnTo>
                  <a:lnTo>
                    <a:pt x="3351263" y="18961"/>
                  </a:lnTo>
                  <a:lnTo>
                    <a:pt x="3391433" y="45796"/>
                  </a:lnTo>
                  <a:lnTo>
                    <a:pt x="3391878" y="46304"/>
                  </a:lnTo>
                  <a:lnTo>
                    <a:pt x="3399637" y="54838"/>
                  </a:lnTo>
                  <a:lnTo>
                    <a:pt x="3422396" y="97459"/>
                  </a:lnTo>
                  <a:lnTo>
                    <a:pt x="3427692" y="133350"/>
                  </a:lnTo>
                  <a:lnTo>
                    <a:pt x="3427692" y="4686300"/>
                  </a:lnTo>
                  <a:lnTo>
                    <a:pt x="3418268" y="4733696"/>
                  </a:lnTo>
                  <a:lnTo>
                    <a:pt x="3391878" y="4773358"/>
                  </a:lnTo>
                  <a:lnTo>
                    <a:pt x="3391433" y="4773866"/>
                  </a:lnTo>
                  <a:lnTo>
                    <a:pt x="3351263" y="4800701"/>
                  </a:lnTo>
                  <a:lnTo>
                    <a:pt x="3316325" y="4809502"/>
                  </a:lnTo>
                  <a:lnTo>
                    <a:pt x="3316846" y="4809502"/>
                  </a:lnTo>
                  <a:lnTo>
                    <a:pt x="3303867" y="4810125"/>
                  </a:lnTo>
                  <a:lnTo>
                    <a:pt x="65366" y="4810125"/>
                  </a:lnTo>
                  <a:lnTo>
                    <a:pt x="55397" y="4809502"/>
                  </a:lnTo>
                  <a:lnTo>
                    <a:pt x="55791" y="4809502"/>
                  </a:lnTo>
                  <a:lnTo>
                    <a:pt x="46786" y="4807775"/>
                  </a:lnTo>
                  <a:lnTo>
                    <a:pt x="37769" y="4804829"/>
                  </a:lnTo>
                  <a:lnTo>
                    <a:pt x="28917" y="4800701"/>
                  </a:lnTo>
                  <a:lnTo>
                    <a:pt x="22542" y="4796790"/>
                  </a:lnTo>
                  <a:lnTo>
                    <a:pt x="0" y="4802429"/>
                  </a:lnTo>
                  <a:lnTo>
                    <a:pt x="39357" y="4817122"/>
                  </a:lnTo>
                  <a:lnTo>
                    <a:pt x="65366" y="4819650"/>
                  </a:lnTo>
                  <a:lnTo>
                    <a:pt x="3303867" y="4819650"/>
                  </a:lnTo>
                  <a:lnTo>
                    <a:pt x="3317011" y="4819015"/>
                  </a:lnTo>
                  <a:lnTo>
                    <a:pt x="3329889" y="4817122"/>
                  </a:lnTo>
                  <a:lnTo>
                    <a:pt x="3342525" y="4813947"/>
                  </a:lnTo>
                  <a:lnTo>
                    <a:pt x="3353155" y="4810125"/>
                  </a:lnTo>
                  <a:lnTo>
                    <a:pt x="3354908" y="4809502"/>
                  </a:lnTo>
                  <a:lnTo>
                    <a:pt x="3388423" y="4789436"/>
                  </a:lnTo>
                  <a:lnTo>
                    <a:pt x="3414763" y="4760404"/>
                  </a:lnTo>
                  <a:lnTo>
                    <a:pt x="3431514" y="4724959"/>
                  </a:lnTo>
                  <a:lnTo>
                    <a:pt x="3437217" y="4686300"/>
                  </a:lnTo>
                  <a:lnTo>
                    <a:pt x="3437217" y="133350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43399" y="1922063"/>
              <a:ext cx="90805" cy="4785995"/>
            </a:xfrm>
            <a:custGeom>
              <a:avLst/>
              <a:gdLst/>
              <a:ahLst/>
              <a:cxnLst/>
              <a:rect l="l" t="t" r="r" b="b"/>
              <a:pathLst>
                <a:path w="90804" h="4785995">
                  <a:moveTo>
                    <a:pt x="68254" y="4785522"/>
                  </a:moveTo>
                  <a:lnTo>
                    <a:pt x="30216" y="4753790"/>
                  </a:lnTo>
                  <a:lnTo>
                    <a:pt x="10150" y="4720266"/>
                  </a:lnTo>
                  <a:lnTo>
                    <a:pt x="634" y="4682372"/>
                  </a:lnTo>
                  <a:lnTo>
                    <a:pt x="0" y="466923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669236"/>
                  </a:lnTo>
                  <a:lnTo>
                    <a:pt x="45350" y="4716620"/>
                  </a:lnTo>
                  <a:lnTo>
                    <a:pt x="65998" y="4756793"/>
                  </a:lnTo>
                  <a:lnTo>
                    <a:pt x="90791" y="4779888"/>
                  </a:lnTo>
                  <a:lnTo>
                    <a:pt x="68254" y="4785522"/>
                  </a:lnTo>
                  <a:close/>
                </a:path>
              </a:pathLst>
            </a:custGeom>
            <a:solidFill>
              <a:srgbClr val="FF6A5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540250" y="2082800"/>
            <a:ext cx="114490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95" b="1">
                <a:solidFill>
                  <a:srgbClr val="FF6A5B"/>
                </a:solidFill>
                <a:latin typeface="Tahoma"/>
                <a:cs typeface="Tahoma"/>
              </a:rPr>
              <a:t>B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FF6A5B"/>
                </a:solidFill>
                <a:latin typeface="Tahoma"/>
                <a:cs typeface="Tahoma"/>
              </a:rPr>
              <a:t>W</a:t>
            </a:r>
            <a:r>
              <a:rPr dirty="0" sz="80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sz="800" spc="22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80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8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3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180" b="1">
                <a:solidFill>
                  <a:srgbClr val="FF6A5B"/>
                </a:solidFill>
                <a:latin typeface="Tahoma"/>
                <a:cs typeface="Tahoma"/>
              </a:rPr>
              <a:t>I</a:t>
            </a:r>
            <a:r>
              <a:rPr dirty="0" sz="800" spc="-10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65" b="1">
                <a:solidFill>
                  <a:srgbClr val="FF6A5B"/>
                </a:solidFill>
                <a:latin typeface="Tahoma"/>
                <a:cs typeface="Tahoma"/>
              </a:rPr>
              <a:t>O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10374" y="2066924"/>
            <a:ext cx="857250" cy="219075"/>
          </a:xfrm>
          <a:custGeom>
            <a:avLst/>
            <a:gdLst/>
            <a:ahLst/>
            <a:cxnLst/>
            <a:rect l="l" t="t" r="r" b="b"/>
            <a:pathLst>
              <a:path w="857250" h="219075">
                <a:moveTo>
                  <a:pt x="754904" y="219074"/>
                </a:moveTo>
                <a:lnTo>
                  <a:pt x="102344" y="219074"/>
                </a:lnTo>
                <a:lnTo>
                  <a:pt x="95221" y="218373"/>
                </a:lnTo>
                <a:lnTo>
                  <a:pt x="54661" y="204610"/>
                </a:lnTo>
                <a:lnTo>
                  <a:pt x="22455" y="176373"/>
                </a:lnTo>
                <a:lnTo>
                  <a:pt x="3507" y="137961"/>
                </a:lnTo>
                <a:lnTo>
                  <a:pt x="0" y="116729"/>
                </a:lnTo>
                <a:lnTo>
                  <a:pt x="0" y="109537"/>
                </a:lnTo>
                <a:lnTo>
                  <a:pt x="0" y="102345"/>
                </a:lnTo>
                <a:lnTo>
                  <a:pt x="11090" y="60974"/>
                </a:lnTo>
                <a:lnTo>
                  <a:pt x="37167" y="26996"/>
                </a:lnTo>
                <a:lnTo>
                  <a:pt x="74263" y="5585"/>
                </a:lnTo>
                <a:lnTo>
                  <a:pt x="102344" y="0"/>
                </a:lnTo>
                <a:lnTo>
                  <a:pt x="754904" y="0"/>
                </a:lnTo>
                <a:lnTo>
                  <a:pt x="796274" y="11090"/>
                </a:lnTo>
                <a:lnTo>
                  <a:pt x="830251" y="37168"/>
                </a:lnTo>
                <a:lnTo>
                  <a:pt x="851663" y="74263"/>
                </a:lnTo>
                <a:lnTo>
                  <a:pt x="857249" y="102345"/>
                </a:lnTo>
                <a:lnTo>
                  <a:pt x="857249" y="116729"/>
                </a:lnTo>
                <a:lnTo>
                  <a:pt x="846158" y="158100"/>
                </a:lnTo>
                <a:lnTo>
                  <a:pt x="820080" y="192077"/>
                </a:lnTo>
                <a:lnTo>
                  <a:pt x="782984" y="213488"/>
                </a:lnTo>
                <a:lnTo>
                  <a:pt x="762027" y="218373"/>
                </a:lnTo>
                <a:lnTo>
                  <a:pt x="754904" y="219074"/>
                </a:lnTo>
                <a:close/>
              </a:path>
            </a:pathLst>
          </a:custGeom>
          <a:solidFill>
            <a:srgbClr val="FFE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891436" y="2097087"/>
            <a:ext cx="68135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80" b="1">
                <a:solidFill>
                  <a:srgbClr val="FF6A5B"/>
                </a:solidFill>
                <a:latin typeface="Tahoma"/>
                <a:cs typeface="Tahoma"/>
              </a:rPr>
              <a:t>G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90" b="1">
                <a:solidFill>
                  <a:srgbClr val="FF6A5B"/>
                </a:solidFill>
                <a:latin typeface="Tahoma"/>
                <a:cs typeface="Tahoma"/>
              </a:rPr>
              <a:t>E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700" spc="13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60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75" b="1">
                <a:solidFill>
                  <a:srgbClr val="FF6A5B"/>
                </a:solidFill>
                <a:latin typeface="Tahoma"/>
                <a:cs typeface="Tahoma"/>
              </a:rPr>
              <a:t>N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105" b="1">
                <a:solidFill>
                  <a:srgbClr val="FF6A5B"/>
                </a:solidFill>
                <a:latin typeface="Tahoma"/>
                <a:cs typeface="Tahoma"/>
              </a:rPr>
              <a:t>S</a:t>
            </a:r>
            <a:r>
              <a:rPr dirty="0" sz="700" spc="-114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80" b="1">
                <a:solidFill>
                  <a:srgbClr val="FF6A5B"/>
                </a:solidFill>
                <a:latin typeface="Tahoma"/>
                <a:cs typeface="Tahoma"/>
              </a:rPr>
              <a:t>T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60" b="1">
                <a:solidFill>
                  <a:srgbClr val="FF6A5B"/>
                </a:solidFill>
                <a:latin typeface="Tahoma"/>
                <a:cs typeface="Tahoma"/>
              </a:rPr>
              <a:t>U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95" b="1">
                <a:solidFill>
                  <a:srgbClr val="FF6A5B"/>
                </a:solidFill>
                <a:latin typeface="Tahoma"/>
                <a:cs typeface="Tahoma"/>
              </a:rPr>
              <a:t>C</a:t>
            </a:r>
            <a:r>
              <a:rPr dirty="0" sz="700" spc="-110" b="1">
                <a:solidFill>
                  <a:srgbClr val="FF6A5B"/>
                </a:solidFill>
                <a:latin typeface="Tahoma"/>
                <a:cs typeface="Tahoma"/>
              </a:rPr>
              <a:t> </a:t>
            </a:r>
            <a:r>
              <a:rPr dirty="0" sz="700" spc="-50" b="1">
                <a:solidFill>
                  <a:srgbClr val="FF6A5B"/>
                </a:solidFill>
                <a:latin typeface="Tahoma"/>
                <a:cs typeface="Tahoma"/>
              </a:rPr>
              <a:t>K</a:t>
            </a:r>
            <a:endParaRPr sz="7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40250" y="2378075"/>
            <a:ext cx="1060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470" b="1">
                <a:solidFill>
                  <a:srgbClr val="FF6A5B"/>
                </a:solidFill>
                <a:latin typeface="Yu Gothic"/>
                <a:cs typeface="Yu Gothic"/>
              </a:rPr>
              <a:t>✓</a:t>
            </a:r>
            <a:endParaRPr sz="1050">
              <a:latin typeface="Yu Gothic"/>
              <a:cs typeface="Yu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33973" y="2419349"/>
            <a:ext cx="1028700" cy="114300"/>
          </a:xfrm>
          <a:custGeom>
            <a:avLst/>
            <a:gdLst/>
            <a:ahLst/>
            <a:cxnLst/>
            <a:rect l="l" t="t" r="r" b="b"/>
            <a:pathLst>
              <a:path w="1028700" h="114300">
                <a:moveTo>
                  <a:pt x="1003914" y="114299"/>
                </a:moveTo>
                <a:lnTo>
                  <a:pt x="24785" y="114299"/>
                </a:lnTo>
                <a:lnTo>
                  <a:pt x="21140" y="113574"/>
                </a:lnTo>
                <a:lnTo>
                  <a:pt x="0" y="89514"/>
                </a:lnTo>
                <a:lnTo>
                  <a:pt x="0" y="85724"/>
                </a:lnTo>
                <a:lnTo>
                  <a:pt x="0" y="24785"/>
                </a:lnTo>
                <a:lnTo>
                  <a:pt x="24785" y="0"/>
                </a:lnTo>
                <a:lnTo>
                  <a:pt x="1003914" y="0"/>
                </a:lnTo>
                <a:lnTo>
                  <a:pt x="1028699" y="24785"/>
                </a:lnTo>
                <a:lnTo>
                  <a:pt x="1028699" y="89514"/>
                </a:lnTo>
                <a:lnTo>
                  <a:pt x="1007559" y="113574"/>
                </a:lnTo>
                <a:lnTo>
                  <a:pt x="1003914" y="11429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787899" y="2340667"/>
            <a:ext cx="2891155" cy="51244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900" spc="-110" b="1">
                <a:solidFill>
                  <a:srgbClr val="293283"/>
                </a:solidFill>
                <a:latin typeface="Tahoma"/>
                <a:cs typeface="Tahoma"/>
              </a:rPr>
              <a:t>Email</a:t>
            </a:r>
            <a:r>
              <a:rPr dirty="0" sz="90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293283"/>
                </a:solidFill>
                <a:latin typeface="Tahoma"/>
                <a:cs typeface="Tahoma"/>
              </a:rPr>
              <a:t>·</a:t>
            </a:r>
            <a:r>
              <a:rPr dirty="0" sz="900" spc="18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10" b="1">
                <a:solidFill>
                  <a:srgbClr val="1B1F3A"/>
                </a:solidFill>
                <a:latin typeface="Courier New"/>
                <a:cs typeface="Courier New"/>
                <a:hlinkClick r:id="rId2"/>
              </a:rPr>
              <a:t>hello@zlaark.com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25000"/>
              </a:lnSpc>
              <a:spcBef>
                <a:spcPts val="55"/>
              </a:spcBef>
            </a:pP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For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pandas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questions, 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paste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your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code 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+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the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 error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+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a sample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of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your CSV.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40250" y="2940050"/>
            <a:ext cx="1060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470" b="1">
                <a:solidFill>
                  <a:srgbClr val="FF6A5B"/>
                </a:solidFill>
                <a:latin typeface="Yu Gothic"/>
                <a:cs typeface="Yu Gothic"/>
              </a:rPr>
              <a:t>✓</a:t>
            </a:r>
            <a:endParaRPr sz="1050">
              <a:latin typeface="Yu Gothic"/>
              <a:cs typeface="Yu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95873" y="2981324"/>
            <a:ext cx="904875" cy="114300"/>
          </a:xfrm>
          <a:custGeom>
            <a:avLst/>
            <a:gdLst/>
            <a:ahLst/>
            <a:cxnLst/>
            <a:rect l="l" t="t" r="r" b="b"/>
            <a:pathLst>
              <a:path w="904875" h="114300">
                <a:moveTo>
                  <a:pt x="880089" y="114299"/>
                </a:moveTo>
                <a:lnTo>
                  <a:pt x="24786" y="114299"/>
                </a:lnTo>
                <a:lnTo>
                  <a:pt x="21141" y="113574"/>
                </a:lnTo>
                <a:lnTo>
                  <a:pt x="0" y="89514"/>
                </a:lnTo>
                <a:lnTo>
                  <a:pt x="0" y="85724"/>
                </a:lnTo>
                <a:lnTo>
                  <a:pt x="0" y="24785"/>
                </a:lnTo>
                <a:lnTo>
                  <a:pt x="24786" y="0"/>
                </a:lnTo>
                <a:lnTo>
                  <a:pt x="880089" y="0"/>
                </a:lnTo>
                <a:lnTo>
                  <a:pt x="904875" y="24785"/>
                </a:lnTo>
                <a:lnTo>
                  <a:pt x="904875" y="89514"/>
                </a:lnTo>
                <a:lnTo>
                  <a:pt x="883734" y="113574"/>
                </a:lnTo>
                <a:lnTo>
                  <a:pt x="880089" y="114299"/>
                </a:lnTo>
                <a:close/>
              </a:path>
            </a:pathLst>
          </a:custGeom>
          <a:solidFill>
            <a:srgbClr val="F4E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787899" y="2892251"/>
            <a:ext cx="1374140" cy="38036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900" spc="-120" b="1">
                <a:solidFill>
                  <a:srgbClr val="293283"/>
                </a:solidFill>
                <a:latin typeface="Tahoma"/>
                <a:cs typeface="Tahoma"/>
              </a:rPr>
              <a:t>Web</a:t>
            </a:r>
            <a:r>
              <a:rPr dirty="0" sz="900" spc="-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293283"/>
                </a:solidFill>
                <a:latin typeface="Tahoma"/>
                <a:cs typeface="Tahoma"/>
              </a:rPr>
              <a:t>·</a:t>
            </a:r>
            <a:r>
              <a:rPr dirty="0" sz="900" spc="16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50" spc="-10" b="1">
                <a:solidFill>
                  <a:srgbClr val="1B1F3A"/>
                </a:solidFill>
                <a:latin typeface="Courier New"/>
                <a:cs typeface="Courier New"/>
                <a:hlinkClick r:id="rId3"/>
              </a:rPr>
              <a:t>www.zlaark.com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Program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updates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and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 resources.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40250" y="3359150"/>
            <a:ext cx="1060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470" b="1">
                <a:solidFill>
                  <a:srgbClr val="FF6A5B"/>
                </a:solidFill>
                <a:latin typeface="Yu Gothic"/>
                <a:cs typeface="Yu Gothic"/>
              </a:rPr>
              <a:t>✓</a:t>
            </a:r>
            <a:endParaRPr sz="1050">
              <a:latin typeface="Yu Gothic"/>
              <a:cs typeface="Yu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87899" y="3311352"/>
            <a:ext cx="2299970" cy="38036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900" spc="-155" b="1">
                <a:solidFill>
                  <a:srgbClr val="293283"/>
                </a:solidFill>
                <a:latin typeface="Tahoma"/>
                <a:cs typeface="Tahoma"/>
              </a:rPr>
              <a:t>In-</a:t>
            </a:r>
            <a:r>
              <a:rPr dirty="0" sz="900" spc="-105" b="1">
                <a:solidFill>
                  <a:srgbClr val="293283"/>
                </a:solidFill>
                <a:latin typeface="Tahoma"/>
                <a:cs typeface="Tahoma"/>
              </a:rPr>
              <a:t>session</a:t>
            </a:r>
            <a:r>
              <a:rPr dirty="0" sz="9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293283"/>
                </a:solidFill>
                <a:latin typeface="Tahoma"/>
                <a:cs typeface="Tahoma"/>
              </a:rPr>
              <a:t>·</a:t>
            </a:r>
            <a:r>
              <a:rPr dirty="0" sz="9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00" b="1">
                <a:solidFill>
                  <a:srgbClr val="293283"/>
                </a:solidFill>
                <a:latin typeface="Tahoma"/>
                <a:cs typeface="Tahoma"/>
              </a:rPr>
              <a:t>raise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05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9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20" b="1">
                <a:solidFill>
                  <a:srgbClr val="293283"/>
                </a:solidFill>
                <a:latin typeface="Tahoma"/>
                <a:cs typeface="Tahoma"/>
              </a:rPr>
              <a:t>hand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800">
                <a:solidFill>
                  <a:srgbClr val="4A4E6A"/>
                </a:solidFill>
                <a:latin typeface="Trebuchet MS"/>
                <a:cs typeface="Trebuchet MS"/>
              </a:rPr>
              <a:t>No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4A4E6A"/>
                </a:solidFill>
                <a:latin typeface="Trebuchet MS"/>
                <a:cs typeface="Trebuchet MS"/>
              </a:rPr>
              <a:t>question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4A4E6A"/>
                </a:solidFill>
                <a:latin typeface="Trebuchet MS"/>
                <a:cs typeface="Trebuchet MS"/>
              </a:rPr>
              <a:t>is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too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5">
                <a:solidFill>
                  <a:srgbClr val="4A4E6A"/>
                </a:solidFill>
                <a:latin typeface="Trebuchet MS"/>
                <a:cs typeface="Trebuchet MS"/>
              </a:rPr>
              <a:t>small.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We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4A4E6A"/>
                </a:solidFill>
                <a:latin typeface="Trebuchet MS"/>
                <a:cs typeface="Trebuchet MS"/>
              </a:rPr>
              <a:t>move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A4E6A"/>
                </a:solidFill>
                <a:latin typeface="Trebuchet MS"/>
                <a:cs typeface="Trebuchet MS"/>
              </a:rPr>
              <a:t>at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the</a:t>
            </a:r>
            <a:r>
              <a:rPr dirty="0" sz="800" spc="-45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A4E6A"/>
                </a:solidFill>
                <a:latin typeface="Trebuchet MS"/>
                <a:cs typeface="Trebuchet MS"/>
              </a:rPr>
              <a:t>room's</a:t>
            </a:r>
            <a:r>
              <a:rPr dirty="0" sz="800" spc="-40">
                <a:solidFill>
                  <a:srgbClr val="4A4E6A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4A4E6A"/>
                </a:solidFill>
                <a:latin typeface="Trebuchet MS"/>
                <a:cs typeface="Trebuchet MS"/>
              </a:rPr>
              <a:t>pace.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000999" y="1905000"/>
            <a:ext cx="3505200" cy="4815205"/>
            <a:chOff x="8000999" y="1905000"/>
            <a:chExt cx="3505200" cy="4815205"/>
          </a:xfrm>
        </p:grpSpPr>
        <p:sp>
          <p:nvSpPr>
            <p:cNvPr id="30" name="object 30"/>
            <p:cNvSpPr/>
            <p:nvPr/>
          </p:nvSpPr>
          <p:spPr>
            <a:xfrm>
              <a:off x="8020049" y="1909762"/>
              <a:ext cx="3481704" cy="4810125"/>
            </a:xfrm>
            <a:custGeom>
              <a:avLst/>
              <a:gdLst/>
              <a:ahLst/>
              <a:cxnLst/>
              <a:rect l="l" t="t" r="r" b="b"/>
              <a:pathLst>
                <a:path w="3481704" h="4810125">
                  <a:moveTo>
                    <a:pt x="3361242" y="4810124"/>
                  </a:moveTo>
                  <a:lnTo>
                    <a:pt x="106795" y="4810124"/>
                  </a:lnTo>
                  <a:lnTo>
                    <a:pt x="99361" y="4809300"/>
                  </a:lnTo>
                  <a:lnTo>
                    <a:pt x="57037" y="4793143"/>
                  </a:lnTo>
                  <a:lnTo>
                    <a:pt x="28170" y="4766490"/>
                  </a:lnTo>
                  <a:lnTo>
                    <a:pt x="5827" y="4722943"/>
                  </a:lnTo>
                  <a:lnTo>
                    <a:pt x="0" y="4689980"/>
                  </a:lnTo>
                  <a:lnTo>
                    <a:pt x="0" y="4681537"/>
                  </a:lnTo>
                  <a:lnTo>
                    <a:pt x="0" y="120144"/>
                  </a:lnTo>
                  <a:lnTo>
                    <a:pt x="11571" y="71578"/>
                  </a:lnTo>
                  <a:lnTo>
                    <a:pt x="38783" y="31692"/>
                  </a:lnTo>
                  <a:lnTo>
                    <a:pt x="77492" y="6556"/>
                  </a:lnTo>
                  <a:lnTo>
                    <a:pt x="106795" y="0"/>
                  </a:lnTo>
                  <a:lnTo>
                    <a:pt x="3361242" y="0"/>
                  </a:lnTo>
                  <a:lnTo>
                    <a:pt x="3409807" y="13018"/>
                  </a:lnTo>
                  <a:lnTo>
                    <a:pt x="3449694" y="43632"/>
                  </a:lnTo>
                  <a:lnTo>
                    <a:pt x="3474828" y="87179"/>
                  </a:lnTo>
                  <a:lnTo>
                    <a:pt x="3481386" y="120144"/>
                  </a:lnTo>
                  <a:lnTo>
                    <a:pt x="3481386" y="4689980"/>
                  </a:lnTo>
                  <a:lnTo>
                    <a:pt x="3468366" y="4738544"/>
                  </a:lnTo>
                  <a:lnTo>
                    <a:pt x="3437754" y="4778431"/>
                  </a:lnTo>
                  <a:lnTo>
                    <a:pt x="3394207" y="4803566"/>
                  </a:lnTo>
                  <a:lnTo>
                    <a:pt x="3369605" y="4809300"/>
                  </a:lnTo>
                  <a:lnTo>
                    <a:pt x="3361242" y="4810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068971" y="1904999"/>
              <a:ext cx="3437254" cy="4200525"/>
            </a:xfrm>
            <a:custGeom>
              <a:avLst/>
              <a:gdLst/>
              <a:ahLst/>
              <a:cxnLst/>
              <a:rect l="l" t="t" r="r" b="b"/>
              <a:pathLst>
                <a:path w="3437254" h="4200525">
                  <a:moveTo>
                    <a:pt x="3437217" y="39065"/>
                  </a:moveTo>
                  <a:lnTo>
                    <a:pt x="3398164" y="39065"/>
                  </a:lnTo>
                  <a:lnTo>
                    <a:pt x="3388423" y="30226"/>
                  </a:lnTo>
                  <a:lnTo>
                    <a:pt x="3377971" y="22453"/>
                  </a:lnTo>
                  <a:lnTo>
                    <a:pt x="3342525" y="5715"/>
                  </a:lnTo>
                  <a:lnTo>
                    <a:pt x="3303867" y="0"/>
                  </a:lnTo>
                  <a:lnTo>
                    <a:pt x="65366" y="0"/>
                  </a:lnTo>
                  <a:lnTo>
                    <a:pt x="26720" y="5715"/>
                  </a:lnTo>
                  <a:lnTo>
                    <a:pt x="0" y="17233"/>
                  </a:lnTo>
                  <a:lnTo>
                    <a:pt x="22542" y="22872"/>
                  </a:lnTo>
                  <a:lnTo>
                    <a:pt x="28917" y="18961"/>
                  </a:lnTo>
                  <a:lnTo>
                    <a:pt x="37769" y="14833"/>
                  </a:lnTo>
                  <a:lnTo>
                    <a:pt x="46786" y="11887"/>
                  </a:lnTo>
                  <a:lnTo>
                    <a:pt x="55994" y="10121"/>
                  </a:lnTo>
                  <a:lnTo>
                    <a:pt x="65366" y="9525"/>
                  </a:lnTo>
                  <a:lnTo>
                    <a:pt x="3303867" y="9525"/>
                  </a:lnTo>
                  <a:lnTo>
                    <a:pt x="3351250" y="18961"/>
                  </a:lnTo>
                  <a:lnTo>
                    <a:pt x="3391433" y="45796"/>
                  </a:lnTo>
                  <a:lnTo>
                    <a:pt x="3391433" y="4200525"/>
                  </a:lnTo>
                  <a:lnTo>
                    <a:pt x="3437217" y="4200525"/>
                  </a:lnTo>
                  <a:lnTo>
                    <a:pt x="3437217" y="39065"/>
                  </a:lnTo>
                  <a:close/>
                </a:path>
              </a:pathLst>
            </a:custGeom>
            <a:solidFill>
              <a:srgbClr val="E4DE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000999" y="1922063"/>
              <a:ext cx="90805" cy="4785995"/>
            </a:xfrm>
            <a:custGeom>
              <a:avLst/>
              <a:gdLst/>
              <a:ahLst/>
              <a:cxnLst/>
              <a:rect l="l" t="t" r="r" b="b"/>
              <a:pathLst>
                <a:path w="90804" h="4785995">
                  <a:moveTo>
                    <a:pt x="68254" y="4785522"/>
                  </a:moveTo>
                  <a:lnTo>
                    <a:pt x="30216" y="4753790"/>
                  </a:lnTo>
                  <a:lnTo>
                    <a:pt x="10150" y="4720266"/>
                  </a:lnTo>
                  <a:lnTo>
                    <a:pt x="634" y="4682372"/>
                  </a:lnTo>
                  <a:lnTo>
                    <a:pt x="0" y="4669236"/>
                  </a:lnTo>
                  <a:lnTo>
                    <a:pt x="0" y="116286"/>
                  </a:lnTo>
                  <a:lnTo>
                    <a:pt x="5709" y="77634"/>
                  </a:lnTo>
                  <a:lnTo>
                    <a:pt x="22452" y="42187"/>
                  </a:lnTo>
                  <a:lnTo>
                    <a:pt x="48794" y="13153"/>
                  </a:lnTo>
                  <a:lnTo>
                    <a:pt x="68253" y="0"/>
                  </a:lnTo>
                  <a:lnTo>
                    <a:pt x="90791" y="5634"/>
                  </a:lnTo>
                  <a:lnTo>
                    <a:pt x="88403" y="7099"/>
                  </a:lnTo>
                  <a:lnTo>
                    <a:pt x="80421" y="13310"/>
                  </a:lnTo>
                  <a:lnTo>
                    <a:pt x="54137" y="47479"/>
                  </a:lnTo>
                  <a:lnTo>
                    <a:pt x="39912" y="92124"/>
                  </a:lnTo>
                  <a:lnTo>
                    <a:pt x="38100" y="116286"/>
                  </a:lnTo>
                  <a:lnTo>
                    <a:pt x="38100" y="4669236"/>
                  </a:lnTo>
                  <a:lnTo>
                    <a:pt x="45349" y="4716620"/>
                  </a:lnTo>
                  <a:lnTo>
                    <a:pt x="65998" y="4756793"/>
                  </a:lnTo>
                  <a:lnTo>
                    <a:pt x="90791" y="4779888"/>
                  </a:lnTo>
                  <a:lnTo>
                    <a:pt x="68254" y="4785522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197850" y="2082800"/>
            <a:ext cx="14516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W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H </a:t>
            </a:r>
            <a:r>
              <a:rPr dirty="0" sz="800" spc="-45" b="1">
                <a:solidFill>
                  <a:srgbClr val="293283"/>
                </a:solidFill>
                <a:latin typeface="Tahoma"/>
                <a:cs typeface="Tahoma"/>
              </a:rPr>
              <a:t>AT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40" b="1">
                <a:solidFill>
                  <a:srgbClr val="293283"/>
                </a:solidFill>
                <a:latin typeface="Tahoma"/>
                <a:cs typeface="Tahoma"/>
              </a:rPr>
              <a:t>'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800" spc="5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80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5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X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800" spc="1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·</a:t>
            </a:r>
            <a:r>
              <a:rPr dirty="0" sz="800" spc="1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90" b="1">
                <a:solidFill>
                  <a:srgbClr val="293283"/>
                </a:solidFill>
                <a:latin typeface="Tahoma"/>
                <a:cs typeface="Tahoma"/>
              </a:rPr>
              <a:t>D</a:t>
            </a:r>
            <a:r>
              <a:rPr dirty="0" sz="800" spc="-12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60" b="1">
                <a:solidFill>
                  <a:srgbClr val="293283"/>
                </a:solidFill>
                <a:latin typeface="Tahoma"/>
                <a:cs typeface="Tahoma"/>
              </a:rPr>
              <a:t>AY</a:t>
            </a:r>
            <a:r>
              <a:rPr dirty="0" sz="80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800" spc="17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7 </a:t>
            </a:r>
            <a:r>
              <a:rPr dirty="0" sz="800" spc="-110" b="1">
                <a:solidFill>
                  <a:srgbClr val="293283"/>
                </a:solidFill>
                <a:latin typeface="Tahoma"/>
                <a:cs typeface="Tahoma"/>
              </a:rPr>
              <a:t>–</a:t>
            </a:r>
            <a:r>
              <a:rPr dirty="0" sz="800" spc="-10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293283"/>
                </a:solidFill>
                <a:latin typeface="Tahoma"/>
                <a:cs typeface="Tahoma"/>
              </a:rPr>
              <a:t>8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144122" y="2066924"/>
            <a:ext cx="1181100" cy="219075"/>
          </a:xfrm>
          <a:custGeom>
            <a:avLst/>
            <a:gdLst/>
            <a:ahLst/>
            <a:cxnLst/>
            <a:rect l="l" t="t" r="r" b="b"/>
            <a:pathLst>
              <a:path w="1181100" h="219075">
                <a:moveTo>
                  <a:pt x="1078754" y="219074"/>
                </a:moveTo>
                <a:lnTo>
                  <a:pt x="102346" y="219074"/>
                </a:lnTo>
                <a:lnTo>
                  <a:pt x="95222" y="218373"/>
                </a:lnTo>
                <a:lnTo>
                  <a:pt x="54660" y="204610"/>
                </a:lnTo>
                <a:lnTo>
                  <a:pt x="22456" y="176373"/>
                </a:lnTo>
                <a:lnTo>
                  <a:pt x="3507" y="137961"/>
                </a:lnTo>
                <a:lnTo>
                  <a:pt x="0" y="116729"/>
                </a:lnTo>
                <a:lnTo>
                  <a:pt x="1" y="109537"/>
                </a:lnTo>
                <a:lnTo>
                  <a:pt x="0" y="102345"/>
                </a:lnTo>
                <a:lnTo>
                  <a:pt x="11089" y="60974"/>
                </a:lnTo>
                <a:lnTo>
                  <a:pt x="37167" y="26996"/>
                </a:lnTo>
                <a:lnTo>
                  <a:pt x="74262" y="5585"/>
                </a:lnTo>
                <a:lnTo>
                  <a:pt x="102346" y="0"/>
                </a:lnTo>
                <a:lnTo>
                  <a:pt x="1078754" y="0"/>
                </a:lnTo>
                <a:lnTo>
                  <a:pt x="1120125" y="11090"/>
                </a:lnTo>
                <a:lnTo>
                  <a:pt x="1154103" y="37168"/>
                </a:lnTo>
                <a:lnTo>
                  <a:pt x="1175514" y="74263"/>
                </a:lnTo>
                <a:lnTo>
                  <a:pt x="1181099" y="102345"/>
                </a:lnTo>
                <a:lnTo>
                  <a:pt x="1181099" y="116729"/>
                </a:lnTo>
                <a:lnTo>
                  <a:pt x="1170009" y="158100"/>
                </a:lnTo>
                <a:lnTo>
                  <a:pt x="1143932" y="192077"/>
                </a:lnTo>
                <a:lnTo>
                  <a:pt x="1106835" y="213488"/>
                </a:lnTo>
                <a:lnTo>
                  <a:pt x="1085878" y="218373"/>
                </a:lnTo>
                <a:lnTo>
                  <a:pt x="1078754" y="219074"/>
                </a:lnTo>
                <a:close/>
              </a:path>
            </a:pathLst>
          </a:custGeom>
          <a:solidFill>
            <a:srgbClr val="E7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0226376" y="2097087"/>
            <a:ext cx="100393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95" b="1">
                <a:solidFill>
                  <a:srgbClr val="293283"/>
                </a:solidFill>
                <a:latin typeface="Tahoma"/>
                <a:cs typeface="Tahoma"/>
              </a:rPr>
              <a:t>P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100" b="1">
                <a:solidFill>
                  <a:srgbClr val="293283"/>
                </a:solidFill>
                <a:latin typeface="Tahoma"/>
                <a:cs typeface="Tahoma"/>
              </a:rPr>
              <a:t>H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55" b="1">
                <a:solidFill>
                  <a:srgbClr val="293283"/>
                </a:solidFill>
                <a:latin typeface="Tahoma"/>
                <a:cs typeface="Tahoma"/>
              </a:rPr>
              <a:t>A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105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00" spc="7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b="1">
                <a:solidFill>
                  <a:srgbClr val="293283"/>
                </a:solidFill>
                <a:latin typeface="Tahoma"/>
                <a:cs typeface="Tahoma"/>
              </a:rPr>
              <a:t>2</a:t>
            </a:r>
            <a:r>
              <a:rPr dirty="0" sz="700" spc="13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95" b="1">
                <a:solidFill>
                  <a:srgbClr val="293283"/>
                </a:solidFill>
                <a:latin typeface="Tahoma"/>
                <a:cs typeface="Tahoma"/>
              </a:rPr>
              <a:t>C</a:t>
            </a:r>
            <a:r>
              <a:rPr dirty="0" sz="70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65" b="1">
                <a:solidFill>
                  <a:srgbClr val="293283"/>
                </a:solidFill>
                <a:latin typeface="Tahoma"/>
                <a:cs typeface="Tahoma"/>
              </a:rPr>
              <a:t>O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7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80" b="1">
                <a:solidFill>
                  <a:srgbClr val="293283"/>
                </a:solidFill>
                <a:latin typeface="Tahoma"/>
                <a:cs typeface="Tahoma"/>
              </a:rPr>
              <a:t>T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155" b="1">
                <a:solidFill>
                  <a:srgbClr val="293283"/>
                </a:solidFill>
                <a:latin typeface="Tahoma"/>
                <a:cs typeface="Tahoma"/>
              </a:rPr>
              <a:t>I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75" b="1">
                <a:solidFill>
                  <a:srgbClr val="293283"/>
                </a:solidFill>
                <a:latin typeface="Tahoma"/>
                <a:cs typeface="Tahoma"/>
              </a:rPr>
              <a:t>N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60" b="1">
                <a:solidFill>
                  <a:srgbClr val="293283"/>
                </a:solidFill>
                <a:latin typeface="Tahoma"/>
                <a:cs typeface="Tahoma"/>
              </a:rPr>
              <a:t>U</a:t>
            </a:r>
            <a:r>
              <a:rPr dirty="0" sz="700" spc="-11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90" b="1">
                <a:solidFill>
                  <a:srgbClr val="293283"/>
                </a:solidFill>
                <a:latin typeface="Tahoma"/>
                <a:cs typeface="Tahoma"/>
              </a:rPr>
              <a:t>E</a:t>
            </a:r>
            <a:r>
              <a:rPr dirty="0" sz="700" spc="-114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700" spc="-50" b="1">
                <a:solidFill>
                  <a:srgbClr val="293283"/>
                </a:solidFill>
                <a:latin typeface="Tahoma"/>
                <a:cs typeface="Tahoma"/>
              </a:rPr>
              <a:t>S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97850" y="2362835"/>
            <a:ext cx="301117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marR="5080" indent="-247650">
              <a:lnSpc>
                <a:spcPct val="125000"/>
              </a:lnSpc>
              <a:spcBef>
                <a:spcPts val="100"/>
              </a:spcBef>
              <a:buClr>
                <a:srgbClr val="FF6A5B"/>
              </a:buClr>
              <a:buSzPct val="116666"/>
              <a:buFont typeface="Yu Gothic"/>
              <a:buChar char="✓"/>
              <a:tabLst>
                <a:tab pos="259715" algn="l"/>
              </a:tabLst>
            </a:pPr>
            <a:r>
              <a:rPr dirty="0" sz="900" spc="-120" b="1">
                <a:solidFill>
                  <a:srgbClr val="293283"/>
                </a:solidFill>
                <a:latin typeface="Tahoma"/>
                <a:cs typeface="Tahoma"/>
              </a:rPr>
              <a:t>Day</a:t>
            </a:r>
            <a:r>
              <a:rPr dirty="0" sz="900" spc="-50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293283"/>
                </a:solidFill>
                <a:latin typeface="Tahoma"/>
                <a:cs typeface="Tahoma"/>
              </a:rPr>
              <a:t>7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145">
                <a:solidFill>
                  <a:srgbClr val="1B1F3A"/>
                </a:solidFill>
                <a:latin typeface="Trebuchet MS"/>
                <a:cs typeface="Trebuchet MS"/>
              </a:rPr>
              <a:t>—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Charts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1B1F3A"/>
                </a:solidFill>
                <a:latin typeface="Trebuchet MS"/>
                <a:cs typeface="Trebuchet MS"/>
              </a:rPr>
              <a:t>&amp;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Dashboards.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Line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charts,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bar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charts,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a </a:t>
            </a:r>
            <a:r>
              <a:rPr dirty="0" sz="900" spc="-20">
                <a:solidFill>
                  <a:srgbClr val="1B1F3A"/>
                </a:solidFill>
                <a:latin typeface="Trebuchet MS"/>
                <a:cs typeface="Trebuchet MS"/>
              </a:rPr>
              <a:t>real </a:t>
            </a:r>
            <a:r>
              <a:rPr dirty="0" sz="900" spc="-10">
                <a:solidFill>
                  <a:srgbClr val="1B1F3A"/>
                </a:solidFill>
                <a:latin typeface="Trebuchet MS"/>
                <a:cs typeface="Trebuchet MS"/>
              </a:rPr>
              <a:t>dashboard.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97850" y="2810510"/>
            <a:ext cx="302895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marR="5080" indent="-247650">
              <a:lnSpc>
                <a:spcPct val="125000"/>
              </a:lnSpc>
              <a:spcBef>
                <a:spcPts val="100"/>
              </a:spcBef>
              <a:buClr>
                <a:srgbClr val="FF6A5B"/>
              </a:buClr>
              <a:buSzPct val="116666"/>
              <a:buFont typeface="Yu Gothic"/>
              <a:buChar char="✓"/>
              <a:tabLst>
                <a:tab pos="259715" algn="l"/>
              </a:tabLst>
            </a:pPr>
            <a:r>
              <a:rPr dirty="0" sz="900" spc="-120" b="1">
                <a:solidFill>
                  <a:srgbClr val="293283"/>
                </a:solidFill>
                <a:latin typeface="Tahoma"/>
                <a:cs typeface="Tahoma"/>
              </a:rPr>
              <a:t>Day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293283"/>
                </a:solidFill>
                <a:latin typeface="Tahoma"/>
                <a:cs typeface="Tahoma"/>
              </a:rPr>
              <a:t>8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145">
                <a:solidFill>
                  <a:srgbClr val="1B1F3A"/>
                </a:solidFill>
                <a:latin typeface="Trebuchet MS"/>
                <a:cs typeface="Trebuchet MS"/>
              </a:rPr>
              <a:t>—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Solo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challenge.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The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1B1F3A"/>
                </a:solidFill>
                <a:latin typeface="Trebuchet MS"/>
                <a:cs typeface="Trebuchet MS"/>
              </a:rPr>
              <a:t>gate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1B1F3A"/>
                </a:solidFill>
                <a:latin typeface="Trebuchet MS"/>
                <a:cs typeface="Trebuchet MS"/>
              </a:rPr>
              <a:t>before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group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0">
                <a:solidFill>
                  <a:srgbClr val="1B1F3A"/>
                </a:solidFill>
                <a:latin typeface="Trebuchet MS"/>
                <a:cs typeface="Trebuchet MS"/>
              </a:rPr>
              <a:t>formation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rebuchet MS"/>
                <a:cs typeface="Trebuchet MS"/>
              </a:rPr>
              <a:t>on 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Day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1B1F3A"/>
                </a:solidFill>
                <a:latin typeface="Trebuchet MS"/>
                <a:cs typeface="Trebuchet MS"/>
              </a:rPr>
              <a:t>15.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197850" y="3258184"/>
            <a:ext cx="303720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marR="5080" indent="-247650">
              <a:lnSpc>
                <a:spcPct val="125000"/>
              </a:lnSpc>
              <a:spcBef>
                <a:spcPts val="100"/>
              </a:spcBef>
              <a:buClr>
                <a:srgbClr val="FF6A5B"/>
              </a:buClr>
              <a:buSzPct val="116666"/>
              <a:buFont typeface="Yu Gothic"/>
              <a:buChar char="✓"/>
              <a:tabLst>
                <a:tab pos="259715" algn="l"/>
              </a:tabLst>
            </a:pPr>
            <a:r>
              <a:rPr dirty="0" sz="900" spc="-114" b="1">
                <a:solidFill>
                  <a:srgbClr val="293283"/>
                </a:solidFill>
                <a:latin typeface="Tahoma"/>
                <a:cs typeface="Tahoma"/>
              </a:rPr>
              <a:t>Phase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30" b="1">
                <a:solidFill>
                  <a:srgbClr val="293283"/>
                </a:solidFill>
                <a:latin typeface="Tahoma"/>
                <a:cs typeface="Tahoma"/>
              </a:rPr>
              <a:t>4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-105" b="1">
                <a:solidFill>
                  <a:srgbClr val="293283"/>
                </a:solidFill>
                <a:latin typeface="Tahoma"/>
                <a:cs typeface="Tahoma"/>
              </a:rPr>
              <a:t>preview</a:t>
            </a:r>
            <a:r>
              <a:rPr dirty="0" sz="900" spc="-45" b="1">
                <a:solidFill>
                  <a:srgbClr val="293283"/>
                </a:solidFill>
                <a:latin typeface="Tahoma"/>
                <a:cs typeface="Tahoma"/>
              </a:rPr>
              <a:t> </a:t>
            </a:r>
            <a:r>
              <a:rPr dirty="0" sz="900" spc="145">
                <a:solidFill>
                  <a:srgbClr val="1B1F3A"/>
                </a:solidFill>
                <a:latin typeface="Trebuchet MS"/>
                <a:cs typeface="Trebuchet MS"/>
              </a:rPr>
              <a:t>—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Every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5">
                <a:solidFill>
                  <a:srgbClr val="1B1F3A"/>
                </a:solidFill>
                <a:latin typeface="Trebuchet MS"/>
                <a:cs typeface="Trebuchet MS"/>
              </a:rPr>
              <a:t>group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70">
                <a:solidFill>
                  <a:srgbClr val="1B1F3A"/>
                </a:solidFill>
                <a:latin typeface="Trebuchet MS"/>
                <a:cs typeface="Trebuchet MS"/>
              </a:rPr>
              <a:t>project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65">
                <a:solidFill>
                  <a:srgbClr val="1B1F3A"/>
                </a:solidFill>
                <a:latin typeface="Trebuchet MS"/>
                <a:cs typeface="Trebuchet MS"/>
              </a:rPr>
              <a:t>will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use</a:t>
            </a:r>
            <a:r>
              <a:rPr dirty="0" sz="900" spc="-50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40">
                <a:solidFill>
                  <a:srgbClr val="1B1F3A"/>
                </a:solidFill>
                <a:latin typeface="Trebuchet MS"/>
                <a:cs typeface="Trebuchet MS"/>
              </a:rPr>
              <a:t>today's</a:t>
            </a:r>
            <a:r>
              <a:rPr dirty="0" sz="900" spc="-55">
                <a:solidFill>
                  <a:srgbClr val="1B1F3A"/>
                </a:solidFill>
                <a:latin typeface="Trebuchet MS"/>
                <a:cs typeface="Trebuchet MS"/>
              </a:rPr>
              <a:t> </a:t>
            </a:r>
            <a:r>
              <a:rPr dirty="0" sz="900" spc="-30">
                <a:solidFill>
                  <a:srgbClr val="1B1F3A"/>
                </a:solidFill>
                <a:latin typeface="Trebuchet MS"/>
                <a:cs typeface="Trebuchet MS"/>
              </a:rPr>
              <a:t>filter </a:t>
            </a:r>
            <a:r>
              <a:rPr dirty="0" sz="900" spc="-10">
                <a:solidFill>
                  <a:srgbClr val="1B1F3A"/>
                </a:solidFill>
                <a:latin typeface="Trebuchet MS"/>
                <a:cs typeface="Trebuchet MS"/>
              </a:rPr>
              <a:t>pattern.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7149" y="6105524"/>
            <a:ext cx="12134850" cy="752475"/>
            <a:chOff x="57149" y="6105524"/>
            <a:chExt cx="12134850" cy="752475"/>
          </a:xfrm>
        </p:grpSpPr>
        <p:sp>
          <p:nvSpPr>
            <p:cNvPr id="40" name="object 40"/>
            <p:cNvSpPr/>
            <p:nvPr/>
          </p:nvSpPr>
          <p:spPr>
            <a:xfrm>
              <a:off x="57149" y="6105524"/>
              <a:ext cx="12134850" cy="752475"/>
            </a:xfrm>
            <a:custGeom>
              <a:avLst/>
              <a:gdLst/>
              <a:ahLst/>
              <a:cxnLst/>
              <a:rect l="l" t="t" r="r" b="b"/>
              <a:pathLst>
                <a:path w="12134850" h="752475">
                  <a:moveTo>
                    <a:pt x="0" y="752474"/>
                  </a:moveTo>
                  <a:lnTo>
                    <a:pt x="12134849" y="752474"/>
                  </a:lnTo>
                  <a:lnTo>
                    <a:pt x="12134849" y="0"/>
                  </a:lnTo>
                  <a:lnTo>
                    <a:pt x="0" y="0"/>
                  </a:lnTo>
                  <a:lnTo>
                    <a:pt x="0" y="752474"/>
                  </a:lnTo>
                  <a:close/>
                </a:path>
              </a:pathLst>
            </a:custGeom>
            <a:solidFill>
              <a:srgbClr val="2932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99338" y="6444437"/>
              <a:ext cx="260350" cy="62230"/>
            </a:xfrm>
            <a:custGeom>
              <a:avLst/>
              <a:gdLst/>
              <a:ahLst/>
              <a:cxnLst/>
              <a:rect l="l" t="t" r="r" b="b"/>
              <a:pathLst>
                <a:path w="260350" h="62229">
                  <a:moveTo>
                    <a:pt x="35128" y="4025"/>
                  </a:moveTo>
                  <a:lnTo>
                    <a:pt x="2451" y="4025"/>
                  </a:lnTo>
                  <a:lnTo>
                    <a:pt x="2451" y="12547"/>
                  </a:lnTo>
                  <a:lnTo>
                    <a:pt x="2451" y="14897"/>
                  </a:lnTo>
                  <a:lnTo>
                    <a:pt x="35128" y="14897"/>
                  </a:lnTo>
                  <a:lnTo>
                    <a:pt x="35128" y="4025"/>
                  </a:lnTo>
                  <a:close/>
                </a:path>
                <a:path w="260350" h="62229">
                  <a:moveTo>
                    <a:pt x="56273" y="50774"/>
                  </a:moveTo>
                  <a:lnTo>
                    <a:pt x="23456" y="50774"/>
                  </a:lnTo>
                  <a:lnTo>
                    <a:pt x="23456" y="52120"/>
                  </a:lnTo>
                  <a:lnTo>
                    <a:pt x="23456" y="61633"/>
                  </a:lnTo>
                  <a:lnTo>
                    <a:pt x="56273" y="61633"/>
                  </a:lnTo>
                  <a:lnTo>
                    <a:pt x="56273" y="50774"/>
                  </a:lnTo>
                  <a:close/>
                </a:path>
                <a:path w="260350" h="62229">
                  <a:moveTo>
                    <a:pt x="58496" y="11976"/>
                  </a:moveTo>
                  <a:lnTo>
                    <a:pt x="50165" y="3352"/>
                  </a:lnTo>
                  <a:lnTo>
                    <a:pt x="32092" y="21374"/>
                  </a:lnTo>
                  <a:lnTo>
                    <a:pt x="0" y="53352"/>
                  </a:lnTo>
                  <a:lnTo>
                    <a:pt x="8636" y="61849"/>
                  </a:lnTo>
                  <a:lnTo>
                    <a:pt x="58496" y="11976"/>
                  </a:lnTo>
                  <a:close/>
                </a:path>
                <a:path w="260350" h="62229">
                  <a:moveTo>
                    <a:pt x="79032" y="0"/>
                  </a:moveTo>
                  <a:lnTo>
                    <a:pt x="67652" y="0"/>
                  </a:lnTo>
                  <a:lnTo>
                    <a:pt x="67652" y="60261"/>
                  </a:lnTo>
                  <a:lnTo>
                    <a:pt x="79032" y="60261"/>
                  </a:lnTo>
                  <a:lnTo>
                    <a:pt x="79032" y="0"/>
                  </a:lnTo>
                  <a:close/>
                </a:path>
                <a:path w="260350" h="62229">
                  <a:moveTo>
                    <a:pt x="128816" y="19367"/>
                  </a:moveTo>
                  <a:lnTo>
                    <a:pt x="119011" y="19367"/>
                  </a:lnTo>
                  <a:lnTo>
                    <a:pt x="117856" y="23406"/>
                  </a:lnTo>
                  <a:lnTo>
                    <a:pt x="117449" y="22898"/>
                  </a:lnTo>
                  <a:lnTo>
                    <a:pt x="117449" y="37757"/>
                  </a:lnTo>
                  <a:lnTo>
                    <a:pt x="117398" y="43688"/>
                  </a:lnTo>
                  <a:lnTo>
                    <a:pt x="116332" y="46507"/>
                  </a:lnTo>
                  <a:lnTo>
                    <a:pt x="112204" y="50177"/>
                  </a:lnTo>
                  <a:lnTo>
                    <a:pt x="109689" y="51104"/>
                  </a:lnTo>
                  <a:lnTo>
                    <a:pt x="105244" y="51104"/>
                  </a:lnTo>
                  <a:lnTo>
                    <a:pt x="103454" y="50711"/>
                  </a:lnTo>
                  <a:lnTo>
                    <a:pt x="103670" y="50711"/>
                  </a:lnTo>
                  <a:lnTo>
                    <a:pt x="101269" y="49593"/>
                  </a:lnTo>
                  <a:lnTo>
                    <a:pt x="96012" y="41325"/>
                  </a:lnTo>
                  <a:lnTo>
                    <a:pt x="96088" y="37757"/>
                  </a:lnTo>
                  <a:lnTo>
                    <a:pt x="104063" y="28549"/>
                  </a:lnTo>
                  <a:lnTo>
                    <a:pt x="104305" y="28549"/>
                  </a:lnTo>
                  <a:lnTo>
                    <a:pt x="105244" y="28346"/>
                  </a:lnTo>
                  <a:lnTo>
                    <a:pt x="108216" y="28346"/>
                  </a:lnTo>
                  <a:lnTo>
                    <a:pt x="109601" y="28549"/>
                  </a:lnTo>
                  <a:lnTo>
                    <a:pt x="117449" y="37757"/>
                  </a:lnTo>
                  <a:lnTo>
                    <a:pt x="117449" y="22898"/>
                  </a:lnTo>
                  <a:lnTo>
                    <a:pt x="116420" y="21590"/>
                  </a:lnTo>
                  <a:lnTo>
                    <a:pt x="114604" y="20269"/>
                  </a:lnTo>
                  <a:lnTo>
                    <a:pt x="110210" y="18630"/>
                  </a:lnTo>
                  <a:lnTo>
                    <a:pt x="107797" y="18211"/>
                  </a:lnTo>
                  <a:lnTo>
                    <a:pt x="102247" y="18211"/>
                  </a:lnTo>
                  <a:lnTo>
                    <a:pt x="84975" y="36728"/>
                  </a:lnTo>
                  <a:lnTo>
                    <a:pt x="84975" y="42697"/>
                  </a:lnTo>
                  <a:lnTo>
                    <a:pt x="102247" y="61239"/>
                  </a:lnTo>
                  <a:lnTo>
                    <a:pt x="107581" y="61239"/>
                  </a:lnTo>
                  <a:lnTo>
                    <a:pt x="109905" y="60883"/>
                  </a:lnTo>
                  <a:lnTo>
                    <a:pt x="114350" y="59461"/>
                  </a:lnTo>
                  <a:lnTo>
                    <a:pt x="116255" y="58026"/>
                  </a:lnTo>
                  <a:lnTo>
                    <a:pt x="117856" y="55892"/>
                  </a:lnTo>
                  <a:lnTo>
                    <a:pt x="119011" y="60261"/>
                  </a:lnTo>
                  <a:lnTo>
                    <a:pt x="128816" y="60261"/>
                  </a:lnTo>
                  <a:lnTo>
                    <a:pt x="128816" y="55892"/>
                  </a:lnTo>
                  <a:lnTo>
                    <a:pt x="128816" y="51104"/>
                  </a:lnTo>
                  <a:lnTo>
                    <a:pt x="128816" y="28346"/>
                  </a:lnTo>
                  <a:lnTo>
                    <a:pt x="128816" y="23406"/>
                  </a:lnTo>
                  <a:lnTo>
                    <a:pt x="128816" y="19367"/>
                  </a:lnTo>
                  <a:close/>
                </a:path>
                <a:path w="260350" h="62229">
                  <a:moveTo>
                    <a:pt x="178943" y="19367"/>
                  </a:moveTo>
                  <a:lnTo>
                    <a:pt x="169125" y="19367"/>
                  </a:lnTo>
                  <a:lnTo>
                    <a:pt x="167970" y="23406"/>
                  </a:lnTo>
                  <a:lnTo>
                    <a:pt x="167576" y="22910"/>
                  </a:lnTo>
                  <a:lnTo>
                    <a:pt x="167576" y="37757"/>
                  </a:lnTo>
                  <a:lnTo>
                    <a:pt x="167513" y="43688"/>
                  </a:lnTo>
                  <a:lnTo>
                    <a:pt x="166458" y="46507"/>
                  </a:lnTo>
                  <a:lnTo>
                    <a:pt x="162331" y="50177"/>
                  </a:lnTo>
                  <a:lnTo>
                    <a:pt x="159816" y="51104"/>
                  </a:lnTo>
                  <a:lnTo>
                    <a:pt x="155371" y="51104"/>
                  </a:lnTo>
                  <a:lnTo>
                    <a:pt x="153581" y="50711"/>
                  </a:lnTo>
                  <a:lnTo>
                    <a:pt x="153797" y="50711"/>
                  </a:lnTo>
                  <a:lnTo>
                    <a:pt x="151396" y="49593"/>
                  </a:lnTo>
                  <a:lnTo>
                    <a:pt x="146126" y="41325"/>
                  </a:lnTo>
                  <a:lnTo>
                    <a:pt x="146215" y="37757"/>
                  </a:lnTo>
                  <a:lnTo>
                    <a:pt x="154190" y="28549"/>
                  </a:lnTo>
                  <a:lnTo>
                    <a:pt x="154419" y="28549"/>
                  </a:lnTo>
                  <a:lnTo>
                    <a:pt x="155371" y="28346"/>
                  </a:lnTo>
                  <a:lnTo>
                    <a:pt x="158330" y="28346"/>
                  </a:lnTo>
                  <a:lnTo>
                    <a:pt x="159715" y="28549"/>
                  </a:lnTo>
                  <a:lnTo>
                    <a:pt x="167398" y="36728"/>
                  </a:lnTo>
                  <a:lnTo>
                    <a:pt x="167576" y="37757"/>
                  </a:lnTo>
                  <a:lnTo>
                    <a:pt x="157911" y="18211"/>
                  </a:lnTo>
                  <a:lnTo>
                    <a:pt x="152374" y="18211"/>
                  </a:lnTo>
                  <a:lnTo>
                    <a:pt x="135089" y="42697"/>
                  </a:lnTo>
                  <a:lnTo>
                    <a:pt x="135597" y="45491"/>
                  </a:lnTo>
                  <a:lnTo>
                    <a:pt x="152374" y="61239"/>
                  </a:lnTo>
                  <a:lnTo>
                    <a:pt x="157708" y="61239"/>
                  </a:lnTo>
                  <a:lnTo>
                    <a:pt x="160020" y="60883"/>
                  </a:lnTo>
                  <a:lnTo>
                    <a:pt x="164465" y="59461"/>
                  </a:lnTo>
                  <a:lnTo>
                    <a:pt x="166382" y="58026"/>
                  </a:lnTo>
                  <a:lnTo>
                    <a:pt x="167970" y="55892"/>
                  </a:lnTo>
                  <a:lnTo>
                    <a:pt x="169125" y="60261"/>
                  </a:lnTo>
                  <a:lnTo>
                    <a:pt x="178943" y="60261"/>
                  </a:lnTo>
                  <a:lnTo>
                    <a:pt x="178943" y="55892"/>
                  </a:lnTo>
                  <a:lnTo>
                    <a:pt x="178943" y="51104"/>
                  </a:lnTo>
                  <a:lnTo>
                    <a:pt x="178943" y="28346"/>
                  </a:lnTo>
                  <a:lnTo>
                    <a:pt x="178943" y="23406"/>
                  </a:lnTo>
                  <a:lnTo>
                    <a:pt x="178943" y="19367"/>
                  </a:lnTo>
                  <a:close/>
                </a:path>
                <a:path w="260350" h="62229">
                  <a:moveTo>
                    <a:pt x="216115" y="19291"/>
                  </a:moveTo>
                  <a:lnTo>
                    <a:pt x="213639" y="18630"/>
                  </a:lnTo>
                  <a:lnTo>
                    <a:pt x="211467" y="18300"/>
                  </a:lnTo>
                  <a:lnTo>
                    <a:pt x="208013" y="18300"/>
                  </a:lnTo>
                  <a:lnTo>
                    <a:pt x="197485" y="25044"/>
                  </a:lnTo>
                  <a:lnTo>
                    <a:pt x="196418" y="19367"/>
                  </a:lnTo>
                  <a:lnTo>
                    <a:pt x="186118" y="19367"/>
                  </a:lnTo>
                  <a:lnTo>
                    <a:pt x="186118" y="60261"/>
                  </a:lnTo>
                  <a:lnTo>
                    <a:pt x="197485" y="60261"/>
                  </a:lnTo>
                  <a:lnTo>
                    <a:pt x="197485" y="37147"/>
                  </a:lnTo>
                  <a:lnTo>
                    <a:pt x="197815" y="35814"/>
                  </a:lnTo>
                  <a:lnTo>
                    <a:pt x="208178" y="28600"/>
                  </a:lnTo>
                  <a:lnTo>
                    <a:pt x="210426" y="28600"/>
                  </a:lnTo>
                  <a:lnTo>
                    <a:pt x="213842" y="29184"/>
                  </a:lnTo>
                  <a:lnTo>
                    <a:pt x="214439" y="29311"/>
                  </a:lnTo>
                  <a:lnTo>
                    <a:pt x="215049" y="29413"/>
                  </a:lnTo>
                  <a:lnTo>
                    <a:pt x="216115" y="19291"/>
                  </a:lnTo>
                  <a:close/>
                </a:path>
                <a:path w="260350" h="62229">
                  <a:moveTo>
                    <a:pt x="260146" y="60261"/>
                  </a:moveTo>
                  <a:lnTo>
                    <a:pt x="242912" y="36347"/>
                  </a:lnTo>
                  <a:lnTo>
                    <a:pt x="258826" y="19367"/>
                  </a:lnTo>
                  <a:lnTo>
                    <a:pt x="244970" y="19367"/>
                  </a:lnTo>
                  <a:lnTo>
                    <a:pt x="231698" y="33464"/>
                  </a:lnTo>
                  <a:lnTo>
                    <a:pt x="231698" y="76"/>
                  </a:lnTo>
                  <a:lnTo>
                    <a:pt x="220332" y="76"/>
                  </a:lnTo>
                  <a:lnTo>
                    <a:pt x="220332" y="60261"/>
                  </a:lnTo>
                  <a:lnTo>
                    <a:pt x="231698" y="60261"/>
                  </a:lnTo>
                  <a:lnTo>
                    <a:pt x="231698" y="48298"/>
                  </a:lnTo>
                  <a:lnTo>
                    <a:pt x="235737" y="43929"/>
                  </a:lnTo>
                  <a:lnTo>
                    <a:pt x="246532" y="60261"/>
                  </a:lnTo>
                  <a:lnTo>
                    <a:pt x="260146" y="60261"/>
                  </a:lnTo>
                  <a:close/>
                </a:path>
              </a:pathLst>
            </a:custGeom>
            <a:solidFill>
              <a:srgbClr val="F75E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1149350" y="6264274"/>
            <a:ext cx="2192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15" b="1">
                <a:solidFill>
                  <a:srgbClr val="FAF7F1"/>
                </a:solidFill>
                <a:latin typeface="Tahoma"/>
                <a:cs typeface="Tahoma"/>
              </a:rPr>
              <a:t>See</a:t>
            </a:r>
            <a:r>
              <a:rPr dirty="0" sz="2400" spc="-229" b="1">
                <a:solidFill>
                  <a:srgbClr val="FAF7F1"/>
                </a:solidFill>
                <a:latin typeface="Tahoma"/>
                <a:cs typeface="Tahoma"/>
              </a:rPr>
              <a:t> </a:t>
            </a:r>
            <a:r>
              <a:rPr dirty="0" sz="2400" spc="-280" b="1">
                <a:solidFill>
                  <a:srgbClr val="FAF7F1"/>
                </a:solidFill>
                <a:latin typeface="Tahoma"/>
                <a:cs typeface="Tahoma"/>
              </a:rPr>
              <a:t>you</a:t>
            </a:r>
            <a:r>
              <a:rPr dirty="0" sz="2400" spc="-229" b="1">
                <a:solidFill>
                  <a:srgbClr val="FAF7F1"/>
                </a:solidFill>
                <a:latin typeface="Tahoma"/>
                <a:cs typeface="Tahoma"/>
              </a:rPr>
              <a:t> </a:t>
            </a:r>
            <a:r>
              <a:rPr dirty="0" sz="2400" spc="-254" b="1">
                <a:solidFill>
                  <a:srgbClr val="FAF7F1"/>
                </a:solidFill>
                <a:latin typeface="Tahoma"/>
                <a:cs typeface="Tahoma"/>
              </a:rPr>
              <a:t>on</a:t>
            </a:r>
            <a:r>
              <a:rPr dirty="0" sz="2400" spc="-229" b="1">
                <a:solidFill>
                  <a:srgbClr val="FAF7F1"/>
                </a:solidFill>
                <a:latin typeface="Tahoma"/>
                <a:cs typeface="Tahoma"/>
              </a:rPr>
              <a:t> </a:t>
            </a:r>
            <a:r>
              <a:rPr dirty="0" sz="2400" spc="-320" b="1">
                <a:solidFill>
                  <a:srgbClr val="FAF7F1"/>
                </a:solidFill>
                <a:latin typeface="Tahoma"/>
                <a:cs typeface="Tahoma"/>
              </a:rPr>
              <a:t>Day</a:t>
            </a:r>
            <a:r>
              <a:rPr dirty="0" sz="2400" spc="-229" b="1">
                <a:solidFill>
                  <a:srgbClr val="FAF7F1"/>
                </a:solidFill>
                <a:latin typeface="Tahoma"/>
                <a:cs typeface="Tahoma"/>
              </a:rPr>
              <a:t> </a:t>
            </a:r>
            <a:r>
              <a:rPr dirty="0" sz="2400" spc="-125" b="1">
                <a:solidFill>
                  <a:srgbClr val="FAF7F1"/>
                </a:solidFill>
                <a:latin typeface="Tahoma"/>
                <a:cs typeface="Tahoma"/>
              </a:rPr>
              <a:t>7.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611169" y="6392862"/>
            <a:ext cx="389382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10">
                <a:solidFill>
                  <a:srgbClr val="FAF8F4"/>
                </a:solidFill>
                <a:latin typeface="Trebuchet MS"/>
                <a:cs typeface="Trebuchet MS"/>
              </a:rPr>
              <a:t>P</a:t>
            </a:r>
            <a:r>
              <a:rPr dirty="0" sz="750" spc="-12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20">
                <a:solidFill>
                  <a:srgbClr val="FAF8F4"/>
                </a:solidFill>
                <a:latin typeface="Trebuchet MS"/>
                <a:cs typeface="Trebuchet MS"/>
              </a:rPr>
              <a:t>R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25">
                <a:solidFill>
                  <a:srgbClr val="FAF8F4"/>
                </a:solidFill>
                <a:latin typeface="Trebuchet MS"/>
                <a:cs typeface="Trebuchet MS"/>
              </a:rPr>
              <a:t>E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PA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20">
                <a:solidFill>
                  <a:srgbClr val="FAF8F4"/>
                </a:solidFill>
                <a:latin typeface="Trebuchet MS"/>
                <a:cs typeface="Trebuchet MS"/>
              </a:rPr>
              <a:t>R</a:t>
            </a:r>
            <a:r>
              <a:rPr dirty="0" sz="750" spc="-12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25">
                <a:solidFill>
                  <a:srgbClr val="FAF8F4"/>
                </a:solidFill>
                <a:latin typeface="Trebuchet MS"/>
                <a:cs typeface="Trebuchet MS"/>
              </a:rPr>
              <a:t>E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D</a:t>
            </a:r>
            <a:r>
              <a:rPr dirty="0" sz="750" spc="185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BY</a:t>
            </a:r>
            <a:r>
              <a:rPr dirty="0" sz="750" spc="185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55">
                <a:solidFill>
                  <a:srgbClr val="FAF8F4"/>
                </a:solidFill>
                <a:latin typeface="Trebuchet MS"/>
                <a:cs typeface="Trebuchet MS"/>
              </a:rPr>
              <a:t>Z</a:t>
            </a:r>
            <a:r>
              <a:rPr dirty="0" sz="750" spc="-12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rebuchet MS"/>
                <a:cs typeface="Trebuchet MS"/>
              </a:rPr>
              <a:t>L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A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A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20">
                <a:solidFill>
                  <a:srgbClr val="FAF8F4"/>
                </a:solidFill>
                <a:latin typeface="Trebuchet MS"/>
                <a:cs typeface="Trebuchet MS"/>
              </a:rPr>
              <a:t>R</a:t>
            </a:r>
            <a:r>
              <a:rPr dirty="0" sz="750" spc="-12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K</a:t>
            </a:r>
            <a:r>
              <a:rPr dirty="0" sz="750" spc="185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35">
                <a:solidFill>
                  <a:srgbClr val="FAF8F4"/>
                </a:solidFill>
                <a:latin typeface="Trebuchet MS"/>
                <a:cs typeface="Trebuchet MS"/>
              </a:rPr>
              <a:t>F</a:t>
            </a:r>
            <a:r>
              <a:rPr dirty="0" sz="750" spc="-12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O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R</a:t>
            </a:r>
            <a:r>
              <a:rPr dirty="0" sz="750" spc="18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H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20">
                <a:solidFill>
                  <a:srgbClr val="FAF8F4"/>
                </a:solidFill>
                <a:latin typeface="Trebuchet MS"/>
                <a:cs typeface="Trebuchet MS"/>
              </a:rPr>
              <a:t>I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N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D</a:t>
            </a:r>
            <a:r>
              <a:rPr dirty="0" sz="750" spc="-12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U</a:t>
            </a:r>
            <a:r>
              <a:rPr dirty="0" sz="750" spc="185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40">
                <a:solidFill>
                  <a:srgbClr val="FAF8F4"/>
                </a:solidFill>
                <a:latin typeface="Trebuchet MS"/>
                <a:cs typeface="Trebuchet MS"/>
              </a:rPr>
              <a:t>C</a:t>
            </a:r>
            <a:r>
              <a:rPr dirty="0" sz="750" spc="-12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O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rebuchet MS"/>
                <a:cs typeface="Trebuchet MS"/>
              </a:rPr>
              <a:t>L</a:t>
            </a:r>
            <a:r>
              <a:rPr dirty="0" sz="750" spc="-12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45">
                <a:solidFill>
                  <a:srgbClr val="FAF8F4"/>
                </a:solidFill>
                <a:latin typeface="Trebuchet MS"/>
                <a:cs typeface="Trebuchet MS"/>
              </a:rPr>
              <a:t>L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25">
                <a:solidFill>
                  <a:srgbClr val="FAF8F4"/>
                </a:solidFill>
                <a:latin typeface="Trebuchet MS"/>
                <a:cs typeface="Trebuchet MS"/>
              </a:rPr>
              <a:t>E</a:t>
            </a:r>
            <a:r>
              <a:rPr dirty="0" sz="750" spc="-12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30">
                <a:solidFill>
                  <a:srgbClr val="FAF8F4"/>
                </a:solidFill>
                <a:latin typeface="Trebuchet MS"/>
                <a:cs typeface="Trebuchet MS"/>
              </a:rPr>
              <a:t>G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E</a:t>
            </a:r>
            <a:r>
              <a:rPr dirty="0" sz="750" spc="18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A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114">
                <a:solidFill>
                  <a:srgbClr val="FAF8F4"/>
                </a:solidFill>
                <a:latin typeface="Trebuchet MS"/>
                <a:cs typeface="Trebuchet MS"/>
              </a:rPr>
              <a:t>MR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20">
                <a:solidFill>
                  <a:srgbClr val="FAF8F4"/>
                </a:solidFill>
                <a:latin typeface="Trebuchet MS"/>
                <a:cs typeface="Trebuchet MS"/>
              </a:rPr>
              <a:t>I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65">
                <a:solidFill>
                  <a:srgbClr val="FAF8F4"/>
                </a:solidFill>
                <a:latin typeface="Trebuchet MS"/>
                <a:cs typeface="Trebuchet MS"/>
              </a:rPr>
              <a:t>T</a:t>
            </a:r>
            <a:r>
              <a:rPr dirty="0" sz="750" spc="-12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FAF8F4"/>
                </a:solidFill>
                <a:latin typeface="Trebuchet MS"/>
                <a:cs typeface="Trebuchet MS"/>
              </a:rPr>
              <a:t>S</a:t>
            </a:r>
            <a:r>
              <a:rPr dirty="0" sz="750" spc="-12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A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R</a:t>
            </a:r>
            <a:r>
              <a:rPr dirty="0" sz="750" spc="210">
                <a:solidFill>
                  <a:srgbClr val="FAF8F4"/>
                </a:solidFill>
                <a:latin typeface="Trebuchet MS"/>
                <a:cs typeface="Trebuchet MS"/>
              </a:rPr>
              <a:t>  </a:t>
            </a:r>
            <a:r>
              <a:rPr dirty="0" sz="750">
                <a:solidFill>
                  <a:srgbClr val="FF8B7E"/>
                </a:solidFill>
                <a:latin typeface="Trebuchet MS"/>
                <a:cs typeface="Trebuchet MS"/>
              </a:rPr>
              <a:t>·</a:t>
            </a:r>
            <a:r>
              <a:rPr dirty="0" sz="750" spc="215">
                <a:solidFill>
                  <a:srgbClr val="FF8B7E"/>
                </a:solidFill>
                <a:latin typeface="Trebuchet MS"/>
                <a:cs typeface="Trebuchet MS"/>
              </a:rPr>
              <a:t> 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2</a:t>
            </a:r>
            <a:r>
              <a:rPr dirty="0" sz="750" spc="185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A</a:t>
            </a:r>
            <a:r>
              <a:rPr dirty="0" sz="750" spc="-13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U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30">
                <a:solidFill>
                  <a:srgbClr val="FAF8F4"/>
                </a:solidFill>
                <a:latin typeface="Trebuchet MS"/>
                <a:cs typeface="Trebuchet MS"/>
              </a:rPr>
              <a:t>G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U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10">
                <a:solidFill>
                  <a:srgbClr val="FAF8F4"/>
                </a:solidFill>
                <a:latin typeface="Trebuchet MS"/>
                <a:cs typeface="Trebuchet MS"/>
              </a:rPr>
              <a:t>S</a:t>
            </a:r>
            <a:r>
              <a:rPr dirty="0" sz="750" spc="-125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T</a:t>
            </a:r>
            <a:r>
              <a:rPr dirty="0" sz="750" spc="185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2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0</a:t>
            </a:r>
            <a:r>
              <a:rPr dirty="0" sz="750" spc="-114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>
                <a:solidFill>
                  <a:srgbClr val="FAF8F4"/>
                </a:solidFill>
                <a:latin typeface="Trebuchet MS"/>
                <a:cs typeface="Trebuchet MS"/>
              </a:rPr>
              <a:t>2</a:t>
            </a:r>
            <a:r>
              <a:rPr dirty="0" sz="750" spc="-120">
                <a:solidFill>
                  <a:srgbClr val="FAF8F4"/>
                </a:solidFill>
                <a:latin typeface="Trebuchet MS"/>
                <a:cs typeface="Trebuchet MS"/>
              </a:rPr>
              <a:t> </a:t>
            </a:r>
            <a:r>
              <a:rPr dirty="0" sz="750" spc="-50">
                <a:solidFill>
                  <a:srgbClr val="FAF8F4"/>
                </a:solidFill>
                <a:latin typeface="Trebuchet MS"/>
                <a:cs typeface="Trebuchet MS"/>
              </a:rPr>
              <a:t>6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0" y="6105524"/>
            <a:ext cx="57150" cy="752475"/>
          </a:xfrm>
          <a:custGeom>
            <a:avLst/>
            <a:gdLst/>
            <a:ahLst/>
            <a:cxnLst/>
            <a:rect l="l" t="t" r="r" b="b"/>
            <a:pathLst>
              <a:path w="57150" h="752475">
                <a:moveTo>
                  <a:pt x="57149" y="752474"/>
                </a:moveTo>
                <a:lnTo>
                  <a:pt x="0" y="752474"/>
                </a:lnTo>
                <a:lnTo>
                  <a:pt x="0" y="0"/>
                </a:lnTo>
                <a:lnTo>
                  <a:pt x="57149" y="0"/>
                </a:lnTo>
                <a:lnTo>
                  <a:pt x="57149" y="752474"/>
                </a:lnTo>
                <a:close/>
              </a:path>
            </a:pathLst>
          </a:custGeom>
          <a:solidFill>
            <a:srgbClr val="FF6A5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2026-08-10T12:31:29Z</dcterms:created>
  <dcterms:modified xsi:type="dcterms:W3CDTF">2026-08-10T12:31:29Z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2026-08-09T00:00:00Z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2026-08-10T00:00:00Z</vt:filetime>
  </property>
  <property fmtid="{D5CDD505-2E9C-101B-9397-08002B2CF9AE}" pid="6" name="Producer">
    <vt:lpwstr>pdf-lib (https://github.com/Hopding/pdf-lib)</vt:lpwstr>
  </property>
</Properties>
</file>